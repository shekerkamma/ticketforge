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Calibri"/>
              </a:rPr>
              <a:t>Winning In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722376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C9A7"/>
                </a:solidFill>
                <a:latin typeface="Calibri"/>
              </a:rPr>
              <a:t>Where The Value Is — And Where To Place Our Bets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8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decision-grade read of the agent market: ten operational use cases, the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600" b="0" i="0">
                <a:solidFill>
                  <a:srgbClr val="FFFFFF"/>
                </a:solidFill>
                <a:latin typeface="Calibri"/>
              </a:rPr>
              <a:t>organizations proving them out, and a scored view of where to invest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173736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FOR THE EXECUTIVE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94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245059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Where do agents create durable value?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37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59359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In owned operational workflows.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480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THE 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736592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Approve a 90-day wedge bet.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B7C8C"/>
                </a:solidFill>
                <a:latin typeface="Calibri"/>
              </a:rPr>
              <a:t>Agentic AI · Executive Briefing  |  Strictly Confidential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 Executive 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The market, the value, and the bet — in ten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If you read one slide, read this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09728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50" b="1" i="0">
                <a:solidFill>
                  <a:srgbClr val="FFFFFF"/>
                </a:solidFill>
                <a:latin typeface="Calibri"/>
              </a:rPr>
              <a:t>In agentic AI, winners are defined by workflow ownership — not model novelty — and the value concentrates in a handful of operational lanes.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351525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91440" cy="457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THE 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36392"/>
            <a:ext cx="3003194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Agents are moving from demos to systems of action that complete real work.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Activity clusters in operational lanes: workflow, customer ops, analytics, testing, infra.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market is crowded with generic 'agent platform' positioning.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2514600"/>
            <a:ext cx="351525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38218" y="251460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8218" y="2514600"/>
            <a:ext cx="91440" cy="457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6818" y="2606040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THE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250" y="3136392"/>
            <a:ext cx="3003194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durable wedge is owning a workflow end-to-end, not summarizing it.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Value is highest where workflow ownership meets willingness to pay.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Healthcare ops and finance are the strongest vertical lanes.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7796" y="2514600"/>
            <a:ext cx="3515258" cy="2377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27796" y="2514600"/>
            <a:ext cx="3515258" cy="4572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2514600"/>
            <a:ext cx="91440" cy="45720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6396" y="2606040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B82"/>
                </a:solidFill>
                <a:latin typeface="Calibri"/>
              </a:rPr>
              <a:t>THE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3828" y="3136392"/>
            <a:ext cx="3003194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Pick one workflow-heavy lane and own context, actuation, and governance.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Treat healthcare operations as a priority wedge.</a:t>
            </a:r>
          </a:p>
          <a:p>
            <a:pPr algn="l">
              <a:lnSpc>
                <a:spcPct val="105000"/>
              </a:lnSpc>
              <a:spcBef>
                <a:spcPts val="9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Avoid generic agent-platform messaging entirely.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ASK: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120640"/>
            <a:ext cx="9082735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Approve a 90-day bet on one owned workflow lane — starting with healthcare operations or workflow automation.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Story In Five Beats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Read left to right — this is the argument, in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2057948" cy="26517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057948" cy="640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20579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8750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1728764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Agents are becoming systems of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868" y="2834640"/>
            <a:ext cx="31089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756" y="1920240"/>
            <a:ext cx="2057948" cy="26517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756" y="1920240"/>
            <a:ext cx="2057948" cy="640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756" y="2029968"/>
            <a:ext cx="20579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2A83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9196" y="2697480"/>
            <a:ext cx="18750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2A83B"/>
                </a:solidFill>
                <a:latin typeface="Calibri"/>
              </a:rPr>
              <a:t>COMPLICATION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2348" y="3063240"/>
            <a:ext cx="1728764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But generic agent platforms don't defend.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9985" y="2834640"/>
            <a:ext cx="31089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66873" y="1920240"/>
            <a:ext cx="2057948" cy="26517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6873" y="1920240"/>
            <a:ext cx="2057948" cy="640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6873" y="2029968"/>
            <a:ext cx="20579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8313" y="2697480"/>
            <a:ext cx="18750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1465" y="3063240"/>
            <a:ext cx="1728764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So where does durable value actually sit?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9101" y="2834640"/>
            <a:ext cx="31089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5989" y="1920240"/>
            <a:ext cx="2057948" cy="26517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5989" y="1920240"/>
            <a:ext cx="2057948" cy="640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5989" y="2029968"/>
            <a:ext cx="20579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7429" y="2697480"/>
            <a:ext cx="18750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581" y="3063240"/>
            <a:ext cx="1728764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In owned operational workflows.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218" y="2834640"/>
            <a:ext cx="31089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5106" y="1920240"/>
            <a:ext cx="2057948" cy="265176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5106" y="1920240"/>
            <a:ext cx="2057948" cy="640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5106" y="2029968"/>
            <a:ext cx="205794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C9A7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6546" y="2697480"/>
            <a:ext cx="187506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C9A7"/>
                </a:solidFill>
                <a:latin typeface="Calibri"/>
              </a:rPr>
              <a:t>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9698" y="3063240"/>
            <a:ext cx="1728764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Bet on one lane for 90 days.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9204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11094415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1">
                <a:solidFill>
                  <a:srgbClr val="FFFFFF"/>
                </a:solidFill>
                <a:latin typeface="Calibri"/>
              </a:rPr>
              <a:t>Every slide that follows develops one of these five beats — and nothing else.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OUR POINT OF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Don't buy the agent hype. Buy the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358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0C9A7"/>
                </a:solidFill>
                <a:latin typeface="Calibri"/>
              </a:rPr>
              <a:t>Own the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302757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The defensible position is completing a job end-to-end inside the systems of record — not chatting about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3458" y="292608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3458" y="29260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30358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37947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0C9A7"/>
                </a:solidFill>
                <a:latin typeface="Calibri"/>
              </a:rPr>
              <a:t>Pick where pain meets pay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4389120"/>
            <a:ext cx="302757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Concentrate where workflow ownership and willingness to pay are both high: healthcare ops, finance, customer 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926080"/>
            <a:ext cx="3484778" cy="274320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8276" y="29260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30358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876" y="3794760"/>
            <a:ext cx="302757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0C9A7"/>
                </a:solidFill>
                <a:latin typeface="Calibri"/>
              </a:rPr>
              <a:t>Prove it in 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4389120"/>
            <a:ext cx="3027578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>
                <a:solidFill>
                  <a:srgbClr val="E0F7F1"/>
                </a:solidFill>
                <a:latin typeface="Calibri"/>
              </a:rPr>
              <a:t>Ship one narrow lane, instrument the baseline, and show a measurable cycle-time or error-rate delta.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Builder Activity Concentrates In Five Operational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Number of organizations active in each use case</a:t>
            </a:r>
          </a:p>
        </p:txBody>
      </p:sp>
      <p:pic>
        <p:nvPicPr>
          <p:cNvPr id="7" name="Picture 6" descr="org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854" y="1463040"/>
            <a:ext cx="7685986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Calibri"/>
              </a:rPr>
              <a:t>The market is voting with its feet: operational workflows, not generic assistants.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Value Concentrates In A Few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decision scorecard — ten lanes scored on what determines payoff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Use-case 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54480"/>
            <a:ext cx="1207008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554480"/>
            <a:ext cx="1207008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Workflow ownership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8696" y="1554480"/>
            <a:ext cx="1207008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Willingness to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1554480"/>
            <a:ext cx="1207008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Defensi- 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1554480"/>
            <a:ext cx="1207008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A1628"/>
                </a:solidFill>
                <a:latin typeface="Calibri"/>
              </a:rPr>
              <a:t>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155448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Priority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11680"/>
            <a:ext cx="11094415" cy="25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84831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8483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Healthcare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4408" y="21305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21305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1416" y="21305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21305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8424" y="21305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78424" y="21305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5432" y="21305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5432" y="21305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1305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1305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213055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13055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45059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Workflow automation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64408" y="24963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24963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71416" y="24963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24963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8424" y="24963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78424" y="24963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5432" y="24963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85432" y="24963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24963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24963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249631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249631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2816351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281635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Finance &amp; trading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4408" y="28620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28620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28620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416" y="28620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8424" y="28620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78424" y="28620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85432" y="28620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85432" y="28620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28620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28620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286207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286207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318211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Sales &amp; customer ops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64408" y="32278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4408" y="32278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71416" y="32278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71416" y="32278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78424" y="32278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78424" y="32278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85432" y="32278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32278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92440" y="32278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92440" y="32278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81160" y="322783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81160" y="322783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3547871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354787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Security &amp; governance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264408" y="35935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64408" y="35935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71416" y="35935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71416" y="35935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78424" y="35935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78424" y="35935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85432" y="35935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85432" y="35935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92440" y="35935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92440" y="35935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281160" y="359359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81160" y="359359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391363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Data &amp; agent infra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64408" y="39593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64408" y="39593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471416" y="39593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471416" y="39593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678424" y="39593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78424" y="39593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885432" y="39593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85432" y="39593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92440" y="395935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92440" y="395935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281160" y="395935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81160" y="395935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STRONG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4279391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427939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Developer tools &amp; test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64408" y="43251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64408" y="43251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471416" y="43251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71416" y="43251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78424" y="43251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78424" y="43251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885432" y="43251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885432" y="43251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92440" y="432511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92440" y="432511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281160" y="432511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81160" y="432511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" y="464515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264408" y="46908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64408" y="46908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471416" y="46908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471416" y="46908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678424" y="46908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78424" y="46908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885432" y="46908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85432" y="46908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092440" y="469087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92440" y="469087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281160" y="469087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281160" y="469087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8640" y="5010911"/>
            <a:ext cx="11094415" cy="36576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0080" y="501091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Legal &amp; compliance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264408" y="50566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64408" y="50566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471416" y="50566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71416" y="50566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78424" y="50566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678424" y="50566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885432" y="50566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885432" y="50566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92440" y="505663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092440" y="505663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81160" y="505663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281160" y="505663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0080" y="5376671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General AI apps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264408" y="54223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64408" y="54223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471416" y="54223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471416" y="54223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678424" y="54223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678424" y="54223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85432" y="54223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C4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885432" y="54223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5606B"/>
                </a:solidFill>
                <a:latin typeface="Calibri"/>
              </a:rPr>
              <a:t>L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092440" y="5422391"/>
            <a:ext cx="987552" cy="274320"/>
          </a:xfrm>
          <a:prstGeom prst="roundRect">
            <a:avLst>
              <a:gd name="adj" fmla="val 25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092440" y="5422391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281160" y="5422391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9AA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281160" y="5422391"/>
            <a:ext cx="12344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LOWER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H = high / attractive   ·   M = mixed   ·   L = weak    |    Scoring is a strategic judgment from builder activity and the ownership-vs-willingness-to-pay map.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Payoff Sits Where Ownership Meets Willingness To 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Workflow ownership vs. willingness to pay, by use case</a:t>
            </a:r>
          </a:p>
        </p:txBody>
      </p:sp>
      <p:pic>
        <p:nvPicPr>
          <p:cNvPr id="7" name="Picture 6" descr="matrix_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832" y="1463040"/>
            <a:ext cx="728003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50" b="1" i="0">
                <a:solidFill>
                  <a:srgbClr val="0A1628"/>
                </a:solidFill>
                <a:latin typeface="Calibri"/>
              </a:rPr>
              <a:t>Healthcare ops and finance occupy the top-right — deep ownership and strong willingness to pay. (Illustrative positioning, not measured.)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Where To Play, And How To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two questions every executive bet has to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91440" cy="5486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WHERE TO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4709160" cy="3200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Healthcare operations — deep workflow, high willingness to pay.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Workflow automation — broadest builder activity, fast time-to-value.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Finance &amp; trading — error/cycle-time maps straight to money.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Customer ops — structured data and clear SLAs to exploit.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3815" y="160020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3815" y="1600200"/>
            <a:ext cx="5349240" cy="54864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3815" y="1600200"/>
            <a:ext cx="91440" cy="5486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8135" y="1600200"/>
            <a:ext cx="48006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B800"/>
                </a:solidFill>
                <a:latin typeface="Calibri"/>
              </a:rPr>
              <a:t>HOW TO 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3855" y="2377440"/>
            <a:ext cx="4709160" cy="3200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Own context + actuation — write back into the system of record.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Wrap it in governance — identity, scoping, audit, human-in-the-loop.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Complete the job — don't stop at a summary.</a:t>
            </a:r>
          </a:p>
          <a:p>
            <a:pPr algn="l">
              <a:lnSpc>
                <a:spcPct val="105000"/>
              </a:lnSpc>
              <a:spcBef>
                <a:spcPts val="130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•  Instrument the ROI — prove the delta vs. the manual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Decision In Front Of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E0F7F1"/>
                </a:solidFill>
                <a:latin typeface="Calibri"/>
              </a:rPr>
              <a:t>Three paths — one recommendation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15258" cy="292608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 w="12700">
            <a:solidFill>
              <a:srgbClr val="00C9A7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299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59152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Own a vertical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63240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0A1628"/>
                </a:solidFill>
                <a:latin typeface="Calibri"/>
              </a:rPr>
              <a:t>Pick healthcare ops or finance and own the workflow end-to-end.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977640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0A4038"/>
                </a:solidFill>
                <a:latin typeface="Calibri"/>
              </a:rPr>
              <a:t>Highest defensibility &amp; willingness to pay.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70832"/>
            <a:ext cx="3515258" cy="384048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70832"/>
            <a:ext cx="351525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✓  RECOMMENDED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828800"/>
            <a:ext cx="3515258" cy="29260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4250" y="20299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OPTION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4250" y="2359152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Build horizontal infra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250" y="3063240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Provide the context / governance layer agents depend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3977640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Stickier, but slower to revenue and more crowded.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828800"/>
            <a:ext cx="3515258" cy="292608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3828" y="2029968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OPTION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828" y="2359152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Wait and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828" y="3063240"/>
            <a:ext cx="3003194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Hold until the lanes consolidate.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3828" y="3977640"/>
            <a:ext cx="3003194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1">
                <a:solidFill>
                  <a:srgbClr val="5B6B7C"/>
                </a:solidFill>
                <a:latin typeface="Calibri"/>
              </a:rPr>
              <a:t>Lowest cost today, highest opportunity cost.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29200"/>
            <a:ext cx="10362895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ASK:  approve a 90-day, single-lane wedge bet — scoped, instrumented, and reviewed against a hard baseline.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How The Value Gets Realized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The same agent loop, wrapped around ten different operational jobs.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Use-Case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Ten agent use cases — each shown with the organizations delivering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09928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Workflow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57400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Anana, stratify, Scalar Field, Cotool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0319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0319" y="1874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600200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600200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9039" y="1709928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Sales And Customer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057400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Alpha Research, Anana, Cohesive, Galen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84687" y="18013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84687" y="1874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78608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578608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688336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Analytics And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035808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Alpha Research, BitBoard, nao Labs, Scalar Field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0319" y="2779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0319" y="28529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2578608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2578608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9039" y="2688336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Developer Tools And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9039" y="3035808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Alpha Research, Golf, Capacitive, Docket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84687" y="2779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84687" y="285292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557016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557016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3666744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Data And Agent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014216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Golf, Capacitive, Scalar Field, Airweave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0319" y="37581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0319" y="38313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3007" y="3557016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3007" y="3557016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89039" y="3666744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Finance And Trading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89039" y="4014216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Aegis, Pelica, Parsewise, Avallon 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84687" y="375818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84687" y="383133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535424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4535424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645152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Security And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992624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Golf, Capacitive, Cotool, MindFort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0319" y="47365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0319" y="480974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33007" y="4535424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3007" y="4535424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9039" y="4645152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Healthcare 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89039" y="4992624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Galen AI, Aegis, Pelica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984687" y="47365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84687" y="4809744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513832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513832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4672" y="5623560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Legal And Compliance Workflows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5971032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Vesence, Third Chair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00319" y="5715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0319" y="57881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33007" y="5513832"/>
            <a:ext cx="5410047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3007" y="5513832"/>
            <a:ext cx="91440" cy="868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89039" y="5623560"/>
            <a:ext cx="4404207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General Ai Applications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9039" y="5971032"/>
            <a:ext cx="4404207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Plexe, Cua, Klavis AI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84687" y="5715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84687" y="578815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Common Realization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Almost every use case is the same agent loop wrapped around a different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01 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58568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 queue item, message, ticket, document, alert, or schedule kicks off the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5610" y="21945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69164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6916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9386" y="1783080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02 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386" y="2258568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Retrieval + permissioned access pull the data, history, and policy the agent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5188" y="219456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7796" y="1691640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27796" y="1691640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8964" y="1783080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03  REASON &amp;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8964" y="2258568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The agent decomposes the job, chooses tools, and drafts the action sequence.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47872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547872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639312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04  ACT VIA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114800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It executes in the systems of record — CRM, EHR, repo, ticketing, ledgers.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5610" y="4050792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38218" y="3547872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38218" y="3547872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9386" y="3639312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05  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9386" y="4114800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Confidence thresholds, policy checks, and human-in-the-loop on exceptions.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5188" y="4050792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7796" y="3547872"/>
            <a:ext cx="3515258" cy="16002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27796" y="3547872"/>
            <a:ext cx="3515258" cy="457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8964" y="3639312"/>
            <a:ext cx="314949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06  SYSTEM OF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964" y="4114800"/>
            <a:ext cx="3112922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The work is completed and logged — not just summarized — with an audit trail.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Reference Realization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E0F7F1"/>
                </a:solidFill>
                <a:latin typeface="Calibri"/>
              </a:rPr>
              <a:t>The layers organizations actually assemble to ship an agent into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110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EXPERIENCE &amp;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Inboxes, dashboards, review queues, approvals — where operators stay in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830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Anana · BitBoard · Vesence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254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ORCHESTRATION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974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Planning, tool selection, multi-step execution, evals and retries.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974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stratify · Docket · Propolis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118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398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CONTEXT &amp; RETRIEVAL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118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Permissioned access to data, memory, and policy — the layer agents fail without.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118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Airweave · Kaelio · Scalar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542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ACTUATION &amp;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5262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Writes back into CRM, EHR, repos, ledgers and ticketing systems of record.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5262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Cohesive · Aegis · Cua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40680"/>
            <a:ext cx="11094415" cy="841248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13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91440" cy="8412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568696"/>
            <a:ext cx="33832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0C9A7"/>
                </a:solidFill>
                <a:latin typeface="Calibri"/>
              </a:rPr>
              <a:t>GOVERNANCE &amp;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440680"/>
            <a:ext cx="475488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Identity, scoping, audit, and guardrails on what agents may touch.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440680"/>
            <a:ext cx="2377440" cy="84124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Golf · MindFort · Cotool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01  ·  HORIZONTAL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Workflow 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High-volume, rules-heavy operational queues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Manual multi-step handoffs across tools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Throughput capped by headcount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run the whole queue as a system of action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Multi-step execution inside existing tools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No new interface for the operator to learn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Whole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automation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HITL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on exceptions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Trigger from a queue item → agent pulls context and policy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Plans and executes the multi-step task across the team's tools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Logs the completed action; routes only exceptions to a 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Operator inbox /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Multi-step 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Process + policy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Writes to tools of record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CRM  ·  Ticketing  ·  ERP  ·  Email/Slack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COO · ops leaders · workflow 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Anana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agentic system of action for hotel groups and management companies.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stratify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that help you understand your customers' needs.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Scalar Field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Your agentic trading desk — agentic operations for finance.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Cotool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security operations teams.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02  · 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Sales &amp; Customer 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Repetitive customer-facing work at scale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Slow response and uneven follow-up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Reps stretched across intake and triage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qualify, route, support, and follow up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Anchored in the revenue team's workflow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Exploits the structured data conversations create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Intake→follow-up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owned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SLA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anchored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Inbound message / lead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enriches, qualifies, and routes against SLAs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Drafts or sends the response; updates the CRM record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Rep console / CRM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Qualify + route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Account + convo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CRM + messaging write-back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CRM  ·  Helpdesk  ·  Email  ·  Calendar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Sales · RevOps · CS · service managers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Cohesive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agentic CRM for blue-collar services.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Anana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Revenue, sales, and operations working together with AI.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Alpha Research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Open-source, agentic knowledge bases for customer teams.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Parsewise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Multi-document processing for risk and ops teams.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03  ·  KNOWLEDGE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Analytics &amp;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Manual synthesis of raw data and context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High-frequency, repetitive reporting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Decisions wait on slow dashboards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turn data into decision-ready reporting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Dashboards and summaries built on demand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Paired with trusted, governed data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On-demand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dashboards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Governed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Request or schedule triggers the reporting run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Agent queries governed data and composes the view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Delivers the dashboard / summary with sources cited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Dashboards /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Query + 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Semantic + retrieval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Publishes reports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Warehouse  ·  BI tools  ·  Sheets  ·  APIs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Heads of analytics · operators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BitBoard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Let your agent build dashboards and reporting.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nao Labs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Open-source analytics agent.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Airweave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open-source context retrieval layer for agents.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Alpha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knowledge bases for decision support.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04  · 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Developer Tools &amp;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Agentic products create new failure modes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QA can't scale linearly with headcount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Regressions slip into releases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test, monitor, and validate systems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Become part of the default release process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Catch regressions before they 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In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release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↓ regressions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outcome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Code change / deploy triggers the test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drives the app, generates and runs cases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Files findings into CI and the issue tracker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CI + PR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Test generation/exec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Repo + spec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Issues + status writes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GitHub/CI  ·  Browsers  ·  Issue tracker  ·  Observability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Eng leaders · QA · platform teams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Docket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web testing.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Propolis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Hands-off QA via intelligent browser agents.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Golf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AI security and governance for engineering.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Alpha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Open-source agentic knowledge bases used across engineering.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05  · 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Data &amp; Agent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fail without trustworthy context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Uncontrolled system access is risky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Every team rebuilds the same plumbing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Provide the context + permissioning layer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Become infrastructure, not a single app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Horizontal wedge with platform stickiness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Context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the wedge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Scoped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Agent product requests data or an action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Infra layer enforces scope and retrieves context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Returns permissioned context / brokered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SDK / API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Access broker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Retrieval + memory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Permissioned connectors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Data sources  ·  Vector stores  ·  IdP  ·  Connectors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Platform eng · CTO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Airweave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open-source context retrieval layer for agents.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Kaelio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open-source context layer for data agents.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Scalar Field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An agentic trading desk built on its own data/context layer.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Golf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AI security and governance.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06  · 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Finance &amp; Trading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High-value workflows, direct $ consequences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Structured rules, financially sensitive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Errors and cycle time map straight to money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Agents on claims, trading, and risk ops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Easy ROI: cycle time and error rates = $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Domain expertise + clear control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$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measurable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Bounded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Claim / order / document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applies rules, checks data, and proposes the action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Executes within limits; escalates edge cases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Ops review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Rules +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Docs +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Ledger / claims write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Claims systems  ·  Market data  ·  Docs  ·  Ledgers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Finance ops · claims · risk teams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to win denied health-insurance claims.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Avallon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insurance claims operations.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Parsewise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Multi-document processing for risk teams.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3986784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Pelica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8472" y="4261104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Healthcare operations with financial consequences.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07  · 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Security &amp; Governance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Every agent deployment adds governance need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Alerts, access, and policy at scale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Security pain is urgent and measurable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Automate security workflows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Govern how agents touch systems and data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Sit in a real enforcement / response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Enforcement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Audited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Alert / access request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investigates, correlates, and applies policy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Enforces or escalates; records the decision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SOC / policy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Investigate + 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Telemetry + policy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Enforce / quarantine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SIEM  ·  IdP  ·  Cloud APIs  ·  Ticketing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CISO orgs · security eng ·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Golf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Agentic AI security and governance.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MindFort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Autonomous security agents.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for security operations teams.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08  · 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Healthcare Operations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Repetitive patient &amp; provider admin work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Overloaded scheduling, billing, claims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High friction, high willingness to pay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Reduce manual coordination end to end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Own a painful workflow, not a thin wrapper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Measurable ROI in staffing and collections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End-to-end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staffing + collections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Call / referral / claim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handles scheduling, intake, or billing steps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Writes back to the EHR / RCM; flags exceptions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Front-desk / RCM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Scheduling + claims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EHR + claims + labs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EHR / RCM write-back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EHR  ·  Claims/RCM  ·  Scheduling  ·  Telephony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Clinic ops · RCM leaders · provider groups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Pelica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co-pilots for value-based care quality teams.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 agents to win denied health-insurance claims.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3054096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Galen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3328416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Personal AI healthcare agent on clinical + wearable data.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4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7543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5975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09  ·  PROFESSIONAL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159752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Legal &amp;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1463040" cy="36576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Document- and policy-heavy review work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Expert time is expensive; throughput matters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Language-heavy work, now tractable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34440"/>
            <a:ext cx="3456432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35024"/>
            <a:ext cx="309067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IT'S REALIZED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9344"/>
            <a:ext cx="3090672" cy="1261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Embed agents inside the pro workflow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Specialize around a precise task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Save expert time, not generic 'legal AI'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organizations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35224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In-workflow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embedded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21808" y="3108960"/>
            <a:ext cx="2203704" cy="77724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3182112"/>
            <a:ext cx="220370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FB800"/>
                </a:solidFill>
                <a:latin typeface="Calibri"/>
              </a:rPr>
              <a:t>Specialist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Calibri"/>
              </a:rPr>
              <a:t>wedge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6976872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9B82"/>
                </a:solidFill>
                <a:latin typeface="Calibri"/>
              </a:rPr>
              <a:t>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6611112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Document / matter triggers the agent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It drafts, reviews, or enforces against policy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→  Surfaces the result inside the pro's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6976872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3036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SOLUTION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MS Office / matter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4298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84298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Draft +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7076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37076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Docs + policy corpus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9854" y="5458968"/>
            <a:ext cx="156133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9854" y="5641848"/>
            <a:ext cx="1561338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>
                <a:solidFill>
                  <a:srgbClr val="FFFFFF"/>
                </a:solidFill>
                <a:latin typeface="Calibri"/>
              </a:rPr>
              <a:t>Edits / filings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SYSTEMS:  MS Office  ·  DMS  ·  Filing systems  ·  Email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28516" y="6126480"/>
            <a:ext cx="3396996" cy="310896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65676" y="6126480"/>
            <a:ext cx="3122676" cy="31089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USERS:  Legal ops · compliance · IP teams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2" y="41148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65836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THIS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1188720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Vesence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8472" y="1463040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Cursor for lawyers — agentic AI in MS Office.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121408"/>
            <a:ext cx="3660343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FFFFFF"/>
                </a:solidFill>
                <a:latin typeface="Calibri"/>
              </a:rPr>
              <a:t>Third Chair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395728"/>
            <a:ext cx="3614623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AI-native IP enforcement agent.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Two Bets Worth A Closer 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13716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Where the pattern is strongest — and where it is most at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Healthcare Operations Is The Strongest Vertical Wedge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32588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ORGANIZATIONS REALIZING THIS  ·  ADJACENCY — YC BATCHES VARY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Pelica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Pelica Health builds AI co-pilots for value-based care quality teams, unifying EHR, claims, pharmacy, and lab data to close care gaps and improve outcomes.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Simbie AI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Simbie AI’s clinically-trained voice agents act as your 24/7 AI medical receptionist—handling scheduling, refills &amp; intake with 60% cost savings. Loved by doctors &amp; patients.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Prosper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Voice Agents ‍ for Patient Access and RCM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Toothy AI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Toothy takes insurance off your team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Sully.ai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Autonomous team of AI agents that runs the entire hospital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REALIZATION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17373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The lane is real; the strong names own deep workflow, not a front-desk wrapper.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Scheduling, claims, billing, intake, and patient comms are the system-of-action wedges.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Winners capture more of the actual clinic workflow end to 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4290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TO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3749039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Own the EHR / RCM write-back, not just the conversation.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Instrument collections and staffing ROI from day 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1">
                <a:solidFill>
                  <a:srgbClr val="0A1628"/>
                </a:solidFill>
                <a:latin typeface="Calibri"/>
              </a:rPr>
              <a:t>Does the product own enough of the clinic workflow to become system-of-action software?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0A1628"/>
                </a:solidFill>
                <a:latin typeface="Calibri"/>
              </a:rPr>
              <a:t>Implementation Automation Is The Biggest Realization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325880" cy="4572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ORGANIZATIONS REALIZING THIS  ·  ADJACENCY — YC BATCHES VARY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892040" cy="2834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Contour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voice agents for healthcare operational calls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flowscope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Agents that learn how your business actually runs, then redesign and automate the work on top of existing systems. The AI team for businesses that don't have one.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Unisson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AI agents that learn to use your product and run directly inside it to execute any task your customers need, accelerating their time to value.</a:t>
            </a:r>
          </a:p>
          <a:p>
            <a:pPr algn="l">
              <a:lnSpc>
                <a:spcPct val="102000"/>
              </a:lnSpc>
              <a:spcBef>
                <a:spcPts val="70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Lua Global Inc</a:t>
            </a:r>
          </a:p>
          <a:p>
            <a:pPr algn="l">
              <a:lnSpc>
                <a:spcPct val="102000"/>
              </a:lnSpc>
              <a:spcBef>
                <a:spcPts val="1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Build, deploy, and scale enterprise-grade AI agents. Ship your first agent without touching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234440"/>
            <a:ext cx="5440680" cy="34290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3716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REALIZATION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1737360"/>
            <a:ext cx="489204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Fewer direct 'AI agency' clones than expected.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The real risk: productized implementation software absorbing repeatable service work.</a:t>
            </a:r>
          </a:p>
          <a:p>
            <a:pPr algn="l">
              <a:lnSpc>
                <a:spcPct val="104000"/>
              </a:lnSpc>
              <a:spcBef>
                <a:spcPts val="7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•  Generic AI delivery is easily copied; a narrow owned workflow is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342900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TO 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695" y="3749039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Specialize the wedge around one repeatable, painful workflow.</a:t>
            </a:r>
          </a:p>
          <a:p>
            <a:pPr algn="l">
              <a:lnSpc>
                <a:spcPct val="104000"/>
              </a:lnSpc>
              <a:spcBef>
                <a:spcPts val="60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•  Turn the service motion into owned product before someone else does.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1">
                <a:solidFill>
                  <a:srgbClr val="0A1628"/>
                </a:solidFill>
                <a:latin typeface="Calibri"/>
              </a:rPr>
              <a:t>Can a service motion defend a wedge before software productizes the work?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Realization Risks &amp;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breaks agent use cases in production — and the control that contains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002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What goes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1094415" cy="74980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Context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03120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Agents act on stale, missing, or over-broad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Permissioned retrieval layer; scope reads to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8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Silent wrong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52928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An agent writes a bad record with full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52928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Confidence thresholds + human-in-the-loop on exceptions.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02736"/>
            <a:ext cx="11094415" cy="74980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02736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Unbounded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02736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Over-privileged agents touch systems they shouldn't.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02736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Identity, least-privilege scoping, and full audit trails.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52544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No measurable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352544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Cycle-time / error-rate impact is never proven.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352544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Instrument baselines before rollout; report deltas.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02352"/>
            <a:ext cx="11094415" cy="749808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02352"/>
            <a:ext cx="2377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Workflow not owned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102352"/>
            <a:ext cx="466344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The agent summarizes but doesn't complete the job.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02352"/>
            <a:ext cx="3200400" cy="749808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Close the loop into the system of record end-to-end.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1">
                <a:solidFill>
                  <a:srgbClr val="5B6B7C"/>
                </a:solidFill>
                <a:latin typeface="Calibri"/>
              </a:rPr>
              <a:t>Evidence note: counts tie out to 27 filtered companies; organization names are from the live YC listing, with deep-research notes confirming a 14-company subset. Adjacency examples span multiple YC batches.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90-Day Realization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From a chosen use case to a proven system of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15258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Days 0-30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9424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Pick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26080"/>
            <a:ext cx="2930042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Choose one workflow-heavy use case to own end-to-end.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Map the trigger → action loop and the systems of record.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Instrument cycle-time and error-rate baselines.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5610" y="3291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82880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8218" y="1828800"/>
            <a:ext cx="3515258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2538" y="1975104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Days 30-60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2249424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Build the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0826" y="2926080"/>
            <a:ext cx="2930042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Ship the context + retrieval layer first.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Wire actuation into one system of record.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Add guardrails and a human-in-the-loop queue.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5188" y="329184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1828800"/>
            <a:ext cx="3515258" cy="35661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7796" y="1828800"/>
            <a:ext cx="3515258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2116" y="1975104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Days 60-90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2116" y="2249424"/>
            <a:ext cx="296661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Prove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0404" y="2926080"/>
            <a:ext cx="2930042" cy="2240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Run against the baseline with 2-3 design partners.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Show measurable delta vs. the manual workflow.</a:t>
            </a:r>
          </a:p>
          <a:p>
            <a:pPr algn="l">
              <a:lnSpc>
                <a:spcPct val="105000"/>
              </a:lnSpc>
              <a:spcBef>
                <a:spcPts val="12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Decide: deepen the wedge or expand adjacent.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Where to focus realization effort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29968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Choose workflow-heavy use cases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43200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8 companies cluster around operational systems of action, making this the clearest YC pattern.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737360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7327" y="2011680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12140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2029968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Own context, governance, or workflow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2743200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more durable clusters pair agents with data access, infrastructure, or embedded workflow ownership.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21608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95928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0565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14216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Treat healthcare operations as a real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27448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count is smaller than horizontal ops, but the workflow pain and willingness to pay are strong.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721608"/>
            <a:ext cx="5410047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7327" y="3995928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410565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0287" y="4014216"/>
            <a:ext cx="4038447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Avoid generic agent-platform messaging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4727448"/>
            <a:ext cx="4038447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The cohort repeatedly rewards products with explicit jobs and operators, not broad agent claims.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Buy the workflow, not the hype — and prove it in 90 days.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84378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70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Winners own workflows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546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Model novelty is not the moat; completing the job inside the system of record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7588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3075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57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Concentrate where pain meets 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4164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Healthcare ops, finance, workflow automation, and customer ops lead the scorecard.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628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445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Make a single, scoped bet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2861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One lane, owned context + actuation + governance — not a broad platform.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982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50468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43153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Decide now, review in 90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81558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Approve the wedge, instrument the baseline, and judge it on a measurable delta.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Agentic AI · Executive Briefing  |  Strictly Confidential  |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