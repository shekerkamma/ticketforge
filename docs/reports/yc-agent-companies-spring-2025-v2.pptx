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C9A7"/>
                </a:solidFill>
                <a:latin typeface="Aptos"/>
              </a:rPr>
              <a:t>Y COMBINATOR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713232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Aptos Display"/>
              </a:rPr>
              <a:t>Agent Companies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9748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71800"/>
            <a:ext cx="70408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What Spring 2025's small-team agent startups are actually building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 i="0">
                <a:solidFill>
                  <a:srgbClr val="EEECE1"/>
                </a:solidFill>
                <a:latin typeface="Aptos"/>
              </a:rPr>
              <a:t>Structured business use cases, a use-case density map, and the implications for Sync2 and ReprisesAI.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29200"/>
            <a:ext cx="929030" cy="384048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084064"/>
            <a:ext cx="9290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2262" y="5029200"/>
            <a:ext cx="1265529" cy="384048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2262" y="5084064"/>
            <a:ext cx="126552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Customer 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5" y="50292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5" y="50840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Healthcare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5029200"/>
            <a:ext cx="844905" cy="384048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5084064"/>
            <a:ext cx="84490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Tooling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8888" y="5029200"/>
            <a:ext cx="676656" cy="384048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8888" y="5084064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263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C8C"/>
                </a:solidFill>
                <a:latin typeface="Aptos"/>
              </a:rPr>
              <a:t>TicketForge  |  YC Agent Companies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What You'll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658368" cy="658368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9280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0136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628"/>
                </a:solidFill>
                <a:latin typeface="Aptos"/>
              </a:rPr>
              <a:t>What the cohort actually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219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C"/>
                </a:solidFill>
                <a:latin typeface="Aptos"/>
              </a:rPr>
              <a:t>Headline findings, cohort size, and the use-case density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6080"/>
            <a:ext cx="658368" cy="658368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03580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4436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628"/>
                </a:solidFill>
                <a:latin typeface="Aptos"/>
              </a:rPr>
              <a:t>Business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649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C"/>
                </a:solidFill>
                <a:latin typeface="Aptos"/>
              </a:rPr>
              <a:t>Ten clusters structured as jobs, buyers, and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9080"/>
            <a:ext cx="658368" cy="658368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7880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87368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1628"/>
                </a:solidFill>
                <a:latin typeface="Aptos"/>
              </a:rPr>
              <a:t>Strategic implications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079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C"/>
                </a:solidFill>
                <a:latin typeface="Aptos"/>
              </a:rPr>
              <a:t>Sync2, ReprisesAI, recommendations, and a 90-day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The Cohort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2243A"/>
                </a:solidFill>
                <a:latin typeface="Aptos"/>
              </a:rPr>
              <a:t>A young, focused cohort with a visible use-case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2558719" cy="192024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255871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0C9A7"/>
                </a:solidFill>
                <a:latin typeface="Aptos Display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907792"/>
            <a:ext cx="228439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310128"/>
            <a:ext cx="228439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CE1"/>
                </a:solidFill>
                <a:latin typeface="Aptos"/>
              </a:rPr>
              <a:t>filtered Spring 2025 cohort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9967" y="1828800"/>
            <a:ext cx="2558719" cy="192024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9967" y="2121408"/>
            <a:ext cx="255871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0C9A7"/>
                </a:solidFill>
                <a:latin typeface="Aptos Display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7127" y="2907792"/>
            <a:ext cx="228439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median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7127" y="3310128"/>
            <a:ext cx="228439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CE1"/>
                </a:solidFill>
                <a:latin typeface="Aptos"/>
              </a:rPr>
              <a:t>very early-stage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28800"/>
            <a:ext cx="2558719" cy="192024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2121408"/>
            <a:ext cx="255871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0C9A7"/>
                </a:solidFill>
                <a:latin typeface="Aptos Display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2907792"/>
            <a:ext cx="228439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teams of 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3310128"/>
            <a:ext cx="228439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CE1"/>
                </a:solidFill>
                <a:latin typeface="Aptos"/>
              </a:rPr>
              <a:t>nearly half the cohort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1828800"/>
            <a:ext cx="2558719" cy="192024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6047" y="2121408"/>
            <a:ext cx="255871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0C9A7"/>
                </a:solidFill>
                <a:latin typeface="Aptos Display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3207" y="2907792"/>
            <a:ext cx="228439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use-case lanes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3207" y="3310128"/>
            <a:ext cx="228439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EECE1"/>
                </a:solidFill>
                <a:latin typeface="Aptos"/>
              </a:rPr>
              <a:t>distinct business shapes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51960"/>
            <a:ext cx="11057839" cy="1280160"/>
          </a:xfrm>
          <a:prstGeom prst="roundRect">
            <a:avLst>
              <a:gd name="adj" fmla="val 6000"/>
            </a:avLst>
          </a:prstGeom>
          <a:solidFill>
            <a:srgbClr val="EEECE1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251960"/>
            <a:ext cx="9960559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Likely winners will be defined by workflow choice and ownership, not by model novelty.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C9A7"/>
                </a:solidFill>
                <a:latin typeface="Apto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What The Cohort Actually Says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977639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EECE1"/>
                </a:solidFill>
                <a:latin typeface="Aptos"/>
              </a:rPr>
              <a:t>The data is more operational and workflow-shaped than the generic agent narrative suggests.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B9A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B9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Three Conclusions Matter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The headline reads of the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1105783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38528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202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Workflow automation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50008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B3C"/>
                </a:solidFill>
                <a:latin typeface="Aptos"/>
              </a:rPr>
              <a:t>The strongest YC signal is not generic assistants. It is agents wrapped around concrete operational jobs.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8104"/>
            <a:ext cx="1105783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46704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Ops and tooling dominate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7647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B3C"/>
                </a:solidFill>
                <a:latin typeface="Aptos"/>
              </a:rPr>
              <a:t>Customer ops, analytics, QA/testing, context, and infra appear far more often than broad platform narratives.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44568"/>
            <a:ext cx="1105783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2861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731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Healthcare is a real vertical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02936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B3C"/>
                </a:solidFill>
                <a:latin typeface="Aptos"/>
              </a:rPr>
              <a:t>Administrative healthcare workflows show enough density and pain to warrant focused product bets.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This Cohort Is Extremely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Distribution of founding-team size across the 27 companies</a:t>
            </a:r>
          </a:p>
        </p:txBody>
      </p:sp>
      <p:pic>
        <p:nvPicPr>
          <p:cNvPr id="7" name="Picture 6" descr="team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895" y="1463040"/>
            <a:ext cx="801390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13 of 27 teams have just 1-2 people; the median team is 3. Execution focus beats headcount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Use-Case Density Favors Real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Number of companies per use-case cluster (companies can span lanes)</a:t>
            </a:r>
          </a:p>
        </p:txBody>
      </p:sp>
      <p:pic>
        <p:nvPicPr>
          <p:cNvPr id="7" name="Picture 6" descr="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570" y="1463040"/>
            <a:ext cx="754055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The center of gravity is workflow automation, customer ops, analytics, testing, and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What People Expect vs. What The Cohort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Previous expectation vs. what the YC cohort actually reveals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49240" cy="502920"/>
          </a:xfrm>
          <a:prstGeom prst="roundRect">
            <a:avLst>
              <a:gd name="adj" fmla="val 8000"/>
            </a:avLst>
          </a:prstGeom>
          <a:solidFill>
            <a:srgbClr val="F5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75527" y="1600200"/>
            <a:ext cx="5349240" cy="502920"/>
          </a:xfrm>
          <a:prstGeom prst="roundRect">
            <a:avLst>
              <a:gd name="adj" fmla="val 8000"/>
            </a:avLst>
          </a:prstGeom>
          <a:solidFill>
            <a:srgbClr val="2D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82496"/>
            <a:ext cx="534924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Expected narrative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5527" y="1682496"/>
            <a:ext cx="534924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Observed YC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FBF0F2"/>
          </a:solidFill>
          <a:ln w="12700">
            <a:solidFill>
              <a:srgbClr val="F5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5527" y="22860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EEFAF5"/>
          </a:solidFill>
          <a:ln w="12700">
            <a:solidFill>
              <a:srgbClr val="CC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2860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✕   General-purpose agent assistants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9847" y="22860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✓   Workflow-bound systems of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004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FBF0F2"/>
          </a:solidFill>
          <a:ln w="12700">
            <a:solidFill>
              <a:srgbClr val="F5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5527" y="32004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EEFAF5"/>
          </a:solidFill>
          <a:ln w="12700">
            <a:solidFill>
              <a:srgbClr val="CC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2004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✕   Broad agent-platform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9847" y="32004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✓   Buyer-owned operational 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148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FBF0F2"/>
          </a:solidFill>
          <a:ln w="12700">
            <a:solidFill>
              <a:srgbClr val="F5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5527" y="41148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EEFAF5"/>
          </a:solidFill>
          <a:ln w="12700">
            <a:solidFill>
              <a:srgbClr val="CC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1148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✕   Abstract AI capability 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9847" y="41148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✓   Testing, context, claims, reporting, 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292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FBF0F2"/>
          </a:solidFill>
          <a:ln w="12700">
            <a:solidFill>
              <a:srgbClr val="F5D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75527" y="5029200"/>
            <a:ext cx="5349240" cy="768096"/>
          </a:xfrm>
          <a:prstGeom prst="roundRect">
            <a:avLst>
              <a:gd name="adj" fmla="val 8000"/>
            </a:avLst>
          </a:prstGeom>
          <a:solidFill>
            <a:srgbClr val="EEFAF5"/>
          </a:solidFill>
          <a:ln w="12700">
            <a:solidFill>
              <a:srgbClr val="CC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0292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✕   Model novelty as the main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9847" y="5029200"/>
            <a:ext cx="48006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B3C"/>
                </a:solidFill>
                <a:latin typeface="Aptos"/>
              </a:rPr>
              <a:t>✓   Clear job boundaries &amp; measurable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C9A7"/>
                </a:solidFill>
                <a:latin typeface="Apto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Business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977639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EECE1"/>
                </a:solidFill>
                <a:latin typeface="Aptos"/>
              </a:rPr>
              <a:t>Ten clusters, structured as the jobs they do, the buyers they serve, and the evidence behind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B9A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B9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Top Use Cases, Structured As Business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The four highest-signal business shapes in the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3976" y="1554480"/>
            <a:ext cx="2300401" cy="56692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8" y="1554480"/>
            <a:ext cx="2154097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Workflow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4105" y="1554480"/>
            <a:ext cx="2300401" cy="56692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7257" y="1554480"/>
            <a:ext cx="2154097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Sales And Customer 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14235" y="1554480"/>
            <a:ext cx="2300401" cy="56692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7387" y="1554480"/>
            <a:ext cx="2154097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Analytics And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4365" y="1554480"/>
            <a:ext cx="2300401" cy="56692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7517" y="1554480"/>
            <a:ext cx="2154097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Developer Tools And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40280"/>
            <a:ext cx="1417320" cy="5669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2402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Buyer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93976" y="2240280"/>
            <a:ext cx="2300401" cy="566928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5416" y="2295144"/>
            <a:ext cx="211752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COO, operations leader, or workflow 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4105" y="2240280"/>
            <a:ext cx="2300401" cy="566928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5545" y="2295144"/>
            <a:ext cx="211752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sales leaders, revenue ops, customer success, or service managers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14235" y="2240280"/>
            <a:ext cx="2300401" cy="566928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5675" y="2295144"/>
            <a:ext cx="211752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heads of analytics, operations leaders, and knowledge-work 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4365" y="2240280"/>
            <a:ext cx="2300401" cy="566928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5805" y="2295144"/>
            <a:ext cx="211752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engineering leaders, product teams, QA, and platform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907792"/>
            <a:ext cx="1417320" cy="6400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2907792"/>
            <a:ext cx="12344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Business job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93976" y="2907792"/>
            <a:ext cx="2300401" cy="64008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85416" y="2962656"/>
            <a:ext cx="2117521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Turn high-volume, rules-heavy operational queues into agent-run systems of action.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4105" y="2907792"/>
            <a:ext cx="2300401" cy="64008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5545" y="2962656"/>
            <a:ext cx="2117521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Use agents to qualify, route, support, and operationalize customer interaction workflows.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14235" y="2907792"/>
            <a:ext cx="2300401" cy="64008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5675" y="2962656"/>
            <a:ext cx="2117521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Turn raw data or context into dashboards, summaries, and decision-ready reporting.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4365" y="2907792"/>
            <a:ext cx="2300401" cy="64008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5805" y="2962656"/>
            <a:ext cx="2117521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Use agents to test, monitor, and validate software and model-driven systems.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657600"/>
            <a:ext cx="1417320" cy="7589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3657600"/>
            <a:ext cx="1234440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Value prop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93976" y="3657600"/>
            <a:ext cx="2300401" cy="758952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85416" y="3712464"/>
            <a:ext cx="2117521" cy="6492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Throughput, faster cycle times, and lower labor cost without requiring users to learn a new interface.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04105" y="3657600"/>
            <a:ext cx="2300401" cy="758952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5545" y="3712464"/>
            <a:ext cx="2117521" cy="6492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Improves responsiveness and rep leverage while keeping the workflow anchored in revenue teams.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4235" y="3657600"/>
            <a:ext cx="2300401" cy="758952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05675" y="3712464"/>
            <a:ext cx="2117521" cy="6492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Makes information work faster and cheaper while reducing manual synthesis.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4365" y="3657600"/>
            <a:ext cx="2300401" cy="758952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5805" y="3712464"/>
            <a:ext cx="2117521" cy="6492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Catches regressions and scales QA capacity without linearly scaling headcount.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526280"/>
            <a:ext cx="1417320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52628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Why now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93976" y="4526280"/>
            <a:ext cx="2300401" cy="91440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85416" y="4581144"/>
            <a:ext cx="2117521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LLMs plus tool use make it possible to automate the whole queue, not just summarize it.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04105" y="4526280"/>
            <a:ext cx="2300401" cy="91440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5545" y="4581144"/>
            <a:ext cx="2117521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Customer conversations already create structured data and clear SLAs, which agents can exploit.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14235" y="4526280"/>
            <a:ext cx="2300401" cy="91440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05675" y="4581144"/>
            <a:ext cx="2117521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Reporting is repetitive, high-frequency, and already evaluated on output quality and speed.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4365" y="4526280"/>
            <a:ext cx="2300401" cy="914400"/>
          </a:xfrm>
          <a:prstGeom prst="rect">
            <a:avLst/>
          </a:prstGeom>
          <a:solidFill>
            <a:srgbClr val="F3F6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5805" y="4581144"/>
            <a:ext cx="2117521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2B3C"/>
                </a:solidFill>
                <a:latin typeface="Aptos"/>
              </a:rPr>
              <a:t>Agentic products create new failure modes, so testing and observability have become first-order needs.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USE CASE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Workflow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0287" y="384048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0287" y="4206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8595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628"/>
                </a:solidFill>
                <a:latin typeface="Aptos"/>
              </a:rPr>
              <a:t>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COO, operations leader, or workflow 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BUSINESS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Turn high-volume, rules-heavy operational queues into agent-run systems of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VALUE PROP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Throughput, faster cycle times, and lower labor cost without requiring users to learn a new interface.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LLMs plus tool use make it possible to automate the whole queue, not just summarize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64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A7"/>
                </a:solidFill>
                <a:latin typeface="Aptos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Best starting point when a team already exists and the handoffs are obvious.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7C"/>
                </a:solidFill>
                <a:latin typeface="Aptos"/>
              </a:rPr>
              <a:t>Cohort examples:   </a:t>
            </a:r>
            <a:r>
              <a:rPr sz="1200" b="1">
                <a:solidFill>
                  <a:srgbClr val="1B2B3C"/>
                </a:solidFill>
                <a:latin typeface="Aptos"/>
              </a:rPr>
              <a:t>Anana, stratify, Scalar Field, Cotool, MindFort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USE CASE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Sales And Customer 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0287" y="384048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0287" y="4206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8595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628"/>
                </a:solidFill>
                <a:latin typeface="Aptos"/>
              </a:rPr>
              <a:t>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sales leaders, revenue ops, customer success, or service managers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BUSINESS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Use agents to qualify, route, support, and operationalize customer interaction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VALUE PROP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Improves responsiveness and rep leverage while keeping the workflow anchored in revenue teams.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Customer conversations already create structured data and clear SLAs, which agents can exploit.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64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A7"/>
                </a:solidFill>
                <a:latin typeface="Aptos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Strong wedge when the product can own a narrow workflow like intake, triage, or follow-up.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7C"/>
                </a:solidFill>
                <a:latin typeface="Aptos"/>
              </a:rPr>
              <a:t>Cohort examples:   </a:t>
            </a:r>
            <a:r>
              <a:rPr sz="1200" b="1">
                <a:solidFill>
                  <a:srgbClr val="1B2B3C"/>
                </a:solidFill>
                <a:latin typeface="Aptos"/>
              </a:rPr>
              <a:t>Alpha Research, Anana, Cohesive, Galen AI, stratify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USE CASE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Analytics And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0287" y="384048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0287" y="4206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8595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628"/>
                </a:solidFill>
                <a:latin typeface="Aptos"/>
              </a:rPr>
              <a:t>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heads of analytics, operations leaders, and knowledge-work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BUSINESS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Turn raw data or context into dashboards, summaries, and decision-ready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VALUE PROP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Makes information work faster and cheaper while reducing manual synthesis.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Reporting is repetitive, high-frequency, and already evaluated on output quality and speed.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64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A7"/>
                </a:solidFill>
                <a:latin typeface="Aptos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Works best when paired with trusted data access and a narrow reporting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7C"/>
                </a:solidFill>
                <a:latin typeface="Aptos"/>
              </a:rPr>
              <a:t>Cohort examples:   </a:t>
            </a:r>
            <a:r>
              <a:rPr sz="1200" b="1">
                <a:solidFill>
                  <a:srgbClr val="1B2B3C"/>
                </a:solidFill>
                <a:latin typeface="Aptos"/>
              </a:rPr>
              <a:t>Alpha Research, BitBoard, nao Labs, Scalar Field, Cotool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USE CASE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Developer Tools And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0287" y="384048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0287" y="4206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8595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628"/>
                </a:solidFill>
                <a:latin typeface="Aptos"/>
              </a:rPr>
              <a:t>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engineering leaders, product teams, QA, and platform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BUSINESS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Use agents to test, monitor, and validate software and model-driven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VALUE PROP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Catches regressions and scales QA capacity without linearly scaling headcount.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Agentic products create new failure modes, so testing and observability have become first-order needs.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64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A7"/>
                </a:solidFill>
                <a:latin typeface="Aptos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Durable if the product becomes part of the default release process.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7C"/>
                </a:solidFill>
                <a:latin typeface="Aptos"/>
              </a:rPr>
              <a:t>Cohort examples:   </a:t>
            </a:r>
            <a:r>
              <a:rPr sz="1200" b="1">
                <a:solidFill>
                  <a:srgbClr val="1B2B3C"/>
                </a:solidFill>
                <a:latin typeface="Aptos"/>
              </a:rPr>
              <a:t>Alpha Research, Golf, Capacitive, Docket, Galen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USE CASE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Data And Agent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0287" y="384048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0287" y="4206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8595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1628"/>
                </a:solidFill>
                <a:latin typeface="Aptos"/>
              </a:rPr>
              <a:t>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platform engineering, CTO staff, and teams building agent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BUSINESS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Provide the data, context, and permissioning layer that agent products depend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92938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VALUE PROP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24028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Becomes infrastructure rather than a single workflow app, increasing platform stickiness.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46120"/>
            <a:ext cx="5285232" cy="129844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392424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03320"/>
            <a:ext cx="4828032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Agents fail without trustworthy context and controlled system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64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C9A7"/>
                </a:solidFill>
                <a:latin typeface="Aptos"/>
              </a:rPr>
              <a:t>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0235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Attractive when the team wants a horizontal wedge instead of a workflow application.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5B6B7C"/>
                </a:solidFill>
                <a:latin typeface="Aptos"/>
              </a:rPr>
              <a:t>Cohort examples:   </a:t>
            </a:r>
            <a:r>
              <a:rPr sz="1200" b="1">
                <a:solidFill>
                  <a:srgbClr val="1B2B3C"/>
                </a:solidFill>
                <a:latin typeface="Aptos"/>
              </a:rPr>
              <a:t>Golf, Capacitive, Scalar Field, Airweave, Kaelio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Vertical &amp; Specialist Lanes Matter Too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Smaller clusters, but high pain and high willingness to pay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57839" cy="457200"/>
          </a:xfrm>
          <a:prstGeom prst="roundRect">
            <a:avLst>
              <a:gd name="adj" fmla="val 4000"/>
            </a:avLst>
          </a:prstGeom>
          <a:solidFill>
            <a:srgbClr val="EE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00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628"/>
                </a:solidFill>
                <a:latin typeface="Aptos"/>
              </a:rPr>
              <a:t>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160020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628"/>
                </a:solidFill>
                <a:latin typeface="Aptos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600200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628"/>
                </a:solidFill>
                <a:latin typeface="Aptos"/>
              </a:rPr>
              <a:t>Business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2328" y="16002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628"/>
                </a:solidFill>
                <a:latin typeface="Aptos"/>
              </a:rPr>
              <a:t>Cohort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21408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Aptos"/>
              </a:rPr>
              <a:t>Finance &amp; Trading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121408"/>
            <a:ext cx="73152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B82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121408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B3C"/>
                </a:solidFill>
                <a:latin typeface="Aptos"/>
              </a:rPr>
              <a:t>Apply agents to high-value workflows with direct financial consequences.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2121408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C"/>
                </a:solidFill>
                <a:latin typeface="Aptos"/>
              </a:rPr>
              <a:t>Aegis, Pelica, Parsewise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07792"/>
            <a:ext cx="11057839" cy="9525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907792"/>
            <a:ext cx="11057839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907792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Aptos"/>
              </a:rPr>
              <a:t>Security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2907792"/>
            <a:ext cx="73152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B82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907792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B3C"/>
                </a:solidFill>
                <a:latin typeface="Aptos"/>
              </a:rPr>
              <a:t>Automate security workflows and govern how agents interact with systems and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907792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C"/>
                </a:solidFill>
                <a:latin typeface="Aptos"/>
              </a:rPr>
              <a:t>Golf, Capacitive, Cotool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94176"/>
            <a:ext cx="11057839" cy="9525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694176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Aptos"/>
              </a:rPr>
              <a:t>Healthcare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694176"/>
            <a:ext cx="73152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B82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694176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B3C"/>
                </a:solidFill>
                <a:latin typeface="Aptos"/>
              </a:rPr>
              <a:t>Reduce repetitive administrative work in patient and provider operations.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694176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C"/>
                </a:solidFill>
                <a:latin typeface="Aptos"/>
              </a:rPr>
              <a:t>Galen AI, Aegis, Pelica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480560"/>
            <a:ext cx="11057839" cy="9525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480560"/>
            <a:ext cx="11057839" cy="78638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480560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Aptos"/>
              </a:rPr>
              <a:t>General AI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2968" y="4480560"/>
            <a:ext cx="73152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B82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448056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B3C"/>
                </a:solidFill>
                <a:latin typeface="Aptos"/>
              </a:rPr>
              <a:t>Own a narrow operational workflow with agents.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2328" y="4480560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C"/>
                </a:solidFill>
                <a:latin typeface="Aptos"/>
              </a:rPr>
              <a:t>Plexe, Cua, Klavis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266944"/>
            <a:ext cx="11057839" cy="9525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66944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Aptos"/>
              </a:rPr>
              <a:t>Legal &amp;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2968" y="5266944"/>
            <a:ext cx="73152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B82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7368" y="5266944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B3C"/>
                </a:solidFill>
                <a:latin typeface="Aptos"/>
              </a:rPr>
              <a:t>Embed agents inside document-heavy or policy-heavy professional workflows.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5266944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C"/>
                </a:solidFill>
                <a:latin typeface="Aptos"/>
              </a:rPr>
              <a:t>Vesence, Third Chair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053328"/>
            <a:ext cx="11057839" cy="9525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Smaller clusters can still be strategically attractive when workflow pain and willingness to pay are high.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Where The Strong Lanes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Workflow ownership vs. willingness to pay — by use-case cluster</a:t>
            </a:r>
          </a:p>
        </p:txBody>
      </p:sp>
      <p:pic>
        <p:nvPicPr>
          <p:cNvPr id="7" name="Picture 6" descr="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868" y="1463040"/>
            <a:ext cx="7145959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Healthcare ops and finance sit top-right: deep workflow ownership and strong willingness to pay.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Representative Companies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A cross-section of the filtered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92808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Anana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4946" y="1911096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2p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95144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One place for Revenue, Sales, and Operations to work together with AI — investigating pickup, triaging RFPs, and acting in the tools your team already 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91640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691640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6818" y="1892808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Golf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6236" y="1911096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1p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295144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Your agents connect to your data &amp; you can’t see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9508" y="1691640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9508" y="1691640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8108" y="1892808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Pelica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47527" y="1911096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5p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8108" y="2295144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Pelica Health builds AI co-pilots for value-based care quality teams, unifying EHR, claims, pharmacy, and lab data to close care gaps and improve outcomes.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27832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227832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429000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stratify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4946" y="3447288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831336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Automate your user research with AI-powered insights. Get deeper customer understanding without the manual 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8218" y="3227832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8218" y="3227832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6818" y="3429000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BitBoard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6236" y="3447288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2p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6818" y="3831336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Connect your data, build with your agent, share with your team.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9508" y="3227832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9508" y="3227832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8108" y="3429000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Capacitive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47527" y="3447288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2p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8108" y="3831336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As of January 2026, Capacitive has ceased all operations and discontinued support for its Commons platform.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64024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764024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4965192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Aegis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04946" y="4983480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3p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367528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AI Agents to win denied health insurance claims.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8218" y="4764024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38218" y="4764024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66818" y="4965192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Cotool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6236" y="4983480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4p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6818" y="5367528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AI Agents for Security Operations Teams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09508" y="4764024"/>
            <a:ext cx="351525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09508" y="4764024"/>
            <a:ext cx="3515258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8108" y="4965192"/>
            <a:ext cx="260085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1628"/>
                </a:solidFill>
                <a:latin typeface="Aptos"/>
              </a:rPr>
              <a:t>MindFort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47527" y="4983480"/>
            <a:ext cx="594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82"/>
                </a:solidFill>
                <a:latin typeface="Aptos"/>
              </a:rPr>
              <a:t>5p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8108" y="5367528"/>
            <a:ext cx="305805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B3C"/>
                </a:solidFill>
                <a:latin typeface="Aptos"/>
              </a:rPr>
              <a:t>Autonomous Security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C9A7"/>
                </a:solidFill>
                <a:latin typeface="Apto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Strategic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977639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EECE1"/>
                </a:solidFill>
                <a:latin typeface="Aptos"/>
              </a:rPr>
              <a:t>Where the YC pattern supports Sync2, where it pressures ReprisesAI, and what to build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B9A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B9A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Sync2 Has Real YC Adjacency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32588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8016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82"/>
                </a:solidFill>
                <a:latin typeface="Aptos"/>
              </a:rPr>
              <a:t>CLOSEST YC 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74519"/>
            <a:ext cx="48006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Pelica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Pelica Health builds AI co-pilots for value-based care quality teams, unifying EHR, claims, pharmacy, and lab data to close care gaps and improve outcomes.</a:t>
            </a:r>
          </a:p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Simbie AI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Simbie AI’s clinically-trained voice agents act as your 24/7 AI medical receptionist—handling scheduling, refills &amp; intake with 60% cost savings. Loved by doctors &amp; patients.</a:t>
            </a:r>
          </a:p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Prosper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AI Voice Agents ‍ for Patient Access and RCM</a:t>
            </a:r>
          </a:p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Toothy AI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Toothy takes insurance off your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5527" y="128016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9847" y="146304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C9A7"/>
                </a:solidFill>
                <a:latin typeface="Aptos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9847" y="1874519"/>
            <a:ext cx="48006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EECE1"/>
                </a:solidFill>
                <a:latin typeface="Aptos"/>
              </a:rPr>
              <a:t>•  The lane is real, but the stronger names own deeper workflow than a thin front-desk wrapper.</a:t>
            </a:r>
          </a:p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EECE1"/>
                </a:solidFill>
                <a:latin typeface="Aptos"/>
              </a:rPr>
              <a:t>•  Scheduling, claims, billing, intake, and patient comms are stronger system-of-action wedges.</a:t>
            </a:r>
          </a:p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EECE1"/>
                </a:solidFill>
                <a:latin typeface="Aptos"/>
              </a:rPr>
              <a:t>•  The winning product likely captures more of the actual clinic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09160"/>
            <a:ext cx="3533546" cy="86868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91456"/>
            <a:ext cx="353354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A7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4865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strong adjacency matches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9074" y="4709160"/>
            <a:ext cx="3533546" cy="86868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9074" y="4791456"/>
            <a:ext cx="353354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A7"/>
                </a:solidFill>
                <a:latin typeface="Aptos Display"/>
              </a:rPr>
              <a:t>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514" y="524865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workflow depth wins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4709160"/>
            <a:ext cx="3533546" cy="86868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1220" y="4791456"/>
            <a:ext cx="353354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A7"/>
                </a:solidFill>
                <a:latin typeface="Aptos Display"/>
              </a:rPr>
              <a:t>$$$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2660" y="524865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high-friction buyer pain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1">
                <a:solidFill>
                  <a:srgbClr val="0A1628"/>
                </a:solidFill>
                <a:latin typeface="Aptos"/>
              </a:rPr>
              <a:t>Key question: does the product own enough workflow to become system-of-action software?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ReprisesAI Faces Productization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32588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8016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6304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82"/>
                </a:solidFill>
                <a:latin typeface="Aptos"/>
              </a:rPr>
              <a:t>CLOSEST YC 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74519"/>
            <a:ext cx="48006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Contour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AI voice agents for healthcare operational calls</a:t>
            </a:r>
          </a:p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flowscope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Agents that learn how your business actually runs, then redesign and automate the work on top of existing systems. The AI team for businesses that don't have one.</a:t>
            </a:r>
          </a:p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Unisson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AI agents that learn to use your product and run directly inside it to execute any task your customers need, accelerating their time to value.</a:t>
            </a:r>
          </a:p>
          <a:p>
            <a:pPr algn="l">
              <a:lnSpc>
                <a:spcPct val="104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Aptos"/>
              </a:rPr>
              <a:t>Lua Global Inc</a:t>
            </a:r>
          </a:p>
          <a:p>
            <a:pPr algn="l">
              <a:lnSpc>
                <a:spcPct val="104000"/>
              </a:lnSpc>
              <a:spcBef>
                <a:spcPts val="100"/>
              </a:spcBef>
              <a:spcAft>
                <a:spcPts val="0"/>
              </a:spcAft>
            </a:pPr>
            <a:r>
              <a:rPr sz="1200" b="0" i="0">
                <a:solidFill>
                  <a:srgbClr val="1B2B3C"/>
                </a:solidFill>
                <a:latin typeface="Aptos"/>
              </a:rPr>
              <a:t>Build, deploy, and scale enterprise-grade AI agents. Ship your first agent without touching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5527" y="128016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9847" y="146304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C9A7"/>
                </a:solidFill>
                <a:latin typeface="Aptos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9847" y="1874519"/>
            <a:ext cx="48006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EECE1"/>
                </a:solidFill>
                <a:latin typeface="Aptos"/>
              </a:rPr>
              <a:t>•  There are fewer direct AI-agency clones than expected.</a:t>
            </a:r>
          </a:p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EECE1"/>
                </a:solidFill>
                <a:latin typeface="Aptos"/>
              </a:rPr>
              <a:t>•  The bigger risk is productized implementation software absorbing repeatable service work.</a:t>
            </a:r>
          </a:p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EEECE1"/>
                </a:solidFill>
                <a:latin typeface="Aptos"/>
              </a:rPr>
              <a:t>•  The safer posture is a specialized wedge, not generic AI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09160"/>
            <a:ext cx="3533546" cy="86868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91456"/>
            <a:ext cx="353354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A7"/>
                </a:solidFill>
                <a:latin typeface="Aptos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4865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clear comparables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9074" y="4709160"/>
            <a:ext cx="3533546" cy="86868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9074" y="4791456"/>
            <a:ext cx="353354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A7"/>
                </a:solidFill>
                <a:latin typeface="Aptos Display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514" y="524865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services get productized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4709160"/>
            <a:ext cx="3533546" cy="86868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1220" y="4791456"/>
            <a:ext cx="353354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C9A7"/>
                </a:solidFill>
                <a:latin typeface="Aptos Display"/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2660" y="524865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specialize the wedge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1">
                <a:solidFill>
                  <a:srgbClr val="0A1628"/>
                </a:solidFill>
                <a:latin typeface="Aptos"/>
              </a:rPr>
              <a:t>Key question: can a service offer defend a wedge before software productizes the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Support vs. Pressure,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How the cohort cuts for each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2D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4592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Where the pattern SUPPORTS Sync2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3160"/>
            <a:ext cx="470916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Healthcare ops is a validated, dense lane.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Buyers feel acute, measurable admin pain.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Deep workflow ownership is rewarded, not punished.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Voice + RCM + intake are proven entry wedges.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5527" y="164592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5527" y="1645920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5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9847" y="164592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Where it PRESSURES ReprisesAI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567" y="2423160"/>
            <a:ext cx="470916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Productized implementation tools are emerging fast.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Generic 'AI agency' positioning is easily copied.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Repeatable service work is the first to be automated.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1B2B3C"/>
                </a:solidFill>
                <a:latin typeface="Aptos"/>
              </a:rPr>
              <a:t>•  Defensibility requires a narrow, owned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What I Would Do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Recommendations follow directly from the cohort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5391759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0116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214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029968"/>
            <a:ext cx="402015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Choose workflow-heavy use cases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43200"/>
            <a:ext cx="40201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B3C"/>
                </a:solidFill>
                <a:latin typeface="Aptos"/>
              </a:rPr>
              <a:t>8 companies cluster around operational systems of action, making this the clearest YC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391759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7327" y="20116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1214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2029968"/>
            <a:ext cx="402015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Own context, governance, or workflow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2743200"/>
            <a:ext cx="40201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B3C"/>
                </a:solidFill>
                <a:latin typeface="Aptos"/>
              </a:rPr>
              <a:t>The more durable clusters pair agents with data access, infrastructure, or embedded workflow ownership.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21608"/>
            <a:ext cx="5391759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95928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0565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014216"/>
            <a:ext cx="402015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Treat healthcare operations as a real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727448"/>
            <a:ext cx="40201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B3C"/>
                </a:solidFill>
                <a:latin typeface="Aptos"/>
              </a:rPr>
              <a:t>The count is smaller than horizontal ops, but the workflow pain and willingness to pay are strong.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721608"/>
            <a:ext cx="5391759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7327" y="3995928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10565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4014216"/>
            <a:ext cx="402015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Avoid generic agent-platform messaging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4727448"/>
            <a:ext cx="40201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B3C"/>
                </a:solidFill>
                <a:latin typeface="Aptos"/>
              </a:rPr>
              <a:t>The cohort repeatedly rewards products with explicit jobs and operators, not broad agent claims.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Risks &amp; Watch-Outs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What could invalidate this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1105783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38528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202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Cohort is tiny (n=27)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50008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B3C"/>
                </a:solidFill>
                <a:latin typeface="Aptos"/>
              </a:rPr>
              <a:t>Patterns are directional, not statistically conclusive. Treat counts as signal, re-test next batch.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8104"/>
            <a:ext cx="1105783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46704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Labels are inferred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7647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B3C"/>
                </a:solidFill>
                <a:latin typeface="Aptos"/>
              </a:rPr>
              <a:t>Use-case clusters come from company text, not official YC categories — boundaries are fuzzy.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44568"/>
            <a:ext cx="1105783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90000" dist="38100" dir="5400000" rotWithShape="0">
              <a:srgbClr val="0A162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2861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9A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731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1628"/>
                </a:solidFill>
                <a:latin typeface="Aptos"/>
              </a:rPr>
              <a:t>Cohort attrition is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02936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B3C"/>
                </a:solidFill>
                <a:latin typeface="Aptos"/>
              </a:rPr>
              <a:t>Some names have already wound down (e.g. Capacitive), so survivorship will reshape the map.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A 90-Day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B7C"/>
                </a:solidFill>
                <a:latin typeface="Aptos"/>
              </a:rPr>
              <a:t>Turning the read into concrete moves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35661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75104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Days 0-30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49424"/>
            <a:ext cx="295442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Validate the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26080"/>
            <a:ext cx="291785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Pick one workflow-heavy lane to own end-to-end.</a:t>
            </a:r>
          </a:p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Interview 10 buyers in healthcare ops or finance.</a:t>
            </a:r>
          </a:p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Define the system-of-action boundary precisely.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1706" y="3291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B8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828800"/>
            <a:ext cx="3503066" cy="35661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4314" y="1828800"/>
            <a:ext cx="3503066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8634" y="1975104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Days 30-60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8634" y="2249424"/>
            <a:ext cx="295442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Build the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2926080"/>
            <a:ext cx="291785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Ship a narrow agent that owns one painful queue.</a:t>
            </a:r>
          </a:p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Instrument cycle-time and error-rate baselines.</a:t>
            </a:r>
          </a:p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Secure 2-3 design partners with clear SLAs.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9092" y="3291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B8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1828800"/>
            <a:ext cx="3503066" cy="35661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1700" y="1828800"/>
            <a:ext cx="3503066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6020" y="1975104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9A7"/>
                </a:solidFill>
                <a:latin typeface="Aptos"/>
              </a:rPr>
              <a:t>Days 60-90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6020" y="2249424"/>
            <a:ext cx="295442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Prove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4308" y="2926080"/>
            <a:ext cx="291785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Embed into the default workflow / release loop.</a:t>
            </a:r>
          </a:p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Show measurable ROI vs. manual baseline.</a:t>
            </a:r>
          </a:p>
          <a:p>
            <a:pPr algn="l">
              <a:lnSpc>
                <a:spcPct val="104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 i="0">
                <a:solidFill>
                  <a:srgbClr val="1B2B3C"/>
                </a:solidFill>
                <a:latin typeface="Aptos"/>
              </a:rPr>
              <a:t>•  Decide: deepen the wedge or expand adjacent.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1628"/>
                </a:solidFill>
                <a:latin typeface="Aptos Display"/>
              </a:rPr>
              <a:t>Method &amp; 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74959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B2B3C"/>
                </a:solidFill>
                <a:latin typeface="Aptos"/>
              </a:rPr>
              <a:t>•  Website tested: https://www.ycombinator.com/companies</a:t>
            </a:r>
          </a:p>
          <a:p>
            <a:pPr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B2B3C"/>
                </a:solidFill>
                <a:latin typeface="Aptos"/>
              </a:rPr>
              <a:t>•  yc-companies discovers the live YC backend from the public page on each run.</a:t>
            </a:r>
          </a:p>
          <a:p>
            <a:pPr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B2B3C"/>
                </a:solidFill>
                <a:latin typeface="Aptos"/>
              </a:rPr>
              <a:t>•  Primary filter: Spring 2025, agent / agentic pattern, team size ≤ 10.</a:t>
            </a:r>
          </a:p>
          <a:p>
            <a:pPr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B2B3C"/>
                </a:solidFill>
                <a:latin typeface="Aptos"/>
              </a:rPr>
              <a:t>•  Structured cluster counts derived from 27 filtered companies (companies may span lanes).</a:t>
            </a:r>
          </a:p>
          <a:p>
            <a:pPr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B2B3C"/>
                </a:solidFill>
                <a:latin typeface="Aptos"/>
              </a:rPr>
              <a:t>•  Use-case labels are inferred from company text, not official YC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9204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EEECE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892040"/>
            <a:ext cx="10143439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1628"/>
                </a:solidFill>
                <a:latin typeface="Aptos"/>
              </a:rPr>
              <a:t>This deck is chained from a structured analysis pack — not freehand slide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6B7C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C9A7"/>
                </a:solidFill>
                <a:latin typeface="Aptos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 Display"/>
              </a:rPr>
              <a:t>Winners are defined by workflow choice and ownership — not model novelty.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8346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8895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16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Lead with workflow-heavy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EECE1"/>
                </a:solidFill>
                <a:latin typeface="Aptos"/>
              </a:rPr>
              <a:t>8 companies cluster around operational systems of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3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758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85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Own context, governance, or workflow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EECE1"/>
                </a:solidFill>
                <a:latin typeface="Aptos"/>
              </a:rPr>
              <a:t>Durable clusters pair agents with data, infra, or embedded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720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6268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537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Treat healthcare operations as a real wedge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EECE1"/>
                </a:solidFill>
                <a:latin typeface="Aptos"/>
              </a:rPr>
              <a:t>Smaller count, but strong pain and willingness to pay.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4406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49554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628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422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Avoid generic agent-platform 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EECE1"/>
                </a:solidFill>
                <a:latin typeface="Aptos"/>
              </a:rPr>
              <a:t>The cohort rewards explicit jobs and operators.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B9A"/>
                </a:solidFill>
                <a:latin typeface="Aptos"/>
              </a:rPr>
              <a:t>TicketForge  |  YC Agent Companies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1908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B9A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