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0"/>
            <a:ext cx="64008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Calibri"/>
              </a:rPr>
              <a:t>Y Combinator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0000"/>
            <a:ext cx="6400800" cy="9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Agent Companies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00000"/>
            <a:ext cx="1371600" cy="36576"/>
          </a:xfrm>
          <a:prstGeom prst="rect">
            <a:avLst/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00000"/>
            <a:ext cx="6400800" cy="4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200" b="1">
                <a:solidFill>
                  <a:srgbClr val="EEECE1"/>
                </a:solidFill>
                <a:latin typeface="Calibri"/>
              </a:rPr>
              <a:t>What Spring 2025 YC's small-team agent startups are actually 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50000"/>
            <a:ext cx="6500000" cy="9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900" b="0">
                <a:solidFill>
                  <a:srgbClr val="EEECE1"/>
                </a:solidFill>
                <a:latin typeface="Calibri"/>
              </a:rPr>
              <a:t>Structured business use cases, density map, and implications for Sync2 and ReprisesAI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50000"/>
            <a:ext cx="920000" cy="32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95000"/>
            <a:ext cx="92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61520" y="4850000"/>
            <a:ext cx="920000" cy="32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61520" y="4895000"/>
            <a:ext cx="92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Customer 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1520" y="4850000"/>
            <a:ext cx="920000" cy="32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91520" y="4895000"/>
            <a:ext cx="92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Healthcare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21520" y="4850000"/>
            <a:ext cx="920000" cy="32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1520" y="4895000"/>
            <a:ext cx="92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Tooling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51520" y="4850000"/>
            <a:ext cx="920000" cy="32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51520" y="4895000"/>
            <a:ext cx="92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Infra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7436815" cy="4572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600" b="1">
                <a:solidFill>
                  <a:srgbClr val="0A1628"/>
                </a:solidFill>
                <a:latin typeface="Calibri"/>
              </a:rPr>
              <a:t>What You'll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457200" cy="41148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30120"/>
            <a:ext cx="457200" cy="27432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985120"/>
            <a:ext cx="4572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What the cohort actually says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205120"/>
            <a:ext cx="59436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Headline findings, size, and density 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30120"/>
            <a:ext cx="457200" cy="41148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0120"/>
            <a:ext cx="457200" cy="27432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555120"/>
            <a:ext cx="4572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Business use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775120"/>
            <a:ext cx="59436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Structured jobs, buyers, and source-backed company proof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00120"/>
            <a:ext cx="457200" cy="41148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70120"/>
            <a:ext cx="457200" cy="27432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25120"/>
            <a:ext cx="4572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Strategic implications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45120"/>
            <a:ext cx="59436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Sync2, ReprisesAI, and what to do next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70120"/>
            <a:ext cx="457200" cy="41148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740120"/>
            <a:ext cx="457200" cy="27432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695120"/>
            <a:ext cx="4572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Execution priorities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915120"/>
            <a:ext cx="59436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Recommendations, opportunity ladder, and methodology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00000"/>
            <a:ext cx="2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1">
                <a:solidFill>
                  <a:srgbClr val="00C9A7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50000"/>
            <a:ext cx="70000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The Cohort Actually Says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0000"/>
            <a:ext cx="76000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700" b="0">
                <a:solidFill>
                  <a:srgbClr val="EEECE1"/>
                </a:solidFill>
                <a:latin typeface="Calibri"/>
              </a:rPr>
              <a:t>The data is more operational and workflow-shaped than the generic agent narrative suggests.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50000"/>
            <a:ext cx="1371600" cy="36576"/>
          </a:xfrm>
          <a:prstGeom prst="rect">
            <a:avLst/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0000"/>
            <a:ext cx="9000000" cy="6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3000" b="1">
                <a:solidFill>
                  <a:srgbClr val="0A1628"/>
                </a:solidFill>
                <a:latin typeface="Calibri"/>
              </a:rPr>
              <a:t>Three Conclusions Matter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50000"/>
            <a:ext cx="1371600" cy="36576"/>
          </a:xfrm>
          <a:prstGeom prst="rect">
            <a:avLst/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00000"/>
            <a:ext cx="10600000" cy="105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195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1990000"/>
            <a:ext cx="520000" cy="2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000" y="1970000"/>
            <a:ext cx="62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000" b="1">
                <a:solidFill>
                  <a:srgbClr val="0A1628"/>
                </a:solidFill>
                <a:latin typeface="Calibri"/>
              </a:rPr>
              <a:t>Workflow automation leads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000" y="2250000"/>
            <a:ext cx="9300000" cy="4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0">
                <a:solidFill>
                  <a:srgbClr val="1B2B3C"/>
                </a:solidFill>
                <a:latin typeface="Calibri"/>
              </a:rPr>
              <a:t>The strongest YC signal is not generic assistants. It is agents wrapped around concrete operational jobs.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00000"/>
            <a:ext cx="10600000" cy="105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0000" y="315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" y="3190000"/>
            <a:ext cx="520000" cy="2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000" y="3170000"/>
            <a:ext cx="62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000" b="1">
                <a:solidFill>
                  <a:srgbClr val="0A1628"/>
                </a:solidFill>
                <a:latin typeface="Calibri"/>
              </a:rPr>
              <a:t>Ops and tooling dominate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000" y="3450000"/>
            <a:ext cx="9300000" cy="4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0">
                <a:solidFill>
                  <a:srgbClr val="1B2B3C"/>
                </a:solidFill>
                <a:latin typeface="Calibri"/>
              </a:rPr>
              <a:t>Customer ops, analytics, QA, testing, context, and infra appear more often than broad platform narratives.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0000"/>
            <a:ext cx="10600000" cy="105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0000" y="435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00" y="4390000"/>
            <a:ext cx="520000" cy="2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000" y="4370000"/>
            <a:ext cx="62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000" b="1">
                <a:solidFill>
                  <a:srgbClr val="0A1628"/>
                </a:solidFill>
                <a:latin typeface="Calibri"/>
              </a:rPr>
              <a:t>Healthcare is a real vertical wedge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000" y="4650000"/>
            <a:ext cx="9300000" cy="4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0">
                <a:solidFill>
                  <a:srgbClr val="1B2B3C"/>
                </a:solidFill>
                <a:latin typeface="Calibri"/>
              </a:rPr>
              <a:t>Administrative healthcare workflows show enough density and pain to warrant focused product bets.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0000"/>
            <a:ext cx="9000000" cy="5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3000" b="1">
                <a:solidFill>
                  <a:srgbClr val="0A1628"/>
                </a:solidFill>
                <a:latin typeface="Calibri"/>
              </a:rPr>
              <a:t>This Cohort Is Tiny But Focused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0000"/>
            <a:ext cx="10000000" cy="3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0">
                <a:solidFill>
                  <a:srgbClr val="0A1628"/>
                </a:solidFill>
                <a:latin typeface="Calibri"/>
              </a:rPr>
              <a:t>The cohort is young, but the use-case pattern is already visible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00000"/>
            <a:ext cx="2200000" cy="160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0000"/>
            <a:ext cx="2200000" cy="4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2800" b="1">
                <a:solidFill>
                  <a:srgbClr val="00C9A7"/>
                </a:solidFill>
                <a:latin typeface="Calibr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1520" y="2550000"/>
            <a:ext cx="19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companies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1520" y="2920000"/>
            <a:ext cx="1900000" cy="4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300" b="0">
                <a:solidFill>
                  <a:srgbClr val="EEECE1"/>
                </a:solidFill>
                <a:latin typeface="Calibri"/>
              </a:rPr>
              <a:t>filtered Spring 2025 cohort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0000" y="1800000"/>
            <a:ext cx="2200000" cy="160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0000" y="2050000"/>
            <a:ext cx="2200000" cy="4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2800" b="1">
                <a:solidFill>
                  <a:srgbClr val="00C9A7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0000" y="2550000"/>
            <a:ext cx="19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median team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920000"/>
            <a:ext cx="1900000" cy="4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300" b="0">
                <a:solidFill>
                  <a:srgbClr val="EEECE1"/>
                </a:solidFill>
                <a:latin typeface="Calibri"/>
              </a:rPr>
              <a:t>very early-stage cohort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70000" y="1800000"/>
            <a:ext cx="2200000" cy="160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70000" y="2050000"/>
            <a:ext cx="2200000" cy="4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2800" b="1">
                <a:solidFill>
                  <a:srgbClr val="00C9A7"/>
                </a:solidFill>
                <a:latin typeface="Calibri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0000" y="2550000"/>
            <a:ext cx="19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teams with 1-2 people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0" y="2920000"/>
            <a:ext cx="1900000" cy="4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300" b="0">
                <a:solidFill>
                  <a:srgbClr val="EEECE1"/>
                </a:solidFill>
                <a:latin typeface="Calibri"/>
              </a:rPr>
              <a:t>nearly half the cohort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0000" y="1800000"/>
            <a:ext cx="2200000" cy="160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0000" y="2050000"/>
            <a:ext cx="2200000" cy="4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2800" b="1">
                <a:solidFill>
                  <a:srgbClr val="00C9A7"/>
                </a:solidFill>
                <a:latin typeface="Calibr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0000" y="2550000"/>
            <a:ext cx="19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workflow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0000" y="2920000"/>
            <a:ext cx="1900000" cy="4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300" b="0">
                <a:solidFill>
                  <a:srgbClr val="EEECE1"/>
                </a:solidFill>
                <a:latin typeface="Calibri"/>
              </a:rPr>
              <a:t>largest cluster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50000"/>
            <a:ext cx="10600000" cy="120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0000" y="4520000"/>
            <a:ext cx="10000000" cy="450000"/>
          </a:xfrm>
          <a:prstGeom prst="rect">
            <a:avLst/>
          </a:prstGeom>
          <a:noFill/>
        </p:spPr>
        <p:txBody>
          <a:bodyPr wrap="square" anchor="ctr" lIns="35000" rIns="35000" tIns="20000" bIns="20000">
            <a:spAutoFit/>
          </a:bodyPr>
          <a:lstStyle/>
          <a:p>
            <a:pPr algn="ctr"/>
            <a:r>
              <a:rPr sz="2000" b="1">
                <a:solidFill>
                  <a:srgbClr val="0A1628"/>
                </a:solidFill>
                <a:latin typeface="Calibri"/>
              </a:rPr>
              <a:t>Likely winners will be defined by workflow choice and ownership, not by model novelty.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000000" cy="4572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600" b="1">
                <a:solidFill>
                  <a:srgbClr val="0A1628"/>
                </a:solidFill>
                <a:latin typeface="Calibri"/>
              </a:rPr>
              <a:t>The Cohort Is Front-Loaded With Tiny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00000"/>
            <a:ext cx="76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Team size distribution reinforces how early and still-forming these bets 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000" y="2000000"/>
            <a:ext cx="1200000" cy="190000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2050000"/>
            <a:ext cx="12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4100000"/>
            <a:ext cx="12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500" b="1">
                <a:solidFill>
                  <a:srgbClr val="0A1628"/>
                </a:solidFill>
                <a:latin typeface="Calibri"/>
              </a:rPr>
              <a:t>1-2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00000" y="3169231"/>
            <a:ext cx="1200000" cy="730769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00000" y="3219231"/>
            <a:ext cx="12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0000" y="4100000"/>
            <a:ext cx="12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500" b="1">
                <a:solidFill>
                  <a:srgbClr val="0A1628"/>
                </a:solidFill>
                <a:latin typeface="Calibri"/>
              </a:rPr>
              <a:t>3-4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0000" y="3315385"/>
            <a:ext cx="1200000" cy="584615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0000" y="3365385"/>
            <a:ext cx="12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0000" y="4100000"/>
            <a:ext cx="12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500" b="1">
                <a:solidFill>
                  <a:srgbClr val="0A1628"/>
                </a:solidFill>
                <a:latin typeface="Calibri"/>
              </a:rPr>
              <a:t>5-6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0000" y="3169231"/>
            <a:ext cx="1200000" cy="730769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0" y="3219231"/>
            <a:ext cx="12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0" y="4100000"/>
            <a:ext cx="12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500" b="1">
                <a:solidFill>
                  <a:srgbClr val="0A1628"/>
                </a:solidFill>
                <a:latin typeface="Calibri"/>
              </a:rPr>
              <a:t>7-8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00000" y="3900000"/>
            <a:ext cx="1200000" cy="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00000" y="3950000"/>
            <a:ext cx="12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0000" y="4100000"/>
            <a:ext cx="12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500" b="1">
                <a:solidFill>
                  <a:srgbClr val="0A1628"/>
                </a:solidFill>
                <a:latin typeface="Calibri"/>
              </a:rPr>
              <a:t>9-10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00" y="5000000"/>
            <a:ext cx="9800000" cy="5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1B2B3C"/>
                </a:solidFill>
                <a:latin typeface="Calibri"/>
              </a:rPr>
              <a:t>The market signal is meaningful, but the products are still converging on the right wedge.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0000"/>
            <a:ext cx="9500000" cy="5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3000" b="1">
                <a:solidFill>
                  <a:srgbClr val="0A1628"/>
                </a:solidFill>
                <a:latin typeface="Calibri"/>
              </a:rPr>
              <a:t>Use-Case Density Favors Real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0000"/>
            <a:ext cx="90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0">
                <a:solidFill>
                  <a:srgbClr val="5B6B7C"/>
                </a:solidFill>
                <a:latin typeface="Calibri"/>
              </a:rPr>
              <a:t>The highest-density clusters are operational software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650000"/>
            <a:ext cx="290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700" b="1">
                <a:solidFill>
                  <a:srgbClr val="1B2B3C"/>
                </a:solidFill>
                <a:latin typeface="Calibri"/>
              </a:rPr>
              <a:t>workflow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00000" y="1670000"/>
            <a:ext cx="5200000" cy="21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00000" y="1670000"/>
            <a:ext cx="5200000" cy="21000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00000" y="1640000"/>
            <a:ext cx="35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700" b="1">
                <a:solidFill>
                  <a:srgbClr val="0A1628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170000"/>
            <a:ext cx="290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700" b="1">
                <a:solidFill>
                  <a:srgbClr val="1B2B3C"/>
                </a:solidFill>
                <a:latin typeface="Calibri"/>
              </a:rPr>
              <a:t>sales and customer 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00000" y="2190000"/>
            <a:ext cx="5200000" cy="21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00000" y="2190000"/>
            <a:ext cx="4550000" cy="21000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00000" y="2160000"/>
            <a:ext cx="35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700" b="1">
                <a:solidFill>
                  <a:srgbClr val="0A1628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2690000"/>
            <a:ext cx="290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700" b="1">
                <a:solidFill>
                  <a:srgbClr val="1B2B3C"/>
                </a:solidFill>
                <a:latin typeface="Calibri"/>
              </a:rPr>
              <a:t>analytics and reporting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00000" y="2710000"/>
            <a:ext cx="5200000" cy="21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00000" y="2710000"/>
            <a:ext cx="3900000" cy="21000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0000" y="2680000"/>
            <a:ext cx="35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700" b="1">
                <a:solidFill>
                  <a:srgbClr val="0A1628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000" y="3210000"/>
            <a:ext cx="290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700" b="1">
                <a:solidFill>
                  <a:srgbClr val="1B2B3C"/>
                </a:solidFill>
                <a:latin typeface="Calibri"/>
              </a:rPr>
              <a:t>developer tools and testing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00000" y="3230000"/>
            <a:ext cx="5200000" cy="21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900000" y="3230000"/>
            <a:ext cx="3900000" cy="21000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0000" y="3200000"/>
            <a:ext cx="35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700" b="1">
                <a:solidFill>
                  <a:srgbClr val="0A1628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00" y="3730000"/>
            <a:ext cx="290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700" b="1">
                <a:solidFill>
                  <a:srgbClr val="1B2B3C"/>
                </a:solidFill>
                <a:latin typeface="Calibri"/>
              </a:rPr>
              <a:t>data and agent infrastructure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00000" y="3750000"/>
            <a:ext cx="5200000" cy="21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900000" y="3750000"/>
            <a:ext cx="3250000" cy="21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0000" y="3720000"/>
            <a:ext cx="35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700" b="1">
                <a:solidFill>
                  <a:srgbClr val="0A1628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000" y="4250000"/>
            <a:ext cx="290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700" b="1">
                <a:solidFill>
                  <a:srgbClr val="1B2B3C"/>
                </a:solidFill>
                <a:latin typeface="Calibri"/>
              </a:rPr>
              <a:t>finance and trading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00000" y="4270000"/>
            <a:ext cx="5200000" cy="21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900000" y="4270000"/>
            <a:ext cx="2600000" cy="21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0000" y="4240000"/>
            <a:ext cx="35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700" b="1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000" y="4770000"/>
            <a:ext cx="290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700" b="1">
                <a:solidFill>
                  <a:srgbClr val="1B2B3C"/>
                </a:solidFill>
                <a:latin typeface="Calibri"/>
              </a:rPr>
              <a:t>security and governance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00000" y="4790000"/>
            <a:ext cx="5200000" cy="21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900000" y="4790000"/>
            <a:ext cx="2600000" cy="21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00000" y="4760000"/>
            <a:ext cx="350000" cy="2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700" b="1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000" y="5650000"/>
            <a:ext cx="10000000" cy="3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The center of gravity is workflow automation, customer ops, analytics, testing, and infrastructure.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7436815" cy="4572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600" b="1">
                <a:solidFill>
                  <a:srgbClr val="0A1628"/>
                </a:solidFill>
                <a:latin typeface="Calibri"/>
              </a:rPr>
              <a:t>What People Expect vs. What The Cohort 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0000"/>
            <a:ext cx="70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Previous expectation vs. what the YC cohort actually reveals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00000"/>
            <a:ext cx="3300000" cy="420000"/>
          </a:xfrm>
          <a:prstGeom prst="rect">
            <a:avLst/>
          </a:prstGeom>
          <a:solidFill>
            <a:srgbClr val="F54776"/>
          </a:solidFill>
          <a:ln>
            <a:solidFill>
              <a:srgbClr val="F547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00000" y="1100000"/>
            <a:ext cx="3300000" cy="420000"/>
          </a:xfrm>
          <a:prstGeom prst="rect">
            <a:avLst/>
          </a:prstGeom>
          <a:solidFill>
            <a:srgbClr val="2DC48D"/>
          </a:solidFill>
          <a:ln>
            <a:solidFill>
              <a:srgbClr val="2DC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0000"/>
            <a:ext cx="33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Expected narrative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1180000"/>
            <a:ext cx="33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Observed YC pattern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20000"/>
            <a:ext cx="3300000" cy="470000"/>
          </a:xfrm>
          <a:prstGeom prst="roundRect">
            <a:avLst>
              <a:gd name="adj" fmla="val 15000"/>
            </a:avLst>
          </a:prstGeom>
          <a:solidFill>
            <a:srgbClr val="FBF0F2"/>
          </a:solidFill>
          <a:ln>
            <a:solidFill>
              <a:srgbClr val="F5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0000" y="1620000"/>
            <a:ext cx="3300000" cy="470000"/>
          </a:xfrm>
          <a:prstGeom prst="roundRect">
            <a:avLst>
              <a:gd name="adj" fmla="val 15000"/>
            </a:avLst>
          </a:prstGeom>
          <a:solidFill>
            <a:srgbClr val="EEFAF5"/>
          </a:solidFill>
          <a:ln>
            <a:solidFill>
              <a:srgbClr val="CC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0000" y="1710000"/>
            <a:ext cx="29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×  General-purpose agent assistants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0000" y="1710000"/>
            <a:ext cx="29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✓  Workflow-bound systems of 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180000"/>
            <a:ext cx="3300000" cy="470000"/>
          </a:xfrm>
          <a:prstGeom prst="roundRect">
            <a:avLst>
              <a:gd name="adj" fmla="val 15000"/>
            </a:avLst>
          </a:prstGeom>
          <a:solidFill>
            <a:srgbClr val="FBF0F2"/>
          </a:solidFill>
          <a:ln>
            <a:solidFill>
              <a:srgbClr val="F5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00000" y="2180000"/>
            <a:ext cx="3300000" cy="470000"/>
          </a:xfrm>
          <a:prstGeom prst="roundRect">
            <a:avLst>
              <a:gd name="adj" fmla="val 15000"/>
            </a:avLst>
          </a:prstGeom>
          <a:solidFill>
            <a:srgbClr val="EEFAF5"/>
          </a:solidFill>
          <a:ln>
            <a:solidFill>
              <a:srgbClr val="CC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000" y="2270000"/>
            <a:ext cx="29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×  Broad agent platform positioning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0000" y="2270000"/>
            <a:ext cx="29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✓  Buyer-owned operational categories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740000"/>
            <a:ext cx="3300000" cy="470000"/>
          </a:xfrm>
          <a:prstGeom prst="roundRect">
            <a:avLst>
              <a:gd name="adj" fmla="val 15000"/>
            </a:avLst>
          </a:prstGeom>
          <a:solidFill>
            <a:srgbClr val="FBF0F2"/>
          </a:solidFill>
          <a:ln>
            <a:solidFill>
              <a:srgbClr val="F5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0000" y="2740000"/>
            <a:ext cx="3300000" cy="470000"/>
          </a:xfrm>
          <a:prstGeom prst="roundRect">
            <a:avLst>
              <a:gd name="adj" fmla="val 15000"/>
            </a:avLst>
          </a:prstGeom>
          <a:solidFill>
            <a:srgbClr val="EEFAF5"/>
          </a:solidFill>
          <a:ln>
            <a:solidFill>
              <a:srgbClr val="CC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0000" y="2830000"/>
            <a:ext cx="29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×  Abstract AI capability claims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0000" y="2830000"/>
            <a:ext cx="29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✓  Testing, context, claims, reporting, and ops ownership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300000"/>
            <a:ext cx="3300000" cy="470000"/>
          </a:xfrm>
          <a:prstGeom prst="roundRect">
            <a:avLst>
              <a:gd name="adj" fmla="val 15000"/>
            </a:avLst>
          </a:prstGeom>
          <a:solidFill>
            <a:srgbClr val="FBF0F2"/>
          </a:solidFill>
          <a:ln>
            <a:solidFill>
              <a:srgbClr val="F5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00000" y="3300000"/>
            <a:ext cx="3300000" cy="470000"/>
          </a:xfrm>
          <a:prstGeom prst="roundRect">
            <a:avLst>
              <a:gd name="adj" fmla="val 15000"/>
            </a:avLst>
          </a:prstGeom>
          <a:solidFill>
            <a:srgbClr val="EEFAF5"/>
          </a:solidFill>
          <a:ln>
            <a:solidFill>
              <a:srgbClr val="CC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0000" y="3390000"/>
            <a:ext cx="29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×  Model novelty as the main 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0000" y="3390000"/>
            <a:ext cx="29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✓  Clear job boundaries and measurable business outcomes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00000"/>
            <a:ext cx="2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1">
                <a:solidFill>
                  <a:srgbClr val="00C9A7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50000"/>
            <a:ext cx="70000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Business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0000"/>
            <a:ext cx="76000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700" b="0">
                <a:solidFill>
                  <a:srgbClr val="EEECE1"/>
                </a:solidFill>
                <a:latin typeface="Calibri"/>
              </a:rPr>
              <a:t>The strongest signal comes from the jobs these companies are trying to own, not from the word agent itself.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50000"/>
            <a:ext cx="1371600" cy="36576"/>
          </a:xfrm>
          <a:prstGeom prst="rect">
            <a:avLst/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7436815" cy="4572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600" b="1">
                <a:solidFill>
                  <a:srgbClr val="0A1628"/>
                </a:solidFill>
                <a:latin typeface="Calibri"/>
              </a:rPr>
              <a:t>Top Use Cases, Structured As Business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0000"/>
            <a:ext cx="76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These are the highest-signal business shapes in the cohort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00000"/>
            <a:ext cx="180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0000" y="1240000"/>
            <a:ext cx="18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300" b="1">
                <a:solidFill>
                  <a:srgbClr val="0A1628"/>
                </a:solidFill>
                <a:latin typeface="Calibri"/>
              </a:rPr>
              <a:t>Workflow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0000" y="1240000"/>
            <a:ext cx="18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300" b="1">
                <a:solidFill>
                  <a:srgbClr val="0A1628"/>
                </a:solidFill>
                <a:latin typeface="Calibri"/>
              </a:rPr>
              <a:t>Sales And Customer 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0000" y="1240000"/>
            <a:ext cx="18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300" b="1">
                <a:solidFill>
                  <a:srgbClr val="0A1628"/>
                </a:solidFill>
                <a:latin typeface="Calibri"/>
              </a:rPr>
              <a:t>Analytics And Reporting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0000" y="1240000"/>
            <a:ext cx="18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300" b="1">
                <a:solidFill>
                  <a:srgbClr val="0A1628"/>
                </a:solidFill>
                <a:latin typeface="Calibri"/>
              </a:rPr>
              <a:t>Developer Tools And Testing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50000"/>
            <a:ext cx="1500000" cy="420000"/>
          </a:xfrm>
          <a:prstGeom prst="rect">
            <a:avLst/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000" y="1730000"/>
            <a:ext cx="135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Buyer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50000"/>
            <a:ext cx="1500000" cy="42000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" y="2330000"/>
            <a:ext cx="135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Business job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50000"/>
            <a:ext cx="1500000" cy="420000"/>
          </a:xfrm>
          <a:prstGeom prst="rect">
            <a:avLst/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" y="3230000"/>
            <a:ext cx="135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Value prop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50000"/>
            <a:ext cx="1500000" cy="420000"/>
          </a:xfrm>
          <a:prstGeom prst="rect">
            <a:avLst/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" y="4130000"/>
            <a:ext cx="135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Why now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0000" y="1650000"/>
            <a:ext cx="1900000" cy="420000"/>
          </a:xfrm>
          <a:prstGeom prst="rect">
            <a:avLst/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0000" y="1720000"/>
            <a:ext cx="166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COO, operations leader, or workflow owner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00000" y="2250000"/>
            <a:ext cx="1900000" cy="420000"/>
          </a:xfrm>
          <a:prstGeom prst="rect">
            <a:avLst/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20000" y="2320000"/>
            <a:ext cx="166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Turn high-volume, rules-heavy operational queues into agent-run systems of action.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00000" y="3150000"/>
            <a:ext cx="1900000" cy="420000"/>
          </a:xfrm>
          <a:prstGeom prst="rect">
            <a:avLst/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20000" y="3220000"/>
            <a:ext cx="166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Throughput, faster cycle times, and lower labor cost without requiring users to learn a new interface.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00000" y="4050000"/>
            <a:ext cx="1900000" cy="420000"/>
          </a:xfrm>
          <a:prstGeom prst="rect">
            <a:avLst/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20000" y="4120000"/>
            <a:ext cx="166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LLMs plus tool use make it possible to automate the whole queue, not just summarize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50000" y="1650000"/>
            <a:ext cx="1900000" cy="420000"/>
          </a:xfrm>
          <a:prstGeom prst="rect">
            <a:avLst/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70000" y="1720000"/>
            <a:ext cx="166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sales leaders, revenue ops, customer success, or service managers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50000" y="2250000"/>
            <a:ext cx="1900000" cy="420000"/>
          </a:xfrm>
          <a:prstGeom prst="rect">
            <a:avLst/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0000" y="2320000"/>
            <a:ext cx="166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Use agents to qualify, route, support, and operationalize customer interaction workflows.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50000" y="3150000"/>
            <a:ext cx="1900000" cy="420000"/>
          </a:xfrm>
          <a:prstGeom prst="rect">
            <a:avLst/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70000" y="3220000"/>
            <a:ext cx="166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Improves responsiveness and rep leverage while keeping the workflow anchored in revenue teams.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0000" y="4050000"/>
            <a:ext cx="1900000" cy="420000"/>
          </a:xfrm>
          <a:prstGeom prst="rect">
            <a:avLst/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70000" y="4120000"/>
            <a:ext cx="166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Customer conversations already create structured data and clear SLAs, which agents can exploit.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00000" y="1650000"/>
            <a:ext cx="1900000" cy="420000"/>
          </a:xfrm>
          <a:prstGeom prst="rect">
            <a:avLst/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0000" y="1720000"/>
            <a:ext cx="166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heads of analytics, operations leaders, and knowledge-work teams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00000" y="2250000"/>
            <a:ext cx="1900000" cy="420000"/>
          </a:xfrm>
          <a:prstGeom prst="rect">
            <a:avLst/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20000" y="2320000"/>
            <a:ext cx="166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Turn raw data or context into dashboards, summaries, and decision-ready reporting.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00000" y="3150000"/>
            <a:ext cx="1900000" cy="420000"/>
          </a:xfrm>
          <a:prstGeom prst="rect">
            <a:avLst/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20000" y="3220000"/>
            <a:ext cx="166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Makes information work faster and cheaper while reducing manual synthesis.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00000" y="4050000"/>
            <a:ext cx="1900000" cy="420000"/>
          </a:xfrm>
          <a:prstGeom prst="rect">
            <a:avLst/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20000" y="4120000"/>
            <a:ext cx="166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Reporting is repetitive, high-frequency, and already evaluated on output quality and speed.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50000" y="1650000"/>
            <a:ext cx="1900000" cy="420000"/>
          </a:xfrm>
          <a:prstGeom prst="rect">
            <a:avLst/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70000" y="1720000"/>
            <a:ext cx="166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engineering leaders, product teams, QA, and platform teams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50000" y="2250000"/>
            <a:ext cx="1900000" cy="420000"/>
          </a:xfrm>
          <a:prstGeom prst="rect">
            <a:avLst/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70000" y="2320000"/>
            <a:ext cx="166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Use agents to test, monitor, and validate software and model-driven systems.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50000" y="3150000"/>
            <a:ext cx="1900000" cy="420000"/>
          </a:xfrm>
          <a:prstGeom prst="rect">
            <a:avLst/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70000" y="3220000"/>
            <a:ext cx="166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Catches regressions and scales QA capacity without linearly scaling headcount.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50000" y="4050000"/>
            <a:ext cx="1900000" cy="420000"/>
          </a:xfrm>
          <a:prstGeom prst="rect">
            <a:avLst/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70000" y="4120000"/>
            <a:ext cx="166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Agentic products create new failure modes, so testing and observability have become first-order needs.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000"/>
            <a:ext cx="8000000" cy="5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800" b="1">
                <a:solidFill>
                  <a:srgbClr val="0A1628"/>
                </a:solidFill>
                <a:latin typeface="Calibri"/>
              </a:rPr>
              <a:t>Workflow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30000"/>
            <a:ext cx="1371600" cy="36576"/>
          </a:xfrm>
          <a:prstGeom prst="rect">
            <a:avLst/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0000"/>
            <a:ext cx="46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Buyer: COO, operations leader, or workflow 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50000"/>
            <a:ext cx="46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Workflow owner: ops managers running repetitive multi-step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50000"/>
            <a:ext cx="4900000" cy="15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2010000"/>
            <a:ext cx="16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Business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310000"/>
            <a:ext cx="4500000" cy="3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Turn high-volume, rules-heavy operational queues into agent-run systems of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740000"/>
            <a:ext cx="18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Value proposition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3040000"/>
            <a:ext cx="450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1B2B3C"/>
                </a:solidFill>
                <a:latin typeface="Calibri"/>
              </a:rPr>
              <a:t>Throughput, faster cycle times, and lower labor cost without requiring users to learn a new interface.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50000"/>
            <a:ext cx="12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Why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850000"/>
            <a:ext cx="480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1B2B3C"/>
                </a:solidFill>
                <a:latin typeface="Calibri"/>
              </a:rPr>
              <a:t>LLMs plus tool use make it possible to automate the whole queue, not just summarize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0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" y="4600000"/>
            <a:ext cx="480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1B2B3C"/>
                </a:solidFill>
                <a:latin typeface="Calibri"/>
              </a:rPr>
              <a:t>Best starting point when a team already exists and the handoffs are obvious.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0000" y="1450000"/>
            <a:ext cx="4700000" cy="400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0" y="1650000"/>
            <a:ext cx="2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Source-backed examples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0000" y="2050000"/>
            <a:ext cx="4200000" cy="7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0000" y="212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Anana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0000" y="2330000"/>
            <a:ext cx="3800000" cy="3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One place for Revenue, Sales, and Operations to work together with AI — investigating pickup, triaging RFPs, and acting in the tools your team alread…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0000" y="2900000"/>
            <a:ext cx="4200000" cy="7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0000" y="297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stratify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0000" y="3180000"/>
            <a:ext cx="3800000" cy="3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Automate your user research with AI-powered insights. Get deeper customer understanding without the manual work.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0000" y="3750000"/>
            <a:ext cx="4200000" cy="7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0000" y="382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Scalar Field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0000" y="4030000"/>
            <a:ext cx="3800000" cy="3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Your Agentic Trading Desk — Building the next era of agentic…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0000" y="4600000"/>
            <a:ext cx="4200000" cy="7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0000" y="467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Cotool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0000" y="4880000"/>
            <a:ext cx="3800000" cy="3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AI Agents for Security Operations Teams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000"/>
            <a:ext cx="8000000" cy="5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800" b="1">
                <a:solidFill>
                  <a:srgbClr val="0A1628"/>
                </a:solidFill>
                <a:latin typeface="Calibri"/>
              </a:rPr>
              <a:t>Sales And Customer 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30000"/>
            <a:ext cx="1371600" cy="36576"/>
          </a:xfrm>
          <a:prstGeom prst="rect">
            <a:avLst/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0000"/>
            <a:ext cx="46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Buyer: sales leaders, revenue ops, customer success, or service managers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50000"/>
            <a:ext cx="46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Workflow owner: frontline teams handling customer-facing repetitive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50000"/>
            <a:ext cx="4900000" cy="15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2010000"/>
            <a:ext cx="16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Business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310000"/>
            <a:ext cx="4500000" cy="3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Use agents to qualify, route, support, and operationalize customer interaction workflows.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740000"/>
            <a:ext cx="18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Value proposition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3040000"/>
            <a:ext cx="450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1B2B3C"/>
                </a:solidFill>
                <a:latin typeface="Calibri"/>
              </a:rPr>
              <a:t>Improves responsiveness and rep leverage while keeping the workflow anchored in revenue teams.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50000"/>
            <a:ext cx="12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Why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850000"/>
            <a:ext cx="480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1B2B3C"/>
                </a:solidFill>
                <a:latin typeface="Calibri"/>
              </a:rPr>
              <a:t>Customer conversations already create structured data and clear SLAs, which agents can exploit.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0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" y="4600000"/>
            <a:ext cx="480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1B2B3C"/>
                </a:solidFill>
                <a:latin typeface="Calibri"/>
              </a:rPr>
              <a:t>Strong wedge when the product can own a narrow workflow like intake, triage, or follow-up.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0000" y="1450000"/>
            <a:ext cx="4700000" cy="400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0" y="1650000"/>
            <a:ext cx="2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Source-backed examples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0000" y="2050000"/>
            <a:ext cx="4200000" cy="7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0000" y="212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Alpha 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0000" y="2330000"/>
            <a:ext cx="3800000" cy="3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Open source knowledge bases for all humanity.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0000" y="2900000"/>
            <a:ext cx="4200000" cy="7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0000" y="297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Anana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0000" y="3180000"/>
            <a:ext cx="3800000" cy="3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One place for Revenue, Sales, and Operations to work together with AI — investigating pickup, triaging RFPs, and acting in the tools your team alread…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0000" y="3750000"/>
            <a:ext cx="4200000" cy="7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0000" y="382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Cohesive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0000" y="4030000"/>
            <a:ext cx="3800000" cy="3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The agentic CRM for blue-collar services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0000" y="4600000"/>
            <a:ext cx="4200000" cy="7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0000" y="467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Galen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0000" y="4880000"/>
            <a:ext cx="3800000" cy="3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Personal AI healthcare agent, powered by clinical and wearable data.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000"/>
            <a:ext cx="8000000" cy="5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800" b="1">
                <a:solidFill>
                  <a:srgbClr val="0A1628"/>
                </a:solidFill>
                <a:latin typeface="Calibri"/>
              </a:rPr>
              <a:t>Analytics And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30000"/>
            <a:ext cx="1371600" cy="36576"/>
          </a:xfrm>
          <a:prstGeom prst="rect">
            <a:avLst/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0000"/>
            <a:ext cx="46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Buyer: heads of analytics, operations leaders, and knowledge-work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50000"/>
            <a:ext cx="46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Workflow owner: analysts and operators who summarize, monitor, and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50000"/>
            <a:ext cx="4900000" cy="15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2010000"/>
            <a:ext cx="16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Business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310000"/>
            <a:ext cx="4500000" cy="3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Turn raw data or context into dashboards, summaries, and decision-ready reporting.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740000"/>
            <a:ext cx="18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Value proposition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3040000"/>
            <a:ext cx="450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1B2B3C"/>
                </a:solidFill>
                <a:latin typeface="Calibri"/>
              </a:rPr>
              <a:t>Makes information work faster and cheaper while reducing manual synthesis.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50000"/>
            <a:ext cx="12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Why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850000"/>
            <a:ext cx="480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1B2B3C"/>
                </a:solidFill>
                <a:latin typeface="Calibri"/>
              </a:rPr>
              <a:t>Reporting is repetitive, high-frequency, and already evaluated on output quality and speed.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0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" y="4600000"/>
            <a:ext cx="480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1B2B3C"/>
                </a:solidFill>
                <a:latin typeface="Calibri"/>
              </a:rPr>
              <a:t>Works best when paired with trusted data access and a narrow reporting loop.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0000" y="1450000"/>
            <a:ext cx="4700000" cy="400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0" y="1650000"/>
            <a:ext cx="2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Source-backed examples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0000" y="2050000"/>
            <a:ext cx="4200000" cy="7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0000" y="212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Alpha 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0000" y="2330000"/>
            <a:ext cx="3800000" cy="3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Open source knowledge bases for all humanity.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0000" y="2900000"/>
            <a:ext cx="4200000" cy="7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0000" y="297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BitBoard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0000" y="3180000"/>
            <a:ext cx="3800000" cy="3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Connect your data, build with your agent, share with your team.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0000" y="3750000"/>
            <a:ext cx="4200000" cy="7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0000" y="382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nao Labs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0000" y="4030000"/>
            <a:ext cx="3800000" cy="3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Open Source Analytics Agent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0000" y="4600000"/>
            <a:ext cx="4200000" cy="7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0000" y="467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Scalar 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0000" y="4880000"/>
            <a:ext cx="3800000" cy="3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Your Agentic Trading Desk — Building the next era of agentic…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000"/>
            <a:ext cx="8000000" cy="5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800" b="1">
                <a:solidFill>
                  <a:srgbClr val="0A1628"/>
                </a:solidFill>
                <a:latin typeface="Calibri"/>
              </a:rPr>
              <a:t>Developer Tools And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30000"/>
            <a:ext cx="1371600" cy="36576"/>
          </a:xfrm>
          <a:prstGeom prst="rect">
            <a:avLst/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0000"/>
            <a:ext cx="46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Buyer: engineering leaders, product teams, QA, and platform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50000"/>
            <a:ext cx="46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Workflow owner: teams responsible for software quality and release safety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50000"/>
            <a:ext cx="4900000" cy="15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2010000"/>
            <a:ext cx="16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Business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310000"/>
            <a:ext cx="4500000" cy="3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Use agents to test, monitor, and validate software and model-driven 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740000"/>
            <a:ext cx="18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Value proposition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3040000"/>
            <a:ext cx="450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1B2B3C"/>
                </a:solidFill>
                <a:latin typeface="Calibri"/>
              </a:rPr>
              <a:t>Catches regressions and scales QA capacity without linearly scaling headcount.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50000"/>
            <a:ext cx="12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Why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850000"/>
            <a:ext cx="480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1B2B3C"/>
                </a:solidFill>
                <a:latin typeface="Calibri"/>
              </a:rPr>
              <a:t>Agentic products create new failure modes, so testing and observability have become first-order needs.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0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" y="4600000"/>
            <a:ext cx="480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1B2B3C"/>
                </a:solidFill>
                <a:latin typeface="Calibri"/>
              </a:rPr>
              <a:t>Durable if the product becomes part of the default release process.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0000" y="1450000"/>
            <a:ext cx="4700000" cy="400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0" y="1650000"/>
            <a:ext cx="2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Source-backed examples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0000" y="2050000"/>
            <a:ext cx="4200000" cy="7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0000" y="212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Alpha 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0000" y="2330000"/>
            <a:ext cx="3800000" cy="3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Open source knowledge bases for all humanity.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0000" y="2900000"/>
            <a:ext cx="4200000" cy="7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0000" y="297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Golf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0000" y="3180000"/>
            <a:ext cx="3800000" cy="3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Your agents connect to your data &amp; you can’t see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0000" y="3750000"/>
            <a:ext cx="4200000" cy="7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0000" y="382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Capacitive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0000" y="4030000"/>
            <a:ext cx="3800000" cy="3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As of January 2026, Capacitive has ceased all operations and discontinued support for its Commons platform.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0000" y="4600000"/>
            <a:ext cx="4200000" cy="7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0000" y="467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Docket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0000" y="4880000"/>
            <a:ext cx="3800000" cy="3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AI agents for web 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000"/>
            <a:ext cx="8000000" cy="5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800" b="1">
                <a:solidFill>
                  <a:srgbClr val="0A1628"/>
                </a:solidFill>
                <a:latin typeface="Calibri"/>
              </a:rPr>
              <a:t>Data And Agent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30000"/>
            <a:ext cx="1371600" cy="36576"/>
          </a:xfrm>
          <a:prstGeom prst="rect">
            <a:avLst/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0000"/>
            <a:ext cx="46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Buyer: platform engineering, CTO staff, and teams building agent 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50000"/>
            <a:ext cx="46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Workflow owner: teams responsible for context, retrieval, and safe system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50000"/>
            <a:ext cx="4900000" cy="15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2010000"/>
            <a:ext cx="16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Business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310000"/>
            <a:ext cx="4500000" cy="3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Provide the data, context, and permissioning layer that agent products depend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740000"/>
            <a:ext cx="18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Value proposition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3040000"/>
            <a:ext cx="450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1B2B3C"/>
                </a:solidFill>
                <a:latin typeface="Calibri"/>
              </a:rPr>
              <a:t>Becomes infrastructure rather than a single workflow app, increasing platform stickiness.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50000"/>
            <a:ext cx="12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Why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850000"/>
            <a:ext cx="480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1B2B3C"/>
                </a:solidFill>
                <a:latin typeface="Calibri"/>
              </a:rPr>
              <a:t>Agents fail without trustworthy context and controlled system access.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0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" y="4600000"/>
            <a:ext cx="480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1B2B3C"/>
                </a:solidFill>
                <a:latin typeface="Calibri"/>
              </a:rPr>
              <a:t>Attractive when the team wants a horizontal wedge instead of a workflow application.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0000" y="1450000"/>
            <a:ext cx="4700000" cy="400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0" y="1650000"/>
            <a:ext cx="2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Source-backed examples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0000" y="2050000"/>
            <a:ext cx="4200000" cy="7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0000" y="212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Golf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0000" y="2330000"/>
            <a:ext cx="3800000" cy="3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Your agents connect to your data &amp; you can’t see 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0000" y="2900000"/>
            <a:ext cx="4200000" cy="7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0000" y="297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Capacitive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0000" y="3180000"/>
            <a:ext cx="3800000" cy="3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As of January 2026, Capacitive has ceased all operations and discontinued support for its Commons platform.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0000" y="3750000"/>
            <a:ext cx="4200000" cy="7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0000" y="382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Scalar Field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0000" y="4030000"/>
            <a:ext cx="3800000" cy="3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Your Agentic Trading Desk — Building the next era of agentic…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0000" y="4600000"/>
            <a:ext cx="4200000" cy="7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0000" y="4670000"/>
            <a:ext cx="1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Airweave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0000" y="4880000"/>
            <a:ext cx="3800000" cy="3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The open-source context retrieval layer for 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0000"/>
            <a:ext cx="9800000" cy="5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3000" b="1">
                <a:solidFill>
                  <a:srgbClr val="0A1628"/>
                </a:solidFill>
                <a:latin typeface="Calibri"/>
              </a:rPr>
              <a:t>Vertical And Specialist Lanes Matter Too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0000"/>
            <a:ext cx="98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0">
                <a:solidFill>
                  <a:srgbClr val="5B6B7C"/>
                </a:solidFill>
                <a:latin typeface="Calibri"/>
              </a:rPr>
              <a:t>Smaller clusters can still be strategically attractive when pain and willingness to pay are high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000"/>
            <a:ext cx="10600000" cy="230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760000"/>
            <a:ext cx="17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0000" y="1760000"/>
            <a:ext cx="6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0" y="1760000"/>
            <a:ext cx="4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Business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0000" y="1760000"/>
            <a:ext cx="24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100000"/>
            <a:ext cx="17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1B2B3C"/>
                </a:solidFill>
                <a:latin typeface="Calibri"/>
              </a:rPr>
              <a:t>Finance And Trading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0000" y="2100000"/>
            <a:ext cx="6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0" y="2100000"/>
            <a:ext cx="4500000" cy="4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Apply agents to high-value workflows with direct financial consequences.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0000" y="2100000"/>
            <a:ext cx="24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Aegis, Pelica, Parsewise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2560000"/>
            <a:ext cx="17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1B2B3C"/>
                </a:solidFill>
                <a:latin typeface="Calibri"/>
              </a:rPr>
              <a:t>Security And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0000" y="2560000"/>
            <a:ext cx="6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0" y="2560000"/>
            <a:ext cx="4500000" cy="4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Automate security workflows and govern how agents interact with systems and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0000" y="2560000"/>
            <a:ext cx="24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Golf, Capacitive, Cotool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00" y="3020000"/>
            <a:ext cx="17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1B2B3C"/>
                </a:solidFill>
                <a:latin typeface="Calibri"/>
              </a:rPr>
              <a:t>Healthcare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0000" y="3020000"/>
            <a:ext cx="6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0" y="3020000"/>
            <a:ext cx="4500000" cy="4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Reduce repetitive administrative work in patient and provider operations.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0000" y="3020000"/>
            <a:ext cx="24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Galen AI, Aegis, Pelica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000" y="3480000"/>
            <a:ext cx="17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1B2B3C"/>
                </a:solidFill>
                <a:latin typeface="Calibri"/>
              </a:rPr>
              <a:t>Legal And Compliance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3480000"/>
            <a:ext cx="6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0" y="3480000"/>
            <a:ext cx="4500000" cy="4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Embed agents inside document-heavy or policy-heavy professional workflows.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0000" y="3480000"/>
            <a:ext cx="24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Vesence, Third Chair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300000"/>
            <a:ext cx="10600000" cy="130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000" y="4470000"/>
            <a:ext cx="30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Representative companies across lanes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00" y="4800000"/>
            <a:ext cx="9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EEECE1"/>
                </a:solidFill>
                <a:latin typeface="Calibri"/>
              </a:rPr>
              <a:t>Anana | workflow automation | One place for Revenue, Sales, and Operations to work together with AI — investigating pickup, triaging RFPs, and acting in the tools your team already uses.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00" y="5010000"/>
            <a:ext cx="9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EEECE1"/>
                </a:solidFill>
                <a:latin typeface="Calibri"/>
              </a:rPr>
              <a:t>stratify | workflow automation | Automate your user research with AI-powered insights. Get deeper customer understanding without the manual work.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000" y="5220000"/>
            <a:ext cx="9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EEECE1"/>
                </a:solidFill>
                <a:latin typeface="Calibri"/>
              </a:rPr>
              <a:t>Alpha Research | sales and customer ops | Open source knowledge bases for all humanity.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000" y="5430000"/>
            <a:ext cx="9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EEECE1"/>
                </a:solidFill>
                <a:latin typeface="Calibri"/>
              </a:rPr>
              <a:t>Anana | sales and customer ops | One place for Revenue, Sales, and Operations to work together with AI — investigating pickup, triaging RFPs, and acting in the tools your team already uses.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000" y="5640000"/>
            <a:ext cx="9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EEECE1"/>
                </a:solidFill>
                <a:latin typeface="Calibri"/>
              </a:rPr>
              <a:t>Alpha Research | analytics and reporting | Open source knowledge bases for all humanity.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000" y="5850000"/>
            <a:ext cx="9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EEECE1"/>
                </a:solidFill>
                <a:latin typeface="Calibri"/>
              </a:rPr>
              <a:t>BitBoard | analytics and reporting | Connect your data, build with your agent, share with your team.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7800000" cy="4572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600" b="1">
                <a:solidFill>
                  <a:srgbClr val="0A1628"/>
                </a:solidFill>
                <a:latin typeface="Calibri"/>
              </a:rPr>
              <a:t>Source-Backed Company Snapshots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00000"/>
            <a:ext cx="76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Website language reinforces the workflow-first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00000"/>
            <a:ext cx="5000000" cy="180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5760" y="1450000"/>
            <a:ext cx="1100000" cy="22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5760" y="1465000"/>
            <a:ext cx="1100000" cy="1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Workflow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760" y="1770000"/>
            <a:ext cx="30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Anana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5760" y="2120000"/>
            <a:ext cx="45000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One place for Revenue, Sales, and Operations to work together with AI — investigating pickup, triaging RFPs, and acting in the tools your team already uses.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000" y="1300000"/>
            <a:ext cx="5000000" cy="180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0000" y="1450000"/>
            <a:ext cx="1100000" cy="22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000" y="1465000"/>
            <a:ext cx="1100000" cy="1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Workflow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000" y="1770000"/>
            <a:ext cx="30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stratify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000" y="2120000"/>
            <a:ext cx="45000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Automate your user research with AI-powered insights. Get deeper customer understanding without the manual 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600000"/>
            <a:ext cx="5000000" cy="180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5760" y="3750000"/>
            <a:ext cx="1100000" cy="22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760" y="3765000"/>
            <a:ext cx="1100000" cy="1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Sales And Customer 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760" y="4070000"/>
            <a:ext cx="30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Alpha 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760" y="4420000"/>
            <a:ext cx="45000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Open source knowledge bases for all humanity.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0000" y="3600000"/>
            <a:ext cx="5000000" cy="180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70000" y="3750000"/>
            <a:ext cx="1100000" cy="22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0000" y="3765000"/>
            <a:ext cx="1100000" cy="1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Analytics And Reporting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000" y="4070000"/>
            <a:ext cx="30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BitBoard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000" y="4420000"/>
            <a:ext cx="45000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Connect your data, build with your agent, share with your team.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7800000" cy="4572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600" b="1">
                <a:solidFill>
                  <a:srgbClr val="0A1628"/>
                </a:solidFill>
                <a:latin typeface="Calibri"/>
              </a:rPr>
              <a:t>Source-Backed Company Snapshots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00000"/>
            <a:ext cx="76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Website language reinforces the workflow-first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00000"/>
            <a:ext cx="5000000" cy="180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5760" y="1450000"/>
            <a:ext cx="1100000" cy="22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5760" y="1465000"/>
            <a:ext cx="1100000" cy="1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Developer Tools And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760" y="1770000"/>
            <a:ext cx="30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Golf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5760" y="2120000"/>
            <a:ext cx="45000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Your agents connect to your data &amp; you can’t see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000" y="1300000"/>
            <a:ext cx="5000000" cy="180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0000" y="1450000"/>
            <a:ext cx="1100000" cy="22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000" y="1465000"/>
            <a:ext cx="1100000" cy="1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Data And Agent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000" y="1770000"/>
            <a:ext cx="30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Capacitive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000" y="2120000"/>
            <a:ext cx="45000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As of January 2026, Capacitive has ceased all operations and discontinued support for its Commons platform.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600000"/>
            <a:ext cx="5000000" cy="180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5760" y="3750000"/>
            <a:ext cx="1100000" cy="22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760" y="3765000"/>
            <a:ext cx="1100000" cy="1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Adjacency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760" y="4070000"/>
            <a:ext cx="30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Pelica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760" y="4420000"/>
            <a:ext cx="45000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Pelica Health builds AI co-pilots for value-based care quality teams, unifying EHR, claims, pharmacy, and lab data to close care gaps and improve outcomes.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0000" y="3600000"/>
            <a:ext cx="5000000" cy="180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70000" y="3750000"/>
            <a:ext cx="1100000" cy="22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0000" y="3765000"/>
            <a:ext cx="1100000" cy="1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Adjacency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000" y="4070000"/>
            <a:ext cx="30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Simbie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000" y="4420000"/>
            <a:ext cx="45000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Simbie AI’s clinically-trained voice agents act as your 24/7 AI medical receptionist—handling scheduling, refills &amp; intake with 60% cost savings. Loved by doctors &amp; pati…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7800000" cy="4572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600" b="1">
                <a:solidFill>
                  <a:srgbClr val="0A1628"/>
                </a:solidFill>
                <a:latin typeface="Calibri"/>
              </a:rPr>
              <a:t>Source-Backed Company Snapshots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00000"/>
            <a:ext cx="76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Website language reinforces the workflow-first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00000"/>
            <a:ext cx="5000000" cy="180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5760" y="1450000"/>
            <a:ext cx="1100000" cy="22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5760" y="1465000"/>
            <a:ext cx="1100000" cy="1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Adjacency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760" y="1770000"/>
            <a:ext cx="30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Prosper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5760" y="2120000"/>
            <a:ext cx="45000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AI Voice Agents ‍ for Patient Access and RCM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000" y="1300000"/>
            <a:ext cx="5000000" cy="180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0000" y="1450000"/>
            <a:ext cx="1100000" cy="22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000" y="1465000"/>
            <a:ext cx="1100000" cy="1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Adjacency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000" y="1770000"/>
            <a:ext cx="30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Toothy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000" y="2120000"/>
            <a:ext cx="45000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Toothy takes insurance off your team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600000"/>
            <a:ext cx="5000000" cy="180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5760" y="3750000"/>
            <a:ext cx="1100000" cy="22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760" y="3765000"/>
            <a:ext cx="1100000" cy="1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Adjacency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760" y="4070000"/>
            <a:ext cx="30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Contour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760" y="4420000"/>
            <a:ext cx="45000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AI voice agents for healthcare operational calls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0000" y="3600000"/>
            <a:ext cx="5000000" cy="180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70000" y="3750000"/>
            <a:ext cx="1100000" cy="22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0000" y="3765000"/>
            <a:ext cx="1100000" cy="1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Adjacency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000" y="4070000"/>
            <a:ext cx="30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flowscope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000" y="4420000"/>
            <a:ext cx="45000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Agents that learn how your business actually runs, then redesign and automate the work on top of existing systems. The AI team for businesses that don't have one.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7800000" cy="4572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600" b="1">
                <a:solidFill>
                  <a:srgbClr val="0A1628"/>
                </a:solidFill>
                <a:latin typeface="Calibri"/>
              </a:rPr>
              <a:t>Source-Backed Company Snapshots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00000"/>
            <a:ext cx="76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Website language reinforces the workflow-first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00000"/>
            <a:ext cx="5000000" cy="180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5760" y="1450000"/>
            <a:ext cx="1100000" cy="22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5760" y="1465000"/>
            <a:ext cx="1100000" cy="1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Adjacency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760" y="1770000"/>
            <a:ext cx="30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Unisson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5760" y="2120000"/>
            <a:ext cx="45000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AI agents that learn to use your product and run directly inside it to execute any task your customers need, accelerating their time to 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000" y="1300000"/>
            <a:ext cx="5000000" cy="180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0000" y="1450000"/>
            <a:ext cx="1100000" cy="220000"/>
          </a:xfrm>
          <a:prstGeom prst="roundRect">
            <a:avLst>
              <a:gd name="adj" fmla="val 15000"/>
            </a:avLst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000" y="1465000"/>
            <a:ext cx="1100000" cy="15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Adjacency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000" y="1770000"/>
            <a:ext cx="30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Lua Global Inc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000" y="2120000"/>
            <a:ext cx="45000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Build, deploy, and scale enterprise-grade AI agents. Ship your first agent without touching infrastructure.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00000"/>
            <a:ext cx="2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1">
                <a:solidFill>
                  <a:srgbClr val="00C9A7"/>
                </a:solidFill>
                <a:latin typeface="Calibri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50000"/>
            <a:ext cx="70000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Strategic 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0000"/>
            <a:ext cx="76000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700" b="0">
                <a:solidFill>
                  <a:srgbClr val="EEECE1"/>
                </a:solidFill>
                <a:latin typeface="Calibri"/>
              </a:rPr>
              <a:t>Where the YC pattern supports Sync2, where it pressures ReprisesAI, and what the next build direction should be.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50000"/>
            <a:ext cx="1371600" cy="36576"/>
          </a:xfrm>
          <a:prstGeom prst="rect">
            <a:avLst/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000000" cy="50292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800" b="1">
                <a:solidFill>
                  <a:srgbClr val="0A1628"/>
                </a:solidFill>
                <a:latin typeface="Calibri"/>
              </a:rPr>
              <a:t>Sync2 Has Real YC Adjacency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828800" cy="27432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220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Calibri"/>
              </a:rPr>
              <a:t>CLOSEST YC MATCHES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352044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• Pelica — Pelica Health builds AI co-pilots for value-based care quality teams, unifying EHR, claims, pharmacy, and lab data to close care gaps and improve outcomes.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60120"/>
            <a:ext cx="352044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• Simbie AI — Simbie AI’s clinically-trained voice agents act as your 24/7 AI medical receptionist—handling scheduling, refills &amp; intake with 60% cost savings. Loved by doctors &amp; patients.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60120"/>
            <a:ext cx="352044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• Prosper — AI Voice Agents ‍ for Patient Access and RCM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60120"/>
            <a:ext cx="352044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• Toothy AI — Toothy takes insurance off your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777240"/>
            <a:ext cx="220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Calibri"/>
              </a:rPr>
              <a:t>WHAT THIS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960120"/>
            <a:ext cx="352044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• The lane is real, but the stronger names own deeper workflow than a thin front-desk wrapper.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260120"/>
            <a:ext cx="352044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• Scheduling, claims, billing, intake, and patient communication are stronger system-of-action wedges.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560120"/>
            <a:ext cx="352044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• The winning product is likely the one that captures more of the actual clinic workflow.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500000"/>
            <a:ext cx="1645920" cy="82296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50000"/>
            <a:ext cx="1645920" cy="41148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2200" b="1">
                <a:solidFill>
                  <a:srgbClr val="00C9A7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60" y="2920000"/>
            <a:ext cx="1445920" cy="32004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strong adjacency matches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40279" y="2500000"/>
            <a:ext cx="1645920" cy="82296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0279" y="2550000"/>
            <a:ext cx="1645920" cy="41148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2200" b="1">
                <a:solidFill>
                  <a:srgbClr val="00C9A7"/>
                </a:solidFill>
                <a:latin typeface="Calibri"/>
              </a:rPr>
              <a:t>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0279" y="2920000"/>
            <a:ext cx="1445920" cy="32004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workflow depth wins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799" y="2500000"/>
            <a:ext cx="1645920" cy="82296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9" y="2550000"/>
            <a:ext cx="1645920" cy="41148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2200" b="1">
                <a:solidFill>
                  <a:srgbClr val="00C9A7"/>
                </a:solidFill>
                <a:latin typeface="Calibri"/>
              </a:rPr>
              <a:t>$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4799" y="2920000"/>
            <a:ext cx="1445920" cy="32004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high-friction buyer pain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900000"/>
            <a:ext cx="8000000" cy="5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The key question is whether the product owns enough workflow to become system-of-action software.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7600000" cy="4572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600" b="1">
                <a:solidFill>
                  <a:srgbClr val="0A1628"/>
                </a:solidFill>
                <a:latin typeface="Calibri"/>
              </a:rPr>
              <a:t>What A Stronger Sync2 Wedge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00000"/>
            <a:ext cx="82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The opportunity is not a generic receptionist. It is a deeper clinic workflow product.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135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1470000"/>
            <a:ext cx="52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00000" y="1350000"/>
            <a:ext cx="9300000" cy="620000"/>
          </a:xfrm>
          <a:prstGeom prst="roundRect">
            <a:avLst>
              <a:gd name="adj" fmla="val 15000"/>
            </a:avLst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50000" y="1490000"/>
            <a:ext cx="8800000" cy="3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0">
                <a:solidFill>
                  <a:srgbClr val="1B2B3C"/>
                </a:solidFill>
                <a:latin typeface="Calibri"/>
              </a:rPr>
              <a:t>Own a workflow chain like intake -&gt; scheduling -&gt; billing -&gt; claims instead of a single chat entry point.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000" y="211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2230000"/>
            <a:ext cx="52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0000" y="2110000"/>
            <a:ext cx="9300000" cy="620000"/>
          </a:xfrm>
          <a:prstGeom prst="roundRect">
            <a:avLst>
              <a:gd name="adj" fmla="val 15000"/>
            </a:avLst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50000" y="2250000"/>
            <a:ext cx="8800000" cy="3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0">
                <a:solidFill>
                  <a:srgbClr val="1B2B3C"/>
                </a:solidFill>
                <a:latin typeface="Calibri"/>
              </a:rPr>
              <a:t>Use operational integration as the moat: EHR, claims, pharmacy, lab, and payer connectivity.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0000" y="287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2990000"/>
            <a:ext cx="52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0000" y="2870000"/>
            <a:ext cx="9300000" cy="620000"/>
          </a:xfrm>
          <a:prstGeom prst="roundRect">
            <a:avLst>
              <a:gd name="adj" fmla="val 15000"/>
            </a:avLst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50000" y="3010000"/>
            <a:ext cx="8800000" cy="3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0">
                <a:solidFill>
                  <a:srgbClr val="1B2B3C"/>
                </a:solidFill>
                <a:latin typeface="Calibri"/>
              </a:rPr>
              <a:t>Sell around measurable staffing relief, collection lift, and cycle-time compression.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0000" y="363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3750000"/>
            <a:ext cx="52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00000" y="3630000"/>
            <a:ext cx="9300000" cy="620000"/>
          </a:xfrm>
          <a:prstGeom prst="roundRect">
            <a:avLst>
              <a:gd name="adj" fmla="val 15000"/>
            </a:avLst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50000" y="3770000"/>
            <a:ext cx="8800000" cy="3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0">
                <a:solidFill>
                  <a:srgbClr val="1B2B3C"/>
                </a:solidFill>
                <a:latin typeface="Calibri"/>
              </a:rPr>
              <a:t>Position as system-of-action software for clinic operations, not as another AI front desk.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000000" cy="50292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800" b="1">
                <a:solidFill>
                  <a:srgbClr val="0A1628"/>
                </a:solidFill>
                <a:latin typeface="Calibri"/>
              </a:rPr>
              <a:t>ReprisesAI Faces Productization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828800" cy="27432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220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Calibri"/>
              </a:rPr>
              <a:t>CLOSEST YC MATCHES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352044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• Contour — AI voice agents for healthcare operational calls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60120"/>
            <a:ext cx="352044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• flowscope — Agents that learn how your business actually runs, then redesign and automate the work on top of existing systems. The AI team for businesses that don't have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60120"/>
            <a:ext cx="352044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• Unisson — AI agents that learn to use your product and run directly inside it to execute any task your customers need, accelerating their time to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60120"/>
            <a:ext cx="352044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• Lua Global Inc — Build, deploy, and scale enterprise-grade AI agents. Ship your first agent without touching infrastructure.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777240"/>
            <a:ext cx="220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Calibri"/>
              </a:rPr>
              <a:t>WHAT THIS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960120"/>
            <a:ext cx="352044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• There are fewer direct AI-agency clones than expected.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260120"/>
            <a:ext cx="352044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• The bigger risk is productized implementation software absorbing repeatable service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560120"/>
            <a:ext cx="352044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• The safer posture is a specialized wedge, not generic AI delivery.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500000"/>
            <a:ext cx="1645920" cy="82296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50000"/>
            <a:ext cx="1645920" cy="41148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2200" b="1">
                <a:solidFill>
                  <a:srgbClr val="00C9A7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60" y="2920000"/>
            <a:ext cx="1445920" cy="32004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clear comparables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40279" y="2500000"/>
            <a:ext cx="1645920" cy="82296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0279" y="2550000"/>
            <a:ext cx="1645920" cy="41148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2200" b="1">
                <a:solidFill>
                  <a:srgbClr val="00C9A7"/>
                </a:solidFill>
                <a:latin typeface="Calibri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0279" y="2920000"/>
            <a:ext cx="1445920" cy="32004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services get productized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799" y="2500000"/>
            <a:ext cx="1645920" cy="82296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9" y="2550000"/>
            <a:ext cx="1645920" cy="41148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2200" b="1">
                <a:solidFill>
                  <a:srgbClr val="00C9A7"/>
                </a:solidFill>
                <a:latin typeface="Calibri"/>
              </a:rPr>
              <a:t>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4799" y="2920000"/>
            <a:ext cx="1445920" cy="32004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specialize the wedge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900000"/>
            <a:ext cx="8000000" cy="5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The key question is whether the product owns enough workflow to become system-of-action software.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7600000" cy="4572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600" b="1">
                <a:solidFill>
                  <a:srgbClr val="0A1628"/>
                </a:solidFill>
                <a:latin typeface="Calibri"/>
              </a:rPr>
              <a:t>What ReprisesAI Should Learn From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00000"/>
            <a:ext cx="82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The threat is not another generic agency. It is software eating the repeatable implementation layer.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135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1470000"/>
            <a:ext cx="52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00000" y="1350000"/>
            <a:ext cx="9300000" cy="620000"/>
          </a:xfrm>
          <a:prstGeom prst="roundRect">
            <a:avLst>
              <a:gd name="adj" fmla="val 15000"/>
            </a:avLst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50000" y="1490000"/>
            <a:ext cx="8800000" cy="3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0">
                <a:solidFill>
                  <a:srgbClr val="1B2B3C"/>
                </a:solidFill>
                <a:latin typeface="Calibri"/>
              </a:rPr>
              <a:t>Find the repeatable implementation workflow that can become a product wedge.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000" y="211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2230000"/>
            <a:ext cx="52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0000" y="2110000"/>
            <a:ext cx="9300000" cy="620000"/>
          </a:xfrm>
          <a:prstGeom prst="roundRect">
            <a:avLst>
              <a:gd name="adj" fmla="val 15000"/>
            </a:avLst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50000" y="2250000"/>
            <a:ext cx="8800000" cy="3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0">
                <a:solidFill>
                  <a:srgbClr val="1B2B3C"/>
                </a:solidFill>
                <a:latin typeface="Calibri"/>
              </a:rPr>
              <a:t>Move toward embedded execution inside customer systems, not just advisory delivery.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0000" y="287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2990000"/>
            <a:ext cx="52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0000" y="2870000"/>
            <a:ext cx="9300000" cy="620000"/>
          </a:xfrm>
          <a:prstGeom prst="roundRect">
            <a:avLst>
              <a:gd name="adj" fmla="val 15000"/>
            </a:avLst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50000" y="3010000"/>
            <a:ext cx="8800000" cy="3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0">
                <a:solidFill>
                  <a:srgbClr val="1B2B3C"/>
                </a:solidFill>
                <a:latin typeface="Calibri"/>
              </a:rPr>
              <a:t>Package methodology into software artifacts, templates, or agents that shorten time-to-value.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0000" y="363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3750000"/>
            <a:ext cx="52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00000" y="3630000"/>
            <a:ext cx="9300000" cy="620000"/>
          </a:xfrm>
          <a:prstGeom prst="roundRect">
            <a:avLst>
              <a:gd name="adj" fmla="val 15000"/>
            </a:avLst>
          </a:prstGeom>
          <a:solidFill>
            <a:srgbClr val="F3F6F8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50000" y="3770000"/>
            <a:ext cx="8800000" cy="3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500" b="0">
                <a:solidFill>
                  <a:srgbClr val="1B2B3C"/>
                </a:solidFill>
                <a:latin typeface="Calibri"/>
              </a:rPr>
              <a:t>Compete on owned workflow and operational leverage, not just on custom project quality.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00000"/>
            <a:ext cx="25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1">
                <a:solidFill>
                  <a:srgbClr val="00C9A7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50000"/>
            <a:ext cx="70000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Execution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0000"/>
            <a:ext cx="7600000" cy="7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700" b="0">
                <a:solidFill>
                  <a:srgbClr val="EEECE1"/>
                </a:solidFill>
                <a:latin typeface="Calibri"/>
              </a:rPr>
              <a:t>The final question is not what YC companies exist. It is where to place the next build bets.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50000"/>
            <a:ext cx="1371600" cy="36576"/>
          </a:xfrm>
          <a:prstGeom prst="rect">
            <a:avLst/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0000"/>
            <a:ext cx="9000000" cy="5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3000" b="1">
                <a:solidFill>
                  <a:srgbClr val="0A1628"/>
                </a:solidFill>
                <a:latin typeface="Calibri"/>
              </a:rPr>
              <a:t>What I Would Do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0000"/>
            <a:ext cx="90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0">
                <a:solidFill>
                  <a:srgbClr val="5B6B7C"/>
                </a:solidFill>
                <a:latin typeface="Calibri"/>
              </a:rPr>
              <a:t>The recommendations follow directly from the cohort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00000"/>
            <a:ext cx="4700000" cy="16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1520" y="186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1520" y="1920000"/>
            <a:ext cx="52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700" b="1">
                <a:solidFill>
                  <a:srgbClr val="0A1628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31520" y="1880000"/>
            <a:ext cx="34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Choose workflow-heavy use cases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1520" y="2260000"/>
            <a:ext cx="3400000" cy="5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8 companies cluster around operational systems of action, making this the clearest YC pattern.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0000" y="1700000"/>
            <a:ext cx="4700000" cy="16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80000" y="186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0000" y="1920000"/>
            <a:ext cx="52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700" b="1">
                <a:solidFill>
                  <a:srgbClr val="0A1628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000" y="1880000"/>
            <a:ext cx="34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Own context, governance, or workflow 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0" y="2260000"/>
            <a:ext cx="3400000" cy="5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The more durable clusters pair agents with data access, infrastructure, or embedded workflow ownership.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20000"/>
            <a:ext cx="4700000" cy="16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1520" y="398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520" y="4040000"/>
            <a:ext cx="52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700" b="1">
                <a:solidFill>
                  <a:srgbClr val="0A1628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1520" y="4000000"/>
            <a:ext cx="34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Treat healthcare operations as a real wedge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31520" y="4380000"/>
            <a:ext cx="3400000" cy="5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The count is smaller than horizontal ops, but the workflow pain and willingness to pay are strong.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00000" y="3820000"/>
            <a:ext cx="4700000" cy="16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80000" y="3980000"/>
            <a:ext cx="520000" cy="52000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0000" y="4040000"/>
            <a:ext cx="52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700" b="1">
                <a:solidFill>
                  <a:srgbClr val="0A1628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000" y="4000000"/>
            <a:ext cx="3400000" cy="26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Avoid generic agent-platform messaging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0000" y="4380000"/>
            <a:ext cx="3400000" cy="5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400" b="0">
                <a:solidFill>
                  <a:srgbClr val="1B2B3C"/>
                </a:solidFill>
                <a:latin typeface="Calibri"/>
              </a:rPr>
              <a:t>The cohort repeatedly rewards products with explicit jobs and operators, not broad agent claims.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CE1"/>
          </a:solidFill>
          <a:ln>
            <a:solidFill>
              <a:srgbClr val="EEE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0000"/>
            <a:ext cx="8000000" cy="5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3000" b="1">
                <a:solidFill>
                  <a:srgbClr val="0A1628"/>
                </a:solidFill>
                <a:latin typeface="Calibri"/>
              </a:rPr>
              <a:t>Priority Order For New Agentic Bets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0000"/>
            <a:ext cx="9000000" cy="24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Calibri"/>
              </a:rPr>
              <a:t>Rank opportunities by workflow ownership, data access, and willingness to pay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000" y="1650000"/>
            <a:ext cx="1200000" cy="52000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790000"/>
            <a:ext cx="1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Best first bet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00000" y="1650000"/>
            <a:ext cx="3400000" cy="52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80000" y="1770000"/>
            <a:ext cx="30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Calibri"/>
              </a:rPr>
              <a:t>Workflow automation for existing ops teams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0000" y="1650000"/>
            <a:ext cx="4300000" cy="52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0000" y="1770000"/>
            <a:ext cx="39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Highest density in the cohort and clearest buyer pain.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000" y="2410000"/>
            <a:ext cx="1200000" cy="52000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" y="2550000"/>
            <a:ext cx="1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Best vertical bet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00000" y="2410000"/>
            <a:ext cx="3400000" cy="52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0000" y="2530000"/>
            <a:ext cx="30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Calibri"/>
              </a:rPr>
              <a:t>Healthcare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0000" y="2410000"/>
            <a:ext cx="4300000" cy="52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0000" y="2530000"/>
            <a:ext cx="39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Smaller cluster, but stronger ROI logic and deeper workflow pain.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" y="3170000"/>
            <a:ext cx="1200000" cy="520000"/>
          </a:xfrm>
          <a:prstGeom prst="roundRect">
            <a:avLst>
              <a:gd name="adj" fmla="val 15000"/>
            </a:avLst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000" y="3310000"/>
            <a:ext cx="1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Best horizontal bet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00000" y="3170000"/>
            <a:ext cx="3400000" cy="52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80000" y="3290000"/>
            <a:ext cx="30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Calibri"/>
              </a:rPr>
              <a:t>Context, testing, and control infrastructure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00000" y="3170000"/>
            <a:ext cx="4300000" cy="52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0000" y="3290000"/>
            <a:ext cx="39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Durable wedge if the goal is platform leverage.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000" y="3930000"/>
            <a:ext cx="1200000" cy="5200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000" y="4070000"/>
            <a:ext cx="1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Avoid first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00000" y="3930000"/>
            <a:ext cx="3400000" cy="52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80000" y="4050000"/>
            <a:ext cx="30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Calibri"/>
              </a:rPr>
              <a:t>Generic agent platform positioning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00000" y="3930000"/>
            <a:ext cx="4300000" cy="52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0000" y="4050000"/>
            <a:ext cx="39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1B2B3C"/>
                </a:solidFill>
                <a:latin typeface="Calibri"/>
              </a:rPr>
              <a:t>Too abstract unless there is a very specific infrastructure wedge.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0000"/>
            <a:ext cx="9000000" cy="5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3000" b="1">
                <a:solidFill>
                  <a:srgbClr val="0A1628"/>
                </a:solidFill>
                <a:latin typeface="Calibri"/>
              </a:rPr>
              <a:t>Method And Reproducibility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50000"/>
            <a:ext cx="1371600" cy="36576"/>
          </a:xfrm>
          <a:prstGeom prst="rect">
            <a:avLst/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700000"/>
            <a:ext cx="10000000" cy="33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0">
                <a:solidFill>
                  <a:srgbClr val="1B2B3C"/>
                </a:solidFill>
                <a:latin typeface="Calibri"/>
              </a:rPr>
              <a:t>• Website tested: https://www.ycombinator.com/companies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30000"/>
            <a:ext cx="10000000" cy="33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0">
                <a:solidFill>
                  <a:srgbClr val="1B2B3C"/>
                </a:solidFill>
                <a:latin typeface="Calibri"/>
              </a:rPr>
              <a:t>• yc-companies discovers the live YC backend from the public page each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360000"/>
            <a:ext cx="10000000" cy="33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0">
                <a:solidFill>
                  <a:srgbClr val="1B2B3C"/>
                </a:solidFill>
                <a:latin typeface="Calibri"/>
              </a:rPr>
              <a:t>• Primary filter: Spring 2025, agent / agentic pattern, team size &lt;=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690000"/>
            <a:ext cx="10000000" cy="33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0">
                <a:solidFill>
                  <a:srgbClr val="1B2B3C"/>
                </a:solidFill>
                <a:latin typeface="Calibri"/>
              </a:rPr>
              <a:t>• Structured cluster counts derived from 27 filtered companies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3020000"/>
            <a:ext cx="10000000" cy="33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0">
                <a:solidFill>
                  <a:srgbClr val="1B2B3C"/>
                </a:solidFill>
                <a:latin typeface="Calibri"/>
              </a:rPr>
              <a:t>• Company website notes were collected for representative names and adjacency matches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350000"/>
            <a:ext cx="10000000" cy="33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600" b="0">
                <a:solidFill>
                  <a:srgbClr val="1B2B3C"/>
                </a:solidFill>
                <a:latin typeface="Calibri"/>
              </a:rPr>
              <a:t>• Use-case labels are inferred from company text, not official YC categories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000" y="4150000"/>
            <a:ext cx="10300000" cy="1100000"/>
          </a:xfrm>
          <a:prstGeom prst="roundRect">
            <a:avLst>
              <a:gd name="adj" fmla="val 15000"/>
            </a:avLst>
          </a:prstGeom>
          <a:solidFill>
            <a:srgbClr val="EEECE1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550000"/>
            <a:ext cx="9700000" cy="3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ctr"/>
            <a:r>
              <a:rPr sz="1800" b="1">
                <a:solidFill>
                  <a:srgbClr val="0A1628"/>
                </a:solidFill>
                <a:latin typeface="Calibri"/>
              </a:rPr>
              <a:t>This deck is chained from a structured analysis pack, not from freehand slide writing.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9B82"/>
          </a:solidFill>
          <a:ln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7600000" cy="4572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2600" b="1">
                <a:solidFill>
                  <a:srgbClr val="0A1628"/>
                </a:solidFill>
                <a:latin typeface="Calibri"/>
              </a:rPr>
              <a:t>Source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00000"/>
            <a:ext cx="76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Representative source-note coverage used in this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00000"/>
            <a:ext cx="10600000" cy="460000"/>
          </a:xfrm>
          <a:prstGeom prst="rect">
            <a:avLst/>
          </a:prstGeom>
          <a:solidFill>
            <a:srgbClr val="F7F9FB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0000" y="1400000"/>
            <a:ext cx="19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Alpha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0000" y="1390000"/>
            <a:ext cx="82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Open source knowledge bases for all humanity.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20000"/>
            <a:ext cx="10600000" cy="460000"/>
          </a:xfrm>
          <a:prstGeom prst="rect">
            <a:avLst/>
          </a:prstGeom>
          <a:solidFill>
            <a:srgbClr val="F7F9FB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0000" y="1920000"/>
            <a:ext cx="19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Anana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0000" y="1910000"/>
            <a:ext cx="82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One place for Revenue, Sales, and Operations to work together with AI — investigating pickup, triaging RFPs, and acting in the tools your team already uses.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40000"/>
            <a:ext cx="10600000" cy="460000"/>
          </a:xfrm>
          <a:prstGeom prst="rect">
            <a:avLst/>
          </a:prstGeom>
          <a:solidFill>
            <a:srgbClr val="F7F9FB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0000" y="2440000"/>
            <a:ext cx="19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BitBoard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0000" y="2430000"/>
            <a:ext cx="82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Connect your data, build with your agent, share with your team.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60000"/>
            <a:ext cx="10600000" cy="460000"/>
          </a:xfrm>
          <a:prstGeom prst="rect">
            <a:avLst/>
          </a:prstGeom>
          <a:solidFill>
            <a:srgbClr val="F7F9FB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000" y="2960000"/>
            <a:ext cx="19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Capacitive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0000" y="2950000"/>
            <a:ext cx="82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As of January 2026, Capacitive has ceased all operations and discontinued support for its Commons platform.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80000"/>
            <a:ext cx="10600000" cy="460000"/>
          </a:xfrm>
          <a:prstGeom prst="rect">
            <a:avLst/>
          </a:prstGeom>
          <a:solidFill>
            <a:srgbClr val="F7F9FB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000" y="3480000"/>
            <a:ext cx="19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Contour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00000" y="3470000"/>
            <a:ext cx="82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AI voice agents for healthcare operational calls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00000"/>
            <a:ext cx="10600000" cy="460000"/>
          </a:xfrm>
          <a:prstGeom prst="rect">
            <a:avLst/>
          </a:prstGeom>
          <a:solidFill>
            <a:srgbClr val="F7F9FB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000" y="4000000"/>
            <a:ext cx="19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Golf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00000" y="3990000"/>
            <a:ext cx="82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Your agents connect to your data &amp; you can’t see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20000"/>
            <a:ext cx="10600000" cy="460000"/>
          </a:xfrm>
          <a:prstGeom prst="rect">
            <a:avLst/>
          </a:prstGeom>
          <a:solidFill>
            <a:srgbClr val="F7F9FB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000" y="4520000"/>
            <a:ext cx="19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Lua Global Inc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00000" y="4510000"/>
            <a:ext cx="82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Build, deploy, and scale enterprise-grade AI agents. Ship your first agent without touching infrastructure.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940000"/>
            <a:ext cx="10600000" cy="460000"/>
          </a:xfrm>
          <a:prstGeom prst="rect">
            <a:avLst/>
          </a:prstGeom>
          <a:solidFill>
            <a:srgbClr val="F7F9FB"/>
          </a:solidFill>
          <a:ln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0000" y="5040000"/>
            <a:ext cx="19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300" b="1">
                <a:solidFill>
                  <a:srgbClr val="0A1628"/>
                </a:solidFill>
                <a:latin typeface="Calibri"/>
              </a:rPr>
              <a:t>Pelica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00000" y="5030000"/>
            <a:ext cx="8200000" cy="22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100" b="0">
                <a:solidFill>
                  <a:srgbClr val="1B2B3C"/>
                </a:solidFill>
                <a:latin typeface="Calibri"/>
              </a:rPr>
              <a:t>Pelica Health builds AI co-pilots for value-based care quality teams, unifying EHR, claims, pharmacy, and lab data to close care gaps and improve outcomes.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0000" y="6400000"/>
            <a:ext cx="4200000" cy="18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Calibri"/>
              </a:rPr>
              <a:t>TicketForge | YC Agent Companies | June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00000" y="6380000"/>
            <a:ext cx="220000" cy="200000"/>
          </a:xfrm>
          <a:prstGeom prst="rect">
            <a:avLst/>
          </a:prstGeom>
          <a:noFill/>
        </p:spPr>
        <p:txBody>
          <a:bodyPr wrap="square" anchor="t" lIns="35000" rIns="35000" tIns="20000" bIns="20000">
            <a:spAutoFit/>
          </a:bodyPr>
          <a:lstStyle/>
          <a:p>
            <a:pPr algn="r"/>
            <a:r>
              <a:rPr sz="1600" b="0">
                <a:solidFill>
                  <a:srgbClr val="5B6B7C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10912</Words>
  <Application>Microsoft Office PowerPoint</Application>
  <PresentationFormat>Widescreen</PresentationFormat>
  <Paragraphs>1188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sheker kamma</dc:creator>
  <cp:keywords/>
  <dc:description>generated using python-pptx</dc:description>
  <cp:lastModifiedBy>sheker kamma</cp:lastModifiedBy>
  <cp:revision>1</cp:revision>
  <dcterms:created xsi:type="dcterms:W3CDTF">2013-01-27T09:14:16Z</dcterms:created>
  <dcterms:modified xsi:type="dcterms:W3CDTF">2026-05-25T15:25:33Z</dcterms:modified>
  <cp:category/>
</cp:coreProperties>
</file>