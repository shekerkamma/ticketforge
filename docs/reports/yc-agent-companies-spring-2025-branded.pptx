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914400"/>
            <a:ext cx="64008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Aptos"/>
              </a:rPr>
              <a:t>Y Combinator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0000"/>
            <a:ext cx="64008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"/>
              </a:rPr>
              <a:t>Agent Companies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00000"/>
            <a:ext cx="1371600" cy="36576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00000"/>
            <a:ext cx="64008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EECE1"/>
                </a:solidFill>
                <a:latin typeface="Aptos"/>
              </a:rPr>
              <a:t>What Spring 2025 YC's small-team agent startups are actually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50000"/>
            <a:ext cx="6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EEECE1"/>
                </a:solidFill>
                <a:latin typeface="Aptos"/>
              </a:rPr>
              <a:t>Structured business use cases, density map, and implications for Sync2 and ReprisesAI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50000"/>
            <a:ext cx="920000" cy="32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95000"/>
            <a:ext cx="9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61520" y="4850000"/>
            <a:ext cx="920000" cy="32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1520" y="4895000"/>
            <a:ext cx="9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Customer 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1520" y="4850000"/>
            <a:ext cx="920000" cy="32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1520" y="4895000"/>
            <a:ext cx="9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Healthcare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1520" y="4850000"/>
            <a:ext cx="920000" cy="32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1520" y="4895000"/>
            <a:ext cx="9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Tooling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1520" y="4850000"/>
            <a:ext cx="920000" cy="32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1520" y="4895000"/>
            <a:ext cx="9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Infra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A1628"/>
                </a:solidFill>
                <a:latin typeface="Aptos"/>
              </a:rPr>
              <a:t>What You'll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457200" cy="41148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301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85120"/>
            <a:ext cx="4572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What the cohort actually says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05120"/>
            <a:ext cx="59436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Headline findings, size, and density 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30120"/>
            <a:ext cx="457200" cy="41148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001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555120"/>
            <a:ext cx="4572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Business use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75120"/>
            <a:ext cx="59436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Structured jobs, buyers, and evidence clusters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00120"/>
            <a:ext cx="457200" cy="41148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701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25120"/>
            <a:ext cx="4572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Strategic implications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45120"/>
            <a:ext cx="59436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Sync2, ReprisesAI, and what to do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00000"/>
            <a:ext cx="2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0C9A7"/>
                </a:solidFill>
                <a:latin typeface="Apto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50000"/>
            <a:ext cx="7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The Cohort Actually 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0000"/>
            <a:ext cx="7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EECE1"/>
                </a:solidFill>
                <a:latin typeface="Aptos"/>
              </a:rPr>
              <a:t>The data is more operational and workflow-shaped than the generic agent narrative suggests.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50000"/>
            <a:ext cx="1371600" cy="36576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0000"/>
            <a:ext cx="9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A1628"/>
                </a:solidFill>
                <a:latin typeface="Aptos"/>
              </a:rPr>
              <a:t>Three Conclusions Matter Most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50000"/>
            <a:ext cx="1371600" cy="36576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00000"/>
            <a:ext cx="10600000" cy="105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000" y="195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990000"/>
            <a:ext cx="52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000" y="1970000"/>
            <a:ext cx="62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1628"/>
                </a:solidFill>
                <a:latin typeface="Aptos"/>
              </a:rPr>
              <a:t>Workflow automation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000" y="2250000"/>
            <a:ext cx="93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The strongest YC signal is not generic assistants. It is agents wrapped around concrete operational jobs.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00000"/>
            <a:ext cx="10600000" cy="105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0000" y="315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3190000"/>
            <a:ext cx="52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000" y="3170000"/>
            <a:ext cx="62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1628"/>
                </a:solidFill>
                <a:latin typeface="Aptos"/>
              </a:rPr>
              <a:t>Ops and tooling dominate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000" y="3450000"/>
            <a:ext cx="93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Customer ops, analytics, QA, testing, context, and infra appear more often than broad platform narratives.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0000"/>
            <a:ext cx="10600000" cy="105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0000" y="435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4390000"/>
            <a:ext cx="52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000" y="4370000"/>
            <a:ext cx="62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1628"/>
                </a:solidFill>
                <a:latin typeface="Aptos"/>
              </a:rPr>
              <a:t>Healthcare is a real vertical wedge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000" y="4650000"/>
            <a:ext cx="93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Administrative healthcare workflows show enough density and pain to warrant focused product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0000"/>
            <a:ext cx="9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A1628"/>
                </a:solidFill>
                <a:latin typeface="Aptos"/>
              </a:rPr>
              <a:t>This Cohort Is Tiny But Focused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0000"/>
            <a:ext cx="10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A1628"/>
                </a:solidFill>
                <a:latin typeface="Aptos"/>
              </a:rPr>
              <a:t>The cohort is young, but the use-case pattern is already visible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00000"/>
            <a:ext cx="2200000" cy="160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0000"/>
            <a:ext cx="22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C9A7"/>
                </a:solidFill>
                <a:latin typeface="Aptos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1520" y="2550000"/>
            <a:ext cx="1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1520" y="2920000"/>
            <a:ext cx="19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EEECE1"/>
                </a:solidFill>
                <a:latin typeface="Aptos"/>
              </a:rPr>
              <a:t>filtered Spring 2025 cohort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0000" y="1800000"/>
            <a:ext cx="2200000" cy="160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0000" y="2050000"/>
            <a:ext cx="22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C9A7"/>
                </a:solidFill>
                <a:latin typeface="Apto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0000" y="2550000"/>
            <a:ext cx="1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median team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0000" y="2920000"/>
            <a:ext cx="19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EEECE1"/>
                </a:solidFill>
                <a:latin typeface="Aptos"/>
              </a:rPr>
              <a:t>very early-stage cohort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70000" y="1800000"/>
            <a:ext cx="2200000" cy="160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70000" y="2050000"/>
            <a:ext cx="22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C9A7"/>
                </a:solidFill>
                <a:latin typeface="Aptos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0000" y="2550000"/>
            <a:ext cx="1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teams with 1-2 people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0" y="2920000"/>
            <a:ext cx="19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EEECE1"/>
                </a:solidFill>
                <a:latin typeface="Aptos"/>
              </a:rPr>
              <a:t>nearly half the cohort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0000" y="1800000"/>
            <a:ext cx="2200000" cy="160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0000" y="2050000"/>
            <a:ext cx="22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C9A7"/>
                </a:solidFill>
                <a:latin typeface="Apto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0000" y="2550000"/>
            <a:ext cx="1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workflow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0000" y="2920000"/>
            <a:ext cx="19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EEECE1"/>
                </a:solidFill>
                <a:latin typeface="Aptos"/>
              </a:rPr>
              <a:t>largest cluster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150000"/>
            <a:ext cx="10600000" cy="120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0000" y="4520000"/>
            <a:ext cx="100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A1628"/>
                </a:solidFill>
                <a:latin typeface="Aptos"/>
              </a:rPr>
              <a:t>Likely winners will be defined by workflow choice and ownership, not by model novelty.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0000"/>
            <a:ext cx="95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A1628"/>
                </a:solidFill>
                <a:latin typeface="Aptos"/>
              </a:rPr>
              <a:t>Use-Case Density Favors Real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0000"/>
            <a:ext cx="9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B7C"/>
                </a:solidFill>
                <a:latin typeface="Aptos"/>
              </a:rPr>
              <a:t>The highest-density clusters are operational software 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65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workflow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00000" y="167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0000" y="167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00000" y="164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17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sales and customer 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00000" y="219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00000" y="2190000"/>
            <a:ext cx="4550000" cy="21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00000" y="216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269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analytics and reporting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0000" y="271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00000" y="2710000"/>
            <a:ext cx="3900000" cy="21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00000" y="268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21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developer tools and testing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00000" y="323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00000" y="3230000"/>
            <a:ext cx="3900000" cy="21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0000" y="320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00" y="373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data and agent infrastructure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0000" y="375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00000" y="3750000"/>
            <a:ext cx="3250000" cy="21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0000" y="372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000" y="425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finance and trading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00000" y="427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00000" y="4270000"/>
            <a:ext cx="2600000" cy="21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0000" y="424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000" y="4770000"/>
            <a:ext cx="290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B3C"/>
                </a:solidFill>
                <a:latin typeface="Aptos"/>
              </a:rPr>
              <a:t>security and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00000" y="4790000"/>
            <a:ext cx="5200000" cy="21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00000" y="4790000"/>
            <a:ext cx="2600000" cy="210000"/>
          </a:xfrm>
          <a:prstGeom prst="roundRect">
            <a:avLst>
              <a:gd name="adj" fmla="val 15000"/>
            </a:avLst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00000" y="4760000"/>
            <a:ext cx="350000" cy="2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0A1628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00" y="5650000"/>
            <a:ext cx="10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The center of gravity is workflow automation, customer ops, analytics, testing, and infrastructure.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A1628"/>
                </a:solidFill>
                <a:latin typeface="Aptos"/>
              </a:rPr>
              <a:t>What People Expect vs. What The Cohort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0000"/>
            <a:ext cx="70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Previous expectation vs. what the YC cohort actually reveals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00000"/>
            <a:ext cx="3300000" cy="420000"/>
          </a:xfrm>
          <a:prstGeom prst="rect">
            <a:avLst/>
          </a:prstGeom>
          <a:solidFill>
            <a:srgbClr val="F54776"/>
          </a:solidFill>
          <a:ln>
            <a:solidFill>
              <a:srgbClr val="F547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00000" y="1100000"/>
            <a:ext cx="3300000" cy="420000"/>
          </a:xfrm>
          <a:prstGeom prst="rect">
            <a:avLst/>
          </a:prstGeom>
          <a:solidFill>
            <a:srgbClr val="2DC48D"/>
          </a:solidFill>
          <a:ln>
            <a:solidFill>
              <a:srgbClr val="2DC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80000"/>
            <a:ext cx="33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Expected narrative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1180000"/>
            <a:ext cx="33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Observed YC pattern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2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FBF0F2"/>
          </a:solidFill>
          <a:ln>
            <a:solidFill>
              <a:srgbClr val="F5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00000" y="162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EEFAF5"/>
          </a:solidFill>
          <a:ln>
            <a:solidFill>
              <a:srgbClr val="CCE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000" y="171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×  General-purpose agent assistants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0000" y="171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✓  Workflow-bound systems of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8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FBF0F2"/>
          </a:solidFill>
          <a:ln>
            <a:solidFill>
              <a:srgbClr val="F5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00000" y="218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EEFAF5"/>
          </a:solidFill>
          <a:ln>
            <a:solidFill>
              <a:srgbClr val="CCE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000" y="227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×  Broad agent platform 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00" y="227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✓  Buyer-owned operational categories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74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FBF0F2"/>
          </a:solidFill>
          <a:ln>
            <a:solidFill>
              <a:srgbClr val="F5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00000" y="274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EEFAF5"/>
          </a:solidFill>
          <a:ln>
            <a:solidFill>
              <a:srgbClr val="CCE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0000" y="283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×  Abstract AI capability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0000" y="283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✓  Testing, context, claims, reporting, and ops ownership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30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FBF0F2"/>
          </a:solidFill>
          <a:ln>
            <a:solidFill>
              <a:srgbClr val="F5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00000" y="3300000"/>
            <a:ext cx="3300000" cy="470000"/>
          </a:xfrm>
          <a:prstGeom prst="roundRect">
            <a:avLst>
              <a:gd name="adj" fmla="val 15000"/>
            </a:avLst>
          </a:prstGeom>
          <a:solidFill>
            <a:srgbClr val="EEFAF5"/>
          </a:solidFill>
          <a:ln>
            <a:solidFill>
              <a:srgbClr val="CCE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0000" y="339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×  Model novelty as the main 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00" y="3390000"/>
            <a:ext cx="29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✓  Clear job boundaries and measurable business outcomes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09B82"/>
          </a:solidFill>
          <a:ln>
            <a:solidFill>
              <a:srgbClr val="00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A1628"/>
                </a:solidFill>
                <a:latin typeface="Aptos"/>
              </a:rPr>
              <a:t>Top Use Cases, Structured As Business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0000"/>
            <a:ext cx="76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These are the highest-signal business shapes in the cohort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00000"/>
            <a:ext cx="180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pto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0000" y="1240000"/>
            <a:ext cx="18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A1628"/>
                </a:solidFill>
                <a:latin typeface="Aptos"/>
              </a:rPr>
              <a:t>Workflow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0000" y="1240000"/>
            <a:ext cx="18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A1628"/>
                </a:solidFill>
                <a:latin typeface="Aptos"/>
              </a:rPr>
              <a:t>Sales And Customer 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0000" y="1240000"/>
            <a:ext cx="18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A1628"/>
                </a:solidFill>
                <a:latin typeface="Aptos"/>
              </a:rPr>
              <a:t>Analytics And 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0000" y="1240000"/>
            <a:ext cx="18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A1628"/>
                </a:solidFill>
                <a:latin typeface="Aptos"/>
              </a:rPr>
              <a:t>Developer Tools And Testing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50000"/>
            <a:ext cx="1500000" cy="42000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" y="1730000"/>
            <a:ext cx="135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Buyer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50000"/>
            <a:ext cx="1500000" cy="42000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" y="2330000"/>
            <a:ext cx="135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Business job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50000"/>
            <a:ext cx="1500000" cy="42000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" y="3230000"/>
            <a:ext cx="135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Value prop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50000"/>
            <a:ext cx="1500000" cy="42000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000" y="4130000"/>
            <a:ext cx="135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Why now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16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0000" y="17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COO, operations leader, or workflow owner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00000" y="22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0000" y="23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Turn high-volume, rules-heavy operational queues into agent-run systems of action.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00000" y="31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20000" y="32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Throughput, faster cycle times, and lower labor cost without requiring users to learn a new interface.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0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20000" y="41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LLMs plus tool use make it possible to automate the whole queue, not just summarize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50000" y="16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70000" y="17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sales leaders, revenue ops, customer success, or service managers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50000" y="22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0000" y="23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Use agents to qualify, route, support, and operationalize customer interaction workflows.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0000" y="31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000" y="32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Improves responsiveness and rep leverage while keeping the workflow anchored in revenue teams.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50000" y="40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0000" y="41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Customer conversations already create structured data and clear SLAs, which agents can exploit.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00000" y="16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0000" y="17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heads of analytics, operations leaders, and knowledge-work teams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00000" y="22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0000" y="23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Turn raw data or context into dashboards, summaries, and decision-ready reporting.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00000" y="31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0000" y="32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Makes information work faster and cheaper while reducing manual synthesis.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00000" y="40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20000" y="41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Reporting is repetitive, high-frequency, and already evaluated on output quality and speed.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50000" y="16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0000" y="17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engineering leaders, product teams, QA, and platform teams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50000" y="22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70000" y="23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Use agents to test, monitor, and validate software and model-driven systems.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50000" y="31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70000" y="32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Catches regressions and scales QA capacity without linearly scaling headcount.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50000" y="4050000"/>
            <a:ext cx="1900000" cy="420000"/>
          </a:xfrm>
          <a:prstGeom prst="rect">
            <a:avLst/>
          </a:prstGeom>
          <a:solidFill>
            <a:srgbClr val="F3F6F8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70000" y="4120000"/>
            <a:ext cx="166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B2B3C"/>
                </a:solidFill>
                <a:latin typeface="Aptos"/>
              </a:rPr>
              <a:t>Agentic products create new failure modes, so testing and observability have become first-order needs.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0000"/>
            <a:ext cx="9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A1628"/>
                </a:solidFill>
                <a:latin typeface="Aptos"/>
              </a:rPr>
              <a:t>Vertical And Specialist Lanes Matter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0000"/>
            <a:ext cx="98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B7C"/>
                </a:solidFill>
                <a:latin typeface="Aptos"/>
              </a:rPr>
              <a:t>Smaller clusters can still be strategically attractive when pain and willingness to pay are high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000"/>
            <a:ext cx="10600000" cy="230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760000"/>
            <a:ext cx="17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0000" y="1760000"/>
            <a:ext cx="6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0" y="1760000"/>
            <a:ext cx="4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Business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0" y="1760000"/>
            <a:ext cx="24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100000"/>
            <a:ext cx="17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2B3C"/>
                </a:solidFill>
                <a:latin typeface="Aptos"/>
              </a:rPr>
              <a:t>Finance And Trading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0000" y="2100000"/>
            <a:ext cx="6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0" y="2100000"/>
            <a:ext cx="45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B2B3C"/>
                </a:solidFill>
                <a:latin typeface="Aptos"/>
              </a:rPr>
              <a:t>Apply agents to high-value workflows with direct financial consequences.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0" y="2100000"/>
            <a:ext cx="24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Aegis, Pelica, Parsewise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2560000"/>
            <a:ext cx="17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2B3C"/>
                </a:solidFill>
                <a:latin typeface="Aptos"/>
              </a:rPr>
              <a:t>Security And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0000" y="2560000"/>
            <a:ext cx="6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0" y="2560000"/>
            <a:ext cx="45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B2B3C"/>
                </a:solidFill>
                <a:latin typeface="Aptos"/>
              </a:rPr>
              <a:t>Automate security workflows and govern how agents interact with systems and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0" y="2560000"/>
            <a:ext cx="24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Golf, Capacitive, Cotool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000" y="3020000"/>
            <a:ext cx="17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2B3C"/>
                </a:solidFill>
                <a:latin typeface="Aptos"/>
              </a:rPr>
              <a:t>Healthcare 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3020000"/>
            <a:ext cx="6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0" y="3020000"/>
            <a:ext cx="45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B2B3C"/>
                </a:solidFill>
                <a:latin typeface="Aptos"/>
              </a:rPr>
              <a:t>Reduce repetitive administrative work in patient and provider operations.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0000" y="3020000"/>
            <a:ext cx="24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Galen AI, Aegis, Pelica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000" y="3480000"/>
            <a:ext cx="17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2B3C"/>
                </a:solidFill>
                <a:latin typeface="Aptos"/>
              </a:rPr>
              <a:t>Legal And Compliance Workflows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0000" y="3480000"/>
            <a:ext cx="6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1628"/>
                </a:solidFill>
                <a:latin typeface="Apto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0" y="3480000"/>
            <a:ext cx="45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B2B3C"/>
                </a:solidFill>
                <a:latin typeface="Aptos"/>
              </a:rPr>
              <a:t>Embed agents inside document-heavy or policy-heavy professional workflows.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0000" y="3480000"/>
            <a:ext cx="2400000" cy="2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Vesence, Third Chair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300000"/>
            <a:ext cx="10600000" cy="130000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000" y="4470000"/>
            <a:ext cx="30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Representative companies across lanes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000" y="4800000"/>
            <a:ext cx="9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EECE1"/>
                </a:solidFill>
                <a:latin typeface="Aptos"/>
              </a:rPr>
              <a:t>Anana | workflow automation | One place for Revenue, Sales, and Operations to work together with AI — investigating pickup, triaging RFPs, and acting in the tools your team already uses.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000" y="5010000"/>
            <a:ext cx="9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EECE1"/>
                </a:solidFill>
                <a:latin typeface="Aptos"/>
              </a:rPr>
              <a:t>stratify | workflow automation | Automate your user research with AI-powered insights. Get deeper customer understanding without the manual work.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00" y="5220000"/>
            <a:ext cx="9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EECE1"/>
                </a:solidFill>
                <a:latin typeface="Aptos"/>
              </a:rPr>
              <a:t>Alpha Research | sales and customer ops | Open source knowledge bases for all humanity.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00" y="5430000"/>
            <a:ext cx="9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EECE1"/>
                </a:solidFill>
                <a:latin typeface="Aptos"/>
              </a:rPr>
              <a:t>Anana | sales and customer ops | One place for Revenue, Sales, and Operations to work together with AI — investigating pickup, triaging RFPs, and acting in the tools your team already uses.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000" y="5640000"/>
            <a:ext cx="9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EECE1"/>
                </a:solidFill>
                <a:latin typeface="Aptos"/>
              </a:rPr>
              <a:t>Alpha Research | analytics and reporting | Open source knowledge bases for all humanity.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000" y="5850000"/>
            <a:ext cx="9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EECE1"/>
                </a:solidFill>
                <a:latin typeface="Aptos"/>
              </a:rPr>
              <a:t>BitBoard | analytics and reporting | Connect your data, build with your agent, share with your team.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00000"/>
            <a:ext cx="25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0C9A7"/>
                </a:solidFill>
                <a:latin typeface="Apto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50000"/>
            <a:ext cx="7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Strategic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0000"/>
            <a:ext cx="7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EECE1"/>
                </a:solidFill>
                <a:latin typeface="Aptos"/>
              </a:rPr>
              <a:t>Where the YC pattern supports Sync2, where it pressures ReprisesAI, and what the next build direction should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50000"/>
            <a:ext cx="1371600" cy="36576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900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A1628"/>
                </a:solidFill>
                <a:latin typeface="Aptos"/>
              </a:rPr>
              <a:t>Sync2 Has Real YC Adjacency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220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ptos"/>
              </a:rPr>
              <a:t>CLOSEST YC MATCHES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Pelica — Pelica Health builds AI co-pilots for value-based care quality teams, unifying EHR, claims, pharmacy, and lab data to close care gaps and improve outcomes.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Simbie AI — Simbie AI’s clinically-trained voice agents act as your 24/7 AI medical receptionist—handling scheduling, refills &amp; intake with 60% cost savings. Loved by doctors &amp; patients.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Prosper — AI Voice Agents ‍ for Patient Access and RCM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Toothy AI — Toothy takes insurance off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777240"/>
            <a:ext cx="220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ptos"/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9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The lane is real, but the stronger names own deeper workflow than a thin front-desk wrapper.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2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Scheduling, claims, billing, intake, and patient communication are stronger system-of-action wedges.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5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The winning product is likely the one that captures more of the actual clinic workflow.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500000"/>
            <a:ext cx="1645920" cy="82296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5500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C9A7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60" y="2920000"/>
            <a:ext cx="14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strong adjacency matches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79" y="2500000"/>
            <a:ext cx="1645920" cy="82296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79" y="25500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C9A7"/>
                </a:solidFill>
                <a:latin typeface="Aptos"/>
              </a:rPr>
              <a:t>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0279" y="2920000"/>
            <a:ext cx="14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workflow depth wins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799" y="2500000"/>
            <a:ext cx="1645920" cy="82296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9" y="25500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C9A7"/>
                </a:solidFill>
                <a:latin typeface="Aptos"/>
              </a:rPr>
              <a:t>$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4799" y="2920000"/>
            <a:ext cx="14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high-friction buyer pain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00000"/>
            <a:ext cx="8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The key question is whether the product owns enough workflow to become system-of-action software.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900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A1628"/>
                </a:solidFill>
                <a:latin typeface="Aptos"/>
              </a:rPr>
              <a:t>ReprisesAI Faces Productization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220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ptos"/>
              </a:rPr>
              <a:t>CLOSEST YC MATCHES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Contour — AI voice agents for healthcare operational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flowscope — Agents that learn how your business actually runs, then redesign and automate the work on top of existing systems. The AI team for businesses that don't have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Unisson — AI agents that learn to use your product and run directly inside it to execute any task your customers need, accelerating their time to value.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Lua Global Inc — Build, deploy, and scale enterprise-grade AI agents. Ship your first agent without touching infrastructure.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777240"/>
            <a:ext cx="220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ptos"/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9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There are fewer direct AI-agency clones than expected.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2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The bigger risk is productized implementation software absorbing repeatable service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560120"/>
            <a:ext cx="352044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• The safer posture is a specialized wedge, not generic AI delivery.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500000"/>
            <a:ext cx="1645920" cy="82296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5500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C9A7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60" y="2920000"/>
            <a:ext cx="14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clear comparables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79" y="2500000"/>
            <a:ext cx="1645920" cy="82296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79" y="25500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C9A7"/>
                </a:solidFill>
                <a:latin typeface="Aptos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0279" y="2920000"/>
            <a:ext cx="14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services get productized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799" y="2500000"/>
            <a:ext cx="1645920" cy="822960"/>
          </a:xfrm>
          <a:prstGeom prst="roundRect">
            <a:avLst>
              <a:gd name="adj" fmla="val 15000"/>
            </a:avLst>
          </a:prstGeom>
          <a:solidFill>
            <a:srgbClr val="0A1628"/>
          </a:solidFill>
          <a:ln>
            <a:solidFill>
              <a:srgbClr val="0A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9" y="25500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C9A7"/>
                </a:solidFill>
                <a:latin typeface="Aptos"/>
              </a:rPr>
              <a:t>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4799" y="2920000"/>
            <a:ext cx="14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specialize the wedge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00000"/>
            <a:ext cx="8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The key question is whether the product owns enough workflow to become system-of-action software.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CE1"/>
          </a:solidFill>
          <a:ln>
            <a:solidFill>
              <a:srgbClr val="EE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0000"/>
            <a:ext cx="9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A1628"/>
                </a:solidFill>
                <a:latin typeface="Aptos"/>
              </a:rPr>
              <a:t>What I Would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0000"/>
            <a:ext cx="9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B6B7C"/>
                </a:solidFill>
                <a:latin typeface="Aptos"/>
              </a:rPr>
              <a:t>The recommendations follow directly from the cohort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00000"/>
            <a:ext cx="4700000" cy="160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1520" y="186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1520" y="1920000"/>
            <a:ext cx="5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A162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1520" y="1880000"/>
            <a:ext cx="34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Choose workflow-heavy use cases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1520" y="2260000"/>
            <a:ext cx="3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8 companies cluster around operational systems of action, making this the clearest YC pattern.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0000" y="1700000"/>
            <a:ext cx="4700000" cy="160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80000" y="186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0000" y="1920000"/>
            <a:ext cx="5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A162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0000" y="1880000"/>
            <a:ext cx="34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Own context, governance, or workflow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0" y="2260000"/>
            <a:ext cx="3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The more durable clusters pair agents with data access, infrastructure, or embedded workflow ownership.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20000"/>
            <a:ext cx="4700000" cy="160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1520" y="398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520" y="4040000"/>
            <a:ext cx="5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A162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1520" y="4000000"/>
            <a:ext cx="34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Treat healthcare operations as a real wedge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31520" y="4380000"/>
            <a:ext cx="3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The count is smaller than horizontal ops, but the workflow pain and willingness to pay are strong.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00000" y="3820000"/>
            <a:ext cx="4700000" cy="160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0000" y="3980000"/>
            <a:ext cx="520000" cy="520000"/>
          </a:xfrm>
          <a:prstGeom prst="roundRect">
            <a:avLst>
              <a:gd name="adj" fmla="val 15000"/>
            </a:avLst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0000" y="4040000"/>
            <a:ext cx="52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A162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000" y="4000000"/>
            <a:ext cx="34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ptos"/>
              </a:rPr>
              <a:t>Avoid generic agent-platform messaging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0000" y="4380000"/>
            <a:ext cx="3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B3C"/>
                </a:solidFill>
                <a:latin typeface="Aptos"/>
              </a:rPr>
              <a:t>The cohort repeatedly rewards products with explicit jobs and operators, not broad agent claims.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0000"/>
            <a:ext cx="9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A1628"/>
                </a:solidFill>
                <a:latin typeface="Aptos"/>
              </a:rPr>
              <a:t>Method And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50000"/>
            <a:ext cx="1371600" cy="36576"/>
          </a:xfrm>
          <a:prstGeom prst="rect">
            <a:avLst/>
          </a:prstGeom>
          <a:solidFill>
            <a:srgbClr val="00C9A7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1700000"/>
            <a:ext cx="10000000" cy="3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• Website tested: https://www.ycombinator.com/companies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30000"/>
            <a:ext cx="10000000" cy="3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• yc-companies discovers the live YC backend from the public page each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360000"/>
            <a:ext cx="10000000" cy="3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• Primary filter: Spring 2025, agent / agentic pattern, team size &lt;=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690000"/>
            <a:ext cx="10000000" cy="3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• Structured cluster counts derived from 27 filtered companies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3020000"/>
            <a:ext cx="10000000" cy="3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B2B3C"/>
                </a:solidFill>
                <a:latin typeface="Aptos"/>
              </a:rPr>
              <a:t>• Use-case labels are inferred from company text, not official YC categories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000" y="4150000"/>
            <a:ext cx="10300000" cy="1100000"/>
          </a:xfrm>
          <a:prstGeom prst="roundRect">
            <a:avLst>
              <a:gd name="adj" fmla="val 15000"/>
            </a:avLst>
          </a:prstGeom>
          <a:solidFill>
            <a:srgbClr val="EEECE1"/>
          </a:solidFill>
          <a:ln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4550000"/>
            <a:ext cx="97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A1628"/>
                </a:solidFill>
                <a:latin typeface="Aptos"/>
              </a:rPr>
              <a:t>This deck is chained from a structured analysis pack, not from freehand slide writing.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00000"/>
            <a:ext cx="42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B7C"/>
                </a:solidFill>
                <a:latin typeface="Aptos"/>
              </a:rPr>
              <a:t>TicketForge | YC Agent Companies | June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00000" y="6380000"/>
            <a:ext cx="22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>
                <a:solidFill>
                  <a:srgbClr val="5B6B7C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10912</Words>
  <Application>Microsoft Office PowerPoint</Application>
  <PresentationFormat>Widescreen</PresentationFormat>
  <Paragraphs>1188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sheker kamma</dc:creator>
  <cp:keywords/>
  <dc:description>generated using python-pptx</dc:description>
  <cp:lastModifiedBy>sheker kamma</cp:lastModifiedBy>
  <cp:revision>1</cp:revision>
  <dcterms:created xsi:type="dcterms:W3CDTF">2013-01-27T09:14:16Z</dcterms:created>
  <dcterms:modified xsi:type="dcterms:W3CDTF">2026-05-25T15:25:33Z</dcterms:modified>
  <cp:category/>
</cp:coreProperties>
</file>