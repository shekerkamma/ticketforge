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7543" cy="6858000"/>
          </a:xfrm>
          <a:prstGeom prst="rect">
            <a:avLst/>
          </a:prstGeom>
          <a:solidFill>
            <a:srgbClr val="12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74152" y="0"/>
            <a:ext cx="54864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31352" y="5486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200" b="0" i="0">
                <a:solidFill>
                  <a:srgbClr val="00C9A7"/>
                </a:solidFill>
                <a:latin typeface="Calibri"/>
              </a:rPr>
              <a:t>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6858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600" b="1" i="0">
                <a:solidFill>
                  <a:srgbClr val="00C9A7"/>
                </a:solidFill>
                <a:latin typeface="Calibri"/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7406640" cy="9601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4700" b="1" i="0">
                <a:solidFill>
                  <a:srgbClr val="FFFFFF"/>
                </a:solidFill>
                <a:latin typeface="Calibri"/>
              </a:rPr>
              <a:t>Business Use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713232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400" b="1" i="0">
                <a:solidFill>
                  <a:srgbClr val="00C9A7"/>
                </a:solidFill>
                <a:latin typeface="Calibri"/>
              </a:rPr>
              <a:t>&amp; How They Get Realized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00400"/>
            <a:ext cx="1371600" cy="5486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474720"/>
            <a:ext cx="7223760" cy="10972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Ten agent use cases, the organizations delivering them, and the realization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pattern behind each — from challenge to system of action.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54880"/>
            <a:ext cx="910742" cy="365760"/>
          </a:xfrm>
          <a:prstGeom prst="roundRect">
            <a:avLst>
              <a:gd name="adj" fmla="val 50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809744"/>
            <a:ext cx="91074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87398" y="4754880"/>
            <a:ext cx="1247241" cy="365760"/>
          </a:xfrm>
          <a:prstGeom prst="roundRect">
            <a:avLst>
              <a:gd name="adj" fmla="val 50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87398" y="4809744"/>
            <a:ext cx="124724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FFFFFF"/>
                </a:solidFill>
                <a:latin typeface="Calibri"/>
              </a:rPr>
              <a:t>Customer Ops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5" y="4754880"/>
            <a:ext cx="994867" cy="365760"/>
          </a:xfrm>
          <a:prstGeom prst="roundRect">
            <a:avLst>
              <a:gd name="adj" fmla="val 50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2655" y="4809744"/>
            <a:ext cx="994867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FFFFFF"/>
                </a:solidFill>
                <a:latin typeface="Calibri"/>
              </a:rPr>
              <a:t>Analytics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85538" y="4754880"/>
            <a:ext cx="1331366" cy="365760"/>
          </a:xfrm>
          <a:prstGeom prst="roundRect">
            <a:avLst>
              <a:gd name="adj" fmla="val 50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85538" y="4809744"/>
            <a:ext cx="133136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FFFFFF"/>
                </a:solidFill>
                <a:latin typeface="Calibri"/>
              </a:rPr>
              <a:t>Dev &amp; Testing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44920" y="4754880"/>
            <a:ext cx="658368" cy="365760"/>
          </a:xfrm>
          <a:prstGeom prst="roundRect">
            <a:avLst>
              <a:gd name="adj" fmla="val 50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44920" y="4809744"/>
            <a:ext cx="65836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FFFFFF"/>
                </a:solidFill>
                <a:latin typeface="Calibri"/>
              </a:rPr>
              <a:t>Infra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31304" y="4754880"/>
            <a:ext cx="1078992" cy="365760"/>
          </a:xfrm>
          <a:prstGeom prst="roundRect">
            <a:avLst>
              <a:gd name="adj" fmla="val 50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1304" y="4809744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FFFFFF"/>
                </a:solidFill>
                <a:latin typeface="Calibri"/>
              </a:rPr>
              <a:t>Healthcare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1352" y="18288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1" i="0">
                <a:solidFill>
                  <a:srgbClr val="00C9A7"/>
                </a:solidFill>
                <a:latin typeface="Calibri"/>
              </a:rPr>
              <a:t>ORGANIZATIONS REFERENCED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1352" y="2194560"/>
            <a:ext cx="3291840" cy="4023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50" b="1" i="0">
                <a:solidFill>
                  <a:srgbClr val="E0F7F1"/>
                </a:solidFill>
                <a:latin typeface="Calibri"/>
              </a:rPr>
              <a:t>Anana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50" b="1" i="0">
                <a:solidFill>
                  <a:srgbClr val="E0F7F1"/>
                </a:solidFill>
                <a:latin typeface="Calibri"/>
              </a:rPr>
              <a:t>stratify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50" b="1" i="0">
                <a:solidFill>
                  <a:srgbClr val="E0F7F1"/>
                </a:solidFill>
                <a:latin typeface="Calibri"/>
              </a:rPr>
              <a:t>Cohesive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50" b="1" i="0">
                <a:solidFill>
                  <a:srgbClr val="E0F7F1"/>
                </a:solidFill>
                <a:latin typeface="Calibri"/>
              </a:rPr>
              <a:t>BitBoard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50" b="1" i="0">
                <a:solidFill>
                  <a:srgbClr val="E0F7F1"/>
                </a:solidFill>
                <a:latin typeface="Calibri"/>
              </a:rPr>
              <a:t>nao Labs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50" b="1" i="0">
                <a:solidFill>
                  <a:srgbClr val="E0F7F1"/>
                </a:solidFill>
                <a:latin typeface="Calibri"/>
              </a:rPr>
              <a:t>Golf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50" b="1" i="0">
                <a:solidFill>
                  <a:srgbClr val="E0F7F1"/>
                </a:solidFill>
                <a:latin typeface="Calibri"/>
              </a:rPr>
              <a:t>Capacitive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50" b="1" i="0">
                <a:solidFill>
                  <a:srgbClr val="E0F7F1"/>
                </a:solidFill>
                <a:latin typeface="Calibri"/>
              </a:rPr>
              <a:t>Airweave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50" b="1" i="0">
                <a:solidFill>
                  <a:srgbClr val="E0F7F1"/>
                </a:solidFill>
                <a:latin typeface="Calibri"/>
              </a:rPr>
              <a:t>Aegis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50" b="1" i="0">
                <a:solidFill>
                  <a:srgbClr val="E0F7F1"/>
                </a:solidFill>
                <a:latin typeface="Calibri"/>
              </a:rPr>
              <a:t>Pelica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50" b="1" i="0">
                <a:solidFill>
                  <a:srgbClr val="E0F7F1"/>
                </a:solidFill>
                <a:latin typeface="Calibri"/>
              </a:rPr>
              <a:t>Cotool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50" b="1" i="0">
                <a:solidFill>
                  <a:srgbClr val="E0F7F1"/>
                </a:solidFill>
                <a:latin typeface="Calibri"/>
              </a:rPr>
              <a:t>MindFort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50" b="1" i="0">
                <a:solidFill>
                  <a:srgbClr val="E0F7F1"/>
                </a:solidFill>
                <a:latin typeface="Calibri"/>
              </a:rPr>
              <a:t>Docket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50" b="1" i="0">
                <a:solidFill>
                  <a:srgbClr val="E0F7F1"/>
                </a:solidFill>
                <a:latin typeface="Calibri"/>
              </a:rPr>
              <a:t>Propolis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50" b="1" i="0">
                <a:solidFill>
                  <a:srgbClr val="E0F7F1"/>
                </a:solidFill>
                <a:latin typeface="Calibri"/>
              </a:rPr>
              <a:t>Galen AI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50" b="1" i="0">
                <a:solidFill>
                  <a:srgbClr val="E0F7F1"/>
                </a:solidFill>
                <a:latin typeface="Calibri"/>
              </a:rPr>
              <a:t>Vesence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6B7C8C"/>
                </a:solidFill>
                <a:latin typeface="Calibri"/>
              </a:rPr>
              <a:t>Agentic AI · Business Use Cases &amp; Realization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What This Deck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658368" cy="658368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92808"/>
            <a:ext cx="65836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200" b="1" i="0">
                <a:solidFill>
                  <a:srgbClr val="0A1628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01368"/>
            <a:ext cx="86868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200" b="1" i="0">
                <a:solidFill>
                  <a:srgbClr val="0A1628"/>
                </a:solidFill>
                <a:latin typeface="Calibri"/>
              </a:rPr>
              <a:t>The use-case landscape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221992"/>
            <a:ext cx="978408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i="0">
                <a:solidFill>
                  <a:srgbClr val="5B6B7C"/>
                </a:solidFill>
                <a:latin typeface="Calibri"/>
              </a:rPr>
              <a:t>Ten agent use cases and the organizations building each 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658368" cy="658368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35808"/>
            <a:ext cx="65836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200" b="1" i="0">
                <a:solidFill>
                  <a:srgbClr val="0A1628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944368"/>
            <a:ext cx="86868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200" b="1" i="0">
                <a:solidFill>
                  <a:srgbClr val="0A1628"/>
                </a:solidFill>
                <a:latin typeface="Calibri"/>
              </a:rPr>
              <a:t>Use cases in depth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364992"/>
            <a:ext cx="978408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i="0">
                <a:solidFill>
                  <a:srgbClr val="5B6B7C"/>
                </a:solidFill>
                <a:latin typeface="Calibri"/>
              </a:rPr>
              <a:t>Challenge, realization, how-it-works, stack, and named organizations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69080"/>
            <a:ext cx="658368" cy="658368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178808"/>
            <a:ext cx="65836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200" b="1" i="0">
                <a:solidFill>
                  <a:srgbClr val="0A1628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087368"/>
            <a:ext cx="86868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200" b="1" i="0">
                <a:solidFill>
                  <a:srgbClr val="0A1628"/>
                </a:solidFill>
                <a:latin typeface="Calibri"/>
              </a:rPr>
              <a:t>Strategic realization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507992"/>
            <a:ext cx="978408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i="0">
                <a:solidFill>
                  <a:srgbClr val="5B6B7C"/>
                </a:solidFill>
                <a:latin typeface="Calibri"/>
              </a:rPr>
              <a:t>Healthcare ops, implementation automation, risks, and a 90-day 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1" i="0">
                <a:solidFill>
                  <a:srgbClr val="00C9A7"/>
                </a:solidFill>
                <a:latin typeface="Calibri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4200" b="1" i="0">
                <a:solidFill>
                  <a:srgbClr val="FFFFFF"/>
                </a:solidFill>
                <a:latin typeface="Calibri"/>
              </a:rPr>
              <a:t>The Use-Case Landscape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1371600" cy="5486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977639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0" i="0">
                <a:solidFill>
                  <a:srgbClr val="E0F7F1"/>
                </a:solidFill>
                <a:latin typeface="Calibri"/>
              </a:rPr>
              <a:t>Ten agent use cases and the organizations building each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The Use-Case Landscape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Ten agent use cases — each shown with the organizations delivering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1004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91440" cy="868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709928"/>
            <a:ext cx="4404207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A1628"/>
                </a:solidFill>
                <a:latin typeface="Calibri"/>
              </a:rPr>
              <a:t>Workflow Automation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057400"/>
            <a:ext cx="4404207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Calibri"/>
              </a:rPr>
              <a:t>Anana, stratify, Scalar Field, Cotool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0319" y="18013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0319" y="187452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B800"/>
                </a:solidFill>
                <a:latin typeface="Calibri"/>
              </a:rPr>
              <a:t>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600200"/>
            <a:ext cx="541004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600200"/>
            <a:ext cx="91440" cy="868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1709928"/>
            <a:ext cx="4404207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A1628"/>
                </a:solidFill>
                <a:latin typeface="Calibri"/>
              </a:rPr>
              <a:t>Sales And Customer 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2057400"/>
            <a:ext cx="4404207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Calibri"/>
              </a:rPr>
              <a:t>Alpha Research, Anana, Cohesive, Galen 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84687" y="18013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84687" y="187452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B800"/>
                </a:solidFill>
                <a:latin typeface="Calibri"/>
              </a:rPr>
              <a:t>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578608"/>
            <a:ext cx="541004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578608"/>
            <a:ext cx="91440" cy="868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2688336"/>
            <a:ext cx="4404207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A1628"/>
                </a:solidFill>
                <a:latin typeface="Calibri"/>
              </a:rPr>
              <a:t>Analytics And Reporting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3035808"/>
            <a:ext cx="4404207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Calibri"/>
              </a:rPr>
              <a:t>Alpha Research, BitBoard, nao Labs, Scalar Field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00319" y="2779776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0319" y="2852928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B800"/>
                </a:solidFill>
                <a:latin typeface="Calibri"/>
              </a:rPr>
              <a:t>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3007" y="2578608"/>
            <a:ext cx="541004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3007" y="2578608"/>
            <a:ext cx="91440" cy="868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9039" y="2688336"/>
            <a:ext cx="4404207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A1628"/>
                </a:solidFill>
                <a:latin typeface="Calibri"/>
              </a:rPr>
              <a:t>Developer Tools And Testing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9039" y="3035808"/>
            <a:ext cx="4404207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Calibri"/>
              </a:rPr>
              <a:t>Alpha Research, Golf, Capacitive, Docket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84687" y="2779776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84687" y="2852928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B800"/>
                </a:solidFill>
                <a:latin typeface="Calibri"/>
              </a:rPr>
              <a:t>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3557016"/>
            <a:ext cx="541004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3557016"/>
            <a:ext cx="91440" cy="868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3666744"/>
            <a:ext cx="4404207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A1628"/>
                </a:solidFill>
                <a:latin typeface="Calibri"/>
              </a:rPr>
              <a:t>Data And Agent Infrastructure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" y="4014216"/>
            <a:ext cx="4404207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Calibri"/>
              </a:rPr>
              <a:t>Golf, Capacitive, Scalar Field, Airweave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00319" y="3758184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0319" y="3831336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B800"/>
                </a:solidFill>
                <a:latin typeface="Calibri"/>
              </a:rPr>
              <a:t>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33007" y="3557016"/>
            <a:ext cx="541004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33007" y="3557016"/>
            <a:ext cx="91440" cy="868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89039" y="3666744"/>
            <a:ext cx="4404207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A1628"/>
                </a:solidFill>
                <a:latin typeface="Calibri"/>
              </a:rPr>
              <a:t>Finance And Trading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89039" y="4014216"/>
            <a:ext cx="4404207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Calibri"/>
              </a:rPr>
              <a:t>Aegis, Pelica, Parsewise, Avallon AI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984687" y="3758184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84687" y="3831336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B800"/>
                </a:solidFill>
                <a:latin typeface="Calibri"/>
              </a:rPr>
              <a:t>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4535424"/>
            <a:ext cx="541004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4535424"/>
            <a:ext cx="91440" cy="868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4645152"/>
            <a:ext cx="4404207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A1628"/>
                </a:solidFill>
                <a:latin typeface="Calibri"/>
              </a:rPr>
              <a:t>Security And Governance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4992624"/>
            <a:ext cx="4404207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Calibri"/>
              </a:rPr>
              <a:t>Golf, Capacitive, Cotool, MindFort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300319" y="4736592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0319" y="4809744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B800"/>
                </a:solidFill>
                <a:latin typeface="Calibri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33007" y="4535424"/>
            <a:ext cx="541004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33007" y="4535424"/>
            <a:ext cx="91440" cy="868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89039" y="4645152"/>
            <a:ext cx="4404207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A1628"/>
                </a:solidFill>
                <a:latin typeface="Calibri"/>
              </a:rPr>
              <a:t>Healthcare Operations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89039" y="4992624"/>
            <a:ext cx="4404207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Calibri"/>
              </a:rPr>
              <a:t>Galen AI, Aegis, Pelica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984687" y="4736592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984687" y="4809744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B800"/>
                </a:solidFill>
                <a:latin typeface="Calibri"/>
              </a:rPr>
              <a:t>3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5513832"/>
            <a:ext cx="541004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8640" y="5513832"/>
            <a:ext cx="91440" cy="868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4672" y="5623560"/>
            <a:ext cx="4404207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A1628"/>
                </a:solidFill>
                <a:latin typeface="Calibri"/>
              </a:rPr>
              <a:t>Legal And Compliance Workflows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4672" y="5971032"/>
            <a:ext cx="4404207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Calibri"/>
              </a:rPr>
              <a:t>Vesence, Third Chair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300319" y="57150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0319" y="57881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B800"/>
                </a:solidFill>
                <a:latin typeface="Calibri"/>
              </a:rPr>
              <a:t>2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33007" y="5513832"/>
            <a:ext cx="5410047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33007" y="5513832"/>
            <a:ext cx="91440" cy="868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89039" y="5623560"/>
            <a:ext cx="4404207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A1628"/>
                </a:solidFill>
                <a:latin typeface="Calibri"/>
              </a:rPr>
              <a:t>General Ai Applications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89039" y="5971032"/>
            <a:ext cx="4404207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Calibri"/>
              </a:rPr>
              <a:t>Plexe, Cua, Klavis AI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984687" y="57150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84687" y="578815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B800"/>
                </a:solidFill>
                <a:latin typeface="Calibr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Where Organizations Are Building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Number of named organizations active in each use case</a:t>
            </a:r>
          </a:p>
        </p:txBody>
      </p:sp>
      <p:pic>
        <p:nvPicPr>
          <p:cNvPr id="7" name="Picture 6" descr="org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2854" y="1463040"/>
            <a:ext cx="7685986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806440"/>
            <a:ext cx="11094415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50" b="1" i="0">
                <a:solidFill>
                  <a:srgbClr val="0A1628"/>
                </a:solidFill>
                <a:latin typeface="Calibri"/>
              </a:rPr>
              <a:t>Workflow automation, customer ops, analytics, testing, and infrastructure see the most activity.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The Common Realization Pattern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Almost every use case is the same agent loop wrapped around a different job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3515258" cy="1600200"/>
          </a:xfrm>
          <a:prstGeom prst="roundRect">
            <a:avLst>
              <a:gd name="adj" fmla="val 6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3515258" cy="45720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783080"/>
            <a:ext cx="3149498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01  TRIGGER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58568"/>
            <a:ext cx="3112922" cy="9144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1B2B3C"/>
                </a:solidFill>
                <a:latin typeface="Calibri"/>
              </a:rPr>
              <a:t>A queue item, message, ticket, document, alert, or schedule kicks off the 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45610" y="2194560"/>
            <a:ext cx="3657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200" b="1" i="0">
                <a:solidFill>
                  <a:srgbClr val="009B82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691640"/>
            <a:ext cx="3515258" cy="1600200"/>
          </a:xfrm>
          <a:prstGeom prst="roundRect">
            <a:avLst>
              <a:gd name="adj" fmla="val 6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8218" y="1691640"/>
            <a:ext cx="3515258" cy="45720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9386" y="1783080"/>
            <a:ext cx="3149498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02  CONTEXT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9386" y="2258568"/>
            <a:ext cx="3112922" cy="9144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1B2B3C"/>
                </a:solidFill>
                <a:latin typeface="Calibri"/>
              </a:rPr>
              <a:t>Retrieval + permissioned access pull the data, history, and policy the agent needs.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5188" y="2194560"/>
            <a:ext cx="3657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200" b="1" i="0">
                <a:solidFill>
                  <a:srgbClr val="009B82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7796" y="1691640"/>
            <a:ext cx="3515258" cy="1600200"/>
          </a:xfrm>
          <a:prstGeom prst="roundRect">
            <a:avLst>
              <a:gd name="adj" fmla="val 6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27796" y="1691640"/>
            <a:ext cx="3515258" cy="45720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8964" y="1783080"/>
            <a:ext cx="3149498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03  REASON &amp; 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8964" y="2258568"/>
            <a:ext cx="3112922" cy="9144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1B2B3C"/>
                </a:solidFill>
                <a:latin typeface="Calibri"/>
              </a:rPr>
              <a:t>The agent decomposes the job, chooses tools, and drafts the action sequence.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47872"/>
            <a:ext cx="3515258" cy="1600200"/>
          </a:xfrm>
          <a:prstGeom prst="roundRect">
            <a:avLst>
              <a:gd name="adj" fmla="val 6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3547872"/>
            <a:ext cx="3515258" cy="45720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639312"/>
            <a:ext cx="3149498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04  ACT VIA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114800"/>
            <a:ext cx="3112922" cy="9144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1B2B3C"/>
                </a:solidFill>
                <a:latin typeface="Calibri"/>
              </a:rPr>
              <a:t>It executes in the systems of record — CRM, EHR, repo, ticketing, ledgers.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45610" y="4050792"/>
            <a:ext cx="3657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200" b="1" i="0">
                <a:solidFill>
                  <a:srgbClr val="009B82"/>
                </a:solidFill>
                <a:latin typeface="Calibri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38218" y="3547872"/>
            <a:ext cx="3515258" cy="1600200"/>
          </a:xfrm>
          <a:prstGeom prst="roundRect">
            <a:avLst>
              <a:gd name="adj" fmla="val 6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38218" y="3547872"/>
            <a:ext cx="3515258" cy="45720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39386" y="3639312"/>
            <a:ext cx="3149498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05  GUARDRAILS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9386" y="4114800"/>
            <a:ext cx="3112922" cy="9144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1B2B3C"/>
                </a:solidFill>
                <a:latin typeface="Calibri"/>
              </a:rPr>
              <a:t>Confidence thresholds, policy checks, and human-in-the-loop on exceptions.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35188" y="4050792"/>
            <a:ext cx="3657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200" b="1" i="0">
                <a:solidFill>
                  <a:srgbClr val="009B82"/>
                </a:solidFill>
                <a:latin typeface="Calibr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27796" y="3547872"/>
            <a:ext cx="3515258" cy="1600200"/>
          </a:xfrm>
          <a:prstGeom prst="roundRect">
            <a:avLst>
              <a:gd name="adj" fmla="val 6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127796" y="3547872"/>
            <a:ext cx="3515258" cy="457200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8964" y="3639312"/>
            <a:ext cx="3149498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06  SYSTEM OF ACTION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8964" y="4114800"/>
            <a:ext cx="3112922" cy="9144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1B2B3C"/>
                </a:solidFill>
                <a:latin typeface="Calibri"/>
              </a:rPr>
              <a:t>The work is completed and logged — not just summarized — with an audit trail.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The Reference Realization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E0F7F1"/>
                </a:solidFill>
                <a:latin typeface="Calibri"/>
              </a:rPr>
              <a:t>The layers organizations actually assemble to ship an agent into production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94415" cy="841248"/>
          </a:xfrm>
          <a:prstGeom prst="roundRect">
            <a:avLst>
              <a:gd name="adj" fmla="val 5000"/>
            </a:avLst>
          </a:prstGeom>
          <a:solidFill>
            <a:srgbClr val="12243A"/>
          </a:solidFill>
          <a:ln w="12700">
            <a:solidFill>
              <a:srgbClr val="213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91440" cy="8412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11096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0C9A7"/>
                </a:solidFill>
                <a:latin typeface="Calibri"/>
              </a:rPr>
              <a:t>EXPERIENCE &amp; 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783080"/>
            <a:ext cx="4754880" cy="8412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Inboxes, dashboards, review queues, approvals — where operators stay in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783080"/>
            <a:ext cx="2377440" cy="8412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FFB800"/>
                </a:solidFill>
                <a:latin typeface="Calibri"/>
              </a:rPr>
              <a:t>Anana · BitBoard · Vesence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97480"/>
            <a:ext cx="11094415" cy="841248"/>
          </a:xfrm>
          <a:prstGeom prst="roundRect">
            <a:avLst>
              <a:gd name="adj" fmla="val 5000"/>
            </a:avLst>
          </a:prstGeom>
          <a:solidFill>
            <a:srgbClr val="12243A"/>
          </a:solidFill>
          <a:ln w="12700">
            <a:solidFill>
              <a:srgbClr val="213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697480"/>
            <a:ext cx="91440" cy="8412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825496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0C9A7"/>
                </a:solidFill>
                <a:latin typeface="Calibri"/>
              </a:rPr>
              <a:t>ORCHESTRATION &amp; REASONING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697480"/>
            <a:ext cx="4754880" cy="8412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Planning, tool selection, multi-step execution, evals and retries.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2697480"/>
            <a:ext cx="2377440" cy="8412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FFB800"/>
                </a:solidFill>
                <a:latin typeface="Calibri"/>
              </a:rPr>
              <a:t>stratify · Docket · Propolis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611880"/>
            <a:ext cx="11094415" cy="841248"/>
          </a:xfrm>
          <a:prstGeom prst="roundRect">
            <a:avLst>
              <a:gd name="adj" fmla="val 5000"/>
            </a:avLst>
          </a:prstGeom>
          <a:solidFill>
            <a:srgbClr val="12243A"/>
          </a:solidFill>
          <a:ln w="12700">
            <a:solidFill>
              <a:srgbClr val="213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611880"/>
            <a:ext cx="91440" cy="8412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39896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0C9A7"/>
                </a:solidFill>
                <a:latin typeface="Calibri"/>
              </a:rPr>
              <a:t>CONTEXT &amp; RETRIEVAL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611880"/>
            <a:ext cx="4754880" cy="8412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Permissioned access to data, memory, and policy — the layer agents fail without.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3611880"/>
            <a:ext cx="2377440" cy="8412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FFB800"/>
                </a:solidFill>
                <a:latin typeface="Calibri"/>
              </a:rPr>
              <a:t>Airweave · Kaelio · Capacitive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526280"/>
            <a:ext cx="11094415" cy="841248"/>
          </a:xfrm>
          <a:prstGeom prst="roundRect">
            <a:avLst>
              <a:gd name="adj" fmla="val 5000"/>
            </a:avLst>
          </a:prstGeom>
          <a:solidFill>
            <a:srgbClr val="12243A"/>
          </a:solidFill>
          <a:ln w="12700">
            <a:solidFill>
              <a:srgbClr val="213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526280"/>
            <a:ext cx="91440" cy="8412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654296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0C9A7"/>
                </a:solidFill>
                <a:latin typeface="Calibri"/>
              </a:rPr>
              <a:t>ACTUATION &amp;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526280"/>
            <a:ext cx="4754880" cy="8412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Writes back into CRM, EHR, repos, ledgers and ticketing systems of record.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4526280"/>
            <a:ext cx="2377440" cy="8412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FFB800"/>
                </a:solidFill>
                <a:latin typeface="Calibri"/>
              </a:rPr>
              <a:t>Cohesive · Aegis · Cua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440680"/>
            <a:ext cx="11094415" cy="841248"/>
          </a:xfrm>
          <a:prstGeom prst="roundRect">
            <a:avLst>
              <a:gd name="adj" fmla="val 5000"/>
            </a:avLst>
          </a:prstGeom>
          <a:solidFill>
            <a:srgbClr val="12243A"/>
          </a:solidFill>
          <a:ln w="12700">
            <a:solidFill>
              <a:srgbClr val="213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440680"/>
            <a:ext cx="91440" cy="8412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568696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00C9A7"/>
                </a:solidFill>
                <a:latin typeface="Calibri"/>
              </a:rPr>
              <a:t>GOVERNANCE &amp; SECURITY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440680"/>
            <a:ext cx="4754880" cy="8412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Identity, scoping, audit, and guardrails on what agents may touch.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5440680"/>
            <a:ext cx="2377440" cy="8412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FFB800"/>
                </a:solidFill>
                <a:latin typeface="Calibri"/>
              </a:rPr>
              <a:t>Golf · MindFort · Cotool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1" i="0">
                <a:solidFill>
                  <a:srgbClr val="00C9A7"/>
                </a:solidFill>
                <a:latin typeface="Calibri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4200" b="1" i="0">
                <a:solidFill>
                  <a:srgbClr val="FFFFFF"/>
                </a:solidFill>
                <a:latin typeface="Calibri"/>
              </a:rPr>
              <a:t>Use Cases In Depth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1371600" cy="5486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977639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0" i="0">
                <a:solidFill>
                  <a:srgbClr val="E0F7F1"/>
                </a:solidFill>
                <a:latin typeface="Calibri"/>
              </a:rPr>
              <a:t>Each use case: the challenge, how it's realized, how it works, and who delivers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415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7543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74152" y="0"/>
            <a:ext cx="54864" cy="6858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71597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USE CASE 01  ·  HORIZONTAL 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159752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FFFF"/>
                </a:solidFill>
                <a:latin typeface="Calibri"/>
              </a:rPr>
              <a:t>Workflow Automation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1463040" cy="36576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High-volume, rules-heavy operational queues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Manual multi-step handoffs across tools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Throughput capped by headcount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IT'S REALIZED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Agents run the whole queue as a system of action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Multi-step execution inside existing tools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No new interface for the operator to learn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organizations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5224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35224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Whole queue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automation scope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21808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21808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HITL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on exceptions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6976872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 WORKS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16552"/>
            <a:ext cx="6611112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Trigger from a queue item → agent pulls context and policy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Plans and executes the multi-step task across the team's tools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Logs the completed action; routes only exceptions to a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66360"/>
            <a:ext cx="6976872" cy="84124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3036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C9A7"/>
                </a:solidFill>
                <a:latin typeface="Calibri"/>
              </a:rPr>
              <a:t>SOLUTION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Operator inbox / queue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4298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ORCHESTRATION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4298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Multi-step planner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37076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7076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Process + policy memory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9854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ACTUATION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9854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Writes to tools of record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SYSTEMS:  CRM  ·  Ticketing  ·  ERP  ·  Email/Slack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28516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8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65676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USERS:  COO · ops leaders · workflow owners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2" y="41148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ORGANIZATIONS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2" y="65836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DELIVERING THIS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48472" y="987552"/>
            <a:ext cx="914400" cy="36576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48472" y="118872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Anana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2" y="1463040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The agentic system of action for hotel groups and management companies.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8472" y="212140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stratify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2395728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AI agents that help you understand your customers' needs.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8472" y="3054096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Scalar Field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48472" y="3328416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Your agentic trading desk — agentic operations for finance.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8472" y="3986784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Cotool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48472" y="4261104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AI agents for security operations teams.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415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7543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74152" y="0"/>
            <a:ext cx="54864" cy="6858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71597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USE CASE 02  ·  REVENUE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159752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FFFF"/>
                </a:solidFill>
                <a:latin typeface="Calibri"/>
              </a:rPr>
              <a:t>Sales &amp; Customer Ops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1463040" cy="36576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Repetitive customer-facing work at scale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Slow response and uneven follow-up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Reps stretched across intake and triage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IT'S REALIZED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Agents qualify, route, support, and follow up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Anchored in the revenue team's workflow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Exploits the structured data conversations create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organizations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5224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35224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Intake→follow-up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owned workflow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21808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21808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SLA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anchored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6976872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 WORKS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16552"/>
            <a:ext cx="6611112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Inbound message / lead triggers the agent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It enriches, qualifies, and routes against SLAs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Drafts or sends the response; updates the CRM record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66360"/>
            <a:ext cx="6976872" cy="84124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3036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C9A7"/>
                </a:solidFill>
                <a:latin typeface="Calibri"/>
              </a:rPr>
              <a:t>SOLUTION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Rep console / CRM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4298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ORCHESTRATION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4298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Qualify + route logic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37076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7076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Account + convo history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9854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ACTUATION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9854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CRM + messaging write-back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SYSTEMS:  CRM  ·  Helpdesk  ·  Email  ·  Calendar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28516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8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65676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USERS:  Sales · RevOps · CS · service managers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2" y="41148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ORGANIZATIONS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2" y="65836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DELIVERING THIS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48472" y="987552"/>
            <a:ext cx="914400" cy="36576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48472" y="118872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Cohesive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2" y="1463040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The agentic CRM for blue-collar services.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8472" y="212140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Anana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2395728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Revenue, sales, and operations working together with AI.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8472" y="3054096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Alpha Research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48472" y="3328416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Open-source, agentic knowledge bases for customer teams.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8472" y="3986784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Parsewise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48472" y="4261104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Multi-document processing for risk and ops teams.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415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7543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74152" y="0"/>
            <a:ext cx="54864" cy="6858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71597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USE CASE 03  ·  KNOWLEDGE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159752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FFFF"/>
                </a:solidFill>
                <a:latin typeface="Calibri"/>
              </a:rPr>
              <a:t>Analytics &amp; Reporting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1463040" cy="36576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Manual synthesis of raw data and context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High-frequency, repetitive reporting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Decisions wait on slow dashboards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IT'S REALIZED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Agents turn data into decision-ready reporting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Dashboards and summaries built on demand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Paired with trusted, governed data access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organizations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5224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35224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On-demand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dashboards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21808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21808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Governed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data access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6976872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 WORKS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16552"/>
            <a:ext cx="6611112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Request or schedule triggers the reporting run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Agent queries governed data and composes the view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Delivers the dashboard / summary with sources cited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66360"/>
            <a:ext cx="6976872" cy="84124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3036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C9A7"/>
                </a:solidFill>
                <a:latin typeface="Calibri"/>
              </a:rPr>
              <a:t>SOLUTION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Dashboards / summaries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4298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ORCHESTRATION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4298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Query + compose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37076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7076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Semantic + retrieval layer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9854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ACTUATION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9854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Publishes reports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SYSTEMS:  Warehouse  ·  BI tools  ·  Sheets  ·  APIs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28516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8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65676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USERS:  Heads of analytics · operators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2" y="41148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ORGANIZATIONS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2" y="65836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DELIVERING THIS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48472" y="987552"/>
            <a:ext cx="914400" cy="36576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48472" y="118872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BitBoard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2" y="1463040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Let your agent build dashboards and reporting.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8472" y="212140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nao Labs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2395728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Open-source analytics agent.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8472" y="3054096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Airweave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48472" y="3328416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The open-source context retrieval layer for agents.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8472" y="3986784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Alpha Research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48472" y="4261104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Agentic knowledge bases for decision support.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415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7543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74152" y="0"/>
            <a:ext cx="54864" cy="6858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71597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USE CASE 04  · 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159752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FFFF"/>
                </a:solidFill>
                <a:latin typeface="Calibri"/>
              </a:rPr>
              <a:t>Developer Tools &amp; Testing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1463040" cy="36576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Agentic products create new failure modes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QA can't scale linearly with headcount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Regressions slip into releases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IT'S REALIZED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Agents test, monitor, and validate systems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Become part of the default release process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Catch regressions before they ship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organizations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5224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35224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In CI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release loop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21808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21808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↓ regressions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outcome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6976872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 WORKS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16552"/>
            <a:ext cx="6611112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Code change / deploy triggers the test agent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It drives the app, generates and runs cases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Files findings into CI and the issue tracker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66360"/>
            <a:ext cx="6976872" cy="84124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3036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C9A7"/>
                </a:solidFill>
                <a:latin typeface="Calibri"/>
              </a:rPr>
              <a:t>SOLUTION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CI + PR checks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4298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ORCHESTRATION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4298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Test generation/exec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37076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7076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Repo + spec access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9854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ACTUATION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9854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Issues + status writes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SYSTEMS:  GitHub/CI  ·  Browsers  ·  Issue tracker  ·  Observability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28516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8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65676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USERS:  Eng leaders · QA · platform teams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2" y="41148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ORGANIZATIONS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2" y="65836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DELIVERING THIS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48472" y="987552"/>
            <a:ext cx="914400" cy="36576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48472" y="118872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Docket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2" y="1463040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AI agents for web testing.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8472" y="212140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Propolis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2395728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Hands-off QA via intelligent browser agents.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8472" y="3054096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Golf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48472" y="3328416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Agentic AI security and governance for engineering.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8472" y="3986784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Capacitive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48472" y="4261104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The data gateway for agents in test pipelines.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415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7543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74152" y="0"/>
            <a:ext cx="54864" cy="6858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71597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USE CASE 05  · 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159752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FFFF"/>
                </a:solidFill>
                <a:latin typeface="Calibri"/>
              </a:rPr>
              <a:t>Data &amp; Agent Infrastructure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1463040" cy="36576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Agents fail without trustworthy context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Uncontrolled system access is risky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Every team rebuilds the same plumbing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IT'S REALIZED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Provide the context + permissioning layer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Become infrastructure, not a single app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Horizontal wedge with platform stickiness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organizations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5224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35224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Context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the wedge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21808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21808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Scoped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access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6976872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 WORKS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16552"/>
            <a:ext cx="6611112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Agent product requests data or an action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Infra layer enforces scope and retrieves context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Returns permissioned context / brokered access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66360"/>
            <a:ext cx="6976872" cy="84124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3036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C9A7"/>
                </a:solidFill>
                <a:latin typeface="Calibri"/>
              </a:rPr>
              <a:t>SOLUTION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SDK / API surface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4298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ORCHESTRATION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4298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Access broker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37076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7076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Retrieval + memory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9854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ACTUATION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9854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Permissioned connectors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SYSTEMS:  Data sources  ·  Vector stores  ·  IdP  ·  Connectors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28516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8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65676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USERS:  Platform eng · CTO staff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2" y="41148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ORGANIZATIONS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2" y="65836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DELIVERING THIS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48472" y="987552"/>
            <a:ext cx="914400" cy="36576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48472" y="118872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Airweave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2" y="1463040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The open-source context retrieval layer for agents.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8472" y="212140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Kaelio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2395728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The open-source context layer for data agents.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8472" y="3054096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Capacitive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48472" y="3328416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The data gateway for agents.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8472" y="3986784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Golf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48472" y="4261104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Agentic AI security and governance.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415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7543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74152" y="0"/>
            <a:ext cx="54864" cy="6858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71597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USE CASE 06  ·  VERTICAL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159752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FFFF"/>
                </a:solidFill>
                <a:latin typeface="Calibri"/>
              </a:rPr>
              <a:t>Finance &amp; Trading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1463040" cy="36576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High-value workflows, direct $ consequences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Structured rules, financially sensitive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Errors and cycle time map straight to money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IT'S REALIZED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Agents on claims, trading, and risk ops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Easy ROI: cycle time and error rates = $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Domain expertise + clear control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organizations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5224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35224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$ impact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measurable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21808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21808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Bounded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controls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6976872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 WORKS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16552"/>
            <a:ext cx="6611112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Claim / order / document triggers the agent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It applies rules, checks data, and proposes the action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Executes within limits; escalates edge cases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66360"/>
            <a:ext cx="6976872" cy="84124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3036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C9A7"/>
                </a:solidFill>
                <a:latin typeface="Calibri"/>
              </a:rPr>
              <a:t>SOLUTION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Ops review console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4298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ORCHESTRATION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4298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Rules + reasoning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37076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7076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Docs + records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9854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ACTUATION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9854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Ledger / claims write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SYSTEMS:  Claims systems  ·  Market data  ·  Docs  ·  Ledgers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28516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8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65676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USERS:  Finance ops · claims · risk teams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2" y="41148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ORGANIZATIONS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2" y="65836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DELIVERING THIS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48472" y="987552"/>
            <a:ext cx="914400" cy="36576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48472" y="118872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Aegis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2" y="1463040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AI agents to win denied health-insurance claims.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8472" y="212140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Avallon AI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2395728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AI agents for insurance claims operations.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8472" y="3054096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Parsewise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48472" y="3328416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Multi-document processing for risk teams.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8472" y="3986784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Pelica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48472" y="4261104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Healthcare operations with financial consequences.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415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7543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74152" y="0"/>
            <a:ext cx="54864" cy="6858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71597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USE CASE 07  · 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159752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FFFF"/>
                </a:solidFill>
                <a:latin typeface="Calibri"/>
              </a:rPr>
              <a:t>Security &amp; Governance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1463040" cy="36576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Every agent deployment adds governance need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Alerts, access, and policy at scale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Security pain is urgent and measurable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IT'S REALIZED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Automate security workflows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Govern how agents touch systems and data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Sit in a real enforcement / response loop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organizations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5224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35224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Enforcement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loop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21808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21808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Audited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decisions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6976872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 WORKS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16552"/>
            <a:ext cx="6611112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Alert / access request triggers the agent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It investigates, correlates, and applies policy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Enforces or escalates; records the decision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66360"/>
            <a:ext cx="6976872" cy="84124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3036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C9A7"/>
                </a:solidFill>
                <a:latin typeface="Calibri"/>
              </a:rPr>
              <a:t>SOLUTION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SOC / policy console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4298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ORCHESTRATION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4298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Investigate + 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37076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7076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Telemetry + policy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9854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ACTUATION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9854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Enforce / quarantine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SYSTEMS:  SIEM  ·  IdP  ·  Cloud APIs  ·  Ticketing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28516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8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65676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USERS:  CISO orgs · security eng · compliance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2" y="41148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ORGANIZATIONS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2" y="65836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DELIVERING THIS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48472" y="987552"/>
            <a:ext cx="914400" cy="36576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48472" y="118872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Golf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2" y="1463040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Agentic AI security and governance.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8472" y="212140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MindFort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2395728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Autonomous security agents.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8472" y="3054096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Cotool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48472" y="3328416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AI agents for security operations teams.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8472" y="3986784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Capacitive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48472" y="4261104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The data gateway controlling agent access.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415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7543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74152" y="0"/>
            <a:ext cx="54864" cy="6858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71597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USE CASE 08  ·  VERTICAL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159752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FFFF"/>
                </a:solidFill>
                <a:latin typeface="Calibri"/>
              </a:rPr>
              <a:t>Healthcare Operations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1463040" cy="36576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Repetitive patient &amp; provider admin work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Overloaded scheduling, billing, claims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High friction, high willingness to pay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IT'S REALIZED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Reduce manual coordination end to end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Own a painful workflow, not a thin wrapper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Measurable ROI in staffing and collections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organizations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5224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35224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End-to-end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21808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21808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ROI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staffing + collections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6976872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 WORKS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16552"/>
            <a:ext cx="6611112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Call / referral / claim triggers the agent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It handles scheduling, intake, or billing steps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Writes back to the EHR / RCM; flags exceptions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66360"/>
            <a:ext cx="6976872" cy="84124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3036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C9A7"/>
                </a:solidFill>
                <a:latin typeface="Calibri"/>
              </a:rPr>
              <a:t>SOLUTION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Front-desk / RCM UI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4298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ORCHESTRATION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4298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Scheduling + claims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37076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7076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EHR + claims + labs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9854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ACTUATION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9854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EHR / RCM write-back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SYSTEMS:  EHR  ·  Claims/RCM  ·  Scheduling  ·  Telephony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28516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8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65676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USERS:  Clinic ops · RCM leaders · provider groups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2" y="41148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ORGANIZATIONS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2" y="65836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DELIVERING THIS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48472" y="987552"/>
            <a:ext cx="914400" cy="36576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48472" y="118872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Pelica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2" y="1463040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AI co-pilots for value-based care quality teams.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8472" y="212140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Aegis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2395728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AI agents to win denied health-insurance claims.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8472" y="3054096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Galen AI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48472" y="3328416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Personal AI healthcare agent on clinical + wearable data.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415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7543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74152" y="0"/>
            <a:ext cx="54864" cy="6858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715975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USE CASE 09  ·  PROFESSIONAL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159752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FFFF"/>
                </a:solidFill>
                <a:latin typeface="Calibri"/>
              </a:rPr>
              <a:t>Legal &amp; Compliance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1463040" cy="36576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Document- and policy-heavy review work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Expert time is expensive; throughput matters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Language-heavy work, now tractable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234440"/>
            <a:ext cx="3456432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335024"/>
            <a:ext cx="309067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IT'S REALIZED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09344"/>
            <a:ext cx="3090672" cy="1261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Embed agents inside the pro workflow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Specialize around a precise task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•  Save expert time, not generic 'legal AI'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organizations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35224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35224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In-workflow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embedded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21808" y="3108960"/>
            <a:ext cx="2203704" cy="7772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21808" y="3182112"/>
            <a:ext cx="2203704" cy="3840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900" b="1" i="0">
                <a:solidFill>
                  <a:srgbClr val="FFB800"/>
                </a:solidFill>
                <a:latin typeface="Calibri"/>
              </a:rPr>
              <a:t>Specialist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5661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FFFFFF"/>
                </a:solidFill>
                <a:latin typeface="Calibri"/>
              </a:rPr>
              <a:t>wedge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6976872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09B82"/>
                </a:solidFill>
                <a:latin typeface="Calibri"/>
              </a:rPr>
              <a:t>HOW IT WORKS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16552"/>
            <a:ext cx="6611112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Document / matter triggers the agent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It drafts, reviews, or enforces against policy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50" b="0" i="0">
                <a:solidFill>
                  <a:srgbClr val="1B2B3C"/>
                </a:solidFill>
                <a:latin typeface="Calibri"/>
              </a:rPr>
              <a:t>→  Surfaces the result inside the pro's tools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66360"/>
            <a:ext cx="6976872" cy="841248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3036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C9A7"/>
                </a:solidFill>
                <a:latin typeface="Calibri"/>
              </a:rPr>
              <a:t>SOLUTION STACK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MS Office / matter UI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4298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ORCHESTRATION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4298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Draft + 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37076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CONTEXT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7076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Docs + policy corpus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9854" y="5458968"/>
            <a:ext cx="156133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i="0">
                <a:solidFill>
                  <a:srgbClr val="00C9A7"/>
                </a:solidFill>
                <a:latin typeface="Calibri"/>
              </a:rPr>
              <a:t>ACTUATION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9854" y="5641848"/>
            <a:ext cx="1561338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 i="0">
                <a:solidFill>
                  <a:srgbClr val="FFFFFF"/>
                </a:solidFill>
                <a:latin typeface="Calibri"/>
              </a:rPr>
              <a:t>Edits / filings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9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SYSTEMS:  MS Office  ·  DMS  ·  Filing systems  ·  Email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28516" y="6126480"/>
            <a:ext cx="3396996" cy="310896"/>
          </a:xfrm>
          <a:prstGeom prst="roundRect">
            <a:avLst>
              <a:gd name="adj" fmla="val 4000"/>
            </a:avLst>
          </a:prstGeom>
          <a:solidFill>
            <a:srgbClr val="008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65676" y="6126480"/>
            <a:ext cx="31226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FFFFFF"/>
                </a:solidFill>
                <a:latin typeface="Calibri"/>
              </a:rPr>
              <a:t>USERS:  Legal ops · compliance · IP teams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2" y="41148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ORGANIZATIONS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2" y="65836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DELIVERING THIS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48472" y="987552"/>
            <a:ext cx="914400" cy="36576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48472" y="1188720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Vesence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2" y="1463040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Cursor for lawyers — agentic AI in MS Office.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8472" y="2121408"/>
            <a:ext cx="36603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1" i="0">
                <a:solidFill>
                  <a:srgbClr val="FFFFFF"/>
                </a:solidFill>
                <a:latin typeface="Calibri"/>
              </a:rPr>
              <a:t>Third Chair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2395728"/>
            <a:ext cx="3614623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i="0">
                <a:solidFill>
                  <a:srgbClr val="E0F7F1"/>
                </a:solidFill>
                <a:latin typeface="Calibri"/>
              </a:rPr>
              <a:t>AI-native IP enforcement agent.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Organization Spotlights — Horizontal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Operators and tooling building agent systems of 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527450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3527450" cy="914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47088"/>
            <a:ext cx="3070250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0A1628"/>
                </a:solidFill>
                <a:latin typeface="Calibri"/>
              </a:rPr>
              <a:t>Anana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94560"/>
            <a:ext cx="3070250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9B82"/>
                </a:solidFill>
                <a:latin typeface="Calibri"/>
              </a:rPr>
              <a:t>Workflow automation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3070250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The agentic system of action for hotel groups and management companies.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1645920"/>
            <a:ext cx="3527450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2122" y="1645920"/>
            <a:ext cx="3527450" cy="914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0722" y="1847088"/>
            <a:ext cx="3070250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0A1628"/>
                </a:solidFill>
                <a:latin typeface="Calibri"/>
              </a:rPr>
              <a:t>Cohesive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0722" y="2194560"/>
            <a:ext cx="3070250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9B82"/>
                </a:solidFill>
                <a:latin typeface="Calibri"/>
              </a:rPr>
              <a:t>Sales &amp; customer 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0722" y="2468880"/>
            <a:ext cx="3070250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The agentic CRM for blue-collar services.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604" y="1645920"/>
            <a:ext cx="3527450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604" y="1645920"/>
            <a:ext cx="3527450" cy="914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4204" y="1847088"/>
            <a:ext cx="3070250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0A1628"/>
                </a:solidFill>
                <a:latin typeface="Calibri"/>
              </a:rPr>
              <a:t>BitBoard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4204" y="2194560"/>
            <a:ext cx="3070250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9B82"/>
                </a:solidFill>
                <a:latin typeface="Calibri"/>
              </a:rPr>
              <a:t>Analytics &amp; reporting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4204" y="2468880"/>
            <a:ext cx="3070250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Let your agent build dashboards and reporting.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310128"/>
            <a:ext cx="3527450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310128"/>
            <a:ext cx="3527450" cy="914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511296"/>
            <a:ext cx="3070250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0A1628"/>
                </a:solidFill>
                <a:latin typeface="Calibri"/>
              </a:rPr>
              <a:t>Docket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858768"/>
            <a:ext cx="3070250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9B82"/>
                </a:solidFill>
                <a:latin typeface="Calibri"/>
              </a:rPr>
              <a:t>Dev tools &amp;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133088"/>
            <a:ext cx="3070250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AI agents for web testing.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32122" y="3310128"/>
            <a:ext cx="3527450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32122" y="3310128"/>
            <a:ext cx="3527450" cy="914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60722" y="3511296"/>
            <a:ext cx="3070250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0A1628"/>
                </a:solidFill>
                <a:latin typeface="Calibri"/>
              </a:rPr>
              <a:t>Propolis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0722" y="3858768"/>
            <a:ext cx="3070250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9B82"/>
                </a:solidFill>
                <a:latin typeface="Calibri"/>
              </a:rPr>
              <a:t>Dev tools &amp; testing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0722" y="4133088"/>
            <a:ext cx="3070250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Hands-off QA via intelligent browser agents.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15604" y="3310128"/>
            <a:ext cx="3527450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15604" y="3310128"/>
            <a:ext cx="3527450" cy="914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44204" y="3511296"/>
            <a:ext cx="3070250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0A1628"/>
                </a:solidFill>
                <a:latin typeface="Calibri"/>
              </a:rPr>
              <a:t>nao Labs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4204" y="3858768"/>
            <a:ext cx="3070250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9B82"/>
                </a:solidFill>
                <a:latin typeface="Calibri"/>
              </a:rPr>
              <a:t>Analytics &amp; reporting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44204" y="4133088"/>
            <a:ext cx="3070250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Open-source analytics agent.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Organization Spotlights — Vertical &amp; Infra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Specialist and platform organizations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527450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3527450" cy="914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47088"/>
            <a:ext cx="3070250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0A1628"/>
                </a:solidFill>
                <a:latin typeface="Calibri"/>
              </a:rPr>
              <a:t>Pelica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94560"/>
            <a:ext cx="3070250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9B82"/>
                </a:solidFill>
                <a:latin typeface="Calibri"/>
              </a:rPr>
              <a:t>Healthcare 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3070250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AI co-pilots for value-based care quality teams.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1645920"/>
            <a:ext cx="3527450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2122" y="1645920"/>
            <a:ext cx="3527450" cy="914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0722" y="1847088"/>
            <a:ext cx="3070250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0A1628"/>
                </a:solidFill>
                <a:latin typeface="Calibri"/>
              </a:rPr>
              <a:t>Aegis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0722" y="2194560"/>
            <a:ext cx="3070250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9B82"/>
                </a:solidFill>
                <a:latin typeface="Calibri"/>
              </a:rPr>
              <a:t>Finance / healthcare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0722" y="2468880"/>
            <a:ext cx="3070250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AI agents to win denied health-insurance claims.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604" y="1645920"/>
            <a:ext cx="3527450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604" y="1645920"/>
            <a:ext cx="3527450" cy="914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4204" y="1847088"/>
            <a:ext cx="3070250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0A1628"/>
                </a:solidFill>
                <a:latin typeface="Calibri"/>
              </a:rPr>
              <a:t>Golf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4204" y="2194560"/>
            <a:ext cx="3070250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9B82"/>
                </a:solidFill>
                <a:latin typeface="Calibri"/>
              </a:rPr>
              <a:t>Security &amp; infra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4204" y="2468880"/>
            <a:ext cx="3070250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Agentic AI security and governance.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310128"/>
            <a:ext cx="3527450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310128"/>
            <a:ext cx="3527450" cy="914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511296"/>
            <a:ext cx="3070250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0A1628"/>
                </a:solidFill>
                <a:latin typeface="Calibri"/>
              </a:rPr>
              <a:t>Airweave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858768"/>
            <a:ext cx="3070250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9B82"/>
                </a:solidFill>
                <a:latin typeface="Calibri"/>
              </a:rPr>
              <a:t>Agent infrastructure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133088"/>
            <a:ext cx="3070250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The open-source context retrieval layer for agents.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32122" y="3310128"/>
            <a:ext cx="3527450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32122" y="3310128"/>
            <a:ext cx="3527450" cy="914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60722" y="3511296"/>
            <a:ext cx="3070250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0A1628"/>
                </a:solidFill>
                <a:latin typeface="Calibri"/>
              </a:rPr>
              <a:t>Vesence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0722" y="3858768"/>
            <a:ext cx="3070250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9B82"/>
                </a:solidFill>
                <a:latin typeface="Calibri"/>
              </a:rPr>
              <a:t>Legal &amp; compliance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0722" y="4133088"/>
            <a:ext cx="3070250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Cursor for lawyers — agentic AI in MS Office.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15604" y="3310128"/>
            <a:ext cx="3527450" cy="148132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15604" y="3310128"/>
            <a:ext cx="3527450" cy="914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44204" y="3511296"/>
            <a:ext cx="3070250" cy="3200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0A1628"/>
                </a:solidFill>
                <a:latin typeface="Calibri"/>
              </a:rPr>
              <a:t>Galen 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4204" y="3858768"/>
            <a:ext cx="3070250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09B82"/>
                </a:solidFill>
                <a:latin typeface="Calibri"/>
              </a:rPr>
              <a:t>Healthcare ops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44204" y="4133088"/>
            <a:ext cx="3070250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Personal AI healthcare agent on clinical + wearable data.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1" i="0">
                <a:solidFill>
                  <a:srgbClr val="00C9A7"/>
                </a:solidFill>
                <a:latin typeface="Calibri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4200" b="1" i="0">
                <a:solidFill>
                  <a:srgbClr val="FFFFFF"/>
                </a:solidFill>
                <a:latin typeface="Calibri"/>
              </a:rPr>
              <a:t>Strategic Realization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1371600" cy="5486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977639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0" i="0">
                <a:solidFill>
                  <a:srgbClr val="E0F7F1"/>
                </a:solidFill>
                <a:latin typeface="Calibri"/>
              </a:rPr>
              <a:t>Two high-value lanes, the risks to contain, and the plan to ship.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700" b="1" i="0">
                <a:solidFill>
                  <a:srgbClr val="0A1628"/>
                </a:solidFill>
                <a:latin typeface="Calibri"/>
              </a:rPr>
              <a:t>Healthcare Operations — Deep Realization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1325880" cy="4572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544068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9B82"/>
                </a:solidFill>
                <a:latin typeface="Calibri"/>
              </a:rPr>
              <a:t>ORGANIZATIONS REALIZING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4892040" cy="2834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700"/>
              </a:spcBef>
            </a:pPr>
            <a:r>
              <a:rPr sz="1400" b="1" i="0">
                <a:solidFill>
                  <a:srgbClr val="0A1628"/>
                </a:solidFill>
                <a:latin typeface="Calibri"/>
              </a:rPr>
              <a:t>Pelica</a:t>
            </a:r>
          </a:p>
          <a:p>
            <a:pPr algn="l">
              <a:lnSpc>
                <a:spcPct val="102000"/>
              </a:lnSpc>
              <a:spcBef>
                <a:spcPts val="1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Pelica Health builds AI co-pilots for value-based care quality teams, unifying EHR, claims, pharmacy, and lab data to close care gaps and improve outcomes.</a:t>
            </a:r>
          </a:p>
          <a:p>
            <a:pPr algn="l">
              <a:lnSpc>
                <a:spcPct val="102000"/>
              </a:lnSpc>
              <a:spcBef>
                <a:spcPts val="700"/>
              </a:spcBef>
            </a:pPr>
            <a:r>
              <a:rPr sz="1400" b="1" i="0">
                <a:solidFill>
                  <a:srgbClr val="0A1628"/>
                </a:solidFill>
                <a:latin typeface="Calibri"/>
              </a:rPr>
              <a:t>Simbie AI</a:t>
            </a:r>
          </a:p>
          <a:p>
            <a:pPr algn="l">
              <a:lnSpc>
                <a:spcPct val="102000"/>
              </a:lnSpc>
              <a:spcBef>
                <a:spcPts val="1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Simbie AI’s clinically-trained voice agents act as your 24/7 AI medical receptionist—handling scheduling, refills &amp; intake with 60% cost savings. Loved by doctors &amp; patients.</a:t>
            </a:r>
          </a:p>
          <a:p>
            <a:pPr algn="l">
              <a:lnSpc>
                <a:spcPct val="102000"/>
              </a:lnSpc>
              <a:spcBef>
                <a:spcPts val="700"/>
              </a:spcBef>
            </a:pPr>
            <a:r>
              <a:rPr sz="1400" b="1" i="0">
                <a:solidFill>
                  <a:srgbClr val="0A1628"/>
                </a:solidFill>
                <a:latin typeface="Calibri"/>
              </a:rPr>
              <a:t>Prosper</a:t>
            </a:r>
          </a:p>
          <a:p>
            <a:pPr algn="l">
              <a:lnSpc>
                <a:spcPct val="102000"/>
              </a:lnSpc>
              <a:spcBef>
                <a:spcPts val="1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AI Voice Agents ‍ for Patient Access and RCM</a:t>
            </a:r>
          </a:p>
          <a:p>
            <a:pPr algn="l">
              <a:lnSpc>
                <a:spcPct val="102000"/>
              </a:lnSpc>
              <a:spcBef>
                <a:spcPts val="700"/>
              </a:spcBef>
            </a:pPr>
            <a:r>
              <a:rPr sz="1400" b="1" i="0">
                <a:solidFill>
                  <a:srgbClr val="0A1628"/>
                </a:solidFill>
                <a:latin typeface="Calibri"/>
              </a:rPr>
              <a:t>Toothy AI</a:t>
            </a:r>
          </a:p>
          <a:p>
            <a:pPr algn="l">
              <a:lnSpc>
                <a:spcPct val="102000"/>
              </a:lnSpc>
              <a:spcBef>
                <a:spcPts val="1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Toothy takes insurance off your team</a:t>
            </a:r>
          </a:p>
          <a:p>
            <a:pPr algn="l">
              <a:lnSpc>
                <a:spcPct val="102000"/>
              </a:lnSpc>
              <a:spcBef>
                <a:spcPts val="700"/>
              </a:spcBef>
            </a:pPr>
            <a:r>
              <a:rPr sz="1400" b="1" i="0">
                <a:solidFill>
                  <a:srgbClr val="0A1628"/>
                </a:solidFill>
                <a:latin typeface="Calibri"/>
              </a:rPr>
              <a:t>Sully.ai</a:t>
            </a:r>
          </a:p>
          <a:p>
            <a:pPr algn="l">
              <a:lnSpc>
                <a:spcPct val="102000"/>
              </a:lnSpc>
              <a:spcBef>
                <a:spcPts val="1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Autonomous team of AI agents that runs the entire hospital operations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2375" y="1234440"/>
            <a:ext cx="5440680" cy="342900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6695" y="137160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REALIZATION 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6695" y="1737360"/>
            <a:ext cx="4892040" cy="15544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•  The lane is real; the strong names own deep workflow, not a front-desk wrapper.</a:t>
            </a:r>
          </a:p>
          <a:p>
            <a:pPr algn="l">
              <a:lnSpc>
                <a:spcPct val="104000"/>
              </a:lnSpc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•  Scheduling, claims, billing, intake, and patient comms are the system-of-action wedges.</a:t>
            </a:r>
          </a:p>
          <a:p>
            <a:pPr algn="l">
              <a:lnSpc>
                <a:spcPct val="104000"/>
              </a:lnSpc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•  Winners capture more of the actual clinic workflow end to end.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6695" y="342900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WHAT TO 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6695" y="3749039"/>
            <a:ext cx="4892040" cy="8686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600"/>
              </a:spcBef>
            </a:pPr>
            <a:r>
              <a:rPr sz="1250" b="0" i="0">
                <a:solidFill>
                  <a:srgbClr val="E0F7F1"/>
                </a:solidFill>
                <a:latin typeface="Calibri"/>
              </a:rPr>
              <a:t>•  Own the EHR / RCM write-back, not just the conversation.</a:t>
            </a:r>
          </a:p>
          <a:p>
            <a:pPr algn="l">
              <a:lnSpc>
                <a:spcPct val="104000"/>
              </a:lnSpc>
              <a:spcBef>
                <a:spcPts val="600"/>
              </a:spcBef>
            </a:pPr>
            <a:r>
              <a:rPr sz="1250" b="0" i="0">
                <a:solidFill>
                  <a:srgbClr val="E0F7F1"/>
                </a:solidFill>
                <a:latin typeface="Calibri"/>
              </a:rPr>
              <a:t>•  Instrument collections and staffing ROI from day 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1109441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892040"/>
            <a:ext cx="1018001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1">
                <a:solidFill>
                  <a:srgbClr val="0A1628"/>
                </a:solidFill>
                <a:latin typeface="Calibri"/>
              </a:rPr>
              <a:t>Does the product own enough of the clinic workflow to become system-of-action software?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700" b="1" i="0">
                <a:solidFill>
                  <a:srgbClr val="0A1628"/>
                </a:solidFill>
                <a:latin typeface="Calibri"/>
              </a:rPr>
              <a:t>Implementation Automation — Realization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32688"/>
            <a:ext cx="1325880" cy="4572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544068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9B82"/>
                </a:solidFill>
                <a:latin typeface="Calibri"/>
              </a:rPr>
              <a:t>ORGANIZATIONS REALIZING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4892040" cy="2834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2000"/>
              </a:lnSpc>
              <a:spcBef>
                <a:spcPts val="700"/>
              </a:spcBef>
            </a:pPr>
            <a:r>
              <a:rPr sz="1400" b="1" i="0">
                <a:solidFill>
                  <a:srgbClr val="0A1628"/>
                </a:solidFill>
                <a:latin typeface="Calibri"/>
              </a:rPr>
              <a:t>Contour</a:t>
            </a:r>
          </a:p>
          <a:p>
            <a:pPr algn="l">
              <a:lnSpc>
                <a:spcPct val="102000"/>
              </a:lnSpc>
              <a:spcBef>
                <a:spcPts val="1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AI voice agents for healthcare operational calls</a:t>
            </a:r>
          </a:p>
          <a:p>
            <a:pPr algn="l">
              <a:lnSpc>
                <a:spcPct val="102000"/>
              </a:lnSpc>
              <a:spcBef>
                <a:spcPts val="700"/>
              </a:spcBef>
            </a:pPr>
            <a:r>
              <a:rPr sz="1400" b="1" i="0">
                <a:solidFill>
                  <a:srgbClr val="0A1628"/>
                </a:solidFill>
                <a:latin typeface="Calibri"/>
              </a:rPr>
              <a:t>flowscope</a:t>
            </a:r>
          </a:p>
          <a:p>
            <a:pPr algn="l">
              <a:lnSpc>
                <a:spcPct val="102000"/>
              </a:lnSpc>
              <a:spcBef>
                <a:spcPts val="1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Agents that learn how your business actually runs, then redesign and automate the work on top of existing systems. The AI team for businesses that don't have one.</a:t>
            </a:r>
          </a:p>
          <a:p>
            <a:pPr algn="l">
              <a:lnSpc>
                <a:spcPct val="102000"/>
              </a:lnSpc>
              <a:spcBef>
                <a:spcPts val="700"/>
              </a:spcBef>
            </a:pPr>
            <a:r>
              <a:rPr sz="1400" b="1" i="0">
                <a:solidFill>
                  <a:srgbClr val="0A1628"/>
                </a:solidFill>
                <a:latin typeface="Calibri"/>
              </a:rPr>
              <a:t>Unisson</a:t>
            </a:r>
          </a:p>
          <a:p>
            <a:pPr algn="l">
              <a:lnSpc>
                <a:spcPct val="102000"/>
              </a:lnSpc>
              <a:spcBef>
                <a:spcPts val="1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AI agents that learn to use your product and run directly inside it to execute any task your customers need, accelerating their time to value.</a:t>
            </a:r>
          </a:p>
          <a:p>
            <a:pPr algn="l">
              <a:lnSpc>
                <a:spcPct val="102000"/>
              </a:lnSpc>
              <a:spcBef>
                <a:spcPts val="700"/>
              </a:spcBef>
            </a:pPr>
            <a:r>
              <a:rPr sz="1400" b="1" i="0">
                <a:solidFill>
                  <a:srgbClr val="0A1628"/>
                </a:solidFill>
                <a:latin typeface="Calibri"/>
              </a:rPr>
              <a:t>Lua Global Inc</a:t>
            </a:r>
          </a:p>
          <a:p>
            <a:pPr algn="l">
              <a:lnSpc>
                <a:spcPct val="102000"/>
              </a:lnSpc>
              <a:spcBef>
                <a:spcPts val="100"/>
              </a:spcBef>
            </a:pPr>
            <a:r>
              <a:rPr sz="1100" b="0" i="0">
                <a:solidFill>
                  <a:srgbClr val="1B2B3C"/>
                </a:solidFill>
                <a:latin typeface="Calibri"/>
              </a:rPr>
              <a:t>Build, deploy, and scale enterprise-grade AI agents. Ship your first agent without touching infrastructure.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2375" y="1234440"/>
            <a:ext cx="5440680" cy="342900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6695" y="137160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REALIZATION 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6695" y="1737360"/>
            <a:ext cx="4892040" cy="15544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•  Fewer direct 'AI agency' clones than expected.</a:t>
            </a:r>
          </a:p>
          <a:p>
            <a:pPr algn="l">
              <a:lnSpc>
                <a:spcPct val="104000"/>
              </a:lnSpc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•  The real risk: productized implementation software absorbing repeatable service work.</a:t>
            </a:r>
          </a:p>
          <a:p>
            <a:pPr algn="l">
              <a:lnSpc>
                <a:spcPct val="104000"/>
              </a:lnSpc>
              <a:spcBef>
                <a:spcPts val="7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•  Generic AI delivery is easily copied; a narrow owned workflow is 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6695" y="342900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WHAT TO 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6695" y="3749039"/>
            <a:ext cx="4892040" cy="8686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4000"/>
              </a:lnSpc>
              <a:spcBef>
                <a:spcPts val="600"/>
              </a:spcBef>
            </a:pPr>
            <a:r>
              <a:rPr sz="1250" b="0" i="0">
                <a:solidFill>
                  <a:srgbClr val="E0F7F1"/>
                </a:solidFill>
                <a:latin typeface="Calibri"/>
              </a:rPr>
              <a:t>•  Specialize the wedge around one repeatable, painful workflow.</a:t>
            </a:r>
          </a:p>
          <a:p>
            <a:pPr algn="l">
              <a:lnSpc>
                <a:spcPct val="104000"/>
              </a:lnSpc>
              <a:spcBef>
                <a:spcPts val="600"/>
              </a:spcBef>
            </a:pPr>
            <a:r>
              <a:rPr sz="1250" b="0" i="0">
                <a:solidFill>
                  <a:srgbClr val="E0F7F1"/>
                </a:solidFill>
                <a:latin typeface="Calibri"/>
              </a:rPr>
              <a:t>•  Turn the service motion into owned product before someone else does.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1109441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892040"/>
            <a:ext cx="1018001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1">
                <a:solidFill>
                  <a:srgbClr val="0A1628"/>
                </a:solidFill>
                <a:latin typeface="Calibri"/>
              </a:rPr>
              <a:t>Can a service motion defend a wedge before software productizes the work?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Where The Realization Payoff Concentrates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Workflow ownership vs. willingness to pay, by use case</a:t>
            </a:r>
          </a:p>
        </p:txBody>
      </p:sp>
      <p:pic>
        <p:nvPicPr>
          <p:cNvPr id="7" name="Picture 6" descr="matrix_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5832" y="1463040"/>
            <a:ext cx="728003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806440"/>
            <a:ext cx="11094415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50" b="1" i="0">
                <a:solidFill>
                  <a:srgbClr val="0A1628"/>
                </a:solidFill>
                <a:latin typeface="Calibri"/>
              </a:rPr>
              <a:t>Healthcare ops and finance sit top-right: deep workflow ownership and strong willingness to pay.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Realization Risks &amp; Controls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What breaks agent use cases in production — and the control that contains each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1094415" cy="457200"/>
          </a:xfrm>
          <a:prstGeom prst="roundRect">
            <a:avLst>
              <a:gd name="adj" fmla="val 4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60020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What goes wrong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600200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Control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03120"/>
            <a:ext cx="11094415" cy="749808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03120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Context failure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103120"/>
            <a:ext cx="466344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0" i="0">
                <a:solidFill>
                  <a:srgbClr val="1B2B3C"/>
                </a:solidFill>
                <a:latin typeface="Calibri"/>
              </a:rPr>
              <a:t>Agents act on stale, missing, or over-broad data.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03120"/>
            <a:ext cx="320040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09B82"/>
                </a:solidFill>
                <a:latin typeface="Calibri"/>
              </a:rPr>
              <a:t>Permissioned retrieval layer; scope reads to the task.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852928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Silent wrong 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852928"/>
            <a:ext cx="466344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0" i="0">
                <a:solidFill>
                  <a:srgbClr val="1B2B3C"/>
                </a:solidFill>
                <a:latin typeface="Calibri"/>
              </a:rPr>
              <a:t>An agent writes a bad record with full confidence.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852928"/>
            <a:ext cx="320040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09B82"/>
                </a:solidFill>
                <a:latin typeface="Calibri"/>
              </a:rPr>
              <a:t>Confidence thresholds + human-in-the-loop on exceptions.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602736"/>
            <a:ext cx="11094415" cy="749808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602736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Unbounded access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3602736"/>
            <a:ext cx="466344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0" i="0">
                <a:solidFill>
                  <a:srgbClr val="1B2B3C"/>
                </a:solidFill>
                <a:latin typeface="Calibri"/>
              </a:rPr>
              <a:t>Over-privileged agents touch systems they shouldn't.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602736"/>
            <a:ext cx="320040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09B82"/>
                </a:solidFill>
                <a:latin typeface="Calibri"/>
              </a:rPr>
              <a:t>Identity, least-privilege scoping, and full audit trails.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352544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No measurable outcome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4352544"/>
            <a:ext cx="466344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0" i="0">
                <a:solidFill>
                  <a:srgbClr val="1B2B3C"/>
                </a:solidFill>
                <a:latin typeface="Calibri"/>
              </a:rPr>
              <a:t>Cycle-time / error-rate impact is never proven.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352544"/>
            <a:ext cx="320040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09B82"/>
                </a:solidFill>
                <a:latin typeface="Calibri"/>
              </a:rPr>
              <a:t>Instrument baselines before rollout; report deltas.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102352"/>
            <a:ext cx="11094415" cy="749808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102352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Workflow not owned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102352"/>
            <a:ext cx="466344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0" i="0">
                <a:solidFill>
                  <a:srgbClr val="1B2B3C"/>
                </a:solidFill>
                <a:latin typeface="Calibri"/>
              </a:rPr>
              <a:t>The agent summarizes but doesn't complete the job.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5102352"/>
            <a:ext cx="3200400" cy="74980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09B82"/>
                </a:solidFill>
                <a:latin typeface="Calibri"/>
              </a:rPr>
              <a:t>Close the loop into the system of record end-to-end.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A 90-Day Realization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From a chosen use case to a proven system of 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515258" cy="3566160"/>
          </a:xfrm>
          <a:prstGeom prst="roundRect">
            <a:avLst>
              <a:gd name="adj" fmla="val 5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515258" cy="86868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75104"/>
            <a:ext cx="296661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0C9A7"/>
                </a:solidFill>
                <a:latin typeface="Calibri"/>
              </a:rPr>
              <a:t>Days 0-30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49424"/>
            <a:ext cx="2966618" cy="4114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Calibri"/>
              </a:rPr>
              <a:t>Pick &amp;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926080"/>
            <a:ext cx="2930042" cy="22402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•  Choose one workflow-heavy use case to own end-to-end.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•  Map the trigger → action loop and the systems of record.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•  Instrument cycle-time and error-rate baselines.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5610" y="329184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400" b="1" i="0">
                <a:solidFill>
                  <a:srgbClr val="009B82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8218" y="1828800"/>
            <a:ext cx="3515258" cy="3566160"/>
          </a:xfrm>
          <a:prstGeom prst="roundRect">
            <a:avLst>
              <a:gd name="adj" fmla="val 5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38218" y="1828800"/>
            <a:ext cx="3515258" cy="86868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2538" y="1975104"/>
            <a:ext cx="296661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0C9A7"/>
                </a:solidFill>
                <a:latin typeface="Calibri"/>
              </a:rPr>
              <a:t>Days 30-60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2538" y="2249424"/>
            <a:ext cx="2966618" cy="4114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Calibri"/>
              </a:rPr>
              <a:t>Build the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0826" y="2926080"/>
            <a:ext cx="2930042" cy="22402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•  Ship the context + retrieval layer first.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•  Wire actuation into one system of record.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•  Add guardrails and a human-in-the-loop queue.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35188" y="329184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400" b="1" i="0">
                <a:solidFill>
                  <a:srgbClr val="009B82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7796" y="1828800"/>
            <a:ext cx="3515258" cy="3566160"/>
          </a:xfrm>
          <a:prstGeom prst="roundRect">
            <a:avLst>
              <a:gd name="adj" fmla="val 5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27796" y="1828800"/>
            <a:ext cx="3515258" cy="868680"/>
          </a:xfrm>
          <a:prstGeom prst="roundRect">
            <a:avLst>
              <a:gd name="adj" fmla="val 5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02116" y="1975104"/>
            <a:ext cx="296661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0C9A7"/>
                </a:solidFill>
                <a:latin typeface="Calibri"/>
              </a:rPr>
              <a:t>Days 60-90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02116" y="2249424"/>
            <a:ext cx="2966618" cy="4114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Calibri"/>
              </a:rPr>
              <a:t>Prove ownership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404" y="2926080"/>
            <a:ext cx="2930042" cy="22402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•  Run against the baseline with 2-3 design partners.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•  Show measurable delta vs. the manual workflow.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•  Decide: deepen the wedge or expand adjacent.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Where to focus realization effort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5410047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011680"/>
            <a:ext cx="640080" cy="64008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21408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>
                <a:solidFill>
                  <a:srgbClr val="0A1628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029968"/>
            <a:ext cx="4038447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0A1628"/>
                </a:solidFill>
                <a:latin typeface="Calibri"/>
              </a:rPr>
              <a:t>Choose workflow-heavy use cases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743200"/>
            <a:ext cx="4038447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8 companies cluster around operational systems of action, making this the clearest YC pattern.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737360"/>
            <a:ext cx="5410047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07327" y="2011680"/>
            <a:ext cx="640080" cy="64008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7327" y="2121408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>
                <a:solidFill>
                  <a:srgbClr val="0A1628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0287" y="2029968"/>
            <a:ext cx="4038447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0A1628"/>
                </a:solidFill>
                <a:latin typeface="Calibri"/>
              </a:rPr>
              <a:t>Own context, governance, or workflow position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0287" y="2743200"/>
            <a:ext cx="4038447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The more durable clusters pair agents with data access, infrastructure, or embedded workflow ownership.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21608"/>
            <a:ext cx="5410047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3995928"/>
            <a:ext cx="640080" cy="64008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105656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>
                <a:solidFill>
                  <a:srgbClr val="0A1628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014216"/>
            <a:ext cx="4038447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0A1628"/>
                </a:solidFill>
                <a:latin typeface="Calibri"/>
              </a:rPr>
              <a:t>Treat healthcare operations as a real wedge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727448"/>
            <a:ext cx="4038447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The count is smaller than horizontal ops, but the workflow pain and willingness to pay are strong.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3721608"/>
            <a:ext cx="5410047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07327" y="3995928"/>
            <a:ext cx="640080" cy="640080"/>
          </a:xfrm>
          <a:prstGeom prst="roundRect">
            <a:avLst>
              <a:gd name="adj" fmla="val 16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07327" y="4105656"/>
            <a:ext cx="6400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>
                <a:solidFill>
                  <a:srgbClr val="0A1628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0287" y="4014216"/>
            <a:ext cx="4038447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0A1628"/>
                </a:solidFill>
                <a:latin typeface="Calibri"/>
              </a:rPr>
              <a:t>Avoid generic agent-platform messaging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0287" y="4727448"/>
            <a:ext cx="4038447" cy="6400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>
                <a:solidFill>
                  <a:srgbClr val="1B2B3C"/>
                </a:solidFill>
                <a:latin typeface="Calibri"/>
              </a:rPr>
              <a:t>The cohort repeatedly rewards products with explicit jobs and operators, not broad agent claims.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1" i="0">
                <a:solidFill>
                  <a:srgbClr val="00C9A7"/>
                </a:solidFill>
                <a:latin typeface="Calibri"/>
              </a:rPr>
              <a:t>THE BOTTOM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Use cases win on realization — owning the workflow end to end, not on model novelty.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8892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843784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0A1628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7706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FFFF"/>
                </a:solidFill>
                <a:latin typeface="Calibri"/>
              </a:rPr>
              <a:t>Lead with workflow-heavy use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5468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>
                <a:solidFill>
                  <a:srgbClr val="E0F7F1"/>
                </a:solidFill>
                <a:latin typeface="Calibri"/>
              </a:rPr>
              <a:t>The deepest realization payoff is in operational systems of 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75888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730752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0A1628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657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FFFF"/>
                </a:solidFill>
                <a:latin typeface="Calibri"/>
              </a:rPr>
              <a:t>Own context, governance, and actuation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041648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>
                <a:solidFill>
                  <a:srgbClr val="E0F7F1"/>
                </a:solidFill>
                <a:latin typeface="Calibri"/>
              </a:rPr>
              <a:t>Durable agents pair reasoning with data access and write-back into systems of record.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56285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0A1628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5445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Treat healthcare operations as a wedge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928616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>
                <a:solidFill>
                  <a:srgbClr val="E0F7F1"/>
                </a:solidFill>
                <a:latin typeface="Calibri"/>
              </a:rPr>
              <a:t>High-friction admin workflows with strong willingness to pay — Pelica, Aegis, Galen AI.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49824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504688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800" b="1" i="0">
                <a:solidFill>
                  <a:srgbClr val="0A1628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43153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700" b="1" i="0">
                <a:solidFill>
                  <a:srgbClr val="FFFFFF"/>
                </a:solidFill>
                <a:latin typeface="Calibri"/>
              </a:rPr>
              <a:t>Close the loop, then measure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815584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>
                <a:solidFill>
                  <a:srgbClr val="E0F7F1"/>
                </a:solidFill>
                <a:latin typeface="Calibri"/>
              </a:rPr>
              <a:t>Complete the job and prove the cycle-time / error-rate delta.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889098"/>
                </a:solidFill>
                <a:latin typeface="Calibri"/>
              </a:rPr>
              <a:t>Agentic AI · Business Use Cases &amp; Realization  |  June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889098"/>
                </a:solidFill>
                <a:latin typeface="Calibri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