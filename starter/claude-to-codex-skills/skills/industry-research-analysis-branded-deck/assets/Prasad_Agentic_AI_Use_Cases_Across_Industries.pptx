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850"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5/25/2026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26.jp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26.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2560320"/>
            <a:ext cx="12191695" cy="54864"/>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image.jpg"/>
          <p:cNvPicPr>
            <a:picLocks noChangeAspect="1"/>
          </p:cNvPicPr>
          <p:nvPr/>
        </p:nvPicPr>
        <p:blipFill>
          <a:blip r:embed="rId2"/>
          <a:stretch>
            <a:fillRect/>
          </a:stretch>
        </p:blipFill>
        <p:spPr>
          <a:xfrm>
            <a:off x="8076895" y="0"/>
            <a:ext cx="4114800" cy="6858000"/>
          </a:xfrm>
          <a:prstGeom prst="rect">
            <a:avLst/>
          </a:prstGeom>
        </p:spPr>
      </p:pic>
      <p:sp>
        <p:nvSpPr>
          <p:cNvPr id="5" name="TextBox 4"/>
          <p:cNvSpPr txBox="1"/>
          <p:nvPr/>
        </p:nvSpPr>
        <p:spPr>
          <a:xfrm>
            <a:off x="731520" y="914400"/>
            <a:ext cx="6400800" cy="1097280"/>
          </a:xfrm>
          <a:prstGeom prst="rect">
            <a:avLst/>
          </a:prstGeom>
          <a:noFill/>
        </p:spPr>
        <p:txBody>
          <a:bodyPr wrap="square">
            <a:spAutoFit/>
          </a:bodyPr>
          <a:lstStyle/>
          <a:p>
            <a:pPr algn="l">
              <a:spcAft>
                <a:spcPts val="200"/>
              </a:spcAft>
              <a:defRPr sz="5200" b="1">
                <a:solidFill>
                  <a:srgbClr val="FFFFFF"/>
                </a:solidFill>
                <a:latin typeface="Calibri"/>
              </a:defRPr>
            </a:pPr>
            <a:r>
              <a:t>Agentic AI</a:t>
            </a:r>
          </a:p>
        </p:txBody>
      </p:sp>
      <p:sp>
        <p:nvSpPr>
          <p:cNvPr id="6" name="TextBox 5"/>
          <p:cNvSpPr txBox="1"/>
          <p:nvPr/>
        </p:nvSpPr>
        <p:spPr>
          <a:xfrm>
            <a:off x="731520" y="1828800"/>
            <a:ext cx="6400800" cy="914400"/>
          </a:xfrm>
          <a:prstGeom prst="rect">
            <a:avLst/>
          </a:prstGeom>
          <a:noFill/>
        </p:spPr>
        <p:txBody>
          <a:bodyPr wrap="square">
            <a:spAutoFit/>
          </a:bodyPr>
          <a:lstStyle/>
          <a:p>
            <a:pPr algn="l">
              <a:spcAft>
                <a:spcPts val="200"/>
              </a:spcAft>
              <a:defRPr sz="4000" b="1">
                <a:solidFill>
                  <a:srgbClr val="00C9A7"/>
                </a:solidFill>
                <a:latin typeface="Calibri"/>
              </a:defRPr>
            </a:pPr>
            <a:r>
              <a:t>Use Cases Across Industries</a:t>
            </a:r>
          </a:p>
        </p:txBody>
      </p:sp>
      <p:sp>
        <p:nvSpPr>
          <p:cNvPr id="7" name="Rectangle 6"/>
          <p:cNvSpPr/>
          <p:nvPr/>
        </p:nvSpPr>
        <p:spPr>
          <a:xfrm>
            <a:off x="731520" y="2834640"/>
            <a:ext cx="1371600" cy="36576"/>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3108960"/>
            <a:ext cx="6400800" cy="457200"/>
          </a:xfrm>
          <a:prstGeom prst="rect">
            <a:avLst/>
          </a:prstGeom>
          <a:noFill/>
        </p:spPr>
        <p:txBody>
          <a:bodyPr wrap="square">
            <a:spAutoFit/>
          </a:bodyPr>
          <a:lstStyle/>
          <a:p>
            <a:pPr algn="l">
              <a:spcAft>
                <a:spcPts val="200"/>
              </a:spcAft>
              <a:defRPr sz="1800" b="0">
                <a:solidFill>
                  <a:srgbClr val="E0F7F1"/>
                </a:solidFill>
                <a:latin typeface="Calibri"/>
              </a:defRPr>
            </a:pPr>
            <a:r>
              <a:t>From Pilots to Production</a:t>
            </a:r>
          </a:p>
        </p:txBody>
      </p:sp>
      <p:sp>
        <p:nvSpPr>
          <p:cNvPr id="9" name="TextBox 8"/>
          <p:cNvSpPr txBox="1"/>
          <p:nvPr/>
        </p:nvSpPr>
        <p:spPr>
          <a:xfrm>
            <a:off x="731520" y="3566160"/>
            <a:ext cx="6400800" cy="457200"/>
          </a:xfrm>
          <a:prstGeom prst="rect">
            <a:avLst/>
          </a:prstGeom>
          <a:noFill/>
        </p:spPr>
        <p:txBody>
          <a:bodyPr wrap="square">
            <a:spAutoFit/>
          </a:bodyPr>
          <a:lstStyle/>
          <a:p>
            <a:pPr algn="l">
              <a:spcAft>
                <a:spcPts val="200"/>
              </a:spcAft>
              <a:defRPr sz="1400" b="0">
                <a:solidFill>
                  <a:srgbClr val="FFFFFF"/>
                </a:solidFill>
                <a:latin typeface="Calibri"/>
              </a:defRPr>
            </a:pPr>
            <a:r>
              <a:t>26 Real-World Agentic AI Deployments with Measurable Business Impact</a:t>
            </a:r>
          </a:p>
        </p:txBody>
      </p:sp>
      <p:sp>
        <p:nvSpPr>
          <p:cNvPr id="10" name="TextBox 9"/>
          <p:cNvSpPr txBox="1"/>
          <p:nvPr/>
        </p:nvSpPr>
        <p:spPr>
          <a:xfrm>
            <a:off x="731520" y="3931920"/>
            <a:ext cx="6400800" cy="457200"/>
          </a:xfrm>
          <a:prstGeom prst="rect">
            <a:avLst/>
          </a:prstGeom>
          <a:noFill/>
        </p:spPr>
        <p:txBody>
          <a:bodyPr wrap="square">
            <a:spAutoFit/>
          </a:bodyPr>
          <a:lstStyle/>
          <a:p>
            <a:pPr algn="l">
              <a:spcAft>
                <a:spcPts val="200"/>
              </a:spcAft>
              <a:defRPr sz="1200" b="0">
                <a:solidFill>
                  <a:srgbClr val="88CCBB"/>
                </a:solidFill>
                <a:latin typeface="Calibri"/>
              </a:defRPr>
            </a:pPr>
            <a:r>
              <a:t>Across Insurance, Finance, Supply Chain, Manufacturing, Healthcare &amp; More</a:t>
            </a:r>
          </a:p>
        </p:txBody>
      </p:sp>
      <p:sp>
        <p:nvSpPr>
          <p:cNvPr id="11" name="Rectangle 10"/>
          <p:cNvSpPr/>
          <p:nvPr/>
        </p:nvSpPr>
        <p:spPr>
          <a:xfrm>
            <a:off x="731520" y="4754880"/>
            <a:ext cx="822960" cy="320040"/>
          </a:xfrm>
          <a:prstGeom prst="rect">
            <a:avLst/>
          </a:prstGeom>
          <a:solidFill>
            <a:srgbClr val="009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31520" y="4773168"/>
            <a:ext cx="822960" cy="320040"/>
          </a:xfrm>
          <a:prstGeom prst="rect">
            <a:avLst/>
          </a:prstGeom>
          <a:noFill/>
        </p:spPr>
        <p:txBody>
          <a:bodyPr wrap="square">
            <a:spAutoFit/>
          </a:bodyPr>
          <a:lstStyle/>
          <a:p>
            <a:pPr algn="ctr">
              <a:spcAft>
                <a:spcPts val="200"/>
              </a:spcAft>
              <a:defRPr sz="650" b="1">
                <a:solidFill>
                  <a:srgbClr val="FFFFFF"/>
                </a:solidFill>
                <a:latin typeface="Calibri"/>
              </a:defRPr>
            </a:pPr>
            <a:r>
              <a:t>Insurance</a:t>
            </a:r>
          </a:p>
        </p:txBody>
      </p:sp>
      <p:sp>
        <p:nvSpPr>
          <p:cNvPr id="13" name="Rectangle 12"/>
          <p:cNvSpPr/>
          <p:nvPr/>
        </p:nvSpPr>
        <p:spPr>
          <a:xfrm>
            <a:off x="1645920" y="4754880"/>
            <a:ext cx="822960" cy="320040"/>
          </a:xfrm>
          <a:prstGeom prst="rect">
            <a:avLst/>
          </a:prstGeom>
          <a:solidFill>
            <a:srgbClr val="009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645920" y="4773168"/>
            <a:ext cx="822960" cy="320040"/>
          </a:xfrm>
          <a:prstGeom prst="rect">
            <a:avLst/>
          </a:prstGeom>
          <a:noFill/>
        </p:spPr>
        <p:txBody>
          <a:bodyPr wrap="square">
            <a:spAutoFit/>
          </a:bodyPr>
          <a:lstStyle/>
          <a:p>
            <a:pPr algn="ctr">
              <a:spcAft>
                <a:spcPts val="200"/>
              </a:spcAft>
              <a:defRPr sz="650" b="1">
                <a:solidFill>
                  <a:srgbClr val="FFFFFF"/>
                </a:solidFill>
                <a:latin typeface="Calibri"/>
              </a:defRPr>
            </a:pPr>
            <a:r>
              <a:t>Finance</a:t>
            </a:r>
          </a:p>
        </p:txBody>
      </p:sp>
      <p:sp>
        <p:nvSpPr>
          <p:cNvPr id="15" name="Rectangle 14"/>
          <p:cNvSpPr/>
          <p:nvPr/>
        </p:nvSpPr>
        <p:spPr>
          <a:xfrm>
            <a:off x="2560320" y="4754880"/>
            <a:ext cx="822960" cy="320040"/>
          </a:xfrm>
          <a:prstGeom prst="rect">
            <a:avLst/>
          </a:prstGeom>
          <a:solidFill>
            <a:srgbClr val="009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560320" y="4773168"/>
            <a:ext cx="822960" cy="320040"/>
          </a:xfrm>
          <a:prstGeom prst="rect">
            <a:avLst/>
          </a:prstGeom>
          <a:noFill/>
        </p:spPr>
        <p:txBody>
          <a:bodyPr wrap="square">
            <a:spAutoFit/>
          </a:bodyPr>
          <a:lstStyle/>
          <a:p>
            <a:pPr algn="ctr">
              <a:spcAft>
                <a:spcPts val="200"/>
              </a:spcAft>
              <a:defRPr sz="650" b="1">
                <a:solidFill>
                  <a:srgbClr val="FFFFFF"/>
                </a:solidFill>
                <a:latin typeface="Calibri"/>
              </a:defRPr>
            </a:pPr>
            <a:r>
              <a:t>Supply Chain</a:t>
            </a:r>
          </a:p>
        </p:txBody>
      </p:sp>
      <p:sp>
        <p:nvSpPr>
          <p:cNvPr id="17" name="Rectangle 16"/>
          <p:cNvSpPr/>
          <p:nvPr/>
        </p:nvSpPr>
        <p:spPr>
          <a:xfrm>
            <a:off x="3474720" y="4754880"/>
            <a:ext cx="822960" cy="320040"/>
          </a:xfrm>
          <a:prstGeom prst="rect">
            <a:avLst/>
          </a:prstGeom>
          <a:solidFill>
            <a:srgbClr val="009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474720" y="4773168"/>
            <a:ext cx="822960" cy="320040"/>
          </a:xfrm>
          <a:prstGeom prst="rect">
            <a:avLst/>
          </a:prstGeom>
          <a:noFill/>
        </p:spPr>
        <p:txBody>
          <a:bodyPr wrap="square">
            <a:spAutoFit/>
          </a:bodyPr>
          <a:lstStyle/>
          <a:p>
            <a:pPr algn="ctr">
              <a:spcAft>
                <a:spcPts val="200"/>
              </a:spcAft>
              <a:defRPr sz="650" b="1">
                <a:solidFill>
                  <a:srgbClr val="FFFFFF"/>
                </a:solidFill>
                <a:latin typeface="Calibri"/>
              </a:defRPr>
            </a:pPr>
            <a:r>
              <a:t>Manufacturing</a:t>
            </a:r>
          </a:p>
        </p:txBody>
      </p:sp>
      <p:sp>
        <p:nvSpPr>
          <p:cNvPr id="19" name="Rectangle 18"/>
          <p:cNvSpPr/>
          <p:nvPr/>
        </p:nvSpPr>
        <p:spPr>
          <a:xfrm>
            <a:off x="4389120" y="4754880"/>
            <a:ext cx="822960" cy="320040"/>
          </a:xfrm>
          <a:prstGeom prst="rect">
            <a:avLst/>
          </a:prstGeom>
          <a:solidFill>
            <a:srgbClr val="009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389120" y="4773168"/>
            <a:ext cx="822960" cy="320040"/>
          </a:xfrm>
          <a:prstGeom prst="rect">
            <a:avLst/>
          </a:prstGeom>
          <a:noFill/>
        </p:spPr>
        <p:txBody>
          <a:bodyPr wrap="square">
            <a:spAutoFit/>
          </a:bodyPr>
          <a:lstStyle/>
          <a:p>
            <a:pPr algn="ctr">
              <a:spcAft>
                <a:spcPts val="200"/>
              </a:spcAft>
              <a:defRPr sz="650" b="1">
                <a:solidFill>
                  <a:srgbClr val="FFFFFF"/>
                </a:solidFill>
                <a:latin typeface="Calibri"/>
              </a:defRPr>
            </a:pPr>
            <a:r>
              <a:t>Healthcare</a:t>
            </a:r>
          </a:p>
        </p:txBody>
      </p:sp>
      <p:sp>
        <p:nvSpPr>
          <p:cNvPr id="21" name="Rectangle 20"/>
          <p:cNvSpPr/>
          <p:nvPr/>
        </p:nvSpPr>
        <p:spPr>
          <a:xfrm>
            <a:off x="5303520" y="4754880"/>
            <a:ext cx="822960" cy="320040"/>
          </a:xfrm>
          <a:prstGeom prst="rect">
            <a:avLst/>
          </a:prstGeom>
          <a:solidFill>
            <a:srgbClr val="009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303520" y="4773168"/>
            <a:ext cx="822960" cy="320040"/>
          </a:xfrm>
          <a:prstGeom prst="rect">
            <a:avLst/>
          </a:prstGeom>
          <a:noFill/>
        </p:spPr>
        <p:txBody>
          <a:bodyPr wrap="square">
            <a:spAutoFit/>
          </a:bodyPr>
          <a:lstStyle/>
          <a:p>
            <a:pPr algn="ctr">
              <a:spcAft>
                <a:spcPts val="200"/>
              </a:spcAft>
              <a:defRPr sz="650" b="1">
                <a:solidFill>
                  <a:srgbClr val="FFFFFF"/>
                </a:solidFill>
                <a:latin typeface="Calibri"/>
              </a:defRPr>
            </a:pPr>
            <a:r>
              <a:t>Enterprise</a:t>
            </a:r>
          </a:p>
        </p:txBody>
      </p:sp>
      <p:sp>
        <p:nvSpPr>
          <p:cNvPr id="23" name="Rectangle 22"/>
          <p:cNvSpPr/>
          <p:nvPr/>
        </p:nvSpPr>
        <p:spPr>
          <a:xfrm>
            <a:off x="6217920" y="4754880"/>
            <a:ext cx="822960" cy="320040"/>
          </a:xfrm>
          <a:prstGeom prst="rect">
            <a:avLst/>
          </a:prstGeom>
          <a:solidFill>
            <a:srgbClr val="009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217920" y="4773168"/>
            <a:ext cx="822960" cy="320040"/>
          </a:xfrm>
          <a:prstGeom prst="rect">
            <a:avLst/>
          </a:prstGeom>
          <a:noFill/>
        </p:spPr>
        <p:txBody>
          <a:bodyPr wrap="square">
            <a:spAutoFit/>
          </a:bodyPr>
          <a:lstStyle/>
          <a:p>
            <a:pPr algn="ctr">
              <a:spcAft>
                <a:spcPts val="200"/>
              </a:spcAft>
              <a:defRPr sz="650" b="1">
                <a:solidFill>
                  <a:srgbClr val="FFFFFF"/>
                </a:solidFill>
                <a:latin typeface="Calibri"/>
              </a:defRPr>
            </a:pPr>
            <a:r>
              <a:t>Automotive</a:t>
            </a:r>
          </a:p>
        </p:txBody>
      </p:sp>
      <p:sp>
        <p:nvSpPr>
          <p:cNvPr id="25" name="Rectangle 24"/>
          <p:cNvSpPr/>
          <p:nvPr/>
        </p:nvSpPr>
        <p:spPr>
          <a:xfrm>
            <a:off x="7132320" y="4754880"/>
            <a:ext cx="822960" cy="320040"/>
          </a:xfrm>
          <a:prstGeom prst="rect">
            <a:avLst/>
          </a:prstGeom>
          <a:solidFill>
            <a:srgbClr val="009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132320" y="4773168"/>
            <a:ext cx="822960" cy="320040"/>
          </a:xfrm>
          <a:prstGeom prst="rect">
            <a:avLst/>
          </a:prstGeom>
          <a:noFill/>
        </p:spPr>
        <p:txBody>
          <a:bodyPr wrap="square">
            <a:spAutoFit/>
          </a:bodyPr>
          <a:lstStyle/>
          <a:p>
            <a:pPr algn="ctr">
              <a:spcAft>
                <a:spcPts val="200"/>
              </a:spcAft>
              <a:defRPr sz="650" b="1">
                <a:solidFill>
                  <a:srgbClr val="FFFFFF"/>
                </a:solidFill>
                <a:latin typeface="Calibri"/>
              </a:defRPr>
            </a:pPr>
            <a:r>
              <a:t>Technology</a:t>
            </a:r>
          </a:p>
        </p:txBody>
      </p:sp>
      <p:sp>
        <p:nvSpPr>
          <p:cNvPr id="27" name="TextBox 26"/>
          <p:cNvSpPr txBox="1"/>
          <p:nvPr/>
        </p:nvSpPr>
        <p:spPr>
          <a:xfrm>
            <a:off x="731520" y="5669280"/>
            <a:ext cx="3657600" cy="365760"/>
          </a:xfrm>
          <a:prstGeom prst="rect">
            <a:avLst/>
          </a:prstGeom>
          <a:noFill/>
        </p:spPr>
        <p:txBody>
          <a:bodyPr wrap="square">
            <a:spAutoFit/>
          </a:bodyPr>
          <a:lstStyle/>
          <a:p>
            <a:pPr algn="l">
              <a:spcAft>
                <a:spcPts val="200"/>
              </a:spcAft>
              <a:defRPr sz="1000" b="0">
                <a:solidFill>
                  <a:srgbClr val="888899"/>
                </a:solidFill>
                <a:latin typeface="Calibri"/>
              </a:defRPr>
            </a:pPr>
            <a:r>
              <a:t>May 2026 | Based on Google Cloud, AWS, IBM, LangChain &amp; Industry Reports</a:t>
            </a:r>
          </a:p>
        </p:txBody>
      </p:sp>
      <p:sp>
        <p:nvSpPr>
          <p:cNvPr id="28" name="TextBox 27"/>
          <p:cNvSpPr txBox="1"/>
          <p:nvPr/>
        </p:nvSpPr>
        <p:spPr>
          <a:xfrm>
            <a:off x="274320" y="6492240"/>
            <a:ext cx="4572000" cy="274320"/>
          </a:xfrm>
          <a:prstGeom prst="rect">
            <a:avLst/>
          </a:prstGeom>
          <a:noFill/>
        </p:spPr>
        <p:txBody>
          <a:bodyPr wrap="square">
            <a:spAutoFit/>
          </a:bodyPr>
          <a:lstStyle/>
          <a:p>
            <a:pPr algn="l">
              <a:spcAft>
                <a:spcPts val="200"/>
              </a:spcAft>
              <a:defRPr sz="700" b="0">
                <a:solidFill>
                  <a:srgbClr val="888888"/>
                </a:solidFill>
                <a:latin typeface="Calibri"/>
              </a:defRPr>
            </a:pPr>
            <a:r>
              <a:t>Agentic AI Use Cases Across Industries | Confidential</a:t>
            </a:r>
          </a:p>
        </p:txBody>
      </p:sp>
      <p:sp>
        <p:nvSpPr>
          <p:cNvPr id="29" name="TextBox 28"/>
          <p:cNvSpPr txBox="1"/>
          <p:nvPr/>
        </p:nvSpPr>
        <p:spPr>
          <a:xfrm>
            <a:off x="11094415" y="6492240"/>
            <a:ext cx="822960" cy="274320"/>
          </a:xfrm>
          <a:prstGeom prst="rect">
            <a:avLst/>
          </a:prstGeom>
          <a:noFill/>
        </p:spPr>
        <p:txBody>
          <a:bodyPr wrap="square">
            <a:spAutoFit/>
          </a:bodyPr>
          <a:lstStyle/>
          <a:p>
            <a:pPr algn="r">
              <a:spcAft>
                <a:spcPts val="200"/>
              </a:spcAft>
              <a:defRPr sz="700" b="0">
                <a:solidFill>
                  <a:srgbClr val="888888"/>
                </a:solidFill>
                <a:latin typeface="Calibri"/>
              </a:defRPr>
            </a:pPr>
            <a:r>
              <a:t>1 / 46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8076895" cy="6858000"/>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274320"/>
            <a:ext cx="7436815" cy="457200"/>
          </a:xfrm>
          <a:prstGeom prst="rect">
            <a:avLst/>
          </a:prstGeom>
          <a:noFill/>
        </p:spPr>
        <p:txBody>
          <a:bodyPr wrap="square">
            <a:spAutoFit/>
          </a:bodyPr>
          <a:lstStyle/>
          <a:p>
            <a:pPr algn="l">
              <a:spcAft>
                <a:spcPts val="200"/>
              </a:spcAft>
              <a:defRPr sz="2600" b="1">
                <a:solidFill>
                  <a:srgbClr val="FFFFFF"/>
                </a:solidFill>
                <a:latin typeface="Calibri"/>
              </a:defRPr>
            </a:pPr>
            <a:r>
              <a:t>Workshop Agenda</a:t>
            </a:r>
          </a:p>
        </p:txBody>
      </p:sp>
      <p:sp>
        <p:nvSpPr>
          <p:cNvPr id="4" name="Rectangle 3"/>
          <p:cNvSpPr/>
          <p:nvPr/>
        </p:nvSpPr>
        <p:spPr>
          <a:xfrm>
            <a:off x="365760" y="731520"/>
            <a:ext cx="1828800" cy="27432"/>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365760" y="960120"/>
            <a:ext cx="457200" cy="41148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65760" y="1033272"/>
            <a:ext cx="457200" cy="274320"/>
          </a:xfrm>
          <a:prstGeom prst="rect">
            <a:avLst/>
          </a:prstGeom>
          <a:noFill/>
        </p:spPr>
        <p:txBody>
          <a:bodyPr wrap="square">
            <a:spAutoFit/>
          </a:bodyPr>
          <a:lstStyle/>
          <a:p>
            <a:pPr algn="ctr">
              <a:spcAft>
                <a:spcPts val="200"/>
              </a:spcAft>
              <a:defRPr sz="1200" b="1">
                <a:solidFill>
                  <a:srgbClr val="FFB800"/>
                </a:solidFill>
                <a:latin typeface="Calibri"/>
              </a:defRPr>
            </a:pPr>
            <a:r>
              <a:t>01</a:t>
            </a:r>
          </a:p>
        </p:txBody>
      </p:sp>
      <p:sp>
        <p:nvSpPr>
          <p:cNvPr id="7" name="TextBox 6"/>
          <p:cNvSpPr txBox="1"/>
          <p:nvPr/>
        </p:nvSpPr>
        <p:spPr>
          <a:xfrm>
            <a:off x="960120" y="987552"/>
            <a:ext cx="4572000" cy="201168"/>
          </a:xfrm>
          <a:prstGeom prst="rect">
            <a:avLst/>
          </a:prstGeom>
          <a:noFill/>
        </p:spPr>
        <p:txBody>
          <a:bodyPr wrap="square">
            <a:spAutoFit/>
          </a:bodyPr>
          <a:lstStyle/>
          <a:p>
            <a:pPr algn="l">
              <a:spcAft>
                <a:spcPts val="200"/>
              </a:spcAft>
              <a:defRPr sz="1100" b="1">
                <a:solidFill>
                  <a:srgbClr val="0A1628"/>
                </a:solidFill>
                <a:latin typeface="Calibri"/>
              </a:defRPr>
            </a:pPr>
            <a:r>
              <a:t>AI Overview &amp; Strategic Direction</a:t>
            </a:r>
          </a:p>
        </p:txBody>
      </p:sp>
      <p:sp>
        <p:nvSpPr>
          <p:cNvPr id="8" name="TextBox 7"/>
          <p:cNvSpPr txBox="1"/>
          <p:nvPr/>
        </p:nvSpPr>
        <p:spPr>
          <a:xfrm>
            <a:off x="960120" y="1188720"/>
            <a:ext cx="5943600" cy="182880"/>
          </a:xfrm>
          <a:prstGeom prst="rect">
            <a:avLst/>
          </a:prstGeom>
          <a:noFill/>
        </p:spPr>
        <p:txBody>
          <a:bodyPr wrap="square">
            <a:spAutoFit/>
          </a:bodyPr>
          <a:lstStyle/>
          <a:p>
            <a:pPr algn="l">
              <a:spcAft>
                <a:spcPts val="200"/>
              </a:spcAft>
              <a:defRPr sz="800" b="0">
                <a:solidFill>
                  <a:srgbClr val="0A1628"/>
                </a:solidFill>
                <a:latin typeface="Calibri"/>
              </a:defRPr>
            </a:pPr>
            <a:r>
              <a:t>Foundations, agentic AI landscape, agent taxonomy, market positioning</a:t>
            </a:r>
          </a:p>
        </p:txBody>
      </p:sp>
      <p:sp>
        <p:nvSpPr>
          <p:cNvPr id="9" name="Rectangle 8"/>
          <p:cNvSpPr/>
          <p:nvPr/>
        </p:nvSpPr>
        <p:spPr>
          <a:xfrm>
            <a:off x="365760" y="1527048"/>
            <a:ext cx="457200" cy="41148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65760" y="1600200"/>
            <a:ext cx="457200" cy="274320"/>
          </a:xfrm>
          <a:prstGeom prst="rect">
            <a:avLst/>
          </a:prstGeom>
          <a:noFill/>
        </p:spPr>
        <p:txBody>
          <a:bodyPr wrap="square">
            <a:spAutoFit/>
          </a:bodyPr>
          <a:lstStyle/>
          <a:p>
            <a:pPr algn="ctr">
              <a:spcAft>
                <a:spcPts val="200"/>
              </a:spcAft>
              <a:defRPr sz="1200" b="1">
                <a:solidFill>
                  <a:srgbClr val="FFB800"/>
                </a:solidFill>
                <a:latin typeface="Calibri"/>
              </a:defRPr>
            </a:pPr>
            <a:r>
              <a:t>02</a:t>
            </a:r>
          </a:p>
        </p:txBody>
      </p:sp>
      <p:sp>
        <p:nvSpPr>
          <p:cNvPr id="11" name="TextBox 10"/>
          <p:cNvSpPr txBox="1"/>
          <p:nvPr/>
        </p:nvSpPr>
        <p:spPr>
          <a:xfrm>
            <a:off x="960120" y="1554480"/>
            <a:ext cx="4572000" cy="201168"/>
          </a:xfrm>
          <a:prstGeom prst="rect">
            <a:avLst/>
          </a:prstGeom>
          <a:noFill/>
        </p:spPr>
        <p:txBody>
          <a:bodyPr wrap="square">
            <a:spAutoFit/>
          </a:bodyPr>
          <a:lstStyle/>
          <a:p>
            <a:pPr algn="l">
              <a:spcAft>
                <a:spcPts val="200"/>
              </a:spcAft>
              <a:defRPr sz="1100" b="1">
                <a:solidFill>
                  <a:srgbClr val="0A1628"/>
                </a:solidFill>
                <a:latin typeface="Calibri"/>
              </a:defRPr>
            </a:pPr>
            <a:r>
              <a:t>Core Capabilities &amp; AI Offerings</a:t>
            </a:r>
          </a:p>
        </p:txBody>
      </p:sp>
      <p:sp>
        <p:nvSpPr>
          <p:cNvPr id="12" name="TextBox 11"/>
          <p:cNvSpPr txBox="1"/>
          <p:nvPr/>
        </p:nvSpPr>
        <p:spPr>
          <a:xfrm>
            <a:off x="960120" y="1755648"/>
            <a:ext cx="5943600" cy="182880"/>
          </a:xfrm>
          <a:prstGeom prst="rect">
            <a:avLst/>
          </a:prstGeom>
          <a:noFill/>
        </p:spPr>
        <p:txBody>
          <a:bodyPr wrap="square">
            <a:spAutoFit/>
          </a:bodyPr>
          <a:lstStyle/>
          <a:p>
            <a:pPr algn="l">
              <a:spcAft>
                <a:spcPts val="200"/>
              </a:spcAft>
              <a:defRPr sz="800" b="0">
                <a:solidFill>
                  <a:srgbClr val="0A1628"/>
                </a:solidFill>
                <a:latin typeface="Calibri"/>
              </a:defRPr>
            </a:pPr>
            <a:r>
              <a:t>Solution portfolio, technology expertise, platform partnerships</a:t>
            </a:r>
          </a:p>
        </p:txBody>
      </p:sp>
      <p:sp>
        <p:nvSpPr>
          <p:cNvPr id="13" name="Rectangle 12"/>
          <p:cNvSpPr/>
          <p:nvPr/>
        </p:nvSpPr>
        <p:spPr>
          <a:xfrm>
            <a:off x="365760" y="2093976"/>
            <a:ext cx="457200" cy="41148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65760" y="2167128"/>
            <a:ext cx="457200" cy="274320"/>
          </a:xfrm>
          <a:prstGeom prst="rect">
            <a:avLst/>
          </a:prstGeom>
          <a:noFill/>
        </p:spPr>
        <p:txBody>
          <a:bodyPr wrap="square">
            <a:spAutoFit/>
          </a:bodyPr>
          <a:lstStyle/>
          <a:p>
            <a:pPr algn="ctr">
              <a:spcAft>
                <a:spcPts val="200"/>
              </a:spcAft>
              <a:defRPr sz="1200" b="1">
                <a:solidFill>
                  <a:srgbClr val="FFB800"/>
                </a:solidFill>
                <a:latin typeface="Calibri"/>
              </a:defRPr>
            </a:pPr>
            <a:r>
              <a:t>03</a:t>
            </a:r>
          </a:p>
        </p:txBody>
      </p:sp>
      <p:sp>
        <p:nvSpPr>
          <p:cNvPr id="15" name="TextBox 14"/>
          <p:cNvSpPr txBox="1"/>
          <p:nvPr/>
        </p:nvSpPr>
        <p:spPr>
          <a:xfrm>
            <a:off x="960120" y="2121408"/>
            <a:ext cx="4572000" cy="201168"/>
          </a:xfrm>
          <a:prstGeom prst="rect">
            <a:avLst/>
          </a:prstGeom>
          <a:noFill/>
        </p:spPr>
        <p:txBody>
          <a:bodyPr wrap="square">
            <a:spAutoFit/>
          </a:bodyPr>
          <a:lstStyle/>
          <a:p>
            <a:pPr algn="l">
              <a:spcAft>
                <a:spcPts val="200"/>
              </a:spcAft>
              <a:defRPr sz="1100" b="1">
                <a:solidFill>
                  <a:srgbClr val="0A1628"/>
                </a:solidFill>
                <a:latin typeface="Calibri"/>
              </a:defRPr>
            </a:pPr>
            <a:r>
              <a:t>AI Use Cases &amp; Customer Value</a:t>
            </a:r>
          </a:p>
        </p:txBody>
      </p:sp>
      <p:sp>
        <p:nvSpPr>
          <p:cNvPr id="16" name="TextBox 15"/>
          <p:cNvSpPr txBox="1"/>
          <p:nvPr/>
        </p:nvSpPr>
        <p:spPr>
          <a:xfrm>
            <a:off x="960120" y="2322576"/>
            <a:ext cx="5943600" cy="182880"/>
          </a:xfrm>
          <a:prstGeom prst="rect">
            <a:avLst/>
          </a:prstGeom>
          <a:noFill/>
        </p:spPr>
        <p:txBody>
          <a:bodyPr wrap="square">
            <a:spAutoFit/>
          </a:bodyPr>
          <a:lstStyle/>
          <a:p>
            <a:pPr algn="l">
              <a:spcAft>
                <a:spcPts val="200"/>
              </a:spcAft>
              <a:defRPr sz="800" b="0">
                <a:solidFill>
                  <a:srgbClr val="0A1628"/>
                </a:solidFill>
                <a:latin typeface="Calibri"/>
              </a:defRPr>
            </a:pPr>
            <a:r>
              <a:t>26 use cases across 7 industries with measurable business outcomes</a:t>
            </a:r>
          </a:p>
        </p:txBody>
      </p:sp>
      <p:sp>
        <p:nvSpPr>
          <p:cNvPr id="17" name="Rectangle 16"/>
          <p:cNvSpPr/>
          <p:nvPr/>
        </p:nvSpPr>
        <p:spPr>
          <a:xfrm>
            <a:off x="365760" y="2660904"/>
            <a:ext cx="457200" cy="41148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65760" y="2734056"/>
            <a:ext cx="457200" cy="274320"/>
          </a:xfrm>
          <a:prstGeom prst="rect">
            <a:avLst/>
          </a:prstGeom>
          <a:noFill/>
        </p:spPr>
        <p:txBody>
          <a:bodyPr wrap="square">
            <a:spAutoFit/>
          </a:bodyPr>
          <a:lstStyle/>
          <a:p>
            <a:pPr algn="ctr">
              <a:spcAft>
                <a:spcPts val="200"/>
              </a:spcAft>
              <a:defRPr sz="1200" b="1">
                <a:solidFill>
                  <a:srgbClr val="FFB800"/>
                </a:solidFill>
                <a:latin typeface="Calibri"/>
              </a:defRPr>
            </a:pPr>
            <a:r>
              <a:t>04</a:t>
            </a:r>
          </a:p>
        </p:txBody>
      </p:sp>
      <p:sp>
        <p:nvSpPr>
          <p:cNvPr id="19" name="TextBox 18"/>
          <p:cNvSpPr txBox="1"/>
          <p:nvPr/>
        </p:nvSpPr>
        <p:spPr>
          <a:xfrm>
            <a:off x="960120" y="2688336"/>
            <a:ext cx="4572000" cy="201168"/>
          </a:xfrm>
          <a:prstGeom prst="rect">
            <a:avLst/>
          </a:prstGeom>
          <a:noFill/>
        </p:spPr>
        <p:txBody>
          <a:bodyPr wrap="square">
            <a:spAutoFit/>
          </a:bodyPr>
          <a:lstStyle/>
          <a:p>
            <a:pPr algn="l">
              <a:spcAft>
                <a:spcPts val="200"/>
              </a:spcAft>
              <a:defRPr sz="1100" b="1">
                <a:solidFill>
                  <a:srgbClr val="0A1628"/>
                </a:solidFill>
                <a:latin typeface="Calibri"/>
              </a:defRPr>
            </a:pPr>
            <a:r>
              <a:t>Customer Pain Point Mapping</a:t>
            </a:r>
          </a:p>
        </p:txBody>
      </p:sp>
      <p:sp>
        <p:nvSpPr>
          <p:cNvPr id="20" name="TextBox 19"/>
          <p:cNvSpPr txBox="1"/>
          <p:nvPr/>
        </p:nvSpPr>
        <p:spPr>
          <a:xfrm>
            <a:off x="960120" y="2889504"/>
            <a:ext cx="5943600" cy="182880"/>
          </a:xfrm>
          <a:prstGeom prst="rect">
            <a:avLst/>
          </a:prstGeom>
          <a:noFill/>
        </p:spPr>
        <p:txBody>
          <a:bodyPr wrap="square">
            <a:spAutoFit/>
          </a:bodyPr>
          <a:lstStyle/>
          <a:p>
            <a:pPr algn="l">
              <a:spcAft>
                <a:spcPts val="200"/>
              </a:spcAft>
              <a:defRPr sz="800" b="0">
                <a:solidFill>
                  <a:srgbClr val="0A1628"/>
                </a:solidFill>
                <a:latin typeface="Calibri"/>
              </a:defRPr>
            </a:pPr>
            <a:r>
              <a:t>Mapping enterprise challenges to agentic AI solutions</a:t>
            </a:r>
          </a:p>
        </p:txBody>
      </p:sp>
      <p:sp>
        <p:nvSpPr>
          <p:cNvPr id="21" name="Rectangle 20"/>
          <p:cNvSpPr/>
          <p:nvPr/>
        </p:nvSpPr>
        <p:spPr>
          <a:xfrm>
            <a:off x="365760" y="3227832"/>
            <a:ext cx="457200" cy="41148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65760" y="3300984"/>
            <a:ext cx="457200" cy="274320"/>
          </a:xfrm>
          <a:prstGeom prst="rect">
            <a:avLst/>
          </a:prstGeom>
          <a:noFill/>
        </p:spPr>
        <p:txBody>
          <a:bodyPr wrap="square">
            <a:spAutoFit/>
          </a:bodyPr>
          <a:lstStyle/>
          <a:p>
            <a:pPr algn="ctr">
              <a:spcAft>
                <a:spcPts val="200"/>
              </a:spcAft>
              <a:defRPr sz="1200" b="1">
                <a:solidFill>
                  <a:srgbClr val="FFB800"/>
                </a:solidFill>
                <a:latin typeface="Calibri"/>
              </a:defRPr>
            </a:pPr>
            <a:r>
              <a:t>05</a:t>
            </a:r>
          </a:p>
        </p:txBody>
      </p:sp>
      <p:sp>
        <p:nvSpPr>
          <p:cNvPr id="23" name="TextBox 22"/>
          <p:cNvSpPr txBox="1"/>
          <p:nvPr/>
        </p:nvSpPr>
        <p:spPr>
          <a:xfrm>
            <a:off x="960120" y="3255264"/>
            <a:ext cx="4572000" cy="201168"/>
          </a:xfrm>
          <a:prstGeom prst="rect">
            <a:avLst/>
          </a:prstGeom>
          <a:noFill/>
        </p:spPr>
        <p:txBody>
          <a:bodyPr wrap="square">
            <a:spAutoFit/>
          </a:bodyPr>
          <a:lstStyle/>
          <a:p>
            <a:pPr algn="l">
              <a:spcAft>
                <a:spcPts val="200"/>
              </a:spcAft>
              <a:defRPr sz="1100" b="1">
                <a:solidFill>
                  <a:srgbClr val="0A1628"/>
                </a:solidFill>
                <a:latin typeface="Calibri"/>
              </a:defRPr>
            </a:pPr>
            <a:r>
              <a:t>Success Stories &amp; ROI Narratives</a:t>
            </a:r>
          </a:p>
        </p:txBody>
      </p:sp>
      <p:sp>
        <p:nvSpPr>
          <p:cNvPr id="24" name="TextBox 23"/>
          <p:cNvSpPr txBox="1"/>
          <p:nvPr/>
        </p:nvSpPr>
        <p:spPr>
          <a:xfrm>
            <a:off x="960120" y="3456432"/>
            <a:ext cx="5943600" cy="182880"/>
          </a:xfrm>
          <a:prstGeom prst="rect">
            <a:avLst/>
          </a:prstGeom>
          <a:noFill/>
        </p:spPr>
        <p:txBody>
          <a:bodyPr wrap="square">
            <a:spAutoFit/>
          </a:bodyPr>
          <a:lstStyle/>
          <a:p>
            <a:pPr algn="l">
              <a:spcAft>
                <a:spcPts val="200"/>
              </a:spcAft>
              <a:defRPr sz="800" b="0">
                <a:solidFill>
                  <a:srgbClr val="0A1628"/>
                </a:solidFill>
                <a:latin typeface="Calibri"/>
              </a:defRPr>
            </a:pPr>
            <a:r>
              <a:t>Production-validated case studies with ROI metrics</a:t>
            </a:r>
          </a:p>
        </p:txBody>
      </p:sp>
      <p:sp>
        <p:nvSpPr>
          <p:cNvPr id="25" name="Rectangle 24"/>
          <p:cNvSpPr/>
          <p:nvPr/>
        </p:nvSpPr>
        <p:spPr>
          <a:xfrm>
            <a:off x="365760" y="3794760"/>
            <a:ext cx="457200" cy="41148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365760" y="3867912"/>
            <a:ext cx="457200" cy="274320"/>
          </a:xfrm>
          <a:prstGeom prst="rect">
            <a:avLst/>
          </a:prstGeom>
          <a:noFill/>
        </p:spPr>
        <p:txBody>
          <a:bodyPr wrap="square">
            <a:spAutoFit/>
          </a:bodyPr>
          <a:lstStyle/>
          <a:p>
            <a:pPr algn="ctr">
              <a:spcAft>
                <a:spcPts val="200"/>
              </a:spcAft>
              <a:defRPr sz="1200" b="1">
                <a:solidFill>
                  <a:srgbClr val="FFB800"/>
                </a:solidFill>
                <a:latin typeface="Calibri"/>
              </a:defRPr>
            </a:pPr>
            <a:r>
              <a:t>06</a:t>
            </a:r>
          </a:p>
        </p:txBody>
      </p:sp>
      <p:sp>
        <p:nvSpPr>
          <p:cNvPr id="27" name="TextBox 26"/>
          <p:cNvSpPr txBox="1"/>
          <p:nvPr/>
        </p:nvSpPr>
        <p:spPr>
          <a:xfrm>
            <a:off x="960120" y="3822192"/>
            <a:ext cx="4572000" cy="201168"/>
          </a:xfrm>
          <a:prstGeom prst="rect">
            <a:avLst/>
          </a:prstGeom>
          <a:noFill/>
        </p:spPr>
        <p:txBody>
          <a:bodyPr wrap="square">
            <a:spAutoFit/>
          </a:bodyPr>
          <a:lstStyle/>
          <a:p>
            <a:pPr algn="l">
              <a:spcAft>
                <a:spcPts val="200"/>
              </a:spcAft>
              <a:defRPr sz="1100" b="1">
                <a:solidFill>
                  <a:srgbClr val="0A1628"/>
                </a:solidFill>
                <a:latin typeface="Calibri"/>
              </a:defRPr>
            </a:pPr>
            <a:r>
              <a:t>Competitive Positioning</a:t>
            </a:r>
          </a:p>
        </p:txBody>
      </p:sp>
      <p:sp>
        <p:nvSpPr>
          <p:cNvPr id="28" name="TextBox 27"/>
          <p:cNvSpPr txBox="1"/>
          <p:nvPr/>
        </p:nvSpPr>
        <p:spPr>
          <a:xfrm>
            <a:off x="960120" y="4023360"/>
            <a:ext cx="5943600" cy="182880"/>
          </a:xfrm>
          <a:prstGeom prst="rect">
            <a:avLst/>
          </a:prstGeom>
          <a:noFill/>
        </p:spPr>
        <p:txBody>
          <a:bodyPr wrap="square">
            <a:spAutoFit/>
          </a:bodyPr>
          <a:lstStyle/>
          <a:p>
            <a:pPr algn="l">
              <a:spcAft>
                <a:spcPts val="200"/>
              </a:spcAft>
              <a:defRPr sz="800" b="0">
                <a:solidFill>
                  <a:srgbClr val="0A1628"/>
                </a:solidFill>
                <a:latin typeface="Calibri"/>
              </a:defRPr>
            </a:pPr>
            <a:r>
              <a:t>Differentiators, objection handling, why agentic vs. traditional</a:t>
            </a:r>
          </a:p>
        </p:txBody>
      </p:sp>
      <p:sp>
        <p:nvSpPr>
          <p:cNvPr id="29" name="Rectangle 28"/>
          <p:cNvSpPr/>
          <p:nvPr/>
        </p:nvSpPr>
        <p:spPr>
          <a:xfrm>
            <a:off x="365760" y="4361688"/>
            <a:ext cx="457200" cy="41148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365760" y="4434840"/>
            <a:ext cx="457200" cy="274320"/>
          </a:xfrm>
          <a:prstGeom prst="rect">
            <a:avLst/>
          </a:prstGeom>
          <a:noFill/>
        </p:spPr>
        <p:txBody>
          <a:bodyPr wrap="square">
            <a:spAutoFit/>
          </a:bodyPr>
          <a:lstStyle/>
          <a:p>
            <a:pPr algn="ctr">
              <a:spcAft>
                <a:spcPts val="200"/>
              </a:spcAft>
              <a:defRPr sz="1200" b="1">
                <a:solidFill>
                  <a:srgbClr val="FFB800"/>
                </a:solidFill>
                <a:latin typeface="Calibri"/>
              </a:defRPr>
            </a:pPr>
            <a:r>
              <a:t>07</a:t>
            </a:r>
          </a:p>
        </p:txBody>
      </p:sp>
      <p:sp>
        <p:nvSpPr>
          <p:cNvPr id="31" name="TextBox 30"/>
          <p:cNvSpPr txBox="1"/>
          <p:nvPr/>
        </p:nvSpPr>
        <p:spPr>
          <a:xfrm>
            <a:off x="960120" y="4389120"/>
            <a:ext cx="4572000" cy="201168"/>
          </a:xfrm>
          <a:prstGeom prst="rect">
            <a:avLst/>
          </a:prstGeom>
          <a:noFill/>
        </p:spPr>
        <p:txBody>
          <a:bodyPr wrap="square">
            <a:spAutoFit/>
          </a:bodyPr>
          <a:lstStyle/>
          <a:p>
            <a:pPr algn="l">
              <a:spcAft>
                <a:spcPts val="200"/>
              </a:spcAft>
              <a:defRPr sz="1100" b="1">
                <a:solidFill>
                  <a:srgbClr val="0A1628"/>
                </a:solidFill>
                <a:latin typeface="Calibri"/>
              </a:defRPr>
            </a:pPr>
            <a:r>
              <a:t>Sales Enablement Assets</a:t>
            </a:r>
          </a:p>
        </p:txBody>
      </p:sp>
      <p:sp>
        <p:nvSpPr>
          <p:cNvPr id="32" name="TextBox 31"/>
          <p:cNvSpPr txBox="1"/>
          <p:nvPr/>
        </p:nvSpPr>
        <p:spPr>
          <a:xfrm>
            <a:off x="960120" y="4590288"/>
            <a:ext cx="5943600" cy="182880"/>
          </a:xfrm>
          <a:prstGeom prst="rect">
            <a:avLst/>
          </a:prstGeom>
          <a:noFill/>
        </p:spPr>
        <p:txBody>
          <a:bodyPr wrap="square">
            <a:spAutoFit/>
          </a:bodyPr>
          <a:lstStyle/>
          <a:p>
            <a:pPr algn="l">
              <a:spcAft>
                <a:spcPts val="200"/>
              </a:spcAft>
              <a:defRPr sz="800" b="0">
                <a:solidFill>
                  <a:srgbClr val="0A1628"/>
                </a:solidFill>
                <a:latin typeface="Calibri"/>
              </a:defRPr>
            </a:pPr>
            <a:r>
              <a:t>Decks, demos, one-pagers, reusable customer-facing collateral</a:t>
            </a:r>
          </a:p>
        </p:txBody>
      </p:sp>
      <p:sp>
        <p:nvSpPr>
          <p:cNvPr id="33" name="Rectangle 32"/>
          <p:cNvSpPr/>
          <p:nvPr/>
        </p:nvSpPr>
        <p:spPr>
          <a:xfrm>
            <a:off x="365760" y="4928616"/>
            <a:ext cx="457200" cy="41148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365760" y="5001768"/>
            <a:ext cx="457200" cy="274320"/>
          </a:xfrm>
          <a:prstGeom prst="rect">
            <a:avLst/>
          </a:prstGeom>
          <a:noFill/>
        </p:spPr>
        <p:txBody>
          <a:bodyPr wrap="square">
            <a:spAutoFit/>
          </a:bodyPr>
          <a:lstStyle/>
          <a:p>
            <a:pPr algn="ctr">
              <a:spcAft>
                <a:spcPts val="200"/>
              </a:spcAft>
              <a:defRPr sz="1200" b="1">
                <a:solidFill>
                  <a:srgbClr val="FFB800"/>
                </a:solidFill>
                <a:latin typeface="Calibri"/>
              </a:defRPr>
            </a:pPr>
            <a:r>
              <a:t>08</a:t>
            </a:r>
          </a:p>
        </p:txBody>
      </p:sp>
      <p:sp>
        <p:nvSpPr>
          <p:cNvPr id="35" name="TextBox 34"/>
          <p:cNvSpPr txBox="1"/>
          <p:nvPr/>
        </p:nvSpPr>
        <p:spPr>
          <a:xfrm>
            <a:off x="960120" y="4956048"/>
            <a:ext cx="4572000" cy="201168"/>
          </a:xfrm>
          <a:prstGeom prst="rect">
            <a:avLst/>
          </a:prstGeom>
          <a:noFill/>
        </p:spPr>
        <p:txBody>
          <a:bodyPr wrap="square">
            <a:spAutoFit/>
          </a:bodyPr>
          <a:lstStyle/>
          <a:p>
            <a:pPr algn="l">
              <a:spcAft>
                <a:spcPts val="200"/>
              </a:spcAft>
              <a:defRPr sz="1100" b="1">
                <a:solidFill>
                  <a:srgbClr val="0A1628"/>
                </a:solidFill>
                <a:latin typeface="Calibri"/>
              </a:defRPr>
            </a:pPr>
            <a:r>
              <a:t>Collaboration Model</a:t>
            </a:r>
          </a:p>
        </p:txBody>
      </p:sp>
      <p:sp>
        <p:nvSpPr>
          <p:cNvPr id="36" name="TextBox 35"/>
          <p:cNvSpPr txBox="1"/>
          <p:nvPr/>
        </p:nvSpPr>
        <p:spPr>
          <a:xfrm>
            <a:off x="960120" y="5157216"/>
            <a:ext cx="5943600" cy="182880"/>
          </a:xfrm>
          <a:prstGeom prst="rect">
            <a:avLst/>
          </a:prstGeom>
          <a:noFill/>
        </p:spPr>
        <p:txBody>
          <a:bodyPr wrap="square">
            <a:spAutoFit/>
          </a:bodyPr>
          <a:lstStyle/>
          <a:p>
            <a:pPr algn="l">
              <a:spcAft>
                <a:spcPts val="200"/>
              </a:spcAft>
              <a:defRPr sz="800" b="0">
                <a:solidFill>
                  <a:srgbClr val="0A1628"/>
                </a:solidFill>
                <a:latin typeface="Calibri"/>
              </a:defRPr>
            </a:pPr>
            <a:r>
              <a:t>Engagement model: Sales × Practice × Pre-sales alignment</a:t>
            </a:r>
          </a:p>
        </p:txBody>
      </p:sp>
      <p:sp>
        <p:nvSpPr>
          <p:cNvPr id="37" name="Rectangle 36"/>
          <p:cNvSpPr/>
          <p:nvPr/>
        </p:nvSpPr>
        <p:spPr>
          <a:xfrm>
            <a:off x="365760" y="5495544"/>
            <a:ext cx="457200" cy="41148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365760" y="5568696"/>
            <a:ext cx="457200" cy="274320"/>
          </a:xfrm>
          <a:prstGeom prst="rect">
            <a:avLst/>
          </a:prstGeom>
          <a:noFill/>
        </p:spPr>
        <p:txBody>
          <a:bodyPr wrap="square">
            <a:spAutoFit/>
          </a:bodyPr>
          <a:lstStyle/>
          <a:p>
            <a:pPr algn="ctr">
              <a:spcAft>
                <a:spcPts val="200"/>
              </a:spcAft>
              <a:defRPr sz="1200" b="1">
                <a:solidFill>
                  <a:srgbClr val="FFB800"/>
                </a:solidFill>
                <a:latin typeface="Calibri"/>
              </a:defRPr>
            </a:pPr>
            <a:r>
              <a:t>09</a:t>
            </a:r>
          </a:p>
        </p:txBody>
      </p:sp>
      <p:sp>
        <p:nvSpPr>
          <p:cNvPr id="39" name="TextBox 38"/>
          <p:cNvSpPr txBox="1"/>
          <p:nvPr/>
        </p:nvSpPr>
        <p:spPr>
          <a:xfrm>
            <a:off x="960120" y="5522976"/>
            <a:ext cx="4572000" cy="201168"/>
          </a:xfrm>
          <a:prstGeom prst="rect">
            <a:avLst/>
          </a:prstGeom>
          <a:noFill/>
        </p:spPr>
        <p:txBody>
          <a:bodyPr wrap="square">
            <a:spAutoFit/>
          </a:bodyPr>
          <a:lstStyle/>
          <a:p>
            <a:pPr algn="l">
              <a:spcAft>
                <a:spcPts val="200"/>
              </a:spcAft>
              <a:defRPr sz="1100" b="1">
                <a:solidFill>
                  <a:srgbClr val="0A1628"/>
                </a:solidFill>
                <a:latin typeface="Calibri"/>
              </a:defRPr>
            </a:pPr>
            <a:r>
              <a:t>Pipeline &amp; Strategic Opportunities</a:t>
            </a:r>
          </a:p>
        </p:txBody>
      </p:sp>
      <p:sp>
        <p:nvSpPr>
          <p:cNvPr id="40" name="TextBox 39"/>
          <p:cNvSpPr txBox="1"/>
          <p:nvPr/>
        </p:nvSpPr>
        <p:spPr>
          <a:xfrm>
            <a:off x="960120" y="5724144"/>
            <a:ext cx="5943600" cy="182880"/>
          </a:xfrm>
          <a:prstGeom prst="rect">
            <a:avLst/>
          </a:prstGeom>
          <a:noFill/>
        </p:spPr>
        <p:txBody>
          <a:bodyPr wrap="square">
            <a:spAutoFit/>
          </a:bodyPr>
          <a:lstStyle/>
          <a:p>
            <a:pPr algn="l">
              <a:spcAft>
                <a:spcPts val="200"/>
              </a:spcAft>
              <a:defRPr sz="800" b="0">
                <a:solidFill>
                  <a:srgbClr val="0A1628"/>
                </a:solidFill>
                <a:latin typeface="Calibri"/>
              </a:defRPr>
            </a:pPr>
            <a:r>
              <a:t>Target accounts, strategic focus areas, growth opportunities</a:t>
            </a:r>
          </a:p>
        </p:txBody>
      </p:sp>
      <p:sp>
        <p:nvSpPr>
          <p:cNvPr id="41" name="TextBox 40"/>
          <p:cNvSpPr txBox="1"/>
          <p:nvPr/>
        </p:nvSpPr>
        <p:spPr>
          <a:xfrm>
            <a:off x="365760" y="6126480"/>
            <a:ext cx="6858000" cy="274320"/>
          </a:xfrm>
          <a:prstGeom prst="rect">
            <a:avLst/>
          </a:prstGeom>
          <a:noFill/>
        </p:spPr>
        <p:txBody>
          <a:bodyPr wrap="square">
            <a:spAutoFit/>
          </a:bodyPr>
          <a:lstStyle/>
          <a:p>
            <a:pPr algn="l">
              <a:spcAft>
                <a:spcPts val="200"/>
              </a:spcAft>
              <a:defRPr sz="700" b="1">
                <a:solidFill>
                  <a:srgbClr val="0A1628"/>
                </a:solidFill>
                <a:latin typeface="Calibri"/>
              </a:defRPr>
            </a:pPr>
            <a:r>
              <a:t>Objective: Improve sales readiness, strengthen customer positioning, enable proactive pipeline generation</a:t>
            </a:r>
          </a:p>
        </p:txBody>
      </p:sp>
      <p:pic>
        <p:nvPicPr>
          <p:cNvPr id="42" name="Picture 41" descr="image.jpg"/>
          <p:cNvPicPr>
            <a:picLocks noChangeAspect="1"/>
          </p:cNvPicPr>
          <p:nvPr/>
        </p:nvPicPr>
        <p:blipFill>
          <a:blip r:embed="rId2"/>
          <a:stretch>
            <a:fillRect/>
          </a:stretch>
        </p:blipFill>
        <p:spPr>
          <a:xfrm>
            <a:off x="8076895" y="0"/>
            <a:ext cx="4114800" cy="6858000"/>
          </a:xfrm>
          <a:prstGeom prst="rect">
            <a:avLst/>
          </a:prstGeom>
        </p:spPr>
      </p:pic>
      <p:sp>
        <p:nvSpPr>
          <p:cNvPr id="43" name="TextBox 42"/>
          <p:cNvSpPr txBox="1"/>
          <p:nvPr/>
        </p:nvSpPr>
        <p:spPr>
          <a:xfrm>
            <a:off x="274320" y="6492240"/>
            <a:ext cx="4572000" cy="274320"/>
          </a:xfrm>
          <a:prstGeom prst="rect">
            <a:avLst/>
          </a:prstGeom>
          <a:noFill/>
        </p:spPr>
        <p:txBody>
          <a:bodyPr wrap="square">
            <a:spAutoFit/>
          </a:bodyPr>
          <a:lstStyle/>
          <a:p>
            <a:pPr algn="l">
              <a:spcAft>
                <a:spcPts val="200"/>
              </a:spcAft>
              <a:defRPr sz="700" b="0">
                <a:solidFill>
                  <a:srgbClr val="888888"/>
                </a:solidFill>
                <a:latin typeface="Calibri"/>
              </a:defRPr>
            </a:pPr>
            <a:r>
              <a:t>Agentic AI Use Cases Across Industries | Confidential</a:t>
            </a:r>
          </a:p>
        </p:txBody>
      </p:sp>
      <p:sp>
        <p:nvSpPr>
          <p:cNvPr id="44" name="TextBox 43"/>
          <p:cNvSpPr txBox="1"/>
          <p:nvPr/>
        </p:nvSpPr>
        <p:spPr>
          <a:xfrm>
            <a:off x="11094415" y="6492240"/>
            <a:ext cx="822960" cy="274320"/>
          </a:xfrm>
          <a:prstGeom prst="rect">
            <a:avLst/>
          </a:prstGeom>
          <a:noFill/>
        </p:spPr>
        <p:txBody>
          <a:bodyPr wrap="square">
            <a:spAutoFit/>
          </a:bodyPr>
          <a:lstStyle/>
          <a:p>
            <a:pPr algn="r">
              <a:spcAft>
                <a:spcPts val="200"/>
              </a:spcAft>
              <a:defRPr sz="700" b="0">
                <a:solidFill>
                  <a:srgbClr val="888888"/>
                </a:solidFill>
                <a:latin typeface="Calibri"/>
              </a:defRPr>
            </a:pPr>
            <a:r>
              <a:t>2 / 46</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8076895" cy="6858000"/>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82880"/>
            <a:ext cx="7436815" cy="457200"/>
          </a:xfrm>
          <a:prstGeom prst="rect">
            <a:avLst/>
          </a:prstGeom>
          <a:noFill/>
        </p:spPr>
        <p:txBody>
          <a:bodyPr wrap="square">
            <a:spAutoFit/>
          </a:bodyPr>
          <a:lstStyle/>
          <a:p>
            <a:pPr algn="l">
              <a:spcAft>
                <a:spcPts val="200"/>
              </a:spcAft>
              <a:defRPr sz="2400" b="1">
                <a:solidFill>
                  <a:srgbClr val="FFFFFF"/>
                </a:solidFill>
                <a:latin typeface="Calibri"/>
              </a:defRPr>
            </a:pPr>
            <a:r>
              <a:t>What Is Agentic AI?</a:t>
            </a:r>
          </a:p>
        </p:txBody>
      </p:sp>
      <p:sp>
        <p:nvSpPr>
          <p:cNvPr id="4" name="Rectangle 3"/>
          <p:cNvSpPr/>
          <p:nvPr/>
        </p:nvSpPr>
        <p:spPr>
          <a:xfrm>
            <a:off x="365760" y="640080"/>
            <a:ext cx="1828800" cy="27432"/>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777240"/>
            <a:ext cx="3200400" cy="182880"/>
          </a:xfrm>
          <a:prstGeom prst="rect">
            <a:avLst/>
          </a:prstGeom>
          <a:noFill/>
        </p:spPr>
        <p:txBody>
          <a:bodyPr wrap="square">
            <a:spAutoFit/>
          </a:bodyPr>
          <a:lstStyle/>
          <a:p>
            <a:pPr algn="l">
              <a:spcAft>
                <a:spcPts val="200"/>
              </a:spcAft>
              <a:defRPr sz="800" b="1">
                <a:solidFill>
                  <a:srgbClr val="0A1628"/>
                </a:solidFill>
                <a:latin typeface="Calibri"/>
              </a:defRPr>
            </a:pPr>
            <a:r>
              <a:t>DEFINITION</a:t>
            </a:r>
          </a:p>
        </p:txBody>
      </p:sp>
      <p:sp>
        <p:nvSpPr>
          <p:cNvPr id="6" name="TextBox 5"/>
          <p:cNvSpPr txBox="1"/>
          <p:nvPr/>
        </p:nvSpPr>
        <p:spPr>
          <a:xfrm>
            <a:off x="365760" y="960120"/>
            <a:ext cx="6858000" cy="822960"/>
          </a:xfrm>
          <a:prstGeom prst="rect">
            <a:avLst/>
          </a:prstGeom>
          <a:noFill/>
        </p:spPr>
        <p:txBody>
          <a:bodyPr wrap="square">
            <a:spAutoFit/>
          </a:bodyPr>
          <a:lstStyle/>
          <a:p>
            <a:pPr algn="l">
              <a:spcAft>
                <a:spcPts val="200"/>
              </a:spcAft>
              <a:defRPr sz="900" b="0">
                <a:solidFill>
                  <a:srgbClr val="0A1628"/>
                </a:solidFill>
                <a:latin typeface="Calibri"/>
              </a:defRPr>
            </a:pPr>
            <a:r>
              <a:t>Agentic AI systems autonomously execute multi-step tasks by combining LLM reasoning with tool use, memory, and planning. Unlike traditional AI that responds to prompts, agents perceive data, reason across business rules, make decisions, and take actions across enterprise systems — with human oversight at critical decision points.</a:t>
            </a:r>
          </a:p>
        </p:txBody>
      </p:sp>
      <p:sp>
        <p:nvSpPr>
          <p:cNvPr id="7" name="TextBox 6"/>
          <p:cNvSpPr txBox="1"/>
          <p:nvPr/>
        </p:nvSpPr>
        <p:spPr>
          <a:xfrm>
            <a:off x="365760" y="1920240"/>
            <a:ext cx="3200400" cy="182880"/>
          </a:xfrm>
          <a:prstGeom prst="rect">
            <a:avLst/>
          </a:prstGeom>
          <a:noFill/>
        </p:spPr>
        <p:txBody>
          <a:bodyPr wrap="square">
            <a:spAutoFit/>
          </a:bodyPr>
          <a:lstStyle/>
          <a:p>
            <a:pPr algn="l">
              <a:spcAft>
                <a:spcPts val="200"/>
              </a:spcAft>
              <a:defRPr sz="800" b="1">
                <a:solidFill>
                  <a:srgbClr val="0A1628"/>
                </a:solidFill>
                <a:latin typeface="Calibri"/>
              </a:defRPr>
            </a:pPr>
            <a:r>
              <a:t>TRADITIONAL AI</a:t>
            </a:r>
          </a:p>
        </p:txBody>
      </p:sp>
      <p:sp>
        <p:nvSpPr>
          <p:cNvPr id="8" name="TextBox 7"/>
          <p:cNvSpPr txBox="1"/>
          <p:nvPr/>
        </p:nvSpPr>
        <p:spPr>
          <a:xfrm>
            <a:off x="365760" y="2103120"/>
            <a:ext cx="3520440" cy="1280160"/>
          </a:xfrm>
          <a:prstGeom prst="rect">
            <a:avLst/>
          </a:prstGeom>
          <a:noFill/>
        </p:spPr>
        <p:txBody>
          <a:bodyPr wrap="square">
            <a:spAutoFit/>
          </a:bodyPr>
          <a:lstStyle/>
          <a:p>
            <a:pPr algn="l">
              <a:spcAft>
                <a:spcPts val="200"/>
              </a:spcAft>
              <a:defRPr sz="750" b="0">
                <a:solidFill>
                  <a:srgbClr val="0A1628"/>
                </a:solidFill>
                <a:latin typeface="Calibri"/>
              </a:defRPr>
            </a:pPr>
            <a:r>
              <a:t>Single prompt → single response</a:t>
            </a:r>
            <a:br/>
            <a:r>
              <a:t>• No memory between interactions</a:t>
            </a:r>
            <a:br/>
            <a:r>
              <a:t>• Cannot use external tools or APIs</a:t>
            </a:r>
            <a:br/>
            <a:r>
              <a:t>• Human must orchestrate each step</a:t>
            </a:r>
            <a:br/>
            <a:r>
              <a:t>• Breaks on multi-step workflows</a:t>
            </a:r>
          </a:p>
        </p:txBody>
      </p:sp>
      <p:sp>
        <p:nvSpPr>
          <p:cNvPr id="9" name="TextBox 8"/>
          <p:cNvSpPr txBox="1"/>
          <p:nvPr/>
        </p:nvSpPr>
        <p:spPr>
          <a:xfrm>
            <a:off x="4023360" y="1920240"/>
            <a:ext cx="3200400" cy="182880"/>
          </a:xfrm>
          <a:prstGeom prst="rect">
            <a:avLst/>
          </a:prstGeom>
          <a:noFill/>
        </p:spPr>
        <p:txBody>
          <a:bodyPr wrap="square">
            <a:spAutoFit/>
          </a:bodyPr>
          <a:lstStyle/>
          <a:p>
            <a:pPr algn="l">
              <a:spcAft>
                <a:spcPts val="200"/>
              </a:spcAft>
              <a:defRPr sz="800" b="1">
                <a:solidFill>
                  <a:srgbClr val="0A1628"/>
                </a:solidFill>
                <a:latin typeface="Calibri"/>
              </a:defRPr>
            </a:pPr>
            <a:r>
              <a:t>AGENTIC AI</a:t>
            </a:r>
          </a:p>
        </p:txBody>
      </p:sp>
      <p:sp>
        <p:nvSpPr>
          <p:cNvPr id="10" name="TextBox 9"/>
          <p:cNvSpPr txBox="1"/>
          <p:nvPr/>
        </p:nvSpPr>
        <p:spPr>
          <a:xfrm>
            <a:off x="4023360" y="2103120"/>
            <a:ext cx="3520440" cy="1280160"/>
          </a:xfrm>
          <a:prstGeom prst="rect">
            <a:avLst/>
          </a:prstGeom>
          <a:noFill/>
        </p:spPr>
        <p:txBody>
          <a:bodyPr wrap="square">
            <a:spAutoFit/>
          </a:bodyPr>
          <a:lstStyle/>
          <a:p>
            <a:pPr algn="l">
              <a:spcAft>
                <a:spcPts val="200"/>
              </a:spcAft>
              <a:defRPr sz="750" b="0">
                <a:solidFill>
                  <a:srgbClr val="0A1628"/>
                </a:solidFill>
                <a:latin typeface="Calibri"/>
              </a:defRPr>
            </a:pPr>
            <a:r>
              <a:t>Perceive → Reason → Plan → Act → Learn</a:t>
            </a:r>
            <a:br/>
            <a:r>
              <a:t>• Persistent memory across sessions</a:t>
            </a:r>
            <a:br/>
            <a:r>
              <a:t>• Tool use: APIs, databases, enterprise systems</a:t>
            </a:r>
            <a:br/>
            <a:r>
              <a:t>• Multi-agent orchestration and delegation</a:t>
            </a:r>
            <a:br/>
            <a:r>
              <a:t>• Autonomous multi-step workflow execution</a:t>
            </a:r>
          </a:p>
        </p:txBody>
      </p:sp>
      <p:sp>
        <p:nvSpPr>
          <p:cNvPr id="11" name="Rectangle 10"/>
          <p:cNvSpPr/>
          <p:nvPr/>
        </p:nvSpPr>
        <p:spPr>
          <a:xfrm>
            <a:off x="365760" y="365760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65760" y="370332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60%</a:t>
            </a:r>
          </a:p>
        </p:txBody>
      </p:sp>
      <p:sp>
        <p:nvSpPr>
          <p:cNvPr id="13" name="TextBox 12"/>
          <p:cNvSpPr txBox="1"/>
          <p:nvPr/>
        </p:nvSpPr>
        <p:spPr>
          <a:xfrm>
            <a:off x="365760" y="409651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Enterprises in</a:t>
            </a:r>
            <a:br/>
            <a:r>
              <a:t>production (2026)</a:t>
            </a:r>
          </a:p>
        </p:txBody>
      </p:sp>
      <p:sp>
        <p:nvSpPr>
          <p:cNvPr id="14" name="Rectangle 13"/>
          <p:cNvSpPr/>
          <p:nvPr/>
        </p:nvSpPr>
        <p:spPr>
          <a:xfrm>
            <a:off x="2240279" y="365760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240279" y="370332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$47.1B</a:t>
            </a:r>
          </a:p>
        </p:txBody>
      </p:sp>
      <p:sp>
        <p:nvSpPr>
          <p:cNvPr id="16" name="TextBox 15"/>
          <p:cNvSpPr txBox="1"/>
          <p:nvPr/>
        </p:nvSpPr>
        <p:spPr>
          <a:xfrm>
            <a:off x="2240279" y="409651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Market by 2030</a:t>
            </a:r>
            <a:br/>
            <a:r>
              <a:t>(Gartner)</a:t>
            </a:r>
          </a:p>
        </p:txBody>
      </p:sp>
      <p:sp>
        <p:nvSpPr>
          <p:cNvPr id="17" name="Rectangle 16"/>
          <p:cNvSpPr/>
          <p:nvPr/>
        </p:nvSpPr>
        <p:spPr>
          <a:xfrm>
            <a:off x="4114799" y="365760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114799" y="370332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80%</a:t>
            </a:r>
          </a:p>
        </p:txBody>
      </p:sp>
      <p:sp>
        <p:nvSpPr>
          <p:cNvPr id="19" name="TextBox 18"/>
          <p:cNvSpPr txBox="1"/>
          <p:nvPr/>
        </p:nvSpPr>
        <p:spPr>
          <a:xfrm>
            <a:off x="4114799" y="409651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Use structured</a:t>
            </a:r>
            <a:br/>
            <a:r>
              <a:t>workflows</a:t>
            </a:r>
          </a:p>
        </p:txBody>
      </p:sp>
      <p:sp>
        <p:nvSpPr>
          <p:cNvPr id="20" name="Rectangle 19"/>
          <p:cNvSpPr/>
          <p:nvPr/>
        </p:nvSpPr>
        <p:spPr>
          <a:xfrm>
            <a:off x="5989319" y="365760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989319" y="370332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26</a:t>
            </a:r>
          </a:p>
        </p:txBody>
      </p:sp>
      <p:sp>
        <p:nvSpPr>
          <p:cNvPr id="22" name="TextBox 21"/>
          <p:cNvSpPr txBox="1"/>
          <p:nvPr/>
        </p:nvSpPr>
        <p:spPr>
          <a:xfrm>
            <a:off x="5989319" y="409651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Domains with</a:t>
            </a:r>
            <a:br/>
            <a:r>
              <a:t>deployed agents</a:t>
            </a:r>
          </a:p>
        </p:txBody>
      </p:sp>
      <p:sp>
        <p:nvSpPr>
          <p:cNvPr id="23" name="Rectangle 22"/>
          <p:cNvSpPr/>
          <p:nvPr/>
        </p:nvSpPr>
        <p:spPr>
          <a:xfrm>
            <a:off x="274320" y="4754880"/>
            <a:ext cx="7619695" cy="9144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365760" y="4791456"/>
            <a:ext cx="1828800" cy="164592"/>
          </a:xfrm>
          <a:prstGeom prst="rect">
            <a:avLst/>
          </a:prstGeom>
          <a:noFill/>
        </p:spPr>
        <p:txBody>
          <a:bodyPr wrap="square">
            <a:spAutoFit/>
          </a:bodyPr>
          <a:lstStyle/>
          <a:p>
            <a:pPr algn="l">
              <a:spcAft>
                <a:spcPts val="200"/>
              </a:spcAft>
              <a:defRPr sz="750" b="1">
                <a:solidFill>
                  <a:srgbClr val="00C9A7"/>
                </a:solidFill>
                <a:latin typeface="Calibri"/>
              </a:defRPr>
            </a:pPr>
            <a:r>
              <a:t>AGENTIC AI ARCHITECTURE</a:t>
            </a:r>
          </a:p>
        </p:txBody>
      </p:sp>
      <p:sp>
        <p:nvSpPr>
          <p:cNvPr id="25" name="TextBox 24"/>
          <p:cNvSpPr txBox="1"/>
          <p:nvPr/>
        </p:nvSpPr>
        <p:spPr>
          <a:xfrm>
            <a:off x="365760" y="4983480"/>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Perception</a:t>
            </a:r>
          </a:p>
        </p:txBody>
      </p:sp>
      <p:sp>
        <p:nvSpPr>
          <p:cNvPr id="26" name="TextBox 25"/>
          <p:cNvSpPr txBox="1"/>
          <p:nvPr/>
        </p:nvSpPr>
        <p:spPr>
          <a:xfrm>
            <a:off x="365760" y="5166360"/>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Ingest data from</a:t>
            </a:r>
            <a:br/>
            <a:r>
              <a:t>multiple sources</a:t>
            </a:r>
          </a:p>
        </p:txBody>
      </p:sp>
      <p:sp>
        <p:nvSpPr>
          <p:cNvPr id="27" name="TextBox 26"/>
          <p:cNvSpPr txBox="1"/>
          <p:nvPr/>
        </p:nvSpPr>
        <p:spPr>
          <a:xfrm>
            <a:off x="2240279" y="4983480"/>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Reasoning</a:t>
            </a:r>
          </a:p>
        </p:txBody>
      </p:sp>
      <p:sp>
        <p:nvSpPr>
          <p:cNvPr id="28" name="TextBox 27"/>
          <p:cNvSpPr txBox="1"/>
          <p:nvPr/>
        </p:nvSpPr>
        <p:spPr>
          <a:xfrm>
            <a:off x="2240279" y="5166360"/>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LLM-powered</a:t>
            </a:r>
            <a:br/>
            <a:r>
              <a:t>decision making</a:t>
            </a:r>
          </a:p>
        </p:txBody>
      </p:sp>
      <p:sp>
        <p:nvSpPr>
          <p:cNvPr id="29" name="TextBox 28"/>
          <p:cNvSpPr txBox="1"/>
          <p:nvPr/>
        </p:nvSpPr>
        <p:spPr>
          <a:xfrm>
            <a:off x="4114799" y="4983480"/>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Planning</a:t>
            </a:r>
          </a:p>
        </p:txBody>
      </p:sp>
      <p:sp>
        <p:nvSpPr>
          <p:cNvPr id="30" name="TextBox 29"/>
          <p:cNvSpPr txBox="1"/>
          <p:nvPr/>
        </p:nvSpPr>
        <p:spPr>
          <a:xfrm>
            <a:off x="4114799" y="5166360"/>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Decompose goals</a:t>
            </a:r>
            <a:br/>
            <a:r>
              <a:t>into sub-tasks</a:t>
            </a:r>
          </a:p>
        </p:txBody>
      </p:sp>
      <p:sp>
        <p:nvSpPr>
          <p:cNvPr id="31" name="TextBox 30"/>
          <p:cNvSpPr txBox="1"/>
          <p:nvPr/>
        </p:nvSpPr>
        <p:spPr>
          <a:xfrm>
            <a:off x="5989319" y="4983480"/>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Tool Use</a:t>
            </a:r>
          </a:p>
        </p:txBody>
      </p:sp>
      <p:sp>
        <p:nvSpPr>
          <p:cNvPr id="32" name="TextBox 31"/>
          <p:cNvSpPr txBox="1"/>
          <p:nvPr/>
        </p:nvSpPr>
        <p:spPr>
          <a:xfrm>
            <a:off x="5989319" y="5166360"/>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APIs, DBs, systems</a:t>
            </a:r>
            <a:br/>
            <a:r>
              <a:t>integration</a:t>
            </a:r>
          </a:p>
        </p:txBody>
      </p:sp>
      <p:sp>
        <p:nvSpPr>
          <p:cNvPr id="33" name="TextBox 32"/>
          <p:cNvSpPr txBox="1"/>
          <p:nvPr/>
        </p:nvSpPr>
        <p:spPr>
          <a:xfrm>
            <a:off x="365760" y="5852160"/>
            <a:ext cx="6400800" cy="274320"/>
          </a:xfrm>
          <a:prstGeom prst="rect">
            <a:avLst/>
          </a:prstGeom>
          <a:noFill/>
        </p:spPr>
        <p:txBody>
          <a:bodyPr wrap="square">
            <a:spAutoFit/>
          </a:bodyPr>
          <a:lstStyle/>
          <a:p>
            <a:pPr algn="l">
              <a:spcAft>
                <a:spcPts val="200"/>
              </a:spcAft>
              <a:defRPr sz="600" b="0">
                <a:solidFill>
                  <a:srgbClr val="666666"/>
                </a:solidFill>
                <a:latin typeface="Calibri"/>
              </a:defRPr>
            </a:pPr>
            <a:r>
              <a:t>Sources: arxiv.org/2512.04123 (Measuring Agents in Production, 2025), Gartner Agentic AI Forecast 2025</a:t>
            </a:r>
          </a:p>
        </p:txBody>
      </p:sp>
      <p:pic>
        <p:nvPicPr>
          <p:cNvPr id="34" name="Picture 33" descr="image.jpg"/>
          <p:cNvPicPr>
            <a:picLocks noChangeAspect="1"/>
          </p:cNvPicPr>
          <p:nvPr/>
        </p:nvPicPr>
        <p:blipFill>
          <a:blip r:embed="rId2"/>
          <a:stretch>
            <a:fillRect/>
          </a:stretch>
        </p:blipFill>
        <p:spPr>
          <a:xfrm>
            <a:off x="8076895" y="0"/>
            <a:ext cx="4114800" cy="6858000"/>
          </a:xfrm>
          <a:prstGeom prst="rect">
            <a:avLst/>
          </a:prstGeom>
        </p:spPr>
      </p:pic>
      <p:sp>
        <p:nvSpPr>
          <p:cNvPr id="35" name="TextBox 34"/>
          <p:cNvSpPr txBox="1"/>
          <p:nvPr/>
        </p:nvSpPr>
        <p:spPr>
          <a:xfrm>
            <a:off x="274320" y="6492240"/>
            <a:ext cx="4572000" cy="274320"/>
          </a:xfrm>
          <a:prstGeom prst="rect">
            <a:avLst/>
          </a:prstGeom>
          <a:noFill/>
        </p:spPr>
        <p:txBody>
          <a:bodyPr wrap="square">
            <a:spAutoFit/>
          </a:bodyPr>
          <a:lstStyle/>
          <a:p>
            <a:pPr algn="l">
              <a:spcAft>
                <a:spcPts val="200"/>
              </a:spcAft>
              <a:defRPr sz="700" b="0">
                <a:solidFill>
                  <a:srgbClr val="888888"/>
                </a:solidFill>
                <a:latin typeface="Calibri"/>
              </a:defRPr>
            </a:pPr>
            <a:r>
              <a:t>Agentic AI Use Cases Across Industries | Confidential</a:t>
            </a:r>
          </a:p>
        </p:txBody>
      </p:sp>
      <p:sp>
        <p:nvSpPr>
          <p:cNvPr id="36" name="TextBox 35"/>
          <p:cNvSpPr txBox="1"/>
          <p:nvPr/>
        </p:nvSpPr>
        <p:spPr>
          <a:xfrm>
            <a:off x="11094415" y="6492240"/>
            <a:ext cx="822960" cy="274320"/>
          </a:xfrm>
          <a:prstGeom prst="rect">
            <a:avLst/>
          </a:prstGeom>
          <a:noFill/>
        </p:spPr>
        <p:txBody>
          <a:bodyPr wrap="square">
            <a:spAutoFit/>
          </a:bodyPr>
          <a:lstStyle/>
          <a:p>
            <a:pPr algn="r">
              <a:spcAft>
                <a:spcPts val="200"/>
              </a:spcAft>
              <a:defRPr sz="700" b="0">
                <a:solidFill>
                  <a:srgbClr val="888888"/>
                </a:solidFill>
                <a:latin typeface="Calibri"/>
              </a:defRPr>
            </a:pPr>
            <a:r>
              <a:t>3 / 46</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8076895" cy="6858000"/>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82880"/>
            <a:ext cx="7436815" cy="457200"/>
          </a:xfrm>
          <a:prstGeom prst="rect">
            <a:avLst/>
          </a:prstGeom>
          <a:noFill/>
        </p:spPr>
        <p:txBody>
          <a:bodyPr wrap="square">
            <a:spAutoFit/>
          </a:bodyPr>
          <a:lstStyle/>
          <a:p>
            <a:pPr algn="l">
              <a:spcAft>
                <a:spcPts val="200"/>
              </a:spcAft>
              <a:defRPr sz="2200" b="1">
                <a:solidFill>
                  <a:srgbClr val="FFFFFF"/>
                </a:solidFill>
                <a:latin typeface="Calibri"/>
              </a:defRPr>
            </a:pPr>
            <a:r>
              <a:t>Agent Taxonomy — 6 Types of Enterprise AI Agents</a:t>
            </a:r>
          </a:p>
        </p:txBody>
      </p:sp>
      <p:sp>
        <p:nvSpPr>
          <p:cNvPr id="4" name="Rectangle 3"/>
          <p:cNvSpPr/>
          <p:nvPr/>
        </p:nvSpPr>
        <p:spPr>
          <a:xfrm>
            <a:off x="365760" y="640080"/>
            <a:ext cx="1828800" cy="27432"/>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365760" y="822960"/>
            <a:ext cx="3566160" cy="155448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896112"/>
            <a:ext cx="3291840" cy="228600"/>
          </a:xfrm>
          <a:prstGeom prst="rect">
            <a:avLst/>
          </a:prstGeom>
          <a:noFill/>
        </p:spPr>
        <p:txBody>
          <a:bodyPr wrap="square">
            <a:spAutoFit/>
          </a:bodyPr>
          <a:lstStyle/>
          <a:p>
            <a:pPr algn="l">
              <a:spcAft>
                <a:spcPts val="200"/>
              </a:spcAft>
              <a:defRPr sz="1000" b="1">
                <a:solidFill>
                  <a:srgbClr val="FFB800"/>
                </a:solidFill>
                <a:latin typeface="Calibri"/>
              </a:defRPr>
            </a:pPr>
            <a:r>
              <a:t>👤 Customer Agents</a:t>
            </a:r>
          </a:p>
        </p:txBody>
      </p:sp>
      <p:sp>
        <p:nvSpPr>
          <p:cNvPr id="7" name="TextBox 6"/>
          <p:cNvSpPr txBox="1"/>
          <p:nvPr/>
        </p:nvSpPr>
        <p:spPr>
          <a:xfrm>
            <a:off x="502920" y="1170432"/>
            <a:ext cx="3291840" cy="685800"/>
          </a:xfrm>
          <a:prstGeom prst="rect">
            <a:avLst/>
          </a:prstGeom>
          <a:noFill/>
        </p:spPr>
        <p:txBody>
          <a:bodyPr wrap="square">
            <a:spAutoFit/>
          </a:bodyPr>
          <a:lstStyle/>
          <a:p>
            <a:pPr algn="l">
              <a:spcAft>
                <a:spcPts val="200"/>
              </a:spcAft>
              <a:defRPr sz="700" b="0">
                <a:solidFill>
                  <a:srgbClr val="FFFFFF"/>
                </a:solidFill>
                <a:latin typeface="Calibri"/>
              </a:defRPr>
            </a:pPr>
            <a:r>
              <a:t>Engage customers across channels — virtual assistants, chatbots, personalized recommendations. Handle tier-1 queries autonomously with 40-60% deflection rates.</a:t>
            </a:r>
          </a:p>
        </p:txBody>
      </p:sp>
      <p:sp>
        <p:nvSpPr>
          <p:cNvPr id="8" name="TextBox 7"/>
          <p:cNvSpPr txBox="1"/>
          <p:nvPr/>
        </p:nvSpPr>
        <p:spPr>
          <a:xfrm>
            <a:off x="502920" y="1874520"/>
            <a:ext cx="3291840" cy="365760"/>
          </a:xfrm>
          <a:prstGeom prst="rect">
            <a:avLst/>
          </a:prstGeom>
          <a:noFill/>
        </p:spPr>
        <p:txBody>
          <a:bodyPr wrap="square">
            <a:spAutoFit/>
          </a:bodyPr>
          <a:lstStyle/>
          <a:p>
            <a:pPr algn="l">
              <a:spcAft>
                <a:spcPts val="200"/>
              </a:spcAft>
              <a:defRPr sz="650" b="0">
                <a:solidFill>
                  <a:srgbClr val="00C9A7"/>
                </a:solidFill>
                <a:latin typeface="Calibri"/>
              </a:defRPr>
            </a:pPr>
            <a:r>
              <a:t>Examples: Wells Fargo, Allianz, Mercedes-Benz, Discover Financial</a:t>
            </a:r>
          </a:p>
        </p:txBody>
      </p:sp>
      <p:sp>
        <p:nvSpPr>
          <p:cNvPr id="9" name="Rectangle 8"/>
          <p:cNvSpPr/>
          <p:nvPr/>
        </p:nvSpPr>
        <p:spPr>
          <a:xfrm>
            <a:off x="4114799" y="822960"/>
            <a:ext cx="3566160" cy="155448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251959" y="896112"/>
            <a:ext cx="3291840" cy="228600"/>
          </a:xfrm>
          <a:prstGeom prst="rect">
            <a:avLst/>
          </a:prstGeom>
          <a:noFill/>
        </p:spPr>
        <p:txBody>
          <a:bodyPr wrap="square">
            <a:spAutoFit/>
          </a:bodyPr>
          <a:lstStyle/>
          <a:p>
            <a:pPr algn="l">
              <a:spcAft>
                <a:spcPts val="200"/>
              </a:spcAft>
              <a:defRPr sz="1000" b="1">
                <a:solidFill>
                  <a:srgbClr val="FFB800"/>
                </a:solidFill>
                <a:latin typeface="Calibri"/>
              </a:defRPr>
            </a:pPr>
            <a:r>
              <a:t>💼 Employee Agents</a:t>
            </a:r>
          </a:p>
        </p:txBody>
      </p:sp>
      <p:sp>
        <p:nvSpPr>
          <p:cNvPr id="11" name="TextBox 10"/>
          <p:cNvSpPr txBox="1"/>
          <p:nvPr/>
        </p:nvSpPr>
        <p:spPr>
          <a:xfrm>
            <a:off x="4251959" y="1170432"/>
            <a:ext cx="3291840" cy="685800"/>
          </a:xfrm>
          <a:prstGeom prst="rect">
            <a:avLst/>
          </a:prstGeom>
          <a:noFill/>
        </p:spPr>
        <p:txBody>
          <a:bodyPr wrap="square">
            <a:spAutoFit/>
          </a:bodyPr>
          <a:lstStyle/>
          <a:p>
            <a:pPr algn="l">
              <a:spcAft>
                <a:spcPts val="200"/>
              </a:spcAft>
              <a:defRPr sz="700" b="0">
                <a:solidFill>
                  <a:srgbClr val="FFFFFF"/>
                </a:solidFill>
                <a:latin typeface="Calibri"/>
              </a:defRPr>
            </a:pPr>
            <a:r>
              <a:t>Augment workforce productivity — HR automation, knowledge search, document processing, training. Enable 2.5x capacity per employee.</a:t>
            </a:r>
          </a:p>
        </p:txBody>
      </p:sp>
      <p:sp>
        <p:nvSpPr>
          <p:cNvPr id="12" name="TextBox 11"/>
          <p:cNvSpPr txBox="1"/>
          <p:nvPr/>
        </p:nvSpPr>
        <p:spPr>
          <a:xfrm>
            <a:off x="4251959" y="1874520"/>
            <a:ext cx="3291840" cy="365760"/>
          </a:xfrm>
          <a:prstGeom prst="rect">
            <a:avLst/>
          </a:prstGeom>
          <a:noFill/>
        </p:spPr>
        <p:txBody>
          <a:bodyPr wrap="square">
            <a:spAutoFit/>
          </a:bodyPr>
          <a:lstStyle/>
          <a:p>
            <a:pPr algn="l">
              <a:spcAft>
                <a:spcPts val="200"/>
              </a:spcAft>
              <a:defRPr sz="650" b="0">
                <a:solidFill>
                  <a:srgbClr val="00C9A7"/>
                </a:solidFill>
                <a:latin typeface="Calibri"/>
              </a:defRPr>
            </a:pPr>
            <a:r>
              <a:t>Examples: ServiceNow (90% IT tickets), Cognizant (350K users), UKG Bryte</a:t>
            </a:r>
          </a:p>
        </p:txBody>
      </p:sp>
      <p:sp>
        <p:nvSpPr>
          <p:cNvPr id="13" name="Rectangle 12"/>
          <p:cNvSpPr/>
          <p:nvPr/>
        </p:nvSpPr>
        <p:spPr>
          <a:xfrm>
            <a:off x="365760" y="2560320"/>
            <a:ext cx="3566160" cy="155448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02920" y="2633472"/>
            <a:ext cx="3291840" cy="228600"/>
          </a:xfrm>
          <a:prstGeom prst="rect">
            <a:avLst/>
          </a:prstGeom>
          <a:noFill/>
        </p:spPr>
        <p:txBody>
          <a:bodyPr wrap="square">
            <a:spAutoFit/>
          </a:bodyPr>
          <a:lstStyle/>
          <a:p>
            <a:pPr algn="l">
              <a:spcAft>
                <a:spcPts val="200"/>
              </a:spcAft>
              <a:defRPr sz="1000" b="1">
                <a:solidFill>
                  <a:srgbClr val="FFB800"/>
                </a:solidFill>
                <a:latin typeface="Calibri"/>
              </a:defRPr>
            </a:pPr>
            <a:r>
              <a:t>💻 Code Agents</a:t>
            </a:r>
          </a:p>
        </p:txBody>
      </p:sp>
      <p:sp>
        <p:nvSpPr>
          <p:cNvPr id="15" name="TextBox 14"/>
          <p:cNvSpPr txBox="1"/>
          <p:nvPr/>
        </p:nvSpPr>
        <p:spPr>
          <a:xfrm>
            <a:off x="502920" y="2907792"/>
            <a:ext cx="3291840" cy="685800"/>
          </a:xfrm>
          <a:prstGeom prst="rect">
            <a:avLst/>
          </a:prstGeom>
          <a:noFill/>
        </p:spPr>
        <p:txBody>
          <a:bodyPr wrap="square">
            <a:spAutoFit/>
          </a:bodyPr>
          <a:lstStyle/>
          <a:p>
            <a:pPr algn="l">
              <a:spcAft>
                <a:spcPts val="200"/>
              </a:spcAft>
              <a:defRPr sz="700" b="0">
                <a:solidFill>
                  <a:srgbClr val="FFFFFF"/>
                </a:solidFill>
                <a:latin typeface="Calibri"/>
              </a:defRPr>
            </a:pPr>
            <a:r>
              <a:t>Accelerate software development — code generation, review, testing, ticket-to-code automation. 30-50% developer productivity gains.</a:t>
            </a:r>
          </a:p>
        </p:txBody>
      </p:sp>
      <p:sp>
        <p:nvSpPr>
          <p:cNvPr id="16" name="TextBox 15"/>
          <p:cNvSpPr txBox="1"/>
          <p:nvPr/>
        </p:nvSpPr>
        <p:spPr>
          <a:xfrm>
            <a:off x="502920" y="3611880"/>
            <a:ext cx="3291840" cy="365760"/>
          </a:xfrm>
          <a:prstGeom prst="rect">
            <a:avLst/>
          </a:prstGeom>
          <a:noFill/>
        </p:spPr>
        <p:txBody>
          <a:bodyPr wrap="square">
            <a:spAutoFit/>
          </a:bodyPr>
          <a:lstStyle/>
          <a:p>
            <a:pPr algn="l">
              <a:spcAft>
                <a:spcPts val="200"/>
              </a:spcAft>
              <a:defRPr sz="650" b="0">
                <a:solidFill>
                  <a:srgbClr val="00C9A7"/>
                </a:solidFill>
                <a:latin typeface="Calibri"/>
              </a:defRPr>
            </a:pPr>
            <a:r>
              <a:t>Examples: Regnology, Wayfair (55% faster), Turing, Broadcom</a:t>
            </a:r>
          </a:p>
        </p:txBody>
      </p:sp>
      <p:sp>
        <p:nvSpPr>
          <p:cNvPr id="17" name="Rectangle 16"/>
          <p:cNvSpPr/>
          <p:nvPr/>
        </p:nvSpPr>
        <p:spPr>
          <a:xfrm>
            <a:off x="4114799" y="2560320"/>
            <a:ext cx="3566160" cy="155448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251959" y="2633472"/>
            <a:ext cx="3291840" cy="228600"/>
          </a:xfrm>
          <a:prstGeom prst="rect">
            <a:avLst/>
          </a:prstGeom>
          <a:noFill/>
        </p:spPr>
        <p:txBody>
          <a:bodyPr wrap="square">
            <a:spAutoFit/>
          </a:bodyPr>
          <a:lstStyle/>
          <a:p>
            <a:pPr algn="l">
              <a:spcAft>
                <a:spcPts val="200"/>
              </a:spcAft>
              <a:defRPr sz="1000" b="1">
                <a:solidFill>
                  <a:srgbClr val="FFB800"/>
                </a:solidFill>
                <a:latin typeface="Calibri"/>
              </a:defRPr>
            </a:pPr>
            <a:r>
              <a:t>🎨 Creative Agents</a:t>
            </a:r>
          </a:p>
        </p:txBody>
      </p:sp>
      <p:sp>
        <p:nvSpPr>
          <p:cNvPr id="19" name="TextBox 18"/>
          <p:cNvSpPr txBox="1"/>
          <p:nvPr/>
        </p:nvSpPr>
        <p:spPr>
          <a:xfrm>
            <a:off x="4251959" y="2907792"/>
            <a:ext cx="3291840" cy="685800"/>
          </a:xfrm>
          <a:prstGeom prst="rect">
            <a:avLst/>
          </a:prstGeom>
          <a:noFill/>
        </p:spPr>
        <p:txBody>
          <a:bodyPr wrap="square">
            <a:spAutoFit/>
          </a:bodyPr>
          <a:lstStyle/>
          <a:p>
            <a:pPr algn="l">
              <a:spcAft>
                <a:spcPts val="200"/>
              </a:spcAft>
              <a:defRPr sz="700" b="0">
                <a:solidFill>
                  <a:srgbClr val="FFFFFF"/>
                </a:solidFill>
                <a:latin typeface="Calibri"/>
              </a:defRPr>
            </a:pPr>
            <a:r>
              <a:t>Generate marketing content at scale — ad copy, images, video, personalized campaigns. Reduce campaign creation from weeks to hours.</a:t>
            </a:r>
          </a:p>
        </p:txBody>
      </p:sp>
      <p:sp>
        <p:nvSpPr>
          <p:cNvPr id="20" name="TextBox 19"/>
          <p:cNvSpPr txBox="1"/>
          <p:nvPr/>
        </p:nvSpPr>
        <p:spPr>
          <a:xfrm>
            <a:off x="4251959" y="3611880"/>
            <a:ext cx="3291840" cy="365760"/>
          </a:xfrm>
          <a:prstGeom prst="rect">
            <a:avLst/>
          </a:prstGeom>
          <a:noFill/>
        </p:spPr>
        <p:txBody>
          <a:bodyPr wrap="square">
            <a:spAutoFit/>
          </a:bodyPr>
          <a:lstStyle/>
          <a:p>
            <a:pPr algn="l">
              <a:spcAft>
                <a:spcPts val="200"/>
              </a:spcAft>
              <a:defRPr sz="650" b="0">
                <a:solidFill>
                  <a:srgbClr val="00C9A7"/>
                </a:solidFill>
                <a:latin typeface="Calibri"/>
              </a:defRPr>
            </a:pPr>
            <a:r>
              <a:t>Examples: Kraft Heinz (8 weeks → 8 hours), WPP, Adobe, Canva</a:t>
            </a:r>
          </a:p>
        </p:txBody>
      </p:sp>
      <p:sp>
        <p:nvSpPr>
          <p:cNvPr id="21" name="Rectangle 20"/>
          <p:cNvSpPr/>
          <p:nvPr/>
        </p:nvSpPr>
        <p:spPr>
          <a:xfrm>
            <a:off x="365760" y="4297680"/>
            <a:ext cx="3566160" cy="155448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02920" y="4370832"/>
            <a:ext cx="3291840" cy="228600"/>
          </a:xfrm>
          <a:prstGeom prst="rect">
            <a:avLst/>
          </a:prstGeom>
          <a:noFill/>
        </p:spPr>
        <p:txBody>
          <a:bodyPr wrap="square">
            <a:spAutoFit/>
          </a:bodyPr>
          <a:lstStyle/>
          <a:p>
            <a:pPr algn="l">
              <a:spcAft>
                <a:spcPts val="200"/>
              </a:spcAft>
              <a:defRPr sz="1000" b="1">
                <a:solidFill>
                  <a:srgbClr val="FFB800"/>
                </a:solidFill>
                <a:latin typeface="Calibri"/>
              </a:defRPr>
            </a:pPr>
            <a:r>
              <a:t>📊 Data Agents</a:t>
            </a:r>
          </a:p>
        </p:txBody>
      </p:sp>
      <p:sp>
        <p:nvSpPr>
          <p:cNvPr id="23" name="TextBox 22"/>
          <p:cNvSpPr txBox="1"/>
          <p:nvPr/>
        </p:nvSpPr>
        <p:spPr>
          <a:xfrm>
            <a:off x="502920" y="4645152"/>
            <a:ext cx="3291840" cy="685800"/>
          </a:xfrm>
          <a:prstGeom prst="rect">
            <a:avLst/>
          </a:prstGeom>
          <a:noFill/>
        </p:spPr>
        <p:txBody>
          <a:bodyPr wrap="square">
            <a:spAutoFit/>
          </a:bodyPr>
          <a:lstStyle/>
          <a:p>
            <a:pPr algn="l">
              <a:spcAft>
                <a:spcPts val="200"/>
              </a:spcAft>
              <a:defRPr sz="700" b="0">
                <a:solidFill>
                  <a:srgbClr val="FFFFFF"/>
                </a:solidFill>
                <a:latin typeface="Calibri"/>
              </a:defRPr>
            </a:pPr>
            <a:r>
              <a:t>Analyze and synthesize enterprise data — digital twins, supply chain intelligence, financial research, root cause analysis.</a:t>
            </a:r>
          </a:p>
        </p:txBody>
      </p:sp>
      <p:sp>
        <p:nvSpPr>
          <p:cNvPr id="24" name="TextBox 23"/>
          <p:cNvSpPr txBox="1"/>
          <p:nvPr/>
        </p:nvSpPr>
        <p:spPr>
          <a:xfrm>
            <a:off x="502920" y="5349240"/>
            <a:ext cx="3291840" cy="365760"/>
          </a:xfrm>
          <a:prstGeom prst="rect">
            <a:avLst/>
          </a:prstGeom>
          <a:noFill/>
        </p:spPr>
        <p:txBody>
          <a:bodyPr wrap="square">
            <a:spAutoFit/>
          </a:bodyPr>
          <a:lstStyle/>
          <a:p>
            <a:pPr algn="l">
              <a:spcAft>
                <a:spcPts val="200"/>
              </a:spcAft>
              <a:defRPr sz="650" b="0">
                <a:solidFill>
                  <a:srgbClr val="00C9A7"/>
                </a:solidFill>
                <a:latin typeface="Calibri"/>
              </a:defRPr>
            </a:pPr>
            <a:r>
              <a:t>Examples: BMW (digital twins), Schroders, Apollo Tyres, Geotab</a:t>
            </a:r>
          </a:p>
        </p:txBody>
      </p:sp>
      <p:sp>
        <p:nvSpPr>
          <p:cNvPr id="25" name="Rectangle 24"/>
          <p:cNvSpPr/>
          <p:nvPr/>
        </p:nvSpPr>
        <p:spPr>
          <a:xfrm>
            <a:off x="4114799" y="4297680"/>
            <a:ext cx="3566160" cy="155448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251959" y="4370832"/>
            <a:ext cx="3291840" cy="228600"/>
          </a:xfrm>
          <a:prstGeom prst="rect">
            <a:avLst/>
          </a:prstGeom>
          <a:noFill/>
        </p:spPr>
        <p:txBody>
          <a:bodyPr wrap="square">
            <a:spAutoFit/>
          </a:bodyPr>
          <a:lstStyle/>
          <a:p>
            <a:pPr algn="l">
              <a:spcAft>
                <a:spcPts val="200"/>
              </a:spcAft>
              <a:defRPr sz="1000" b="1">
                <a:solidFill>
                  <a:srgbClr val="FFB800"/>
                </a:solidFill>
                <a:latin typeface="Calibri"/>
              </a:defRPr>
            </a:pPr>
            <a:r>
              <a:t>🔒 Security Agents</a:t>
            </a:r>
          </a:p>
        </p:txBody>
      </p:sp>
      <p:sp>
        <p:nvSpPr>
          <p:cNvPr id="27" name="TextBox 26"/>
          <p:cNvSpPr txBox="1"/>
          <p:nvPr/>
        </p:nvSpPr>
        <p:spPr>
          <a:xfrm>
            <a:off x="4251959" y="4645152"/>
            <a:ext cx="3291840" cy="685800"/>
          </a:xfrm>
          <a:prstGeom prst="rect">
            <a:avLst/>
          </a:prstGeom>
          <a:noFill/>
        </p:spPr>
        <p:txBody>
          <a:bodyPr wrap="square">
            <a:spAutoFit/>
          </a:bodyPr>
          <a:lstStyle/>
          <a:p>
            <a:pPr algn="l">
              <a:spcAft>
                <a:spcPts val="200"/>
              </a:spcAft>
              <a:defRPr sz="700" b="0">
                <a:solidFill>
                  <a:srgbClr val="FFFFFF"/>
                </a:solidFill>
                <a:latin typeface="Calibri"/>
              </a:defRPr>
            </a:pPr>
            <a:r>
              <a:t>Detect threats, enforce compliance, manage incidents — automated triage, anomaly detection, regulatory monitoring, audit trails.</a:t>
            </a:r>
          </a:p>
        </p:txBody>
      </p:sp>
      <p:sp>
        <p:nvSpPr>
          <p:cNvPr id="28" name="TextBox 27"/>
          <p:cNvSpPr txBox="1"/>
          <p:nvPr/>
        </p:nvSpPr>
        <p:spPr>
          <a:xfrm>
            <a:off x="4251959" y="5349240"/>
            <a:ext cx="3291840" cy="365760"/>
          </a:xfrm>
          <a:prstGeom prst="rect">
            <a:avLst/>
          </a:prstGeom>
          <a:noFill/>
        </p:spPr>
        <p:txBody>
          <a:bodyPr wrap="square">
            <a:spAutoFit/>
          </a:bodyPr>
          <a:lstStyle/>
          <a:p>
            <a:pPr algn="l">
              <a:spcAft>
                <a:spcPts val="200"/>
              </a:spcAft>
              <a:defRPr sz="650" b="0">
                <a:solidFill>
                  <a:srgbClr val="00C9A7"/>
                </a:solidFill>
                <a:latin typeface="Calibri"/>
              </a:defRPr>
            </a:pPr>
            <a:r>
              <a:t>Examples: POLARIS (governed AI), ServiceNow Agent Command Center</a:t>
            </a:r>
          </a:p>
        </p:txBody>
      </p:sp>
      <p:sp>
        <p:nvSpPr>
          <p:cNvPr id="29" name="TextBox 28"/>
          <p:cNvSpPr txBox="1"/>
          <p:nvPr/>
        </p:nvSpPr>
        <p:spPr>
          <a:xfrm>
            <a:off x="365760" y="6035040"/>
            <a:ext cx="6400800" cy="274320"/>
          </a:xfrm>
          <a:prstGeom prst="rect">
            <a:avLst/>
          </a:prstGeom>
          <a:noFill/>
        </p:spPr>
        <p:txBody>
          <a:bodyPr wrap="square">
            <a:spAutoFit/>
          </a:bodyPr>
          <a:lstStyle/>
          <a:p>
            <a:pPr algn="l">
              <a:spcAft>
                <a:spcPts val="200"/>
              </a:spcAft>
              <a:defRPr sz="600" b="0">
                <a:solidFill>
                  <a:srgbClr val="666666"/>
                </a:solidFill>
                <a:latin typeface="Calibri"/>
              </a:defRPr>
            </a:pPr>
            <a:r>
              <a:t>Source: Google Cloud — 601 GenAI Agent Use Cases (Matt Renner, Brian Hall, 2024-2025)</a:t>
            </a:r>
          </a:p>
        </p:txBody>
      </p:sp>
      <p:pic>
        <p:nvPicPr>
          <p:cNvPr id="30" name="Picture 29" descr="image.jpg"/>
          <p:cNvPicPr>
            <a:picLocks noChangeAspect="1"/>
          </p:cNvPicPr>
          <p:nvPr/>
        </p:nvPicPr>
        <p:blipFill>
          <a:blip r:embed="rId2"/>
          <a:stretch>
            <a:fillRect/>
          </a:stretch>
        </p:blipFill>
        <p:spPr>
          <a:xfrm>
            <a:off x="8076895" y="0"/>
            <a:ext cx="4114800" cy="6858000"/>
          </a:xfrm>
          <a:prstGeom prst="rect">
            <a:avLst/>
          </a:prstGeom>
        </p:spPr>
      </p:pic>
      <p:sp>
        <p:nvSpPr>
          <p:cNvPr id="31" name="TextBox 30"/>
          <p:cNvSpPr txBox="1"/>
          <p:nvPr/>
        </p:nvSpPr>
        <p:spPr>
          <a:xfrm>
            <a:off x="274320" y="6492240"/>
            <a:ext cx="4572000" cy="274320"/>
          </a:xfrm>
          <a:prstGeom prst="rect">
            <a:avLst/>
          </a:prstGeom>
          <a:noFill/>
        </p:spPr>
        <p:txBody>
          <a:bodyPr wrap="square">
            <a:spAutoFit/>
          </a:bodyPr>
          <a:lstStyle/>
          <a:p>
            <a:pPr algn="l">
              <a:spcAft>
                <a:spcPts val="200"/>
              </a:spcAft>
              <a:defRPr sz="700" b="0">
                <a:solidFill>
                  <a:srgbClr val="888888"/>
                </a:solidFill>
                <a:latin typeface="Calibri"/>
              </a:defRPr>
            </a:pPr>
            <a:r>
              <a:t>Agentic AI Use Cases Across Industries | Confidential</a:t>
            </a:r>
          </a:p>
        </p:txBody>
      </p:sp>
      <p:sp>
        <p:nvSpPr>
          <p:cNvPr id="32" name="TextBox 31"/>
          <p:cNvSpPr txBox="1"/>
          <p:nvPr/>
        </p:nvSpPr>
        <p:spPr>
          <a:xfrm>
            <a:off x="11094415" y="6492240"/>
            <a:ext cx="822960" cy="274320"/>
          </a:xfrm>
          <a:prstGeom prst="rect">
            <a:avLst/>
          </a:prstGeom>
          <a:noFill/>
        </p:spPr>
        <p:txBody>
          <a:bodyPr wrap="square">
            <a:spAutoFit/>
          </a:bodyPr>
          <a:lstStyle/>
          <a:p>
            <a:pPr algn="r">
              <a:spcAft>
                <a:spcPts val="200"/>
              </a:spcAft>
              <a:defRPr sz="700" b="0">
                <a:solidFill>
                  <a:srgbClr val="888888"/>
                </a:solidFill>
                <a:latin typeface="Calibri"/>
              </a:defRPr>
            </a:pPr>
            <a:r>
              <a:t>4 / 46</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8076895" cy="6858000"/>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82880"/>
            <a:ext cx="7436815" cy="457200"/>
          </a:xfrm>
          <a:prstGeom prst="rect">
            <a:avLst/>
          </a:prstGeom>
          <a:noFill/>
        </p:spPr>
        <p:txBody>
          <a:bodyPr wrap="square">
            <a:spAutoFit/>
          </a:bodyPr>
          <a:lstStyle/>
          <a:p>
            <a:pPr algn="l">
              <a:spcAft>
                <a:spcPts val="200"/>
              </a:spcAft>
              <a:defRPr sz="2400" b="1">
                <a:solidFill>
                  <a:srgbClr val="FFFFFF"/>
                </a:solidFill>
                <a:latin typeface="Calibri"/>
              </a:defRPr>
            </a:pPr>
            <a:r>
              <a:t>Core Capabilities &amp; AI Offerings</a:t>
            </a:r>
          </a:p>
        </p:txBody>
      </p:sp>
      <p:sp>
        <p:nvSpPr>
          <p:cNvPr id="4" name="Rectangle 3"/>
          <p:cNvSpPr/>
          <p:nvPr/>
        </p:nvSpPr>
        <p:spPr>
          <a:xfrm>
            <a:off x="365760" y="640080"/>
            <a:ext cx="1828800" cy="27432"/>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777240"/>
            <a:ext cx="3200400" cy="201168"/>
          </a:xfrm>
          <a:prstGeom prst="rect">
            <a:avLst/>
          </a:prstGeom>
          <a:noFill/>
        </p:spPr>
        <p:txBody>
          <a:bodyPr wrap="square">
            <a:spAutoFit/>
          </a:bodyPr>
          <a:lstStyle/>
          <a:p>
            <a:pPr algn="l">
              <a:spcAft>
                <a:spcPts val="200"/>
              </a:spcAft>
              <a:defRPr sz="900" b="1">
                <a:solidFill>
                  <a:srgbClr val="0A1628"/>
                </a:solidFill>
                <a:latin typeface="Calibri"/>
              </a:defRPr>
            </a:pPr>
            <a:r>
              <a:t>SOLUTION PORTFOLIO</a:t>
            </a:r>
          </a:p>
        </p:txBody>
      </p:sp>
      <p:sp>
        <p:nvSpPr>
          <p:cNvPr id="6" name="TextBox 5"/>
          <p:cNvSpPr txBox="1"/>
          <p:nvPr/>
        </p:nvSpPr>
        <p:spPr>
          <a:xfrm>
            <a:off x="365760" y="1005840"/>
            <a:ext cx="7132320" cy="201168"/>
          </a:xfrm>
          <a:prstGeom prst="rect">
            <a:avLst/>
          </a:prstGeom>
          <a:noFill/>
        </p:spPr>
        <p:txBody>
          <a:bodyPr wrap="square">
            <a:spAutoFit/>
          </a:bodyPr>
          <a:lstStyle/>
          <a:p>
            <a:pPr algn="l">
              <a:spcAft>
                <a:spcPts val="200"/>
              </a:spcAft>
              <a:defRPr sz="850" b="1">
                <a:solidFill>
                  <a:srgbClr val="0A1628"/>
                </a:solidFill>
                <a:latin typeface="Calibri"/>
              </a:defRPr>
            </a:pPr>
            <a:r>
              <a:t>▶ Agentic Process Automation</a:t>
            </a:r>
          </a:p>
        </p:txBody>
      </p:sp>
      <p:sp>
        <p:nvSpPr>
          <p:cNvPr id="7" name="TextBox 6"/>
          <p:cNvSpPr txBox="1"/>
          <p:nvPr/>
        </p:nvSpPr>
        <p:spPr>
          <a:xfrm>
            <a:off x="548640" y="1207008"/>
            <a:ext cx="6949440" cy="411480"/>
          </a:xfrm>
          <a:prstGeom prst="rect">
            <a:avLst/>
          </a:prstGeom>
          <a:noFill/>
        </p:spPr>
        <p:txBody>
          <a:bodyPr wrap="square">
            <a:spAutoFit/>
          </a:bodyPr>
          <a:lstStyle/>
          <a:p>
            <a:pPr algn="l">
              <a:spcAft>
                <a:spcPts val="200"/>
              </a:spcAft>
              <a:defRPr sz="700" b="0">
                <a:solidFill>
                  <a:srgbClr val="0A1628"/>
                </a:solidFill>
                <a:latin typeface="Calibri"/>
              </a:defRPr>
            </a:pPr>
            <a:r>
              <a:t>Multi-agent pipelines for claims, underwriting, document processing. Structured workflows with human-in-the-loop gates. 70-80% autonomous resolution rates.</a:t>
            </a:r>
          </a:p>
        </p:txBody>
      </p:sp>
      <p:sp>
        <p:nvSpPr>
          <p:cNvPr id="8" name="TextBox 7"/>
          <p:cNvSpPr txBox="1"/>
          <p:nvPr/>
        </p:nvSpPr>
        <p:spPr>
          <a:xfrm>
            <a:off x="365760" y="1664208"/>
            <a:ext cx="7132320" cy="201168"/>
          </a:xfrm>
          <a:prstGeom prst="rect">
            <a:avLst/>
          </a:prstGeom>
          <a:noFill/>
        </p:spPr>
        <p:txBody>
          <a:bodyPr wrap="square">
            <a:spAutoFit/>
          </a:bodyPr>
          <a:lstStyle/>
          <a:p>
            <a:pPr algn="l">
              <a:spcAft>
                <a:spcPts val="200"/>
              </a:spcAft>
              <a:defRPr sz="850" b="1">
                <a:solidFill>
                  <a:srgbClr val="0A1628"/>
                </a:solidFill>
                <a:latin typeface="Calibri"/>
              </a:defRPr>
            </a:pPr>
            <a:r>
              <a:t>▶ Intelligent Control Towers</a:t>
            </a:r>
          </a:p>
        </p:txBody>
      </p:sp>
      <p:sp>
        <p:nvSpPr>
          <p:cNvPr id="9" name="TextBox 8"/>
          <p:cNvSpPr txBox="1"/>
          <p:nvPr/>
        </p:nvSpPr>
        <p:spPr>
          <a:xfrm>
            <a:off x="548640" y="1865376"/>
            <a:ext cx="6949440" cy="411480"/>
          </a:xfrm>
          <a:prstGeom prst="rect">
            <a:avLst/>
          </a:prstGeom>
          <a:noFill/>
        </p:spPr>
        <p:txBody>
          <a:bodyPr wrap="square">
            <a:spAutoFit/>
          </a:bodyPr>
          <a:lstStyle/>
          <a:p>
            <a:pPr algn="l">
              <a:spcAft>
                <a:spcPts val="200"/>
              </a:spcAft>
              <a:defRPr sz="700" b="0">
                <a:solidFill>
                  <a:srgbClr val="0A1628"/>
                </a:solidFill>
                <a:latin typeface="Calibri"/>
              </a:defRPr>
            </a:pPr>
            <a:r>
              <a:t>Real-time monitoring across supply chain, manufacturing, logistics. Predictive exception detection + autonomous resolution. RAG over historical data for pattern matching.</a:t>
            </a:r>
          </a:p>
        </p:txBody>
      </p:sp>
      <p:sp>
        <p:nvSpPr>
          <p:cNvPr id="10" name="TextBox 9"/>
          <p:cNvSpPr txBox="1"/>
          <p:nvPr/>
        </p:nvSpPr>
        <p:spPr>
          <a:xfrm>
            <a:off x="365760" y="2322576"/>
            <a:ext cx="7132320" cy="201168"/>
          </a:xfrm>
          <a:prstGeom prst="rect">
            <a:avLst/>
          </a:prstGeom>
          <a:noFill/>
        </p:spPr>
        <p:txBody>
          <a:bodyPr wrap="square">
            <a:spAutoFit/>
          </a:bodyPr>
          <a:lstStyle/>
          <a:p>
            <a:pPr algn="l">
              <a:spcAft>
                <a:spcPts val="200"/>
              </a:spcAft>
              <a:defRPr sz="850" b="1">
                <a:solidFill>
                  <a:srgbClr val="0A1628"/>
                </a:solidFill>
                <a:latin typeface="Calibri"/>
              </a:defRPr>
            </a:pPr>
            <a:r>
              <a:t>▶ Enterprise AI Agent Platforms</a:t>
            </a:r>
          </a:p>
        </p:txBody>
      </p:sp>
      <p:sp>
        <p:nvSpPr>
          <p:cNvPr id="11" name="TextBox 10"/>
          <p:cNvSpPr txBox="1"/>
          <p:nvPr/>
        </p:nvSpPr>
        <p:spPr>
          <a:xfrm>
            <a:off x="548640" y="2523744"/>
            <a:ext cx="6949440" cy="411480"/>
          </a:xfrm>
          <a:prstGeom prst="rect">
            <a:avLst/>
          </a:prstGeom>
          <a:noFill/>
        </p:spPr>
        <p:txBody>
          <a:bodyPr wrap="square">
            <a:spAutoFit/>
          </a:bodyPr>
          <a:lstStyle/>
          <a:p>
            <a:pPr algn="l">
              <a:spcAft>
                <a:spcPts val="200"/>
              </a:spcAft>
              <a:defRPr sz="700" b="0">
                <a:solidFill>
                  <a:srgbClr val="0A1628"/>
                </a:solidFill>
                <a:latin typeface="Calibri"/>
              </a:defRPr>
            </a:pPr>
            <a:r>
              <a:t>Unified digital front door for employee self-service. Multi-agent orchestration (neuro-san, LangGraph, Bedrock). Scale to 350K+ users on single platform.</a:t>
            </a:r>
          </a:p>
        </p:txBody>
      </p:sp>
      <p:sp>
        <p:nvSpPr>
          <p:cNvPr id="12" name="TextBox 11"/>
          <p:cNvSpPr txBox="1"/>
          <p:nvPr/>
        </p:nvSpPr>
        <p:spPr>
          <a:xfrm>
            <a:off x="365760" y="2980944"/>
            <a:ext cx="7132320" cy="201168"/>
          </a:xfrm>
          <a:prstGeom prst="rect">
            <a:avLst/>
          </a:prstGeom>
          <a:noFill/>
        </p:spPr>
        <p:txBody>
          <a:bodyPr wrap="square">
            <a:spAutoFit/>
          </a:bodyPr>
          <a:lstStyle/>
          <a:p>
            <a:pPr algn="l">
              <a:spcAft>
                <a:spcPts val="200"/>
              </a:spcAft>
              <a:defRPr sz="850" b="1">
                <a:solidFill>
                  <a:srgbClr val="0A1628"/>
                </a:solidFill>
                <a:latin typeface="Calibri"/>
              </a:defRPr>
            </a:pPr>
            <a:r>
              <a:t>▶ AI-Powered Code &amp; Dev Agents</a:t>
            </a:r>
          </a:p>
        </p:txBody>
      </p:sp>
      <p:sp>
        <p:nvSpPr>
          <p:cNvPr id="13" name="TextBox 12"/>
          <p:cNvSpPr txBox="1"/>
          <p:nvPr/>
        </p:nvSpPr>
        <p:spPr>
          <a:xfrm>
            <a:off x="548640" y="3182112"/>
            <a:ext cx="6949440" cy="411480"/>
          </a:xfrm>
          <a:prstGeom prst="rect">
            <a:avLst/>
          </a:prstGeom>
          <a:noFill/>
        </p:spPr>
        <p:txBody>
          <a:bodyPr wrap="square">
            <a:spAutoFit/>
          </a:bodyPr>
          <a:lstStyle/>
          <a:p>
            <a:pPr algn="l">
              <a:spcAft>
                <a:spcPts val="200"/>
              </a:spcAft>
              <a:defRPr sz="700" b="0">
                <a:solidFill>
                  <a:srgbClr val="0A1628"/>
                </a:solidFill>
                <a:latin typeface="Calibri"/>
              </a:defRPr>
            </a:pPr>
            <a:r>
              <a:t>Ticket-to-code automation, code review, test generation. Codebase-aware agents customized to org standards. 30-50% developer productivity gains.</a:t>
            </a:r>
          </a:p>
        </p:txBody>
      </p:sp>
      <p:sp>
        <p:nvSpPr>
          <p:cNvPr id="14" name="TextBox 13"/>
          <p:cNvSpPr txBox="1"/>
          <p:nvPr/>
        </p:nvSpPr>
        <p:spPr>
          <a:xfrm>
            <a:off x="365760" y="3639312"/>
            <a:ext cx="7132320" cy="201168"/>
          </a:xfrm>
          <a:prstGeom prst="rect">
            <a:avLst/>
          </a:prstGeom>
          <a:noFill/>
        </p:spPr>
        <p:txBody>
          <a:bodyPr wrap="square">
            <a:spAutoFit/>
          </a:bodyPr>
          <a:lstStyle/>
          <a:p>
            <a:pPr algn="l">
              <a:spcAft>
                <a:spcPts val="200"/>
              </a:spcAft>
              <a:defRPr sz="850" b="1">
                <a:solidFill>
                  <a:srgbClr val="0A1628"/>
                </a:solidFill>
                <a:latin typeface="Calibri"/>
              </a:defRPr>
            </a:pPr>
            <a:r>
              <a:t>▶ Clinical &amp; Scientific AI Agents</a:t>
            </a:r>
          </a:p>
        </p:txBody>
      </p:sp>
      <p:sp>
        <p:nvSpPr>
          <p:cNvPr id="15" name="TextBox 14"/>
          <p:cNvSpPr txBox="1"/>
          <p:nvPr/>
        </p:nvSpPr>
        <p:spPr>
          <a:xfrm>
            <a:off x="548640" y="3840480"/>
            <a:ext cx="6949440" cy="411480"/>
          </a:xfrm>
          <a:prstGeom prst="rect">
            <a:avLst/>
          </a:prstGeom>
          <a:noFill/>
        </p:spPr>
        <p:txBody>
          <a:bodyPr wrap="square">
            <a:spAutoFit/>
          </a:bodyPr>
          <a:lstStyle/>
          <a:p>
            <a:pPr algn="l">
              <a:spcAft>
                <a:spcPts val="200"/>
              </a:spcAft>
              <a:defRPr sz="700" b="0">
                <a:solidFill>
                  <a:srgbClr val="0A1628"/>
                </a:solidFill>
                <a:latin typeface="Calibri"/>
              </a:defRPr>
            </a:pPr>
            <a:r>
              <a:t>Multi-step therapeutic reasoning with 211+ biomedical tools. Drug discovery DMTA cycle automation. Autonomous clinical note analysis approaching expert performance.</a:t>
            </a:r>
          </a:p>
        </p:txBody>
      </p:sp>
      <p:sp>
        <p:nvSpPr>
          <p:cNvPr id="16" name="Rectangle 15"/>
          <p:cNvSpPr/>
          <p:nvPr/>
        </p:nvSpPr>
        <p:spPr>
          <a:xfrm>
            <a:off x="274320" y="4434840"/>
            <a:ext cx="7619695" cy="77724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65760" y="4471416"/>
            <a:ext cx="2743200" cy="164592"/>
          </a:xfrm>
          <a:prstGeom prst="rect">
            <a:avLst/>
          </a:prstGeom>
          <a:noFill/>
        </p:spPr>
        <p:txBody>
          <a:bodyPr wrap="square">
            <a:spAutoFit/>
          </a:bodyPr>
          <a:lstStyle/>
          <a:p>
            <a:pPr algn="l">
              <a:spcAft>
                <a:spcPts val="200"/>
              </a:spcAft>
              <a:defRPr sz="750" b="1">
                <a:solidFill>
                  <a:srgbClr val="00C9A7"/>
                </a:solidFill>
                <a:latin typeface="Calibri"/>
              </a:defRPr>
            </a:pPr>
            <a:r>
              <a:t>TECHNOLOGY PARTNERSHIPS &amp; PLATFORMS</a:t>
            </a:r>
          </a:p>
        </p:txBody>
      </p:sp>
      <p:sp>
        <p:nvSpPr>
          <p:cNvPr id="18" name="TextBox 17"/>
          <p:cNvSpPr txBox="1"/>
          <p:nvPr/>
        </p:nvSpPr>
        <p:spPr>
          <a:xfrm>
            <a:off x="365760" y="4663440"/>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Cloud &amp; AI</a:t>
            </a:r>
          </a:p>
        </p:txBody>
      </p:sp>
      <p:sp>
        <p:nvSpPr>
          <p:cNvPr id="19" name="TextBox 18"/>
          <p:cNvSpPr txBox="1"/>
          <p:nvPr/>
        </p:nvSpPr>
        <p:spPr>
          <a:xfrm>
            <a:off x="365760" y="4846320"/>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Google Vertex AI</a:t>
            </a:r>
            <a:br/>
            <a:r>
              <a:t>AWS Bedrock</a:t>
            </a:r>
            <a:br/>
            <a:r>
              <a:t>Azure OpenAI</a:t>
            </a:r>
          </a:p>
        </p:txBody>
      </p:sp>
      <p:sp>
        <p:nvSpPr>
          <p:cNvPr id="20" name="TextBox 19"/>
          <p:cNvSpPr txBox="1"/>
          <p:nvPr/>
        </p:nvSpPr>
        <p:spPr>
          <a:xfrm>
            <a:off x="2240279" y="4663440"/>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Orchestration</a:t>
            </a:r>
          </a:p>
        </p:txBody>
      </p:sp>
      <p:sp>
        <p:nvSpPr>
          <p:cNvPr id="21" name="TextBox 20"/>
          <p:cNvSpPr txBox="1"/>
          <p:nvPr/>
        </p:nvSpPr>
        <p:spPr>
          <a:xfrm>
            <a:off x="2240279" y="4846320"/>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LangChain / LangGraph</a:t>
            </a:r>
            <a:br/>
            <a:r>
              <a:t>CrewAI / Autogen</a:t>
            </a:r>
            <a:br/>
            <a:r>
              <a:t>IBM watsonx</a:t>
            </a:r>
          </a:p>
        </p:txBody>
      </p:sp>
      <p:sp>
        <p:nvSpPr>
          <p:cNvPr id="22" name="TextBox 21"/>
          <p:cNvSpPr txBox="1"/>
          <p:nvPr/>
        </p:nvSpPr>
        <p:spPr>
          <a:xfrm>
            <a:off x="4114799" y="4663440"/>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Models</a:t>
            </a:r>
          </a:p>
        </p:txBody>
      </p:sp>
      <p:sp>
        <p:nvSpPr>
          <p:cNvPr id="23" name="TextBox 22"/>
          <p:cNvSpPr txBox="1"/>
          <p:nvPr/>
        </p:nvSpPr>
        <p:spPr>
          <a:xfrm>
            <a:off x="4114799" y="4846320"/>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Gemini / Claude</a:t>
            </a:r>
            <a:br/>
            <a:r>
              <a:t>GPT-4o / Llama 3</a:t>
            </a:r>
            <a:br/>
            <a:r>
              <a:t>Domain-specific fine-tunes</a:t>
            </a:r>
          </a:p>
        </p:txBody>
      </p:sp>
      <p:sp>
        <p:nvSpPr>
          <p:cNvPr id="24" name="TextBox 23"/>
          <p:cNvSpPr txBox="1"/>
          <p:nvPr/>
        </p:nvSpPr>
        <p:spPr>
          <a:xfrm>
            <a:off x="5989319" y="4663440"/>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Enterprise</a:t>
            </a:r>
          </a:p>
        </p:txBody>
      </p:sp>
      <p:sp>
        <p:nvSpPr>
          <p:cNvPr id="25" name="TextBox 24"/>
          <p:cNvSpPr txBox="1"/>
          <p:nvPr/>
        </p:nvSpPr>
        <p:spPr>
          <a:xfrm>
            <a:off x="5989319" y="4846320"/>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ServiceNow / SAP</a:t>
            </a:r>
            <a:br/>
            <a:r>
              <a:t>Salesforce / UiPath</a:t>
            </a:r>
            <a:br/>
            <a:r>
              <a:t>HubSpot / Workday</a:t>
            </a:r>
          </a:p>
        </p:txBody>
      </p:sp>
      <p:sp>
        <p:nvSpPr>
          <p:cNvPr id="26" name="Rectangle 25"/>
          <p:cNvSpPr/>
          <p:nvPr/>
        </p:nvSpPr>
        <p:spPr>
          <a:xfrm>
            <a:off x="274320" y="5394960"/>
            <a:ext cx="7619695" cy="777240"/>
          </a:xfrm>
          <a:prstGeom prst="rect">
            <a:avLst/>
          </a:prstGeom>
          <a:solidFill>
            <a:srgbClr val="009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65760" y="5431536"/>
            <a:ext cx="2743200" cy="164592"/>
          </a:xfrm>
          <a:prstGeom prst="rect">
            <a:avLst/>
          </a:prstGeom>
          <a:noFill/>
        </p:spPr>
        <p:txBody>
          <a:bodyPr wrap="square">
            <a:spAutoFit/>
          </a:bodyPr>
          <a:lstStyle/>
          <a:p>
            <a:pPr algn="l">
              <a:spcAft>
                <a:spcPts val="200"/>
              </a:spcAft>
              <a:defRPr sz="750" b="1">
                <a:solidFill>
                  <a:srgbClr val="FFFFFF"/>
                </a:solidFill>
                <a:latin typeface="Calibri"/>
              </a:defRPr>
            </a:pPr>
            <a:r>
              <a:t>KEY DIFFERENTIATORS</a:t>
            </a:r>
          </a:p>
        </p:txBody>
      </p:sp>
      <p:sp>
        <p:nvSpPr>
          <p:cNvPr id="28" name="TextBox 27"/>
          <p:cNvSpPr txBox="1"/>
          <p:nvPr/>
        </p:nvSpPr>
        <p:spPr>
          <a:xfrm>
            <a:off x="365760" y="5623560"/>
            <a:ext cx="1737360" cy="164592"/>
          </a:xfrm>
          <a:prstGeom prst="rect">
            <a:avLst/>
          </a:prstGeom>
          <a:noFill/>
        </p:spPr>
        <p:txBody>
          <a:bodyPr wrap="square">
            <a:spAutoFit/>
          </a:bodyPr>
          <a:lstStyle/>
          <a:p>
            <a:pPr algn="l">
              <a:spcAft>
                <a:spcPts val="200"/>
              </a:spcAft>
              <a:defRPr sz="700" b="1">
                <a:solidFill>
                  <a:srgbClr val="FFFFFF"/>
                </a:solidFill>
                <a:latin typeface="Calibri"/>
              </a:defRPr>
            </a:pPr>
            <a:r>
              <a:t>Production-First</a:t>
            </a:r>
          </a:p>
        </p:txBody>
      </p:sp>
      <p:sp>
        <p:nvSpPr>
          <p:cNvPr id="29" name="TextBox 28"/>
          <p:cNvSpPr txBox="1"/>
          <p:nvPr/>
        </p:nvSpPr>
        <p:spPr>
          <a:xfrm>
            <a:off x="365760" y="5806440"/>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80% of our agents use</a:t>
            </a:r>
            <a:br/>
            <a:r>
              <a:t>structured workflows</a:t>
            </a:r>
            <a:br/>
            <a:r>
              <a:t>not open-ended planning</a:t>
            </a:r>
          </a:p>
        </p:txBody>
      </p:sp>
      <p:sp>
        <p:nvSpPr>
          <p:cNvPr id="30" name="TextBox 29"/>
          <p:cNvSpPr txBox="1"/>
          <p:nvPr/>
        </p:nvSpPr>
        <p:spPr>
          <a:xfrm>
            <a:off x="2240279" y="5623560"/>
            <a:ext cx="1737360" cy="164592"/>
          </a:xfrm>
          <a:prstGeom prst="rect">
            <a:avLst/>
          </a:prstGeom>
          <a:noFill/>
        </p:spPr>
        <p:txBody>
          <a:bodyPr wrap="square">
            <a:spAutoFit/>
          </a:bodyPr>
          <a:lstStyle/>
          <a:p>
            <a:pPr algn="l">
              <a:spcAft>
                <a:spcPts val="200"/>
              </a:spcAft>
              <a:defRPr sz="700" b="1">
                <a:solidFill>
                  <a:srgbClr val="FFFFFF"/>
                </a:solidFill>
                <a:latin typeface="Calibri"/>
              </a:defRPr>
            </a:pPr>
            <a:r>
              <a:t>Governance-Native</a:t>
            </a:r>
          </a:p>
        </p:txBody>
      </p:sp>
      <p:sp>
        <p:nvSpPr>
          <p:cNvPr id="31" name="TextBox 30"/>
          <p:cNvSpPr txBox="1"/>
          <p:nvPr/>
        </p:nvSpPr>
        <p:spPr>
          <a:xfrm>
            <a:off x="2240279" y="5806440"/>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Audit trails, policy</a:t>
            </a:r>
            <a:br/>
            <a:r>
              <a:t>guardrails, token cost</a:t>
            </a:r>
            <a:br/>
            <a:r>
              <a:t>management built-in</a:t>
            </a:r>
          </a:p>
        </p:txBody>
      </p:sp>
      <p:sp>
        <p:nvSpPr>
          <p:cNvPr id="32" name="TextBox 31"/>
          <p:cNvSpPr txBox="1"/>
          <p:nvPr/>
        </p:nvSpPr>
        <p:spPr>
          <a:xfrm>
            <a:off x="4114799" y="5623560"/>
            <a:ext cx="1737360" cy="164592"/>
          </a:xfrm>
          <a:prstGeom prst="rect">
            <a:avLst/>
          </a:prstGeom>
          <a:noFill/>
        </p:spPr>
        <p:txBody>
          <a:bodyPr wrap="square">
            <a:spAutoFit/>
          </a:bodyPr>
          <a:lstStyle/>
          <a:p>
            <a:pPr algn="l">
              <a:spcAft>
                <a:spcPts val="200"/>
              </a:spcAft>
              <a:defRPr sz="700" b="1">
                <a:solidFill>
                  <a:srgbClr val="FFFFFF"/>
                </a:solidFill>
                <a:latin typeface="Calibri"/>
              </a:defRPr>
            </a:pPr>
            <a:r>
              <a:t>Human-in-the-Loop</a:t>
            </a:r>
          </a:p>
        </p:txBody>
      </p:sp>
      <p:sp>
        <p:nvSpPr>
          <p:cNvPr id="33" name="TextBox 32"/>
          <p:cNvSpPr txBox="1"/>
          <p:nvPr/>
        </p:nvSpPr>
        <p:spPr>
          <a:xfrm>
            <a:off x="4114799" y="5806440"/>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Confidence thresholds</a:t>
            </a:r>
            <a:br/>
            <a:r>
              <a:t>gate autonomous actions</a:t>
            </a:r>
            <a:br/>
            <a:r>
              <a:t>for enterprise trust</a:t>
            </a:r>
          </a:p>
        </p:txBody>
      </p:sp>
      <p:sp>
        <p:nvSpPr>
          <p:cNvPr id="34" name="TextBox 33"/>
          <p:cNvSpPr txBox="1"/>
          <p:nvPr/>
        </p:nvSpPr>
        <p:spPr>
          <a:xfrm>
            <a:off x="5989319" y="5623560"/>
            <a:ext cx="1737360" cy="164592"/>
          </a:xfrm>
          <a:prstGeom prst="rect">
            <a:avLst/>
          </a:prstGeom>
          <a:noFill/>
        </p:spPr>
        <p:txBody>
          <a:bodyPr wrap="square">
            <a:spAutoFit/>
          </a:bodyPr>
          <a:lstStyle/>
          <a:p>
            <a:pPr algn="l">
              <a:spcAft>
                <a:spcPts val="200"/>
              </a:spcAft>
              <a:defRPr sz="700" b="1">
                <a:solidFill>
                  <a:srgbClr val="FFFFFF"/>
                </a:solidFill>
                <a:latin typeface="Calibri"/>
              </a:defRPr>
            </a:pPr>
            <a:r>
              <a:t>Domain-Specific</a:t>
            </a:r>
          </a:p>
        </p:txBody>
      </p:sp>
      <p:sp>
        <p:nvSpPr>
          <p:cNvPr id="35" name="TextBox 34"/>
          <p:cNvSpPr txBox="1"/>
          <p:nvPr/>
        </p:nvSpPr>
        <p:spPr>
          <a:xfrm>
            <a:off x="5989319" y="5806440"/>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Industry-tuned agents</a:t>
            </a:r>
            <a:br/>
            <a:r>
              <a:t>not generic chatbots</a:t>
            </a:r>
            <a:br/>
            <a:r>
              <a:t>with real system access</a:t>
            </a:r>
          </a:p>
        </p:txBody>
      </p:sp>
      <p:pic>
        <p:nvPicPr>
          <p:cNvPr id="36" name="Picture 35" descr="image.jpg"/>
          <p:cNvPicPr>
            <a:picLocks noChangeAspect="1"/>
          </p:cNvPicPr>
          <p:nvPr/>
        </p:nvPicPr>
        <p:blipFill>
          <a:blip r:embed="rId2"/>
          <a:stretch>
            <a:fillRect/>
          </a:stretch>
        </p:blipFill>
        <p:spPr>
          <a:xfrm>
            <a:off x="8076895" y="0"/>
            <a:ext cx="4114800" cy="6858000"/>
          </a:xfrm>
          <a:prstGeom prst="rect">
            <a:avLst/>
          </a:prstGeom>
        </p:spPr>
      </p:pic>
      <p:sp>
        <p:nvSpPr>
          <p:cNvPr id="37" name="TextBox 36"/>
          <p:cNvSpPr txBox="1"/>
          <p:nvPr/>
        </p:nvSpPr>
        <p:spPr>
          <a:xfrm>
            <a:off x="274320" y="6492240"/>
            <a:ext cx="4572000" cy="274320"/>
          </a:xfrm>
          <a:prstGeom prst="rect">
            <a:avLst/>
          </a:prstGeom>
          <a:noFill/>
        </p:spPr>
        <p:txBody>
          <a:bodyPr wrap="square">
            <a:spAutoFit/>
          </a:bodyPr>
          <a:lstStyle/>
          <a:p>
            <a:pPr algn="l">
              <a:spcAft>
                <a:spcPts val="200"/>
              </a:spcAft>
              <a:defRPr sz="700" b="0">
                <a:solidFill>
                  <a:srgbClr val="888888"/>
                </a:solidFill>
                <a:latin typeface="Calibri"/>
              </a:defRPr>
            </a:pPr>
            <a:r>
              <a:t>Agentic AI Use Cases Across Industries | Confidential</a:t>
            </a:r>
          </a:p>
        </p:txBody>
      </p:sp>
      <p:sp>
        <p:nvSpPr>
          <p:cNvPr id="38" name="TextBox 37"/>
          <p:cNvSpPr txBox="1"/>
          <p:nvPr/>
        </p:nvSpPr>
        <p:spPr>
          <a:xfrm>
            <a:off x="11094415" y="6492240"/>
            <a:ext cx="822960" cy="274320"/>
          </a:xfrm>
          <a:prstGeom prst="rect">
            <a:avLst/>
          </a:prstGeom>
          <a:noFill/>
        </p:spPr>
        <p:txBody>
          <a:bodyPr wrap="square">
            <a:spAutoFit/>
          </a:bodyPr>
          <a:lstStyle/>
          <a:p>
            <a:pPr algn="r">
              <a:spcAft>
                <a:spcPts val="200"/>
              </a:spcAft>
              <a:defRPr sz="700" b="0">
                <a:solidFill>
                  <a:srgbClr val="888888"/>
                </a:solidFill>
                <a:latin typeface="Calibri"/>
              </a:defRPr>
            </a:pPr>
            <a:r>
              <a:t>5 / 46</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2743200"/>
            <a:ext cx="12191695" cy="54864"/>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371600"/>
            <a:ext cx="1097280" cy="731520"/>
          </a:xfrm>
          <a:prstGeom prst="rect">
            <a:avLst/>
          </a:prstGeom>
          <a:noFill/>
        </p:spPr>
        <p:txBody>
          <a:bodyPr wrap="square">
            <a:spAutoFit/>
          </a:bodyPr>
          <a:lstStyle/>
          <a:p>
            <a:pPr algn="l">
              <a:spcAft>
                <a:spcPts val="200"/>
              </a:spcAft>
              <a:defRPr sz="5600" b="1">
                <a:solidFill>
                  <a:srgbClr val="00C9A7"/>
                </a:solidFill>
                <a:latin typeface="Calibri"/>
              </a:defRPr>
            </a:pPr>
            <a:r>
              <a:t>01</a:t>
            </a:r>
          </a:p>
        </p:txBody>
      </p:sp>
      <p:sp>
        <p:nvSpPr>
          <p:cNvPr id="5" name="TextBox 4"/>
          <p:cNvSpPr txBox="1"/>
          <p:nvPr/>
        </p:nvSpPr>
        <p:spPr>
          <a:xfrm>
            <a:off x="2011680" y="1645920"/>
            <a:ext cx="5486400" cy="731520"/>
          </a:xfrm>
          <a:prstGeom prst="rect">
            <a:avLst/>
          </a:prstGeom>
          <a:noFill/>
        </p:spPr>
        <p:txBody>
          <a:bodyPr wrap="square">
            <a:spAutoFit/>
          </a:bodyPr>
          <a:lstStyle/>
          <a:p>
            <a:pPr algn="l">
              <a:spcAft>
                <a:spcPts val="200"/>
              </a:spcAft>
              <a:defRPr sz="3600" b="1">
                <a:solidFill>
                  <a:srgbClr val="FFFFFF"/>
                </a:solidFill>
                <a:latin typeface="Calibri"/>
              </a:defRPr>
            </a:pPr>
            <a:r>
              <a:t>Insurance &amp; Claims</a:t>
            </a:r>
          </a:p>
        </p:txBody>
      </p:sp>
      <p:sp>
        <p:nvSpPr>
          <p:cNvPr id="6" name="TextBox 5"/>
          <p:cNvSpPr txBox="1"/>
          <p:nvPr/>
        </p:nvSpPr>
        <p:spPr>
          <a:xfrm>
            <a:off x="2011680" y="3017520"/>
            <a:ext cx="5486400" cy="457200"/>
          </a:xfrm>
          <a:prstGeom prst="rect">
            <a:avLst/>
          </a:prstGeom>
          <a:noFill/>
        </p:spPr>
        <p:txBody>
          <a:bodyPr wrap="square">
            <a:spAutoFit/>
          </a:bodyPr>
          <a:lstStyle/>
          <a:p>
            <a:pPr algn="l">
              <a:spcAft>
                <a:spcPts val="200"/>
              </a:spcAft>
              <a:defRPr sz="1400" b="0">
                <a:solidFill>
                  <a:srgbClr val="E0F7F1"/>
                </a:solidFill>
                <a:latin typeface="Calibri"/>
              </a:defRPr>
            </a:pPr>
            <a:r>
              <a:t>Autonomous claims processing, underwriting, and fraud detection</a:t>
            </a:r>
          </a:p>
        </p:txBody>
      </p:sp>
      <p:sp>
        <p:nvSpPr>
          <p:cNvPr id="7" name="TextBox 6"/>
          <p:cNvSpPr txBox="1"/>
          <p:nvPr/>
        </p:nvSpPr>
        <p:spPr>
          <a:xfrm>
            <a:off x="2011680" y="3566160"/>
            <a:ext cx="5486400" cy="457200"/>
          </a:xfrm>
          <a:prstGeom prst="rect">
            <a:avLst/>
          </a:prstGeom>
          <a:noFill/>
        </p:spPr>
        <p:txBody>
          <a:bodyPr wrap="square">
            <a:spAutoFit/>
          </a:bodyPr>
          <a:lstStyle/>
          <a:p>
            <a:pPr algn="l">
              <a:spcAft>
                <a:spcPts val="200"/>
              </a:spcAft>
              <a:defRPr sz="1200" b="0">
                <a:solidFill>
                  <a:srgbClr val="888899"/>
                </a:solidFill>
                <a:latin typeface="Calibri"/>
              </a:defRPr>
            </a:pPr>
            <a:r>
              <a:t>5 Agentic AI Use Cases</a:t>
            </a:r>
          </a:p>
        </p:txBody>
      </p:sp>
      <p:pic>
        <p:nvPicPr>
          <p:cNvPr id="8" name="Picture 7" descr="image.jpg"/>
          <p:cNvPicPr>
            <a:picLocks noChangeAspect="1"/>
          </p:cNvPicPr>
          <p:nvPr/>
        </p:nvPicPr>
        <p:blipFill>
          <a:blip r:embed="rId2"/>
          <a:stretch>
            <a:fillRect/>
          </a:stretch>
        </p:blipFill>
        <p:spPr>
          <a:xfrm>
            <a:off x="8076895" y="0"/>
            <a:ext cx="4114800" cy="6858000"/>
          </a:xfrm>
          <a:prstGeom prst="rect">
            <a:avLst/>
          </a:prstGeom>
        </p:spPr>
      </p:pic>
      <p:sp>
        <p:nvSpPr>
          <p:cNvPr id="9" name="TextBox 8"/>
          <p:cNvSpPr txBox="1"/>
          <p:nvPr/>
        </p:nvSpPr>
        <p:spPr>
          <a:xfrm>
            <a:off x="274320" y="6492240"/>
            <a:ext cx="4572000" cy="274320"/>
          </a:xfrm>
          <a:prstGeom prst="rect">
            <a:avLst/>
          </a:prstGeom>
          <a:noFill/>
        </p:spPr>
        <p:txBody>
          <a:bodyPr wrap="square">
            <a:spAutoFit/>
          </a:bodyPr>
          <a:lstStyle/>
          <a:p>
            <a:pPr algn="l">
              <a:spcAft>
                <a:spcPts val="200"/>
              </a:spcAft>
              <a:defRPr sz="700" b="0">
                <a:solidFill>
                  <a:srgbClr val="888888"/>
                </a:solidFill>
                <a:latin typeface="Calibri"/>
              </a:defRPr>
            </a:pPr>
            <a:r>
              <a:t>Agentic AI Use Cases Across Industries | Confidential</a:t>
            </a:r>
          </a:p>
        </p:txBody>
      </p:sp>
      <p:sp>
        <p:nvSpPr>
          <p:cNvPr id="10" name="TextBox 9"/>
          <p:cNvSpPr txBox="1"/>
          <p:nvPr/>
        </p:nvSpPr>
        <p:spPr>
          <a:xfrm>
            <a:off x="11094415" y="6492240"/>
            <a:ext cx="822960" cy="274320"/>
          </a:xfrm>
          <a:prstGeom prst="rect">
            <a:avLst/>
          </a:prstGeom>
          <a:noFill/>
        </p:spPr>
        <p:txBody>
          <a:bodyPr wrap="square">
            <a:spAutoFit/>
          </a:bodyPr>
          <a:lstStyle/>
          <a:p>
            <a:pPr algn="r">
              <a:spcAft>
                <a:spcPts val="200"/>
              </a:spcAft>
              <a:defRPr sz="700" b="0">
                <a:solidFill>
                  <a:srgbClr val="888888"/>
                </a:solidFill>
                <a:latin typeface="Calibri"/>
              </a:defRPr>
            </a:pPr>
            <a:r>
              <a:t>6 / 46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8076895" cy="6858000"/>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82880"/>
            <a:ext cx="7436815" cy="502920"/>
          </a:xfrm>
          <a:prstGeom prst="rect">
            <a:avLst/>
          </a:prstGeom>
          <a:noFill/>
        </p:spPr>
        <p:txBody>
          <a:bodyPr wrap="square">
            <a:spAutoFit/>
          </a:bodyPr>
          <a:lstStyle/>
          <a:p>
            <a:pPr algn="l">
              <a:spcAft>
                <a:spcPts val="200"/>
              </a:spcAft>
              <a:defRPr sz="2000" b="1">
                <a:solidFill>
                  <a:srgbClr val="FFFFFF"/>
                </a:solidFill>
                <a:latin typeface="Calibri"/>
              </a:defRPr>
            </a:pPr>
            <a:r>
              <a:t>UC01 | Allianz Partners — Autonomous Claims Execution</a:t>
            </a:r>
          </a:p>
        </p:txBody>
      </p:sp>
      <p:sp>
        <p:nvSpPr>
          <p:cNvPr id="4" name="Rectangle 3"/>
          <p:cNvSpPr/>
          <p:nvPr/>
        </p:nvSpPr>
        <p:spPr>
          <a:xfrm>
            <a:off x="365760" y="658368"/>
            <a:ext cx="1828800" cy="27432"/>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777240"/>
            <a:ext cx="1371600" cy="182880"/>
          </a:xfrm>
          <a:prstGeom prst="rect">
            <a:avLst/>
          </a:prstGeom>
          <a:noFill/>
        </p:spPr>
        <p:txBody>
          <a:bodyPr wrap="square">
            <a:spAutoFit/>
          </a:bodyPr>
          <a:lstStyle/>
          <a:p>
            <a:pPr algn="l">
              <a:spcAft>
                <a:spcPts val="200"/>
              </a:spcAft>
              <a:defRPr sz="800" b="1">
                <a:solidFill>
                  <a:srgbClr val="0A1628"/>
                </a:solidFill>
                <a:latin typeface="Calibri"/>
              </a:defRPr>
            </a:pPr>
            <a:r>
              <a:t>CHALLENGE</a:t>
            </a:r>
          </a:p>
        </p:txBody>
      </p:sp>
      <p:sp>
        <p:nvSpPr>
          <p:cNvPr id="6" name="TextBox 5"/>
          <p:cNvSpPr txBox="1"/>
          <p:nvPr/>
        </p:nvSpPr>
        <p:spPr>
          <a:xfrm>
            <a:off x="365760" y="960120"/>
            <a:ext cx="3520440" cy="1280160"/>
          </a:xfrm>
          <a:prstGeom prst="rect">
            <a:avLst/>
          </a:prstGeom>
          <a:noFill/>
        </p:spPr>
        <p:txBody>
          <a:bodyPr wrap="square">
            <a:spAutoFit/>
          </a:bodyPr>
          <a:lstStyle/>
          <a:p>
            <a:pPr algn="l">
              <a:spcAft>
                <a:spcPts val="200"/>
              </a:spcAft>
              <a:defRPr sz="750" b="0">
                <a:solidFill>
                  <a:srgbClr val="0A1628"/>
                </a:solidFill>
                <a:latin typeface="Calibri"/>
              </a:defRPr>
            </a:pPr>
            <a:r>
              <a:t>• 90M+ cases/year across health, automotive, and travel insurance</a:t>
            </a:r>
            <a:br/>
            <a:r>
              <a:t>• Single claim took 29 days to resolve end-to-end</a:t>
            </a:r>
            <a:br/>
            <a:r>
              <a:t>• Dozens of disconnected systems per claim lifecycle</a:t>
            </a:r>
            <a:br/>
            <a:r>
              <a:t>• Operating model scaled linearly: more cases = more people</a:t>
            </a:r>
          </a:p>
        </p:txBody>
      </p:sp>
      <p:sp>
        <p:nvSpPr>
          <p:cNvPr id="7" name="TextBox 6"/>
          <p:cNvSpPr txBox="1"/>
          <p:nvPr/>
        </p:nvSpPr>
        <p:spPr>
          <a:xfrm>
            <a:off x="4023360" y="777240"/>
            <a:ext cx="1828800" cy="182880"/>
          </a:xfrm>
          <a:prstGeom prst="rect">
            <a:avLst/>
          </a:prstGeom>
          <a:noFill/>
        </p:spPr>
        <p:txBody>
          <a:bodyPr wrap="square">
            <a:spAutoFit/>
          </a:bodyPr>
          <a:lstStyle/>
          <a:p>
            <a:pPr algn="l">
              <a:spcAft>
                <a:spcPts val="200"/>
              </a:spcAft>
              <a:defRPr sz="800" b="1">
                <a:solidFill>
                  <a:srgbClr val="0A1628"/>
                </a:solidFill>
                <a:latin typeface="Calibri"/>
              </a:defRPr>
            </a:pPr>
            <a:r>
              <a:t>AGENTIC SOLUTION</a:t>
            </a:r>
          </a:p>
        </p:txBody>
      </p:sp>
      <p:sp>
        <p:nvSpPr>
          <p:cNvPr id="8" name="TextBox 7"/>
          <p:cNvSpPr txBox="1"/>
          <p:nvPr/>
        </p:nvSpPr>
        <p:spPr>
          <a:xfrm>
            <a:off x="4023360" y="960120"/>
            <a:ext cx="3520440" cy="1280160"/>
          </a:xfrm>
          <a:prstGeom prst="rect">
            <a:avLst/>
          </a:prstGeom>
          <a:noFill/>
        </p:spPr>
        <p:txBody>
          <a:bodyPr wrap="square">
            <a:spAutoFit/>
          </a:bodyPr>
          <a:lstStyle/>
          <a:p>
            <a:pPr algn="l">
              <a:spcAft>
                <a:spcPts val="200"/>
              </a:spcAft>
              <a:defRPr sz="750" b="0">
                <a:solidFill>
                  <a:srgbClr val="0A1628"/>
                </a:solidFill>
                <a:latin typeface="Calibri"/>
              </a:defRPr>
            </a:pPr>
            <a:r>
              <a:t>• Autonomous agents run full claims lifecycle end-to-end</a:t>
            </a:r>
            <a:br/>
            <a:r>
              <a:t>• Agents review claims, validate coverage, assess liability, settle cases</a:t>
            </a:r>
            <a:br/>
            <a:r>
              <a:t>• Generate customer responses and trigger payments automatically</a:t>
            </a:r>
            <a:br/>
            <a:r>
              <a:t>• Complex cases escalate to human specialists; routine claims don't</a:t>
            </a:r>
          </a:p>
        </p:txBody>
      </p:sp>
      <p:sp>
        <p:nvSpPr>
          <p:cNvPr id="9" name="Rectangle 8"/>
          <p:cNvSpPr/>
          <p:nvPr/>
        </p:nvSpPr>
        <p:spPr>
          <a:xfrm>
            <a:off x="365760"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65760"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29d → 3.5d</a:t>
            </a:r>
          </a:p>
        </p:txBody>
      </p:sp>
      <p:sp>
        <p:nvSpPr>
          <p:cNvPr id="11" name="TextBox 10"/>
          <p:cNvSpPr txBox="1"/>
          <p:nvPr/>
        </p:nvSpPr>
        <p:spPr>
          <a:xfrm>
            <a:off x="365760"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Claims handling</a:t>
            </a:r>
            <a:br/>
            <a:r>
              <a:t>time</a:t>
            </a:r>
          </a:p>
        </p:txBody>
      </p:sp>
      <p:sp>
        <p:nvSpPr>
          <p:cNvPr id="12" name="Rectangle 11"/>
          <p:cNvSpPr/>
          <p:nvPr/>
        </p:nvSpPr>
        <p:spPr>
          <a:xfrm>
            <a:off x="2240279"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240279"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70%</a:t>
            </a:r>
          </a:p>
        </p:txBody>
      </p:sp>
      <p:sp>
        <p:nvSpPr>
          <p:cNvPr id="14" name="TextBox 13"/>
          <p:cNvSpPr txBox="1"/>
          <p:nvPr/>
        </p:nvSpPr>
        <p:spPr>
          <a:xfrm>
            <a:off x="2240279"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Claims settled</a:t>
            </a:r>
            <a:br/>
            <a:r>
              <a:t>in &lt;12 hours</a:t>
            </a:r>
          </a:p>
        </p:txBody>
      </p:sp>
      <p:sp>
        <p:nvSpPr>
          <p:cNvPr id="15" name="Rectangle 14"/>
          <p:cNvSpPr/>
          <p:nvPr/>
        </p:nvSpPr>
        <p:spPr>
          <a:xfrm>
            <a:off x="4114799"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114799"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€300M</a:t>
            </a:r>
          </a:p>
        </p:txBody>
      </p:sp>
      <p:sp>
        <p:nvSpPr>
          <p:cNvPr id="17" name="TextBox 16"/>
          <p:cNvSpPr txBox="1"/>
          <p:nvPr/>
        </p:nvSpPr>
        <p:spPr>
          <a:xfrm>
            <a:off x="4114799"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Target incremental</a:t>
            </a:r>
            <a:br/>
            <a:r>
              <a:t>annual profit</a:t>
            </a:r>
          </a:p>
        </p:txBody>
      </p:sp>
      <p:sp>
        <p:nvSpPr>
          <p:cNvPr id="18" name="Rectangle 17"/>
          <p:cNvSpPr/>
          <p:nvPr/>
        </p:nvSpPr>
        <p:spPr>
          <a:xfrm>
            <a:off x="5989319"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989319"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10+ markets</a:t>
            </a:r>
          </a:p>
        </p:txBody>
      </p:sp>
      <p:sp>
        <p:nvSpPr>
          <p:cNvPr id="20" name="TextBox 19"/>
          <p:cNvSpPr txBox="1"/>
          <p:nvPr/>
        </p:nvSpPr>
        <p:spPr>
          <a:xfrm>
            <a:off x="5989319"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Global rollout</a:t>
            </a:r>
            <a:br/>
            <a:r>
              <a:t>already live</a:t>
            </a:r>
          </a:p>
        </p:txBody>
      </p:sp>
      <p:sp>
        <p:nvSpPr>
          <p:cNvPr id="21" name="TextBox 20"/>
          <p:cNvSpPr txBox="1"/>
          <p:nvPr/>
        </p:nvSpPr>
        <p:spPr>
          <a:xfrm>
            <a:off x="365760" y="3246120"/>
            <a:ext cx="1828800" cy="182880"/>
          </a:xfrm>
          <a:prstGeom prst="rect">
            <a:avLst/>
          </a:prstGeom>
          <a:noFill/>
        </p:spPr>
        <p:txBody>
          <a:bodyPr wrap="square">
            <a:spAutoFit/>
          </a:bodyPr>
          <a:lstStyle/>
          <a:p>
            <a:pPr algn="l">
              <a:spcAft>
                <a:spcPts val="200"/>
              </a:spcAft>
              <a:defRPr sz="800" b="1">
                <a:solidFill>
                  <a:srgbClr val="0A1628"/>
                </a:solidFill>
                <a:latin typeface="Calibri"/>
              </a:defRPr>
            </a:pPr>
            <a:r>
              <a:t>HOW IT WORKS</a:t>
            </a:r>
          </a:p>
        </p:txBody>
      </p:sp>
      <p:sp>
        <p:nvSpPr>
          <p:cNvPr id="22" name="TextBox 21"/>
          <p:cNvSpPr txBox="1"/>
          <p:nvPr/>
        </p:nvSpPr>
        <p:spPr>
          <a:xfrm>
            <a:off x="365760" y="3429000"/>
            <a:ext cx="7436815" cy="594360"/>
          </a:xfrm>
          <a:prstGeom prst="rect">
            <a:avLst/>
          </a:prstGeom>
          <a:noFill/>
        </p:spPr>
        <p:txBody>
          <a:bodyPr wrap="square">
            <a:spAutoFit/>
          </a:bodyPr>
          <a:lstStyle/>
          <a:p>
            <a:pPr algn="l">
              <a:spcAft>
                <a:spcPts val="200"/>
              </a:spcAft>
              <a:defRPr sz="700" b="0">
                <a:solidFill>
                  <a:srgbClr val="0A1628"/>
                </a:solidFill>
                <a:latin typeface="Calibri"/>
              </a:defRPr>
            </a:pPr>
            <a:r>
              <a:t>→ Ingest claim from any channel (email, portal, phone transcript)</a:t>
            </a:r>
            <a:br/>
            <a:r>
              <a:t>→ Validate coverage against policy terms and assess liability</a:t>
            </a:r>
            <a:br/>
            <a:r>
              <a:t>→ Settle straightforward claims autonomously; escalate complex ones</a:t>
            </a:r>
            <a:br/>
            <a:r>
              <a:t>→ Generate personalized customer response and trigger payment</a:t>
            </a:r>
          </a:p>
        </p:txBody>
      </p:sp>
      <p:sp>
        <p:nvSpPr>
          <p:cNvPr id="23" name="TextBox 22"/>
          <p:cNvSpPr txBox="1"/>
          <p:nvPr/>
        </p:nvSpPr>
        <p:spPr>
          <a:xfrm>
            <a:off x="365760" y="4069080"/>
            <a:ext cx="3200400" cy="182880"/>
          </a:xfrm>
          <a:prstGeom prst="rect">
            <a:avLst/>
          </a:prstGeom>
          <a:noFill/>
        </p:spPr>
        <p:txBody>
          <a:bodyPr wrap="square">
            <a:spAutoFit/>
          </a:bodyPr>
          <a:lstStyle/>
          <a:p>
            <a:pPr algn="l">
              <a:spcAft>
                <a:spcPts val="200"/>
              </a:spcAft>
              <a:defRPr sz="750" b="1">
                <a:solidFill>
                  <a:srgbClr val="0A1628"/>
                </a:solidFill>
                <a:latin typeface="Calibri"/>
              </a:defRPr>
            </a:pPr>
            <a:r>
              <a:t>AGENT ARCHITECTURE</a:t>
            </a:r>
          </a:p>
        </p:txBody>
      </p:sp>
      <p:sp>
        <p:nvSpPr>
          <p:cNvPr id="24" name="TextBox 23"/>
          <p:cNvSpPr txBox="1"/>
          <p:nvPr/>
        </p:nvSpPr>
        <p:spPr>
          <a:xfrm>
            <a:off x="365760" y="4251960"/>
            <a:ext cx="3520440" cy="777240"/>
          </a:xfrm>
          <a:prstGeom prst="rect">
            <a:avLst/>
          </a:prstGeom>
          <a:noFill/>
        </p:spPr>
        <p:txBody>
          <a:bodyPr wrap="square">
            <a:spAutoFit/>
          </a:bodyPr>
          <a:lstStyle/>
          <a:p>
            <a:pPr algn="l">
              <a:spcAft>
                <a:spcPts val="200"/>
              </a:spcAft>
              <a:defRPr sz="700" b="0">
                <a:solidFill>
                  <a:srgbClr val="0A1628"/>
                </a:solidFill>
                <a:latin typeface="Calibri"/>
              </a:defRPr>
            </a:pPr>
            <a:r>
              <a:t>• Multi-agent pipeline: intake → coverage → liability → settlement</a:t>
            </a:r>
            <a:br/>
            <a:r>
              <a:t>• Each agent scoped precisely for high accuracy within domain</a:t>
            </a:r>
            <a:br/>
            <a:r>
              <a:t>• Agents handle multiple product lines, languages, regulatory environments</a:t>
            </a:r>
            <a:br/>
            <a:r>
              <a:t>• Full governance layer: every decision traceable and explainable</a:t>
            </a:r>
          </a:p>
        </p:txBody>
      </p:sp>
      <p:sp>
        <p:nvSpPr>
          <p:cNvPr id="25" name="TextBox 24"/>
          <p:cNvSpPr txBox="1"/>
          <p:nvPr/>
        </p:nvSpPr>
        <p:spPr>
          <a:xfrm>
            <a:off x="4023360" y="4069080"/>
            <a:ext cx="3200400" cy="182880"/>
          </a:xfrm>
          <a:prstGeom prst="rect">
            <a:avLst/>
          </a:prstGeom>
          <a:noFill/>
        </p:spPr>
        <p:txBody>
          <a:bodyPr wrap="square">
            <a:spAutoFit/>
          </a:bodyPr>
          <a:lstStyle/>
          <a:p>
            <a:pPr algn="l">
              <a:spcAft>
                <a:spcPts val="200"/>
              </a:spcAft>
              <a:defRPr sz="750" b="1">
                <a:solidFill>
                  <a:srgbClr val="0A1628"/>
                </a:solidFill>
                <a:latin typeface="Calibri"/>
              </a:defRPr>
            </a:pPr>
            <a:r>
              <a:t>GOVERNANCE &amp; COMPLIANCE</a:t>
            </a:r>
          </a:p>
        </p:txBody>
      </p:sp>
      <p:sp>
        <p:nvSpPr>
          <p:cNvPr id="26" name="TextBox 25"/>
          <p:cNvSpPr txBox="1"/>
          <p:nvPr/>
        </p:nvSpPr>
        <p:spPr>
          <a:xfrm>
            <a:off x="4023360" y="4251960"/>
            <a:ext cx="3520440" cy="777240"/>
          </a:xfrm>
          <a:prstGeom prst="rect">
            <a:avLst/>
          </a:prstGeom>
          <a:noFill/>
        </p:spPr>
        <p:txBody>
          <a:bodyPr wrap="square">
            <a:spAutoFit/>
          </a:bodyPr>
          <a:lstStyle/>
          <a:p>
            <a:pPr algn="l">
              <a:spcAft>
                <a:spcPts val="200"/>
              </a:spcAft>
              <a:defRPr sz="700" b="0">
                <a:solidFill>
                  <a:srgbClr val="0A1628"/>
                </a:solidFill>
                <a:latin typeface="Calibri"/>
              </a:defRPr>
            </a:pPr>
            <a:r>
              <a:t>• Every decision auditable with complete reasoning chain</a:t>
            </a:r>
            <a:br/>
            <a:r>
              <a:t>• Human specialists handle complex/ambiguous claims</a:t>
            </a:r>
            <a:br/>
            <a:r>
              <a:t>• Operates across regulatory environments (UK, DACH, global)</a:t>
            </a:r>
            <a:br/>
            <a:r>
              <a:t>• Targeting €300M profit impact by 2027 via autonomous operations</a:t>
            </a:r>
          </a:p>
        </p:txBody>
      </p:sp>
      <p:sp>
        <p:nvSpPr>
          <p:cNvPr id="27" name="Rectangle 26"/>
          <p:cNvSpPr/>
          <p:nvPr/>
        </p:nvSpPr>
        <p:spPr>
          <a:xfrm>
            <a:off x="274320" y="5074920"/>
            <a:ext cx="7619695" cy="77724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65760" y="5111496"/>
            <a:ext cx="1828800" cy="164592"/>
          </a:xfrm>
          <a:prstGeom prst="rect">
            <a:avLst/>
          </a:prstGeom>
          <a:noFill/>
        </p:spPr>
        <p:txBody>
          <a:bodyPr wrap="square">
            <a:spAutoFit/>
          </a:bodyPr>
          <a:lstStyle/>
          <a:p>
            <a:pPr algn="l">
              <a:spcAft>
                <a:spcPts val="200"/>
              </a:spcAft>
              <a:defRPr sz="750" b="1">
                <a:solidFill>
                  <a:srgbClr val="00C9A7"/>
                </a:solidFill>
                <a:latin typeface="Calibri"/>
              </a:defRPr>
            </a:pPr>
            <a:r>
              <a:t>TECHNOLOGY STACK</a:t>
            </a:r>
          </a:p>
        </p:txBody>
      </p:sp>
      <p:sp>
        <p:nvSpPr>
          <p:cNvPr id="29" name="TextBox 28"/>
          <p:cNvSpPr txBox="1"/>
          <p:nvPr/>
        </p:nvSpPr>
        <p:spPr>
          <a:xfrm>
            <a:off x="365760"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Platform</a:t>
            </a:r>
          </a:p>
        </p:txBody>
      </p:sp>
      <p:sp>
        <p:nvSpPr>
          <p:cNvPr id="30" name="TextBox 29"/>
          <p:cNvSpPr txBox="1"/>
          <p:nvPr/>
        </p:nvSpPr>
        <p:spPr>
          <a:xfrm>
            <a:off x="365760"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Otera Autonomous</a:t>
            </a:r>
            <a:br/>
            <a:r>
              <a:t>AI Agents</a:t>
            </a:r>
          </a:p>
        </p:txBody>
      </p:sp>
      <p:sp>
        <p:nvSpPr>
          <p:cNvPr id="31" name="TextBox 30"/>
          <p:cNvSpPr txBox="1"/>
          <p:nvPr/>
        </p:nvSpPr>
        <p:spPr>
          <a:xfrm>
            <a:off x="2240279"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Scope</a:t>
            </a:r>
          </a:p>
        </p:txBody>
      </p:sp>
      <p:sp>
        <p:nvSpPr>
          <p:cNvPr id="32" name="TextBox 31"/>
          <p:cNvSpPr txBox="1"/>
          <p:nvPr/>
        </p:nvSpPr>
        <p:spPr>
          <a:xfrm>
            <a:off x="2240279"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Health, Auto, Travel</a:t>
            </a:r>
            <a:br/>
            <a:r>
              <a:t>Insurance claims</a:t>
            </a:r>
          </a:p>
        </p:txBody>
      </p:sp>
      <p:sp>
        <p:nvSpPr>
          <p:cNvPr id="33" name="TextBox 32"/>
          <p:cNvSpPr txBox="1"/>
          <p:nvPr/>
        </p:nvSpPr>
        <p:spPr>
          <a:xfrm>
            <a:off x="4114799"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Scale</a:t>
            </a:r>
          </a:p>
        </p:txBody>
      </p:sp>
      <p:sp>
        <p:nvSpPr>
          <p:cNvPr id="34" name="TextBox 33"/>
          <p:cNvSpPr txBox="1"/>
          <p:nvPr/>
        </p:nvSpPr>
        <p:spPr>
          <a:xfrm>
            <a:off x="4114799"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90M+ cases/year</a:t>
            </a:r>
            <a:br/>
            <a:r>
              <a:t>across 10+ markets</a:t>
            </a:r>
          </a:p>
        </p:txBody>
      </p:sp>
      <p:sp>
        <p:nvSpPr>
          <p:cNvPr id="35" name="TextBox 34"/>
          <p:cNvSpPr txBox="1"/>
          <p:nvPr/>
        </p:nvSpPr>
        <p:spPr>
          <a:xfrm>
            <a:off x="5989319"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Integration</a:t>
            </a:r>
          </a:p>
        </p:txBody>
      </p:sp>
      <p:sp>
        <p:nvSpPr>
          <p:cNvPr id="36" name="TextBox 35"/>
          <p:cNvSpPr txBox="1"/>
          <p:nvPr/>
        </p:nvSpPr>
        <p:spPr>
          <a:xfrm>
            <a:off x="5989319"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16,500 provider</a:t>
            </a:r>
            <a:br/>
            <a:r>
              <a:t>network invoices</a:t>
            </a:r>
          </a:p>
        </p:txBody>
      </p:sp>
      <p:sp>
        <p:nvSpPr>
          <p:cNvPr id="37" name="Rectangle 36"/>
          <p:cNvSpPr/>
          <p:nvPr/>
        </p:nvSpPr>
        <p:spPr>
          <a:xfrm>
            <a:off x="274320" y="5943600"/>
            <a:ext cx="3657600" cy="320040"/>
          </a:xfrm>
          <a:prstGeom prst="rect">
            <a:avLst/>
          </a:prstGeom>
          <a:solidFill>
            <a:srgbClr val="009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365760" y="5980176"/>
            <a:ext cx="3474720" cy="256032"/>
          </a:xfrm>
          <a:prstGeom prst="rect">
            <a:avLst/>
          </a:prstGeom>
          <a:noFill/>
        </p:spPr>
        <p:txBody>
          <a:bodyPr wrap="square">
            <a:spAutoFit/>
          </a:bodyPr>
          <a:lstStyle/>
          <a:p>
            <a:pPr algn="l">
              <a:spcAft>
                <a:spcPts val="200"/>
              </a:spcAft>
              <a:defRPr sz="650" b="1">
                <a:solidFill>
                  <a:srgbClr val="FFFFFF"/>
                </a:solidFill>
                <a:latin typeface="Calibri"/>
              </a:defRPr>
            </a:pPr>
            <a:r>
              <a:t>INDUSTRY: Insurance</a:t>
            </a:r>
          </a:p>
        </p:txBody>
      </p:sp>
      <p:sp>
        <p:nvSpPr>
          <p:cNvPr id="39" name="Rectangle 38"/>
          <p:cNvSpPr/>
          <p:nvPr/>
        </p:nvSpPr>
        <p:spPr>
          <a:xfrm>
            <a:off x="4114800" y="5943600"/>
            <a:ext cx="3657600" cy="320040"/>
          </a:xfrm>
          <a:prstGeom prst="rect">
            <a:avLst/>
          </a:prstGeom>
          <a:solidFill>
            <a:srgbClr val="008F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4206240" y="5980176"/>
            <a:ext cx="3474720" cy="256032"/>
          </a:xfrm>
          <a:prstGeom prst="rect">
            <a:avLst/>
          </a:prstGeom>
          <a:noFill/>
        </p:spPr>
        <p:txBody>
          <a:bodyPr wrap="square">
            <a:spAutoFit/>
          </a:bodyPr>
          <a:lstStyle/>
          <a:p>
            <a:pPr algn="l">
              <a:spcAft>
                <a:spcPts val="200"/>
              </a:spcAft>
              <a:defRPr sz="650" b="1">
                <a:solidFill>
                  <a:srgbClr val="FFFFFF"/>
                </a:solidFill>
                <a:latin typeface="Calibri"/>
              </a:defRPr>
            </a:pPr>
            <a:r>
              <a:t>AGENT TYPE: Customer Agent + Data Agent</a:t>
            </a:r>
          </a:p>
        </p:txBody>
      </p:sp>
      <p:pic>
        <p:nvPicPr>
          <p:cNvPr id="41" name="Picture 40" descr="image.jpg"/>
          <p:cNvPicPr>
            <a:picLocks noChangeAspect="1"/>
          </p:cNvPicPr>
          <p:nvPr/>
        </p:nvPicPr>
        <p:blipFill>
          <a:blip r:embed="rId2"/>
          <a:stretch>
            <a:fillRect/>
          </a:stretch>
        </p:blipFill>
        <p:spPr>
          <a:xfrm>
            <a:off x="8076895" y="0"/>
            <a:ext cx="4114800" cy="6858000"/>
          </a:xfrm>
          <a:prstGeom prst="rect">
            <a:avLst/>
          </a:prstGeom>
        </p:spPr>
      </p:pic>
      <p:sp>
        <p:nvSpPr>
          <p:cNvPr id="42" name="TextBox 41"/>
          <p:cNvSpPr txBox="1"/>
          <p:nvPr/>
        </p:nvSpPr>
        <p:spPr>
          <a:xfrm>
            <a:off x="274320" y="6492240"/>
            <a:ext cx="4572000" cy="274320"/>
          </a:xfrm>
          <a:prstGeom prst="rect">
            <a:avLst/>
          </a:prstGeom>
          <a:noFill/>
        </p:spPr>
        <p:txBody>
          <a:bodyPr wrap="square">
            <a:spAutoFit/>
          </a:bodyPr>
          <a:lstStyle/>
          <a:p>
            <a:pPr algn="l">
              <a:spcAft>
                <a:spcPts val="200"/>
              </a:spcAft>
              <a:defRPr sz="700" b="0">
                <a:solidFill>
                  <a:srgbClr val="888888"/>
                </a:solidFill>
                <a:latin typeface="Calibri"/>
              </a:defRPr>
            </a:pPr>
            <a:r>
              <a:t>Agentic AI Use Cases Across Industries | Confidential</a:t>
            </a:r>
          </a:p>
        </p:txBody>
      </p:sp>
      <p:sp>
        <p:nvSpPr>
          <p:cNvPr id="43" name="TextBox 42"/>
          <p:cNvSpPr txBox="1"/>
          <p:nvPr/>
        </p:nvSpPr>
        <p:spPr>
          <a:xfrm>
            <a:off x="11094415" y="6492240"/>
            <a:ext cx="822960" cy="274320"/>
          </a:xfrm>
          <a:prstGeom prst="rect">
            <a:avLst/>
          </a:prstGeom>
          <a:noFill/>
        </p:spPr>
        <p:txBody>
          <a:bodyPr wrap="square">
            <a:spAutoFit/>
          </a:bodyPr>
          <a:lstStyle/>
          <a:p>
            <a:pPr algn="r">
              <a:spcAft>
                <a:spcPts val="200"/>
              </a:spcAft>
              <a:defRPr sz="700" b="0">
                <a:solidFill>
                  <a:srgbClr val="888888"/>
                </a:solidFill>
                <a:latin typeface="Calibri"/>
              </a:defRPr>
            </a:pPr>
            <a:r>
              <a:t>7 / 46</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8076895" cy="6858000"/>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82880"/>
            <a:ext cx="7436815" cy="502920"/>
          </a:xfrm>
          <a:prstGeom prst="rect">
            <a:avLst/>
          </a:prstGeom>
          <a:noFill/>
        </p:spPr>
        <p:txBody>
          <a:bodyPr wrap="square">
            <a:spAutoFit/>
          </a:bodyPr>
          <a:lstStyle/>
          <a:p>
            <a:pPr algn="l">
              <a:spcAft>
                <a:spcPts val="200"/>
              </a:spcAft>
              <a:defRPr sz="2000" b="1">
                <a:solidFill>
                  <a:srgbClr val="FFFFFF"/>
                </a:solidFill>
                <a:latin typeface="Calibri"/>
              </a:defRPr>
            </a:pPr>
            <a:r>
              <a:t>UC02 | AIG — Agentic Underwriting Ecosystem</a:t>
            </a:r>
          </a:p>
        </p:txBody>
      </p:sp>
      <p:sp>
        <p:nvSpPr>
          <p:cNvPr id="4" name="Rectangle 3"/>
          <p:cNvSpPr/>
          <p:nvPr/>
        </p:nvSpPr>
        <p:spPr>
          <a:xfrm>
            <a:off x="365760" y="658368"/>
            <a:ext cx="1828800" cy="27432"/>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777240"/>
            <a:ext cx="1371600" cy="182880"/>
          </a:xfrm>
          <a:prstGeom prst="rect">
            <a:avLst/>
          </a:prstGeom>
          <a:noFill/>
        </p:spPr>
        <p:txBody>
          <a:bodyPr wrap="square">
            <a:spAutoFit/>
          </a:bodyPr>
          <a:lstStyle/>
          <a:p>
            <a:pPr algn="l">
              <a:spcAft>
                <a:spcPts val="200"/>
              </a:spcAft>
              <a:defRPr sz="800" b="1">
                <a:solidFill>
                  <a:srgbClr val="0A1628"/>
                </a:solidFill>
                <a:latin typeface="Calibri"/>
              </a:defRPr>
            </a:pPr>
            <a:r>
              <a:t>CHALLENGE</a:t>
            </a:r>
          </a:p>
        </p:txBody>
      </p:sp>
      <p:sp>
        <p:nvSpPr>
          <p:cNvPr id="6" name="TextBox 5"/>
          <p:cNvSpPr txBox="1"/>
          <p:nvPr/>
        </p:nvSpPr>
        <p:spPr>
          <a:xfrm>
            <a:off x="365760" y="960120"/>
            <a:ext cx="3520440" cy="1280160"/>
          </a:xfrm>
          <a:prstGeom prst="rect">
            <a:avLst/>
          </a:prstGeom>
          <a:noFill/>
        </p:spPr>
        <p:txBody>
          <a:bodyPr wrap="square">
            <a:spAutoFit/>
          </a:bodyPr>
          <a:lstStyle/>
          <a:p>
            <a:pPr algn="l">
              <a:spcAft>
                <a:spcPts val="200"/>
              </a:spcAft>
              <a:defRPr sz="750" b="0">
                <a:solidFill>
                  <a:srgbClr val="0A1628"/>
                </a:solidFill>
                <a:latin typeface="Calibri"/>
              </a:defRPr>
            </a:pPr>
            <a:r>
              <a:t>• 370,000+ excess and surplus submissions to process in 2025</a:t>
            </a:r>
            <a:br/>
            <a:r>
              <a:t>• Sequential department handoffs created bottlenecks</a:t>
            </a:r>
            <a:br/>
            <a:r>
              <a:t>• Underwriters spent time on low-conversion submissions</a:t>
            </a:r>
            <a:br/>
            <a:r>
              <a:t>• No mechanism to predict which submissions would convert</a:t>
            </a:r>
          </a:p>
        </p:txBody>
      </p:sp>
      <p:sp>
        <p:nvSpPr>
          <p:cNvPr id="7" name="TextBox 6"/>
          <p:cNvSpPr txBox="1"/>
          <p:nvPr/>
        </p:nvSpPr>
        <p:spPr>
          <a:xfrm>
            <a:off x="4023360" y="777240"/>
            <a:ext cx="1828800" cy="182880"/>
          </a:xfrm>
          <a:prstGeom prst="rect">
            <a:avLst/>
          </a:prstGeom>
          <a:noFill/>
        </p:spPr>
        <p:txBody>
          <a:bodyPr wrap="square">
            <a:spAutoFit/>
          </a:bodyPr>
          <a:lstStyle/>
          <a:p>
            <a:pPr algn="l">
              <a:spcAft>
                <a:spcPts val="200"/>
              </a:spcAft>
              <a:defRPr sz="800" b="1">
                <a:solidFill>
                  <a:srgbClr val="0A1628"/>
                </a:solidFill>
                <a:latin typeface="Calibri"/>
              </a:defRPr>
            </a:pPr>
            <a:r>
              <a:t>AGENTIC SOLUTION</a:t>
            </a:r>
          </a:p>
        </p:txBody>
      </p:sp>
      <p:sp>
        <p:nvSpPr>
          <p:cNvPr id="8" name="TextBox 7"/>
          <p:cNvSpPr txBox="1"/>
          <p:nvPr/>
        </p:nvSpPr>
        <p:spPr>
          <a:xfrm>
            <a:off x="4023360" y="960120"/>
            <a:ext cx="3520440" cy="1280160"/>
          </a:xfrm>
          <a:prstGeom prst="rect">
            <a:avLst/>
          </a:prstGeom>
          <a:noFill/>
        </p:spPr>
        <p:txBody>
          <a:bodyPr wrap="square">
            <a:spAutoFit/>
          </a:bodyPr>
          <a:lstStyle/>
          <a:p>
            <a:pPr algn="l">
              <a:spcAft>
                <a:spcPts val="200"/>
              </a:spcAft>
              <a:defRPr sz="750" b="0">
                <a:solidFill>
                  <a:srgbClr val="0A1628"/>
                </a:solidFill>
                <a:latin typeface="Calibri"/>
              </a:defRPr>
            </a:pPr>
            <a:r>
              <a:t>• Coordinated system of autonomous agents working in parallel</a:t>
            </a:r>
            <a:br/>
            <a:r>
              <a:t>• Data ingestion agents auto-categorize broker submissions</a:t>
            </a:r>
            <a:br/>
            <a:r>
              <a:t>• Risk prioritization agents score binding probability</a:t>
            </a:r>
            <a:br/>
            <a:r>
              <a:t>• Decision support agents surface relevant historical cases</a:t>
            </a:r>
          </a:p>
        </p:txBody>
      </p:sp>
      <p:sp>
        <p:nvSpPr>
          <p:cNvPr id="9" name="Rectangle 8"/>
          <p:cNvSpPr/>
          <p:nvPr/>
        </p:nvSpPr>
        <p:spPr>
          <a:xfrm>
            <a:off x="365760"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65760"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370K+</a:t>
            </a:r>
          </a:p>
        </p:txBody>
      </p:sp>
      <p:sp>
        <p:nvSpPr>
          <p:cNvPr id="11" name="TextBox 10"/>
          <p:cNvSpPr txBox="1"/>
          <p:nvPr/>
        </p:nvSpPr>
        <p:spPr>
          <a:xfrm>
            <a:off x="365760"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Submissions</a:t>
            </a:r>
            <a:br/>
            <a:r>
              <a:t>processed</a:t>
            </a:r>
          </a:p>
        </p:txBody>
      </p:sp>
      <p:sp>
        <p:nvSpPr>
          <p:cNvPr id="12" name="Rectangle 11"/>
          <p:cNvSpPr/>
          <p:nvPr/>
        </p:nvSpPr>
        <p:spPr>
          <a:xfrm>
            <a:off x="2240279"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240279"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2-5x</a:t>
            </a:r>
          </a:p>
        </p:txBody>
      </p:sp>
      <p:sp>
        <p:nvSpPr>
          <p:cNvPr id="14" name="TextBox 13"/>
          <p:cNvSpPr txBox="1"/>
          <p:nvPr/>
        </p:nvSpPr>
        <p:spPr>
          <a:xfrm>
            <a:off x="2240279"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Faster end-to-end</a:t>
            </a:r>
            <a:br/>
            <a:r>
              <a:t>underwriting</a:t>
            </a:r>
          </a:p>
        </p:txBody>
      </p:sp>
      <p:sp>
        <p:nvSpPr>
          <p:cNvPr id="15" name="Rectangle 14"/>
          <p:cNvSpPr/>
          <p:nvPr/>
        </p:nvSpPr>
        <p:spPr>
          <a:xfrm>
            <a:off x="4114799"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114799"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100%</a:t>
            </a:r>
          </a:p>
        </p:txBody>
      </p:sp>
      <p:sp>
        <p:nvSpPr>
          <p:cNvPr id="17" name="TextBox 16"/>
          <p:cNvSpPr txBox="1"/>
          <p:nvPr/>
        </p:nvSpPr>
        <p:spPr>
          <a:xfrm>
            <a:off x="4114799"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Financial lines</a:t>
            </a:r>
            <a:br/>
            <a:r>
              <a:t>review coverage</a:t>
            </a:r>
          </a:p>
        </p:txBody>
      </p:sp>
      <p:sp>
        <p:nvSpPr>
          <p:cNvPr id="18" name="Rectangle 17"/>
          <p:cNvSpPr/>
          <p:nvPr/>
        </p:nvSpPr>
        <p:spPr>
          <a:xfrm>
            <a:off x="5989319"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989319"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$1B</a:t>
            </a:r>
          </a:p>
        </p:txBody>
      </p:sp>
      <p:sp>
        <p:nvSpPr>
          <p:cNvPr id="20" name="TextBox 19"/>
          <p:cNvSpPr txBox="1"/>
          <p:nvPr/>
        </p:nvSpPr>
        <p:spPr>
          <a:xfrm>
            <a:off x="5989319"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Technology</a:t>
            </a:r>
            <a:br/>
            <a:r>
              <a:t>investment</a:t>
            </a:r>
          </a:p>
        </p:txBody>
      </p:sp>
      <p:sp>
        <p:nvSpPr>
          <p:cNvPr id="21" name="TextBox 20"/>
          <p:cNvSpPr txBox="1"/>
          <p:nvPr/>
        </p:nvSpPr>
        <p:spPr>
          <a:xfrm>
            <a:off x="365760" y="3246120"/>
            <a:ext cx="1828800" cy="182880"/>
          </a:xfrm>
          <a:prstGeom prst="rect">
            <a:avLst/>
          </a:prstGeom>
          <a:noFill/>
        </p:spPr>
        <p:txBody>
          <a:bodyPr wrap="square">
            <a:spAutoFit/>
          </a:bodyPr>
          <a:lstStyle/>
          <a:p>
            <a:pPr algn="l">
              <a:spcAft>
                <a:spcPts val="200"/>
              </a:spcAft>
              <a:defRPr sz="800" b="1">
                <a:solidFill>
                  <a:srgbClr val="0A1628"/>
                </a:solidFill>
                <a:latin typeface="Calibri"/>
              </a:defRPr>
            </a:pPr>
            <a:r>
              <a:t>HOW IT WORKS</a:t>
            </a:r>
          </a:p>
        </p:txBody>
      </p:sp>
      <p:sp>
        <p:nvSpPr>
          <p:cNvPr id="22" name="TextBox 21"/>
          <p:cNvSpPr txBox="1"/>
          <p:nvPr/>
        </p:nvSpPr>
        <p:spPr>
          <a:xfrm>
            <a:off x="365760" y="3429000"/>
            <a:ext cx="7436815" cy="594360"/>
          </a:xfrm>
          <a:prstGeom prst="rect">
            <a:avLst/>
          </a:prstGeom>
          <a:noFill/>
        </p:spPr>
        <p:txBody>
          <a:bodyPr wrap="square">
            <a:spAutoFit/>
          </a:bodyPr>
          <a:lstStyle/>
          <a:p>
            <a:pPr algn="l">
              <a:spcAft>
                <a:spcPts val="200"/>
              </a:spcAft>
              <a:defRPr sz="700" b="0">
                <a:solidFill>
                  <a:srgbClr val="0A1628"/>
                </a:solidFill>
                <a:latin typeface="Calibri"/>
              </a:defRPr>
            </a:pPr>
            <a:r>
              <a:t>→ Ingest data from 30+ approved third-party sources + internal datasets</a:t>
            </a:r>
            <a:br/>
            <a:r>
              <a:t>→ LLMs classify documents and extract structured data</a:t>
            </a:r>
            <a:br/>
            <a:r>
              <a:t>→ Propensity scoring predicts conversion before underwriter review</a:t>
            </a:r>
            <a:br/>
            <a:r>
              <a:t>→ Portfolio agents run continuous risk simulations</a:t>
            </a:r>
          </a:p>
        </p:txBody>
      </p:sp>
      <p:sp>
        <p:nvSpPr>
          <p:cNvPr id="23" name="TextBox 22"/>
          <p:cNvSpPr txBox="1"/>
          <p:nvPr/>
        </p:nvSpPr>
        <p:spPr>
          <a:xfrm>
            <a:off x="365760" y="4069080"/>
            <a:ext cx="3200400" cy="182880"/>
          </a:xfrm>
          <a:prstGeom prst="rect">
            <a:avLst/>
          </a:prstGeom>
          <a:noFill/>
        </p:spPr>
        <p:txBody>
          <a:bodyPr wrap="square">
            <a:spAutoFit/>
          </a:bodyPr>
          <a:lstStyle/>
          <a:p>
            <a:pPr algn="l">
              <a:spcAft>
                <a:spcPts val="200"/>
              </a:spcAft>
              <a:defRPr sz="750" b="1">
                <a:solidFill>
                  <a:srgbClr val="0A1628"/>
                </a:solidFill>
                <a:latin typeface="Calibri"/>
              </a:defRPr>
            </a:pPr>
            <a:r>
              <a:t>AGENT ARCHITECTURE</a:t>
            </a:r>
          </a:p>
        </p:txBody>
      </p:sp>
      <p:sp>
        <p:nvSpPr>
          <p:cNvPr id="24" name="TextBox 23"/>
          <p:cNvSpPr txBox="1"/>
          <p:nvPr/>
        </p:nvSpPr>
        <p:spPr>
          <a:xfrm>
            <a:off x="365760" y="4251960"/>
            <a:ext cx="3520440" cy="777240"/>
          </a:xfrm>
          <a:prstGeom prst="rect">
            <a:avLst/>
          </a:prstGeom>
          <a:noFill/>
        </p:spPr>
        <p:txBody>
          <a:bodyPr wrap="square">
            <a:spAutoFit/>
          </a:bodyPr>
          <a:lstStyle/>
          <a:p>
            <a:pPr algn="l">
              <a:spcAft>
                <a:spcPts val="200"/>
              </a:spcAft>
              <a:defRPr sz="700" b="0">
                <a:solidFill>
                  <a:srgbClr val="0A1628"/>
                </a:solidFill>
                <a:latin typeface="Calibri"/>
              </a:defRPr>
            </a:pPr>
            <a:r>
              <a:t>• 4 coordinated agent types running in parallel</a:t>
            </a:r>
            <a:br/>
            <a:r>
              <a:t>• Data Ingestion → Risk Prioritization → Decision Support → Portfolio</a:t>
            </a:r>
            <a:br/>
            <a:r>
              <a:t>• Propensity scoring: predict conversion before human time invested</a:t>
            </a:r>
            <a:br/>
            <a:r>
              <a:t>• One underwriter now handles workload of five</a:t>
            </a:r>
          </a:p>
        </p:txBody>
      </p:sp>
      <p:sp>
        <p:nvSpPr>
          <p:cNvPr id="25" name="TextBox 24"/>
          <p:cNvSpPr txBox="1"/>
          <p:nvPr/>
        </p:nvSpPr>
        <p:spPr>
          <a:xfrm>
            <a:off x="4023360" y="4069080"/>
            <a:ext cx="3200400" cy="182880"/>
          </a:xfrm>
          <a:prstGeom prst="rect">
            <a:avLst/>
          </a:prstGeom>
          <a:noFill/>
        </p:spPr>
        <p:txBody>
          <a:bodyPr wrap="square">
            <a:spAutoFit/>
          </a:bodyPr>
          <a:lstStyle/>
          <a:p>
            <a:pPr algn="l">
              <a:spcAft>
                <a:spcPts val="200"/>
              </a:spcAft>
              <a:defRPr sz="750" b="1">
                <a:solidFill>
                  <a:srgbClr val="0A1628"/>
                </a:solidFill>
                <a:latin typeface="Calibri"/>
              </a:defRPr>
            </a:pPr>
            <a:r>
              <a:t>GOVERNANCE &amp; COMPLIANCE</a:t>
            </a:r>
          </a:p>
        </p:txBody>
      </p:sp>
      <p:sp>
        <p:nvSpPr>
          <p:cNvPr id="26" name="TextBox 25"/>
          <p:cNvSpPr txBox="1"/>
          <p:nvPr/>
        </p:nvSpPr>
        <p:spPr>
          <a:xfrm>
            <a:off x="4023360" y="4251960"/>
            <a:ext cx="3520440" cy="777240"/>
          </a:xfrm>
          <a:prstGeom prst="rect">
            <a:avLst/>
          </a:prstGeom>
          <a:noFill/>
        </p:spPr>
        <p:txBody>
          <a:bodyPr wrap="square">
            <a:spAutoFit/>
          </a:bodyPr>
          <a:lstStyle/>
          <a:p>
            <a:pPr algn="l">
              <a:spcAft>
                <a:spcPts val="200"/>
              </a:spcAft>
              <a:defRPr sz="700" b="0">
                <a:solidFill>
                  <a:srgbClr val="0A1628"/>
                </a:solidFill>
                <a:latin typeface="Calibri"/>
              </a:defRPr>
            </a:pPr>
            <a:r>
              <a:t>• AIG Assist rolled out across most commercial lines in 2025</a:t>
            </a:r>
            <a:br/>
            <a:r>
              <a:t>• Real-time portfolio optimization through risk simulations</a:t>
            </a:r>
            <a:br/>
            <a:r>
              <a:t>• Surpassed 2030 target of 500K submissions ahead of schedule</a:t>
            </a:r>
          </a:p>
        </p:txBody>
      </p:sp>
      <p:sp>
        <p:nvSpPr>
          <p:cNvPr id="27" name="Rectangle 26"/>
          <p:cNvSpPr/>
          <p:nvPr/>
        </p:nvSpPr>
        <p:spPr>
          <a:xfrm>
            <a:off x="274320" y="5074920"/>
            <a:ext cx="7619695" cy="77724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65760" y="5111496"/>
            <a:ext cx="1828800" cy="164592"/>
          </a:xfrm>
          <a:prstGeom prst="rect">
            <a:avLst/>
          </a:prstGeom>
          <a:noFill/>
        </p:spPr>
        <p:txBody>
          <a:bodyPr wrap="square">
            <a:spAutoFit/>
          </a:bodyPr>
          <a:lstStyle/>
          <a:p>
            <a:pPr algn="l">
              <a:spcAft>
                <a:spcPts val="200"/>
              </a:spcAft>
              <a:defRPr sz="750" b="1">
                <a:solidFill>
                  <a:srgbClr val="00C9A7"/>
                </a:solidFill>
                <a:latin typeface="Calibri"/>
              </a:defRPr>
            </a:pPr>
            <a:r>
              <a:t>TECHNOLOGY STACK</a:t>
            </a:r>
          </a:p>
        </p:txBody>
      </p:sp>
      <p:sp>
        <p:nvSpPr>
          <p:cNvPr id="29" name="TextBox 28"/>
          <p:cNvSpPr txBox="1"/>
          <p:nvPr/>
        </p:nvSpPr>
        <p:spPr>
          <a:xfrm>
            <a:off x="365760"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AI/ML</a:t>
            </a:r>
          </a:p>
        </p:txBody>
      </p:sp>
      <p:sp>
        <p:nvSpPr>
          <p:cNvPr id="30" name="TextBox 29"/>
          <p:cNvSpPr txBox="1"/>
          <p:nvPr/>
        </p:nvSpPr>
        <p:spPr>
          <a:xfrm>
            <a:off x="365760"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LLMs for document</a:t>
            </a:r>
            <a:br/>
            <a:r>
              <a:t>classification</a:t>
            </a:r>
          </a:p>
        </p:txBody>
      </p:sp>
      <p:sp>
        <p:nvSpPr>
          <p:cNvPr id="31" name="TextBox 30"/>
          <p:cNvSpPr txBox="1"/>
          <p:nvPr/>
        </p:nvSpPr>
        <p:spPr>
          <a:xfrm>
            <a:off x="2240279"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Data</a:t>
            </a:r>
          </a:p>
        </p:txBody>
      </p:sp>
      <p:sp>
        <p:nvSpPr>
          <p:cNvPr id="32" name="TextBox 31"/>
          <p:cNvSpPr txBox="1"/>
          <p:nvPr/>
        </p:nvSpPr>
        <p:spPr>
          <a:xfrm>
            <a:off x="2240279"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30+ third-party</a:t>
            </a:r>
            <a:br/>
            <a:r>
              <a:t>sources integrated</a:t>
            </a:r>
          </a:p>
        </p:txBody>
      </p:sp>
      <p:sp>
        <p:nvSpPr>
          <p:cNvPr id="33" name="TextBox 32"/>
          <p:cNvSpPr txBox="1"/>
          <p:nvPr/>
        </p:nvSpPr>
        <p:spPr>
          <a:xfrm>
            <a:off x="4114799"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Scoring</a:t>
            </a:r>
          </a:p>
        </p:txBody>
      </p:sp>
      <p:sp>
        <p:nvSpPr>
          <p:cNvPr id="34" name="TextBox 33"/>
          <p:cNvSpPr txBox="1"/>
          <p:nvPr/>
        </p:nvSpPr>
        <p:spPr>
          <a:xfrm>
            <a:off x="4114799"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Propensity +</a:t>
            </a:r>
            <a:br/>
            <a:r>
              <a:t>binding probability</a:t>
            </a:r>
          </a:p>
        </p:txBody>
      </p:sp>
      <p:sp>
        <p:nvSpPr>
          <p:cNvPr id="35" name="TextBox 34"/>
          <p:cNvSpPr txBox="1"/>
          <p:nvPr/>
        </p:nvSpPr>
        <p:spPr>
          <a:xfrm>
            <a:off x="5989319"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Portfolio</a:t>
            </a:r>
          </a:p>
        </p:txBody>
      </p:sp>
      <p:sp>
        <p:nvSpPr>
          <p:cNvPr id="36" name="TextBox 35"/>
          <p:cNvSpPr txBox="1"/>
          <p:nvPr/>
        </p:nvSpPr>
        <p:spPr>
          <a:xfrm>
            <a:off x="5989319"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Continuous risk</a:t>
            </a:r>
            <a:br/>
            <a:r>
              <a:t>simulation engine</a:t>
            </a:r>
          </a:p>
        </p:txBody>
      </p:sp>
      <p:sp>
        <p:nvSpPr>
          <p:cNvPr id="37" name="Rectangle 36"/>
          <p:cNvSpPr/>
          <p:nvPr/>
        </p:nvSpPr>
        <p:spPr>
          <a:xfrm>
            <a:off x="274320" y="5943600"/>
            <a:ext cx="3657600" cy="320040"/>
          </a:xfrm>
          <a:prstGeom prst="rect">
            <a:avLst/>
          </a:prstGeom>
          <a:solidFill>
            <a:srgbClr val="009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365760" y="5980176"/>
            <a:ext cx="3474720" cy="256032"/>
          </a:xfrm>
          <a:prstGeom prst="rect">
            <a:avLst/>
          </a:prstGeom>
          <a:noFill/>
        </p:spPr>
        <p:txBody>
          <a:bodyPr wrap="square">
            <a:spAutoFit/>
          </a:bodyPr>
          <a:lstStyle/>
          <a:p>
            <a:pPr algn="l">
              <a:spcAft>
                <a:spcPts val="200"/>
              </a:spcAft>
              <a:defRPr sz="650" b="1">
                <a:solidFill>
                  <a:srgbClr val="FFFFFF"/>
                </a:solidFill>
                <a:latin typeface="Calibri"/>
              </a:defRPr>
            </a:pPr>
            <a:r>
              <a:t>INDUSTRY: Insurance</a:t>
            </a:r>
          </a:p>
        </p:txBody>
      </p:sp>
      <p:sp>
        <p:nvSpPr>
          <p:cNvPr id="39" name="Rectangle 38"/>
          <p:cNvSpPr/>
          <p:nvPr/>
        </p:nvSpPr>
        <p:spPr>
          <a:xfrm>
            <a:off x="4114800" y="5943600"/>
            <a:ext cx="3657600" cy="320040"/>
          </a:xfrm>
          <a:prstGeom prst="rect">
            <a:avLst/>
          </a:prstGeom>
          <a:solidFill>
            <a:srgbClr val="008F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4206240" y="5980176"/>
            <a:ext cx="3474720" cy="256032"/>
          </a:xfrm>
          <a:prstGeom prst="rect">
            <a:avLst/>
          </a:prstGeom>
          <a:noFill/>
        </p:spPr>
        <p:txBody>
          <a:bodyPr wrap="square">
            <a:spAutoFit/>
          </a:bodyPr>
          <a:lstStyle/>
          <a:p>
            <a:pPr algn="l">
              <a:spcAft>
                <a:spcPts val="200"/>
              </a:spcAft>
              <a:defRPr sz="650" b="1">
                <a:solidFill>
                  <a:srgbClr val="FFFFFF"/>
                </a:solidFill>
                <a:latin typeface="Calibri"/>
              </a:defRPr>
            </a:pPr>
            <a:r>
              <a:t>AGENT TYPE: Data Agent + Employee Agent</a:t>
            </a:r>
          </a:p>
        </p:txBody>
      </p:sp>
      <p:pic>
        <p:nvPicPr>
          <p:cNvPr id="41" name="Picture 40" descr="image.jpg"/>
          <p:cNvPicPr>
            <a:picLocks noChangeAspect="1"/>
          </p:cNvPicPr>
          <p:nvPr/>
        </p:nvPicPr>
        <p:blipFill>
          <a:blip r:embed="rId2"/>
          <a:stretch>
            <a:fillRect/>
          </a:stretch>
        </p:blipFill>
        <p:spPr>
          <a:xfrm>
            <a:off x="8076895" y="0"/>
            <a:ext cx="4114800" cy="6858000"/>
          </a:xfrm>
          <a:prstGeom prst="rect">
            <a:avLst/>
          </a:prstGeom>
        </p:spPr>
      </p:pic>
      <p:sp>
        <p:nvSpPr>
          <p:cNvPr id="42" name="TextBox 41"/>
          <p:cNvSpPr txBox="1"/>
          <p:nvPr/>
        </p:nvSpPr>
        <p:spPr>
          <a:xfrm>
            <a:off x="274320" y="6492240"/>
            <a:ext cx="4572000" cy="274320"/>
          </a:xfrm>
          <a:prstGeom prst="rect">
            <a:avLst/>
          </a:prstGeom>
          <a:noFill/>
        </p:spPr>
        <p:txBody>
          <a:bodyPr wrap="square">
            <a:spAutoFit/>
          </a:bodyPr>
          <a:lstStyle/>
          <a:p>
            <a:pPr algn="l">
              <a:spcAft>
                <a:spcPts val="200"/>
              </a:spcAft>
              <a:defRPr sz="700" b="0">
                <a:solidFill>
                  <a:srgbClr val="888888"/>
                </a:solidFill>
                <a:latin typeface="Calibri"/>
              </a:defRPr>
            </a:pPr>
            <a:r>
              <a:t>Agentic AI Use Cases Across Industries | Confidential</a:t>
            </a:r>
          </a:p>
        </p:txBody>
      </p:sp>
      <p:sp>
        <p:nvSpPr>
          <p:cNvPr id="43" name="TextBox 42"/>
          <p:cNvSpPr txBox="1"/>
          <p:nvPr/>
        </p:nvSpPr>
        <p:spPr>
          <a:xfrm>
            <a:off x="11094415" y="6492240"/>
            <a:ext cx="822960" cy="274320"/>
          </a:xfrm>
          <a:prstGeom prst="rect">
            <a:avLst/>
          </a:prstGeom>
          <a:noFill/>
        </p:spPr>
        <p:txBody>
          <a:bodyPr wrap="square">
            <a:spAutoFit/>
          </a:bodyPr>
          <a:lstStyle/>
          <a:p>
            <a:pPr algn="r">
              <a:spcAft>
                <a:spcPts val="200"/>
              </a:spcAft>
              <a:defRPr sz="700" b="0">
                <a:solidFill>
                  <a:srgbClr val="888888"/>
                </a:solidFill>
                <a:latin typeface="Calibri"/>
              </a:defRPr>
            </a:pPr>
            <a:r>
              <a:t>8 / 46</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8076895" cy="6858000"/>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82880"/>
            <a:ext cx="7436815" cy="502920"/>
          </a:xfrm>
          <a:prstGeom prst="rect">
            <a:avLst/>
          </a:prstGeom>
          <a:noFill/>
        </p:spPr>
        <p:txBody>
          <a:bodyPr wrap="square">
            <a:spAutoFit/>
          </a:bodyPr>
          <a:lstStyle/>
          <a:p>
            <a:pPr algn="l">
              <a:spcAft>
                <a:spcPts val="200"/>
              </a:spcAft>
              <a:defRPr sz="2000" b="1">
                <a:solidFill>
                  <a:srgbClr val="FFFFFF"/>
                </a:solidFill>
                <a:latin typeface="Calibri"/>
              </a:defRPr>
            </a:pPr>
            <a:r>
              <a:t>UC03 | Clariva Group — 5-Agent Claims Pipeline</a:t>
            </a:r>
          </a:p>
        </p:txBody>
      </p:sp>
      <p:sp>
        <p:nvSpPr>
          <p:cNvPr id="4" name="Rectangle 3"/>
          <p:cNvSpPr/>
          <p:nvPr/>
        </p:nvSpPr>
        <p:spPr>
          <a:xfrm>
            <a:off x="365760" y="658368"/>
            <a:ext cx="1828800" cy="27432"/>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777240"/>
            <a:ext cx="1371600" cy="182880"/>
          </a:xfrm>
          <a:prstGeom prst="rect">
            <a:avLst/>
          </a:prstGeom>
          <a:noFill/>
        </p:spPr>
        <p:txBody>
          <a:bodyPr wrap="square">
            <a:spAutoFit/>
          </a:bodyPr>
          <a:lstStyle/>
          <a:p>
            <a:pPr algn="l">
              <a:spcAft>
                <a:spcPts val="200"/>
              </a:spcAft>
              <a:defRPr sz="800" b="1">
                <a:solidFill>
                  <a:srgbClr val="0A1628"/>
                </a:solidFill>
                <a:latin typeface="Calibri"/>
              </a:defRPr>
            </a:pPr>
            <a:r>
              <a:t>CHALLENGE</a:t>
            </a:r>
          </a:p>
        </p:txBody>
      </p:sp>
      <p:sp>
        <p:nvSpPr>
          <p:cNvPr id="6" name="TextBox 5"/>
          <p:cNvSpPr txBox="1"/>
          <p:nvPr/>
        </p:nvSpPr>
        <p:spPr>
          <a:xfrm>
            <a:off x="365760" y="960120"/>
            <a:ext cx="3520440" cy="1280160"/>
          </a:xfrm>
          <a:prstGeom prst="rect">
            <a:avLst/>
          </a:prstGeom>
          <a:noFill/>
        </p:spPr>
        <p:txBody>
          <a:bodyPr wrap="square">
            <a:spAutoFit/>
          </a:bodyPr>
          <a:lstStyle/>
          <a:p>
            <a:pPr algn="l">
              <a:spcAft>
                <a:spcPts val="200"/>
              </a:spcAft>
              <a:defRPr sz="750" b="0">
                <a:solidFill>
                  <a:srgbClr val="0A1628"/>
                </a:solidFill>
                <a:latin typeface="Calibri"/>
              </a:defRPr>
            </a:pPr>
            <a:r>
              <a:t>• 14,000+ insurance claims per month, all manually reviewed</a:t>
            </a:r>
            <a:br/>
            <a:r>
              <a:t>• Experts buried in administrative intake and routing</a:t>
            </a:r>
            <a:br/>
            <a:r>
              <a:t>• Claimants waiting days for first response</a:t>
            </a:r>
            <a:br/>
            <a:r>
              <a:t>• Scaling meant hiring, and hiring couldn't keep up</a:t>
            </a:r>
          </a:p>
        </p:txBody>
      </p:sp>
      <p:sp>
        <p:nvSpPr>
          <p:cNvPr id="7" name="TextBox 6"/>
          <p:cNvSpPr txBox="1"/>
          <p:nvPr/>
        </p:nvSpPr>
        <p:spPr>
          <a:xfrm>
            <a:off x="4023360" y="777240"/>
            <a:ext cx="1828800" cy="182880"/>
          </a:xfrm>
          <a:prstGeom prst="rect">
            <a:avLst/>
          </a:prstGeom>
          <a:noFill/>
        </p:spPr>
        <p:txBody>
          <a:bodyPr wrap="square">
            <a:spAutoFit/>
          </a:bodyPr>
          <a:lstStyle/>
          <a:p>
            <a:pPr algn="l">
              <a:spcAft>
                <a:spcPts val="200"/>
              </a:spcAft>
              <a:defRPr sz="800" b="1">
                <a:solidFill>
                  <a:srgbClr val="0A1628"/>
                </a:solidFill>
                <a:latin typeface="Calibri"/>
              </a:defRPr>
            </a:pPr>
            <a:r>
              <a:t>AGENTIC SOLUTION</a:t>
            </a:r>
          </a:p>
        </p:txBody>
      </p:sp>
      <p:sp>
        <p:nvSpPr>
          <p:cNvPr id="8" name="TextBox 7"/>
          <p:cNvSpPr txBox="1"/>
          <p:nvPr/>
        </p:nvSpPr>
        <p:spPr>
          <a:xfrm>
            <a:off x="4023360" y="960120"/>
            <a:ext cx="3520440" cy="1280160"/>
          </a:xfrm>
          <a:prstGeom prst="rect">
            <a:avLst/>
          </a:prstGeom>
          <a:noFill/>
        </p:spPr>
        <p:txBody>
          <a:bodyPr wrap="square">
            <a:spAutoFit/>
          </a:bodyPr>
          <a:lstStyle/>
          <a:p>
            <a:pPr algn="l">
              <a:spcAft>
                <a:spcPts val="200"/>
              </a:spcAft>
              <a:defRPr sz="750" b="0">
                <a:solidFill>
                  <a:srgbClr val="0A1628"/>
                </a:solidFill>
                <a:latin typeface="Calibri"/>
              </a:defRPr>
            </a:pPr>
            <a:r>
              <a:t>• 5 autonomous agents: intake, document analysis, fraud, decision, comms</a:t>
            </a:r>
            <a:br/>
            <a:r>
              <a:t>• Agents pass structured context between stages, not raw data</a:t>
            </a:r>
            <a:br/>
            <a:r>
              <a:t>• Every decision logged and auditable</a:t>
            </a:r>
            <a:br/>
            <a:r>
              <a:t>• Human-in-the-loop for complex claims only</a:t>
            </a:r>
          </a:p>
        </p:txBody>
      </p:sp>
      <p:sp>
        <p:nvSpPr>
          <p:cNvPr id="9" name="Rectangle 8"/>
          <p:cNvSpPr/>
          <p:nvPr/>
        </p:nvSpPr>
        <p:spPr>
          <a:xfrm>
            <a:off x="365760"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65760"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73%</a:t>
            </a:r>
          </a:p>
        </p:txBody>
      </p:sp>
      <p:sp>
        <p:nvSpPr>
          <p:cNvPr id="11" name="TextBox 10"/>
          <p:cNvSpPr txBox="1"/>
          <p:nvPr/>
        </p:nvSpPr>
        <p:spPr>
          <a:xfrm>
            <a:off x="365760"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Claims resolved</a:t>
            </a:r>
            <a:br/>
            <a:r>
              <a:t>end-to-end</a:t>
            </a:r>
          </a:p>
        </p:txBody>
      </p:sp>
      <p:sp>
        <p:nvSpPr>
          <p:cNvPr id="12" name="Rectangle 11"/>
          <p:cNvSpPr/>
          <p:nvPr/>
        </p:nvSpPr>
        <p:spPr>
          <a:xfrm>
            <a:off x="2240279"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240279"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3.8d → 4h</a:t>
            </a:r>
          </a:p>
        </p:txBody>
      </p:sp>
      <p:sp>
        <p:nvSpPr>
          <p:cNvPr id="14" name="TextBox 13"/>
          <p:cNvSpPr txBox="1"/>
          <p:nvPr/>
        </p:nvSpPr>
        <p:spPr>
          <a:xfrm>
            <a:off x="2240279"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Average</a:t>
            </a:r>
            <a:br/>
            <a:r>
              <a:t>resolution time</a:t>
            </a:r>
          </a:p>
        </p:txBody>
      </p:sp>
      <p:sp>
        <p:nvSpPr>
          <p:cNvPr id="15" name="Rectangle 14"/>
          <p:cNvSpPr/>
          <p:nvPr/>
        </p:nvSpPr>
        <p:spPr>
          <a:xfrm>
            <a:off x="4114799"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114799"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27%</a:t>
            </a:r>
          </a:p>
        </p:txBody>
      </p:sp>
      <p:sp>
        <p:nvSpPr>
          <p:cNvPr id="17" name="TextBox 16"/>
          <p:cNvSpPr txBox="1"/>
          <p:nvPr/>
        </p:nvSpPr>
        <p:spPr>
          <a:xfrm>
            <a:off x="4114799"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Complex claims</a:t>
            </a:r>
            <a:br/>
            <a:r>
              <a:t>to human adjusters</a:t>
            </a:r>
          </a:p>
        </p:txBody>
      </p:sp>
      <p:sp>
        <p:nvSpPr>
          <p:cNvPr id="18" name="Rectangle 17"/>
          <p:cNvSpPr/>
          <p:nvPr/>
        </p:nvSpPr>
        <p:spPr>
          <a:xfrm>
            <a:off x="5989319"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989319"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100%</a:t>
            </a:r>
          </a:p>
        </p:txBody>
      </p:sp>
      <p:sp>
        <p:nvSpPr>
          <p:cNvPr id="20" name="TextBox 19"/>
          <p:cNvSpPr txBox="1"/>
          <p:nvPr/>
        </p:nvSpPr>
        <p:spPr>
          <a:xfrm>
            <a:off x="5989319"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Decision audit</a:t>
            </a:r>
            <a:br/>
            <a:r>
              <a:t>trail coverage</a:t>
            </a:r>
          </a:p>
        </p:txBody>
      </p:sp>
      <p:sp>
        <p:nvSpPr>
          <p:cNvPr id="21" name="TextBox 20"/>
          <p:cNvSpPr txBox="1"/>
          <p:nvPr/>
        </p:nvSpPr>
        <p:spPr>
          <a:xfrm>
            <a:off x="365760" y="3246120"/>
            <a:ext cx="1828800" cy="182880"/>
          </a:xfrm>
          <a:prstGeom prst="rect">
            <a:avLst/>
          </a:prstGeom>
          <a:noFill/>
        </p:spPr>
        <p:txBody>
          <a:bodyPr wrap="square">
            <a:spAutoFit/>
          </a:bodyPr>
          <a:lstStyle/>
          <a:p>
            <a:pPr algn="l">
              <a:spcAft>
                <a:spcPts val="200"/>
              </a:spcAft>
              <a:defRPr sz="800" b="1">
                <a:solidFill>
                  <a:srgbClr val="0A1628"/>
                </a:solidFill>
                <a:latin typeface="Calibri"/>
              </a:defRPr>
            </a:pPr>
            <a:r>
              <a:t>HOW IT WORKS</a:t>
            </a:r>
          </a:p>
        </p:txBody>
      </p:sp>
      <p:sp>
        <p:nvSpPr>
          <p:cNvPr id="22" name="TextBox 21"/>
          <p:cNvSpPr txBox="1"/>
          <p:nvPr/>
        </p:nvSpPr>
        <p:spPr>
          <a:xfrm>
            <a:off x="365760" y="3429000"/>
            <a:ext cx="7436815" cy="594360"/>
          </a:xfrm>
          <a:prstGeom prst="rect">
            <a:avLst/>
          </a:prstGeom>
          <a:noFill/>
        </p:spPr>
        <p:txBody>
          <a:bodyPr wrap="square">
            <a:spAutoFit/>
          </a:bodyPr>
          <a:lstStyle/>
          <a:p>
            <a:pPr algn="l">
              <a:spcAft>
                <a:spcPts val="200"/>
              </a:spcAft>
              <a:defRPr sz="700" b="0">
                <a:solidFill>
                  <a:srgbClr val="0A1628"/>
                </a:solidFill>
                <a:latin typeface="Calibri"/>
              </a:defRPr>
            </a:pPr>
            <a:r>
              <a:t>→ Agent 01: Extract structured fields, validate policy, route by type</a:t>
            </a:r>
            <a:br/>
            <a:r>
              <a:t>→ Agent 02: Analyze PDFs, photos, medical reports; flag coverage gaps</a:t>
            </a:r>
            <a:br/>
            <a:r>
              <a:t>→ Agent 03: Vector search against historical fraud patterns; score risk</a:t>
            </a:r>
            <a:br/>
            <a:r>
              <a:t>→ Agent 04: Generate settlement or adjuster brief; trigger payment</a:t>
            </a:r>
            <a:br/>
            <a:r>
              <a:t>→ Agent 05: Handle all claimant communication in natural language</a:t>
            </a:r>
          </a:p>
        </p:txBody>
      </p:sp>
      <p:sp>
        <p:nvSpPr>
          <p:cNvPr id="23" name="TextBox 22"/>
          <p:cNvSpPr txBox="1"/>
          <p:nvPr/>
        </p:nvSpPr>
        <p:spPr>
          <a:xfrm>
            <a:off x="365760" y="4069080"/>
            <a:ext cx="3200400" cy="182880"/>
          </a:xfrm>
          <a:prstGeom prst="rect">
            <a:avLst/>
          </a:prstGeom>
          <a:noFill/>
        </p:spPr>
        <p:txBody>
          <a:bodyPr wrap="square">
            <a:spAutoFit/>
          </a:bodyPr>
          <a:lstStyle/>
          <a:p>
            <a:pPr algn="l">
              <a:spcAft>
                <a:spcPts val="200"/>
              </a:spcAft>
              <a:defRPr sz="750" b="1">
                <a:solidFill>
                  <a:srgbClr val="0A1628"/>
                </a:solidFill>
                <a:latin typeface="Calibri"/>
              </a:defRPr>
            </a:pPr>
            <a:r>
              <a:t>AGENT ARCHITECTURE</a:t>
            </a:r>
          </a:p>
        </p:txBody>
      </p:sp>
      <p:sp>
        <p:nvSpPr>
          <p:cNvPr id="24" name="TextBox 23"/>
          <p:cNvSpPr txBox="1"/>
          <p:nvPr/>
        </p:nvSpPr>
        <p:spPr>
          <a:xfrm>
            <a:off x="365760" y="4251960"/>
            <a:ext cx="3520440" cy="777240"/>
          </a:xfrm>
          <a:prstGeom prst="rect">
            <a:avLst/>
          </a:prstGeom>
          <a:noFill/>
        </p:spPr>
        <p:txBody>
          <a:bodyPr wrap="square">
            <a:spAutoFit/>
          </a:bodyPr>
          <a:lstStyle/>
          <a:p>
            <a:pPr algn="l">
              <a:spcAft>
                <a:spcPts val="200"/>
              </a:spcAft>
              <a:defRPr sz="700" b="0">
                <a:solidFill>
                  <a:srgbClr val="0A1628"/>
                </a:solidFill>
                <a:latin typeface="Calibri"/>
              </a:defRPr>
            </a:pPr>
            <a:r>
              <a:t>• Sequential pipeline: each agent has single responsibility</a:t>
            </a:r>
            <a:br/>
            <a:r>
              <a:t>• Fraud agent uses vector embeddings for semantic similarity search</a:t>
            </a:r>
            <a:br/>
            <a:r>
              <a:t>• Decision agent: auto-pay below threshold, brief above threshold</a:t>
            </a:r>
            <a:br/>
            <a:r>
              <a:t>• Comms agent: maintains conversation context via Assistants API</a:t>
            </a:r>
          </a:p>
        </p:txBody>
      </p:sp>
      <p:sp>
        <p:nvSpPr>
          <p:cNvPr id="25" name="TextBox 24"/>
          <p:cNvSpPr txBox="1"/>
          <p:nvPr/>
        </p:nvSpPr>
        <p:spPr>
          <a:xfrm>
            <a:off x="4023360" y="4069080"/>
            <a:ext cx="3200400" cy="182880"/>
          </a:xfrm>
          <a:prstGeom prst="rect">
            <a:avLst/>
          </a:prstGeom>
          <a:noFill/>
        </p:spPr>
        <p:txBody>
          <a:bodyPr wrap="square">
            <a:spAutoFit/>
          </a:bodyPr>
          <a:lstStyle/>
          <a:p>
            <a:pPr algn="l">
              <a:spcAft>
                <a:spcPts val="200"/>
              </a:spcAft>
              <a:defRPr sz="750" b="1">
                <a:solidFill>
                  <a:srgbClr val="0A1628"/>
                </a:solidFill>
                <a:latin typeface="Calibri"/>
              </a:defRPr>
            </a:pPr>
            <a:r>
              <a:t>GOVERNANCE &amp; COMPLIANCE</a:t>
            </a:r>
          </a:p>
        </p:txBody>
      </p:sp>
      <p:sp>
        <p:nvSpPr>
          <p:cNvPr id="26" name="TextBox 25"/>
          <p:cNvSpPr txBox="1"/>
          <p:nvPr/>
        </p:nvSpPr>
        <p:spPr>
          <a:xfrm>
            <a:off x="4023360" y="4251960"/>
            <a:ext cx="3520440" cy="777240"/>
          </a:xfrm>
          <a:prstGeom prst="rect">
            <a:avLst/>
          </a:prstGeom>
          <a:noFill/>
        </p:spPr>
        <p:txBody>
          <a:bodyPr wrap="square">
            <a:spAutoFit/>
          </a:bodyPr>
          <a:lstStyle/>
          <a:p>
            <a:pPr algn="l">
              <a:spcAft>
                <a:spcPts val="200"/>
              </a:spcAft>
              <a:defRPr sz="700" b="0">
                <a:solidFill>
                  <a:srgbClr val="0A1628"/>
                </a:solidFill>
                <a:latin typeface="Calibri"/>
              </a:defRPr>
            </a:pPr>
            <a:r>
              <a:t>• Each agent scoped to specific capability (no scope creep)</a:t>
            </a:r>
            <a:br/>
            <a:r>
              <a:t>• Human escalation built into agents 03 (fraud) and 04 (decision)</a:t>
            </a:r>
            <a:br/>
            <a:r>
              <a:t>• Full reasoning trace logged for every automated decision</a:t>
            </a:r>
          </a:p>
        </p:txBody>
      </p:sp>
      <p:sp>
        <p:nvSpPr>
          <p:cNvPr id="27" name="Rectangle 26"/>
          <p:cNvSpPr/>
          <p:nvPr/>
        </p:nvSpPr>
        <p:spPr>
          <a:xfrm>
            <a:off x="274320" y="5074920"/>
            <a:ext cx="7619695" cy="77724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65760" y="5111496"/>
            <a:ext cx="1828800" cy="164592"/>
          </a:xfrm>
          <a:prstGeom prst="rect">
            <a:avLst/>
          </a:prstGeom>
          <a:noFill/>
        </p:spPr>
        <p:txBody>
          <a:bodyPr wrap="square">
            <a:spAutoFit/>
          </a:bodyPr>
          <a:lstStyle/>
          <a:p>
            <a:pPr algn="l">
              <a:spcAft>
                <a:spcPts val="200"/>
              </a:spcAft>
              <a:defRPr sz="750" b="1">
                <a:solidFill>
                  <a:srgbClr val="00C9A7"/>
                </a:solidFill>
                <a:latin typeface="Calibri"/>
              </a:defRPr>
            </a:pPr>
            <a:r>
              <a:t>TECHNOLOGY STACK</a:t>
            </a:r>
          </a:p>
        </p:txBody>
      </p:sp>
      <p:sp>
        <p:nvSpPr>
          <p:cNvPr id="29" name="TextBox 28"/>
          <p:cNvSpPr txBox="1"/>
          <p:nvPr/>
        </p:nvSpPr>
        <p:spPr>
          <a:xfrm>
            <a:off x="365760"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Agents</a:t>
            </a:r>
          </a:p>
        </p:txBody>
      </p:sp>
      <p:sp>
        <p:nvSpPr>
          <p:cNvPr id="30" name="TextBox 29"/>
          <p:cNvSpPr txBox="1"/>
          <p:nvPr/>
        </p:nvSpPr>
        <p:spPr>
          <a:xfrm>
            <a:off x="365760"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5 OpenAI agents</a:t>
            </a:r>
            <a:br/>
            <a:r>
              <a:t>sequential pipeline</a:t>
            </a:r>
          </a:p>
        </p:txBody>
      </p:sp>
      <p:sp>
        <p:nvSpPr>
          <p:cNvPr id="31" name="TextBox 30"/>
          <p:cNvSpPr txBox="1"/>
          <p:nvPr/>
        </p:nvSpPr>
        <p:spPr>
          <a:xfrm>
            <a:off x="2240279"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Search</a:t>
            </a:r>
          </a:p>
        </p:txBody>
      </p:sp>
      <p:sp>
        <p:nvSpPr>
          <p:cNvPr id="32" name="TextBox 31"/>
          <p:cNvSpPr txBox="1"/>
          <p:nvPr/>
        </p:nvSpPr>
        <p:spPr>
          <a:xfrm>
            <a:off x="2240279"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Vector embeddings</a:t>
            </a:r>
            <a:br/>
            <a:r>
              <a:t>fraud detection</a:t>
            </a:r>
          </a:p>
        </p:txBody>
      </p:sp>
      <p:sp>
        <p:nvSpPr>
          <p:cNvPr id="33" name="TextBox 32"/>
          <p:cNvSpPr txBox="1"/>
          <p:nvPr/>
        </p:nvSpPr>
        <p:spPr>
          <a:xfrm>
            <a:off x="4114799"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Comms</a:t>
            </a:r>
          </a:p>
        </p:txBody>
      </p:sp>
      <p:sp>
        <p:nvSpPr>
          <p:cNvPr id="34" name="TextBox 33"/>
          <p:cNvSpPr txBox="1"/>
          <p:nvPr/>
        </p:nvSpPr>
        <p:spPr>
          <a:xfrm>
            <a:off x="4114799"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Assistants API</a:t>
            </a:r>
            <a:br/>
            <a:r>
              <a:t>conversation context</a:t>
            </a:r>
          </a:p>
        </p:txBody>
      </p:sp>
      <p:sp>
        <p:nvSpPr>
          <p:cNvPr id="35" name="TextBox 34"/>
          <p:cNvSpPr txBox="1"/>
          <p:nvPr/>
        </p:nvSpPr>
        <p:spPr>
          <a:xfrm>
            <a:off x="5989319"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Audit</a:t>
            </a:r>
          </a:p>
        </p:txBody>
      </p:sp>
      <p:sp>
        <p:nvSpPr>
          <p:cNvPr id="36" name="TextBox 35"/>
          <p:cNvSpPr txBox="1"/>
          <p:nvPr/>
        </p:nvSpPr>
        <p:spPr>
          <a:xfrm>
            <a:off x="5989319"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Full decision</a:t>
            </a:r>
            <a:br/>
            <a:r>
              <a:t>trail per claim</a:t>
            </a:r>
          </a:p>
        </p:txBody>
      </p:sp>
      <p:sp>
        <p:nvSpPr>
          <p:cNvPr id="37" name="Rectangle 36"/>
          <p:cNvSpPr/>
          <p:nvPr/>
        </p:nvSpPr>
        <p:spPr>
          <a:xfrm>
            <a:off x="274320" y="5943600"/>
            <a:ext cx="3657600" cy="320040"/>
          </a:xfrm>
          <a:prstGeom prst="rect">
            <a:avLst/>
          </a:prstGeom>
          <a:solidFill>
            <a:srgbClr val="009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365760" y="5980176"/>
            <a:ext cx="3474720" cy="256032"/>
          </a:xfrm>
          <a:prstGeom prst="rect">
            <a:avLst/>
          </a:prstGeom>
          <a:noFill/>
        </p:spPr>
        <p:txBody>
          <a:bodyPr wrap="square">
            <a:spAutoFit/>
          </a:bodyPr>
          <a:lstStyle/>
          <a:p>
            <a:pPr algn="l">
              <a:spcAft>
                <a:spcPts val="200"/>
              </a:spcAft>
              <a:defRPr sz="650" b="1">
                <a:solidFill>
                  <a:srgbClr val="FFFFFF"/>
                </a:solidFill>
                <a:latin typeface="Calibri"/>
              </a:defRPr>
            </a:pPr>
            <a:r>
              <a:t>INDUSTRY: Insurance</a:t>
            </a:r>
          </a:p>
        </p:txBody>
      </p:sp>
      <p:sp>
        <p:nvSpPr>
          <p:cNvPr id="39" name="Rectangle 38"/>
          <p:cNvSpPr/>
          <p:nvPr/>
        </p:nvSpPr>
        <p:spPr>
          <a:xfrm>
            <a:off x="4114800" y="5943600"/>
            <a:ext cx="3657600" cy="320040"/>
          </a:xfrm>
          <a:prstGeom prst="rect">
            <a:avLst/>
          </a:prstGeom>
          <a:solidFill>
            <a:srgbClr val="008F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4206240" y="5980176"/>
            <a:ext cx="3474720" cy="256032"/>
          </a:xfrm>
          <a:prstGeom prst="rect">
            <a:avLst/>
          </a:prstGeom>
          <a:noFill/>
        </p:spPr>
        <p:txBody>
          <a:bodyPr wrap="square">
            <a:spAutoFit/>
          </a:bodyPr>
          <a:lstStyle/>
          <a:p>
            <a:pPr algn="l">
              <a:spcAft>
                <a:spcPts val="200"/>
              </a:spcAft>
              <a:defRPr sz="650" b="1">
                <a:solidFill>
                  <a:srgbClr val="FFFFFF"/>
                </a:solidFill>
                <a:latin typeface="Calibri"/>
              </a:defRPr>
            </a:pPr>
            <a:r>
              <a:t>AGENT TYPE: Customer Agent + Security Agent</a:t>
            </a:r>
          </a:p>
        </p:txBody>
      </p:sp>
      <p:pic>
        <p:nvPicPr>
          <p:cNvPr id="41" name="Picture 40" descr="image.jpg"/>
          <p:cNvPicPr>
            <a:picLocks noChangeAspect="1"/>
          </p:cNvPicPr>
          <p:nvPr/>
        </p:nvPicPr>
        <p:blipFill>
          <a:blip r:embed="rId2"/>
          <a:stretch>
            <a:fillRect/>
          </a:stretch>
        </p:blipFill>
        <p:spPr>
          <a:xfrm>
            <a:off x="8076895" y="0"/>
            <a:ext cx="4114800" cy="6858000"/>
          </a:xfrm>
          <a:prstGeom prst="rect">
            <a:avLst/>
          </a:prstGeom>
        </p:spPr>
      </p:pic>
      <p:sp>
        <p:nvSpPr>
          <p:cNvPr id="42" name="TextBox 41"/>
          <p:cNvSpPr txBox="1"/>
          <p:nvPr/>
        </p:nvSpPr>
        <p:spPr>
          <a:xfrm>
            <a:off x="274320" y="6492240"/>
            <a:ext cx="4572000" cy="274320"/>
          </a:xfrm>
          <a:prstGeom prst="rect">
            <a:avLst/>
          </a:prstGeom>
          <a:noFill/>
        </p:spPr>
        <p:txBody>
          <a:bodyPr wrap="square">
            <a:spAutoFit/>
          </a:bodyPr>
          <a:lstStyle/>
          <a:p>
            <a:pPr algn="l">
              <a:spcAft>
                <a:spcPts val="200"/>
              </a:spcAft>
              <a:defRPr sz="700" b="0">
                <a:solidFill>
                  <a:srgbClr val="888888"/>
                </a:solidFill>
                <a:latin typeface="Calibri"/>
              </a:defRPr>
            </a:pPr>
            <a:r>
              <a:t>Agentic AI Use Cases Across Industries | Confidential</a:t>
            </a:r>
          </a:p>
        </p:txBody>
      </p:sp>
      <p:sp>
        <p:nvSpPr>
          <p:cNvPr id="43" name="TextBox 42"/>
          <p:cNvSpPr txBox="1"/>
          <p:nvPr/>
        </p:nvSpPr>
        <p:spPr>
          <a:xfrm>
            <a:off x="11094415" y="6492240"/>
            <a:ext cx="822960" cy="274320"/>
          </a:xfrm>
          <a:prstGeom prst="rect">
            <a:avLst/>
          </a:prstGeom>
          <a:noFill/>
        </p:spPr>
        <p:txBody>
          <a:bodyPr wrap="square">
            <a:spAutoFit/>
          </a:bodyPr>
          <a:lstStyle/>
          <a:p>
            <a:pPr algn="r">
              <a:spcAft>
                <a:spcPts val="200"/>
              </a:spcAft>
              <a:defRPr sz="700" b="0">
                <a:solidFill>
                  <a:srgbClr val="888888"/>
                </a:solidFill>
                <a:latin typeface="Calibri"/>
              </a:defRPr>
            </a:pPr>
            <a:r>
              <a:t>9 / 46</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8076895" cy="6858000"/>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82880"/>
            <a:ext cx="7436815" cy="502920"/>
          </a:xfrm>
          <a:prstGeom prst="rect">
            <a:avLst/>
          </a:prstGeom>
          <a:noFill/>
        </p:spPr>
        <p:txBody>
          <a:bodyPr wrap="square">
            <a:spAutoFit/>
          </a:bodyPr>
          <a:lstStyle/>
          <a:p>
            <a:pPr algn="l">
              <a:spcAft>
                <a:spcPts val="200"/>
              </a:spcAft>
              <a:defRPr sz="2000" b="1">
                <a:solidFill>
                  <a:srgbClr val="FFFFFF"/>
                </a:solidFill>
                <a:latin typeface="Calibri"/>
              </a:defRPr>
            </a:pPr>
            <a:r>
              <a:t>UC04 | Autonomous Commercial Underwriting</a:t>
            </a:r>
          </a:p>
        </p:txBody>
      </p:sp>
      <p:sp>
        <p:nvSpPr>
          <p:cNvPr id="4" name="Rectangle 3"/>
          <p:cNvSpPr/>
          <p:nvPr/>
        </p:nvSpPr>
        <p:spPr>
          <a:xfrm>
            <a:off x="365760" y="658368"/>
            <a:ext cx="1828800" cy="27432"/>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777240"/>
            <a:ext cx="1371600" cy="182880"/>
          </a:xfrm>
          <a:prstGeom prst="rect">
            <a:avLst/>
          </a:prstGeom>
          <a:noFill/>
        </p:spPr>
        <p:txBody>
          <a:bodyPr wrap="square">
            <a:spAutoFit/>
          </a:bodyPr>
          <a:lstStyle/>
          <a:p>
            <a:pPr algn="l">
              <a:spcAft>
                <a:spcPts val="200"/>
              </a:spcAft>
              <a:defRPr sz="800" b="1">
                <a:solidFill>
                  <a:srgbClr val="0A1628"/>
                </a:solidFill>
                <a:latin typeface="Calibri"/>
              </a:defRPr>
            </a:pPr>
            <a:r>
              <a:t>CHALLENGE</a:t>
            </a:r>
          </a:p>
        </p:txBody>
      </p:sp>
      <p:sp>
        <p:nvSpPr>
          <p:cNvPr id="6" name="TextBox 5"/>
          <p:cNvSpPr txBox="1"/>
          <p:nvPr/>
        </p:nvSpPr>
        <p:spPr>
          <a:xfrm>
            <a:off x="365760" y="960120"/>
            <a:ext cx="3520440" cy="1280160"/>
          </a:xfrm>
          <a:prstGeom prst="rect">
            <a:avLst/>
          </a:prstGeom>
          <a:noFill/>
        </p:spPr>
        <p:txBody>
          <a:bodyPr wrap="square">
            <a:spAutoFit/>
          </a:bodyPr>
          <a:lstStyle/>
          <a:p>
            <a:pPr algn="l">
              <a:spcAft>
                <a:spcPts val="200"/>
              </a:spcAft>
              <a:defRPr sz="750" b="0">
                <a:solidFill>
                  <a:srgbClr val="0A1628"/>
                </a:solidFill>
                <a:latin typeface="Calibri"/>
              </a:defRPr>
            </a:pPr>
            <a:r>
              <a:t>• SME commercial underwriting requires 40+ data points per submission</a:t>
            </a:r>
            <a:br/>
            <a:r>
              <a:t>• Quote turnaround: 48-72 hours for standard risks</a:t>
            </a:r>
            <a:br/>
            <a:r>
              <a:t>• Risk appetite varies by industry, geography, coverage type</a:t>
            </a:r>
            <a:br/>
            <a:r>
              <a:t>• Experienced underwriters’ tacit knowledge hard to codify</a:t>
            </a:r>
          </a:p>
        </p:txBody>
      </p:sp>
      <p:sp>
        <p:nvSpPr>
          <p:cNvPr id="7" name="TextBox 6"/>
          <p:cNvSpPr txBox="1"/>
          <p:nvPr/>
        </p:nvSpPr>
        <p:spPr>
          <a:xfrm>
            <a:off x="4023360" y="777240"/>
            <a:ext cx="1828800" cy="182880"/>
          </a:xfrm>
          <a:prstGeom prst="rect">
            <a:avLst/>
          </a:prstGeom>
          <a:noFill/>
        </p:spPr>
        <p:txBody>
          <a:bodyPr wrap="square">
            <a:spAutoFit/>
          </a:bodyPr>
          <a:lstStyle/>
          <a:p>
            <a:pPr algn="l">
              <a:spcAft>
                <a:spcPts val="200"/>
              </a:spcAft>
              <a:defRPr sz="800" b="1">
                <a:solidFill>
                  <a:srgbClr val="0A1628"/>
                </a:solidFill>
                <a:latin typeface="Calibri"/>
              </a:defRPr>
            </a:pPr>
            <a:r>
              <a:t>AGENTIC SOLUTION</a:t>
            </a:r>
          </a:p>
        </p:txBody>
      </p:sp>
      <p:sp>
        <p:nvSpPr>
          <p:cNvPr id="8" name="TextBox 7"/>
          <p:cNvSpPr txBox="1"/>
          <p:nvPr/>
        </p:nvSpPr>
        <p:spPr>
          <a:xfrm>
            <a:off x="4023360" y="960120"/>
            <a:ext cx="3520440" cy="1280160"/>
          </a:xfrm>
          <a:prstGeom prst="rect">
            <a:avLst/>
          </a:prstGeom>
          <a:noFill/>
        </p:spPr>
        <p:txBody>
          <a:bodyPr wrap="square">
            <a:spAutoFit/>
          </a:bodyPr>
          <a:lstStyle/>
          <a:p>
            <a:pPr algn="l">
              <a:spcAft>
                <a:spcPts val="200"/>
              </a:spcAft>
              <a:defRPr sz="750" b="0">
                <a:solidFill>
                  <a:srgbClr val="0A1628"/>
                </a:solidFill>
                <a:latin typeface="Calibri"/>
              </a:defRPr>
            </a:pPr>
            <a:r>
              <a:t>• 6 specialized agents in sequence with Guardian monitoring every decision</a:t>
            </a:r>
            <a:br/>
            <a:r>
              <a:t>• Autonomous path (73%): standard risks processed without human touch</a:t>
            </a:r>
            <a:br/>
            <a:r>
              <a:t>• Assisted path (19%): minor concerns flagged for UW review</a:t>
            </a:r>
            <a:br/>
            <a:r>
              <a:t>• Manual path (8%): complex risks get full human underwriting</a:t>
            </a:r>
          </a:p>
        </p:txBody>
      </p:sp>
      <p:sp>
        <p:nvSpPr>
          <p:cNvPr id="9" name="Rectangle 8"/>
          <p:cNvSpPr/>
          <p:nvPr/>
        </p:nvSpPr>
        <p:spPr>
          <a:xfrm>
            <a:off x="365760"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65760"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48h → 3.7m</a:t>
            </a:r>
          </a:p>
        </p:txBody>
      </p:sp>
      <p:sp>
        <p:nvSpPr>
          <p:cNvPr id="11" name="TextBox 10"/>
          <p:cNvSpPr txBox="1"/>
          <p:nvPr/>
        </p:nvSpPr>
        <p:spPr>
          <a:xfrm>
            <a:off x="365760"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Quote turnaround</a:t>
            </a:r>
            <a:br/>
            <a:r>
              <a:t>(standard risks)</a:t>
            </a:r>
          </a:p>
        </p:txBody>
      </p:sp>
      <p:sp>
        <p:nvSpPr>
          <p:cNvPr id="12" name="Rectangle 11"/>
          <p:cNvSpPr/>
          <p:nvPr/>
        </p:nvSpPr>
        <p:spPr>
          <a:xfrm>
            <a:off x="2240279"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240279"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6x</a:t>
            </a:r>
          </a:p>
        </p:txBody>
      </p:sp>
      <p:sp>
        <p:nvSpPr>
          <p:cNvPr id="14" name="TextBox 13"/>
          <p:cNvSpPr txBox="1"/>
          <p:nvPr/>
        </p:nvSpPr>
        <p:spPr>
          <a:xfrm>
            <a:off x="2240279"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Submissions</a:t>
            </a:r>
            <a:br/>
            <a:r>
              <a:t>processed per day</a:t>
            </a:r>
          </a:p>
        </p:txBody>
      </p:sp>
      <p:sp>
        <p:nvSpPr>
          <p:cNvPr id="15" name="Rectangle 14"/>
          <p:cNvSpPr/>
          <p:nvPr/>
        </p:nvSpPr>
        <p:spPr>
          <a:xfrm>
            <a:off x="4114799"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114799"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94.2%</a:t>
            </a:r>
          </a:p>
        </p:txBody>
      </p:sp>
      <p:sp>
        <p:nvSpPr>
          <p:cNvPr id="17" name="TextBox 16"/>
          <p:cNvSpPr txBox="1"/>
          <p:nvPr/>
        </p:nvSpPr>
        <p:spPr>
          <a:xfrm>
            <a:off x="4114799"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Decision agreement</a:t>
            </a:r>
            <a:br/>
            <a:r>
              <a:t>with humans</a:t>
            </a:r>
          </a:p>
        </p:txBody>
      </p:sp>
      <p:sp>
        <p:nvSpPr>
          <p:cNvPr id="18" name="Rectangle 17"/>
          <p:cNvSpPr/>
          <p:nvPr/>
        </p:nvSpPr>
        <p:spPr>
          <a:xfrm>
            <a:off x="5989319"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989319"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47%</a:t>
            </a:r>
          </a:p>
        </p:txBody>
      </p:sp>
      <p:sp>
        <p:nvSpPr>
          <p:cNvPr id="20" name="TextBox 19"/>
          <p:cNvSpPr txBox="1"/>
          <p:nvPr/>
        </p:nvSpPr>
        <p:spPr>
          <a:xfrm>
            <a:off x="5989319"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SME premium</a:t>
            </a:r>
            <a:br/>
            <a:r>
              <a:t>volume increase</a:t>
            </a:r>
          </a:p>
        </p:txBody>
      </p:sp>
      <p:sp>
        <p:nvSpPr>
          <p:cNvPr id="21" name="TextBox 20"/>
          <p:cNvSpPr txBox="1"/>
          <p:nvPr/>
        </p:nvSpPr>
        <p:spPr>
          <a:xfrm>
            <a:off x="365760" y="3246120"/>
            <a:ext cx="1828800" cy="182880"/>
          </a:xfrm>
          <a:prstGeom prst="rect">
            <a:avLst/>
          </a:prstGeom>
          <a:noFill/>
        </p:spPr>
        <p:txBody>
          <a:bodyPr wrap="square">
            <a:spAutoFit/>
          </a:bodyPr>
          <a:lstStyle/>
          <a:p>
            <a:pPr algn="l">
              <a:spcAft>
                <a:spcPts val="200"/>
              </a:spcAft>
              <a:defRPr sz="800" b="1">
                <a:solidFill>
                  <a:srgbClr val="0A1628"/>
                </a:solidFill>
                <a:latin typeface="Calibri"/>
              </a:defRPr>
            </a:pPr>
            <a:r>
              <a:t>HOW IT WORKS</a:t>
            </a:r>
          </a:p>
        </p:txBody>
      </p:sp>
      <p:sp>
        <p:nvSpPr>
          <p:cNvPr id="22" name="TextBox 21"/>
          <p:cNvSpPr txBox="1"/>
          <p:nvPr/>
        </p:nvSpPr>
        <p:spPr>
          <a:xfrm>
            <a:off x="365760" y="3429000"/>
            <a:ext cx="7436815" cy="594360"/>
          </a:xfrm>
          <a:prstGeom prst="rect">
            <a:avLst/>
          </a:prstGeom>
          <a:noFill/>
        </p:spPr>
        <p:txBody>
          <a:bodyPr wrap="square">
            <a:spAutoFit/>
          </a:bodyPr>
          <a:lstStyle/>
          <a:p>
            <a:pPr algn="l">
              <a:spcAft>
                <a:spcPts val="200"/>
              </a:spcAft>
              <a:defRPr sz="700" b="0">
                <a:solidFill>
                  <a:srgbClr val="0A1628"/>
                </a:solidFill>
                <a:latin typeface="Calibri"/>
              </a:defRPr>
            </a:pPr>
            <a:r>
              <a:t>→ Intake Agent: parse documents, extract data, validate completeness</a:t>
            </a:r>
            <a:br/>
            <a:r>
              <a:t>→ Enrichment Agent: pull company data, claims history, market intelligence</a:t>
            </a:r>
            <a:br/>
            <a:r>
              <a:t>→ Risk Assessment Agent: score risk, flag concerns, route decision</a:t>
            </a:r>
            <a:br/>
            <a:r>
              <a:t>→ Pricing Agent: calculate premium, apply rules, generate terms</a:t>
            </a:r>
            <a:br/>
            <a:r>
              <a:t>→ Wordings Agent: issue policy, generate documentation</a:t>
            </a:r>
            <a:br/>
            <a:r>
              <a:t>→ Guardian Agent: real-time monitoring, boundary enforcement, audit logging</a:t>
            </a:r>
          </a:p>
        </p:txBody>
      </p:sp>
      <p:sp>
        <p:nvSpPr>
          <p:cNvPr id="23" name="TextBox 22"/>
          <p:cNvSpPr txBox="1"/>
          <p:nvPr/>
        </p:nvSpPr>
        <p:spPr>
          <a:xfrm>
            <a:off x="365760" y="4069080"/>
            <a:ext cx="3200400" cy="182880"/>
          </a:xfrm>
          <a:prstGeom prst="rect">
            <a:avLst/>
          </a:prstGeom>
          <a:noFill/>
        </p:spPr>
        <p:txBody>
          <a:bodyPr wrap="square">
            <a:spAutoFit/>
          </a:bodyPr>
          <a:lstStyle/>
          <a:p>
            <a:pPr algn="l">
              <a:spcAft>
                <a:spcPts val="200"/>
              </a:spcAft>
              <a:defRPr sz="750" b="1">
                <a:solidFill>
                  <a:srgbClr val="0A1628"/>
                </a:solidFill>
                <a:latin typeface="Calibri"/>
              </a:defRPr>
            </a:pPr>
            <a:r>
              <a:t>AGENT ARCHITECTURE</a:t>
            </a:r>
          </a:p>
        </p:txBody>
      </p:sp>
      <p:sp>
        <p:nvSpPr>
          <p:cNvPr id="24" name="TextBox 23"/>
          <p:cNvSpPr txBox="1"/>
          <p:nvPr/>
        </p:nvSpPr>
        <p:spPr>
          <a:xfrm>
            <a:off x="365760" y="4251960"/>
            <a:ext cx="3520440" cy="777240"/>
          </a:xfrm>
          <a:prstGeom prst="rect">
            <a:avLst/>
          </a:prstGeom>
          <a:noFill/>
        </p:spPr>
        <p:txBody>
          <a:bodyPr wrap="square">
            <a:spAutoFit/>
          </a:bodyPr>
          <a:lstStyle/>
          <a:p>
            <a:pPr algn="l">
              <a:spcAft>
                <a:spcPts val="200"/>
              </a:spcAft>
              <a:defRPr sz="700" b="0">
                <a:solidFill>
                  <a:srgbClr val="0A1628"/>
                </a:solidFill>
                <a:latin typeface="Calibri"/>
              </a:defRPr>
            </a:pPr>
            <a:r>
              <a:t>• 6 agents in sequence + Guardian oversight layer</a:t>
            </a:r>
            <a:br/>
            <a:r>
              <a:t>• Routing logic: standard (73%) / assisted (19%) / manual (8%)</a:t>
            </a:r>
            <a:br/>
            <a:r>
              <a:t>• Trained on 50,000 historical submissions with outcomes</a:t>
            </a:r>
            <a:br/>
            <a:r>
              <a:t>• 12 senior underwriter interviews captured tacit decision logic</a:t>
            </a:r>
          </a:p>
        </p:txBody>
      </p:sp>
      <p:sp>
        <p:nvSpPr>
          <p:cNvPr id="25" name="TextBox 24"/>
          <p:cNvSpPr txBox="1"/>
          <p:nvPr/>
        </p:nvSpPr>
        <p:spPr>
          <a:xfrm>
            <a:off x="4023360" y="4069080"/>
            <a:ext cx="3200400" cy="182880"/>
          </a:xfrm>
          <a:prstGeom prst="rect">
            <a:avLst/>
          </a:prstGeom>
          <a:noFill/>
        </p:spPr>
        <p:txBody>
          <a:bodyPr wrap="square">
            <a:spAutoFit/>
          </a:bodyPr>
          <a:lstStyle/>
          <a:p>
            <a:pPr algn="l">
              <a:spcAft>
                <a:spcPts val="200"/>
              </a:spcAft>
              <a:defRPr sz="750" b="1">
                <a:solidFill>
                  <a:srgbClr val="0A1628"/>
                </a:solidFill>
                <a:latin typeface="Calibri"/>
              </a:defRPr>
            </a:pPr>
            <a:r>
              <a:t>GOVERNANCE &amp; COMPLIANCE</a:t>
            </a:r>
          </a:p>
        </p:txBody>
      </p:sp>
      <p:sp>
        <p:nvSpPr>
          <p:cNvPr id="26" name="TextBox 25"/>
          <p:cNvSpPr txBox="1"/>
          <p:nvPr/>
        </p:nvSpPr>
        <p:spPr>
          <a:xfrm>
            <a:off x="4023360" y="4251960"/>
            <a:ext cx="3520440" cy="777240"/>
          </a:xfrm>
          <a:prstGeom prst="rect">
            <a:avLst/>
          </a:prstGeom>
          <a:noFill/>
        </p:spPr>
        <p:txBody>
          <a:bodyPr wrap="square">
            <a:spAutoFit/>
          </a:bodyPr>
          <a:lstStyle/>
          <a:p>
            <a:pPr algn="l">
              <a:spcAft>
                <a:spcPts val="200"/>
              </a:spcAft>
              <a:defRPr sz="700" b="0">
                <a:solidFill>
                  <a:srgbClr val="0A1628"/>
                </a:solidFill>
                <a:latin typeface="Calibri"/>
              </a:defRPr>
            </a:pPr>
            <a:r>
              <a:t>• Complete reasoning chain for every pricing decision</a:t>
            </a:r>
            <a:br/>
            <a:r>
              <a:t>• Discrimination testing on protected characteristics</a:t>
            </a:r>
            <a:br/>
            <a:r>
              <a:t>• Model governance documentation auto-generated</a:t>
            </a:r>
            <a:br/>
            <a:r>
              <a:t>• Regulator cited as example of 'responsible AI in insurance'</a:t>
            </a:r>
          </a:p>
        </p:txBody>
      </p:sp>
      <p:sp>
        <p:nvSpPr>
          <p:cNvPr id="27" name="Rectangle 26"/>
          <p:cNvSpPr/>
          <p:nvPr/>
        </p:nvSpPr>
        <p:spPr>
          <a:xfrm>
            <a:off x="274320" y="5074920"/>
            <a:ext cx="7619695" cy="77724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65760" y="5111496"/>
            <a:ext cx="1828800" cy="164592"/>
          </a:xfrm>
          <a:prstGeom prst="rect">
            <a:avLst/>
          </a:prstGeom>
          <a:noFill/>
        </p:spPr>
        <p:txBody>
          <a:bodyPr wrap="square">
            <a:spAutoFit/>
          </a:bodyPr>
          <a:lstStyle/>
          <a:p>
            <a:pPr algn="l">
              <a:spcAft>
                <a:spcPts val="200"/>
              </a:spcAft>
              <a:defRPr sz="750" b="1">
                <a:solidFill>
                  <a:srgbClr val="00C9A7"/>
                </a:solidFill>
                <a:latin typeface="Calibri"/>
              </a:defRPr>
            </a:pPr>
            <a:r>
              <a:t>TECHNOLOGY STACK</a:t>
            </a:r>
          </a:p>
        </p:txBody>
      </p:sp>
      <p:sp>
        <p:nvSpPr>
          <p:cNvPr id="29" name="TextBox 28"/>
          <p:cNvSpPr txBox="1"/>
          <p:nvPr/>
        </p:nvSpPr>
        <p:spPr>
          <a:xfrm>
            <a:off x="365760"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Pipeline</a:t>
            </a:r>
          </a:p>
        </p:txBody>
      </p:sp>
      <p:sp>
        <p:nvSpPr>
          <p:cNvPr id="30" name="TextBox 29"/>
          <p:cNvSpPr txBox="1"/>
          <p:nvPr/>
        </p:nvSpPr>
        <p:spPr>
          <a:xfrm>
            <a:off x="365760"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6 specialized</a:t>
            </a:r>
            <a:br/>
            <a:r>
              <a:t>agents + Guardian</a:t>
            </a:r>
          </a:p>
        </p:txBody>
      </p:sp>
      <p:sp>
        <p:nvSpPr>
          <p:cNvPr id="31" name="TextBox 30"/>
          <p:cNvSpPr txBox="1"/>
          <p:nvPr/>
        </p:nvSpPr>
        <p:spPr>
          <a:xfrm>
            <a:off x="2240279"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Training</a:t>
            </a:r>
          </a:p>
        </p:txBody>
      </p:sp>
      <p:sp>
        <p:nvSpPr>
          <p:cNvPr id="32" name="TextBox 31"/>
          <p:cNvSpPr txBox="1"/>
          <p:nvPr/>
        </p:nvSpPr>
        <p:spPr>
          <a:xfrm>
            <a:off x="2240279"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50K historical</a:t>
            </a:r>
            <a:br/>
            <a:r>
              <a:t>submissions</a:t>
            </a:r>
          </a:p>
        </p:txBody>
      </p:sp>
      <p:sp>
        <p:nvSpPr>
          <p:cNvPr id="33" name="TextBox 32"/>
          <p:cNvSpPr txBox="1"/>
          <p:nvPr/>
        </p:nvSpPr>
        <p:spPr>
          <a:xfrm>
            <a:off x="4114799"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Routing</a:t>
            </a:r>
          </a:p>
        </p:txBody>
      </p:sp>
      <p:sp>
        <p:nvSpPr>
          <p:cNvPr id="34" name="TextBox 33"/>
          <p:cNvSpPr txBox="1"/>
          <p:nvPr/>
        </p:nvSpPr>
        <p:spPr>
          <a:xfrm>
            <a:off x="4114799"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73% auto / 19%</a:t>
            </a:r>
            <a:br/>
            <a:r>
              <a:t>assisted / 8% manual</a:t>
            </a:r>
          </a:p>
        </p:txBody>
      </p:sp>
      <p:sp>
        <p:nvSpPr>
          <p:cNvPr id="35" name="TextBox 34"/>
          <p:cNvSpPr txBox="1"/>
          <p:nvPr/>
        </p:nvSpPr>
        <p:spPr>
          <a:xfrm>
            <a:off x="5989319"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Compliance</a:t>
            </a:r>
          </a:p>
        </p:txBody>
      </p:sp>
      <p:sp>
        <p:nvSpPr>
          <p:cNvPr id="36" name="TextBox 35"/>
          <p:cNvSpPr txBox="1"/>
          <p:nvPr/>
        </p:nvSpPr>
        <p:spPr>
          <a:xfrm>
            <a:off x="5989319"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Regulator-approved</a:t>
            </a:r>
            <a:br/>
            <a:r>
              <a:t>explainability</a:t>
            </a:r>
          </a:p>
        </p:txBody>
      </p:sp>
      <p:sp>
        <p:nvSpPr>
          <p:cNvPr id="37" name="Rectangle 36"/>
          <p:cNvSpPr/>
          <p:nvPr/>
        </p:nvSpPr>
        <p:spPr>
          <a:xfrm>
            <a:off x="274320" y="5943600"/>
            <a:ext cx="3657600" cy="320040"/>
          </a:xfrm>
          <a:prstGeom prst="rect">
            <a:avLst/>
          </a:prstGeom>
          <a:solidFill>
            <a:srgbClr val="009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365760" y="5980176"/>
            <a:ext cx="3474720" cy="256032"/>
          </a:xfrm>
          <a:prstGeom prst="rect">
            <a:avLst/>
          </a:prstGeom>
          <a:noFill/>
        </p:spPr>
        <p:txBody>
          <a:bodyPr wrap="square">
            <a:spAutoFit/>
          </a:bodyPr>
          <a:lstStyle/>
          <a:p>
            <a:pPr algn="l">
              <a:spcAft>
                <a:spcPts val="200"/>
              </a:spcAft>
              <a:defRPr sz="650" b="1">
                <a:solidFill>
                  <a:srgbClr val="FFFFFF"/>
                </a:solidFill>
                <a:latin typeface="Calibri"/>
              </a:defRPr>
            </a:pPr>
            <a:r>
              <a:t>INDUSTRY: Insurance</a:t>
            </a:r>
          </a:p>
        </p:txBody>
      </p:sp>
      <p:sp>
        <p:nvSpPr>
          <p:cNvPr id="39" name="Rectangle 38"/>
          <p:cNvSpPr/>
          <p:nvPr/>
        </p:nvSpPr>
        <p:spPr>
          <a:xfrm>
            <a:off x="4114800" y="5943600"/>
            <a:ext cx="3657600" cy="320040"/>
          </a:xfrm>
          <a:prstGeom prst="rect">
            <a:avLst/>
          </a:prstGeom>
          <a:solidFill>
            <a:srgbClr val="008F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4206240" y="5980176"/>
            <a:ext cx="3474720" cy="256032"/>
          </a:xfrm>
          <a:prstGeom prst="rect">
            <a:avLst/>
          </a:prstGeom>
          <a:noFill/>
        </p:spPr>
        <p:txBody>
          <a:bodyPr wrap="square">
            <a:spAutoFit/>
          </a:bodyPr>
          <a:lstStyle/>
          <a:p>
            <a:pPr algn="l">
              <a:spcAft>
                <a:spcPts val="200"/>
              </a:spcAft>
              <a:defRPr sz="650" b="1">
                <a:solidFill>
                  <a:srgbClr val="FFFFFF"/>
                </a:solidFill>
                <a:latin typeface="Calibri"/>
              </a:defRPr>
            </a:pPr>
            <a:r>
              <a:t>AGENT TYPE: Data Agent + Security Agent</a:t>
            </a:r>
          </a:p>
        </p:txBody>
      </p:sp>
      <p:sp>
        <p:nvSpPr>
          <p:cNvPr id="41" name="TextBox 40"/>
          <p:cNvSpPr txBox="1"/>
          <p:nvPr/>
        </p:nvSpPr>
        <p:spPr>
          <a:xfrm>
            <a:off x="274320" y="6492240"/>
            <a:ext cx="4572000" cy="274320"/>
          </a:xfrm>
          <a:prstGeom prst="rect">
            <a:avLst/>
          </a:prstGeom>
          <a:noFill/>
        </p:spPr>
        <p:txBody>
          <a:bodyPr wrap="square">
            <a:spAutoFit/>
          </a:bodyPr>
          <a:lstStyle/>
          <a:p>
            <a:pPr algn="l">
              <a:spcAft>
                <a:spcPts val="200"/>
              </a:spcAft>
              <a:defRPr sz="700" b="0">
                <a:solidFill>
                  <a:srgbClr val="888888"/>
                </a:solidFill>
                <a:latin typeface="Calibri"/>
              </a:defRPr>
            </a:pPr>
            <a:r>
              <a:t>Agentic AI Use Cases Across Industries | Confidential</a:t>
            </a:r>
          </a:p>
        </p:txBody>
      </p:sp>
      <p:sp>
        <p:nvSpPr>
          <p:cNvPr id="42" name="TextBox 41"/>
          <p:cNvSpPr txBox="1"/>
          <p:nvPr/>
        </p:nvSpPr>
        <p:spPr>
          <a:xfrm>
            <a:off x="11094415" y="6492240"/>
            <a:ext cx="822960" cy="274320"/>
          </a:xfrm>
          <a:prstGeom prst="rect">
            <a:avLst/>
          </a:prstGeom>
          <a:noFill/>
        </p:spPr>
        <p:txBody>
          <a:bodyPr wrap="square">
            <a:spAutoFit/>
          </a:bodyPr>
          <a:lstStyle/>
          <a:p>
            <a:pPr algn="r">
              <a:spcAft>
                <a:spcPts val="200"/>
              </a:spcAft>
              <a:defRPr sz="700" b="0">
                <a:solidFill>
                  <a:srgbClr val="888888"/>
                </a:solidFill>
                <a:latin typeface="Calibri"/>
              </a:defRPr>
            </a:pPr>
            <a:r>
              <a:t>10 / 46</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8076895" cy="6858000"/>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82880"/>
            <a:ext cx="7436815" cy="502920"/>
          </a:xfrm>
          <a:prstGeom prst="rect">
            <a:avLst/>
          </a:prstGeom>
          <a:noFill/>
        </p:spPr>
        <p:txBody>
          <a:bodyPr wrap="square">
            <a:spAutoFit/>
          </a:bodyPr>
          <a:lstStyle/>
          <a:p>
            <a:pPr algn="l">
              <a:spcAft>
                <a:spcPts val="200"/>
              </a:spcAft>
              <a:defRPr sz="2000" b="1">
                <a:solidFill>
                  <a:srgbClr val="FFFFFF"/>
                </a:solidFill>
                <a:latin typeface="Calibri"/>
              </a:defRPr>
            </a:pPr>
            <a:r>
              <a:t>UC05 | Vehicle Insurance AI Claims App</a:t>
            </a:r>
          </a:p>
        </p:txBody>
      </p:sp>
      <p:sp>
        <p:nvSpPr>
          <p:cNvPr id="4" name="Rectangle 3"/>
          <p:cNvSpPr/>
          <p:nvPr/>
        </p:nvSpPr>
        <p:spPr>
          <a:xfrm>
            <a:off x="365760" y="658368"/>
            <a:ext cx="1828800" cy="27432"/>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777240"/>
            <a:ext cx="1371600" cy="182880"/>
          </a:xfrm>
          <a:prstGeom prst="rect">
            <a:avLst/>
          </a:prstGeom>
          <a:noFill/>
        </p:spPr>
        <p:txBody>
          <a:bodyPr wrap="square">
            <a:spAutoFit/>
          </a:bodyPr>
          <a:lstStyle/>
          <a:p>
            <a:pPr algn="l">
              <a:spcAft>
                <a:spcPts val="200"/>
              </a:spcAft>
              <a:defRPr sz="800" b="1">
                <a:solidFill>
                  <a:srgbClr val="0A1628"/>
                </a:solidFill>
                <a:latin typeface="Calibri"/>
              </a:defRPr>
            </a:pPr>
            <a:r>
              <a:t>CHALLENGE</a:t>
            </a:r>
          </a:p>
        </p:txBody>
      </p:sp>
      <p:sp>
        <p:nvSpPr>
          <p:cNvPr id="6" name="TextBox 5"/>
          <p:cNvSpPr txBox="1"/>
          <p:nvPr/>
        </p:nvSpPr>
        <p:spPr>
          <a:xfrm>
            <a:off x="365760" y="960120"/>
            <a:ext cx="3520440" cy="1280160"/>
          </a:xfrm>
          <a:prstGeom prst="rect">
            <a:avLst/>
          </a:prstGeom>
          <a:noFill/>
        </p:spPr>
        <p:txBody>
          <a:bodyPr wrap="square">
            <a:spAutoFit/>
          </a:bodyPr>
          <a:lstStyle/>
          <a:p>
            <a:pPr algn="l">
              <a:spcAft>
                <a:spcPts val="200"/>
              </a:spcAft>
              <a:defRPr sz="750" b="0">
                <a:solidFill>
                  <a:srgbClr val="0A1628"/>
                </a:solidFill>
                <a:latin typeface="Calibri"/>
              </a:defRPr>
            </a:pPr>
            <a:r>
              <a:t>• High-volume vehicle claims across multiple regions</a:t>
            </a:r>
            <a:br/>
            <a:r>
              <a:t>• Manual review of historical claim data for fraud detection</a:t>
            </a:r>
            <a:br/>
            <a:r>
              <a:t>• Officers manually applied business rules and drafted responses</a:t>
            </a:r>
            <a:br/>
            <a:r>
              <a:t>• Slow processing led to delays, errors, and customer frustration</a:t>
            </a:r>
          </a:p>
        </p:txBody>
      </p:sp>
      <p:sp>
        <p:nvSpPr>
          <p:cNvPr id="7" name="TextBox 6"/>
          <p:cNvSpPr txBox="1"/>
          <p:nvPr/>
        </p:nvSpPr>
        <p:spPr>
          <a:xfrm>
            <a:off x="4023360" y="777240"/>
            <a:ext cx="1828800" cy="182880"/>
          </a:xfrm>
          <a:prstGeom prst="rect">
            <a:avLst/>
          </a:prstGeom>
          <a:noFill/>
        </p:spPr>
        <p:txBody>
          <a:bodyPr wrap="square">
            <a:spAutoFit/>
          </a:bodyPr>
          <a:lstStyle/>
          <a:p>
            <a:pPr algn="l">
              <a:spcAft>
                <a:spcPts val="200"/>
              </a:spcAft>
              <a:defRPr sz="800" b="1">
                <a:solidFill>
                  <a:srgbClr val="0A1628"/>
                </a:solidFill>
                <a:latin typeface="Calibri"/>
              </a:defRPr>
            </a:pPr>
            <a:r>
              <a:t>AGENTIC SOLUTION</a:t>
            </a:r>
          </a:p>
        </p:txBody>
      </p:sp>
      <p:sp>
        <p:nvSpPr>
          <p:cNvPr id="8" name="TextBox 7"/>
          <p:cNvSpPr txBox="1"/>
          <p:nvPr/>
        </p:nvSpPr>
        <p:spPr>
          <a:xfrm>
            <a:off x="4023360" y="960120"/>
            <a:ext cx="3520440" cy="1280160"/>
          </a:xfrm>
          <a:prstGeom prst="rect">
            <a:avLst/>
          </a:prstGeom>
          <a:noFill/>
        </p:spPr>
        <p:txBody>
          <a:bodyPr wrap="square">
            <a:spAutoFit/>
          </a:bodyPr>
          <a:lstStyle/>
          <a:p>
            <a:pPr algn="l">
              <a:spcAft>
                <a:spcPts val="200"/>
              </a:spcAft>
              <a:defRPr sz="750" b="0">
                <a:solidFill>
                  <a:srgbClr val="0A1628"/>
                </a:solidFill>
                <a:latin typeface="Calibri"/>
              </a:defRPr>
            </a:pPr>
            <a:r>
              <a:t>• 4 specialized AI agents: insights, fraud, rules, communication</a:t>
            </a:r>
            <a:br/>
            <a:r>
              <a:t>• Claims Insights Agent: auto-overview of applicant history and risk</a:t>
            </a:r>
            <a:br/>
            <a:r>
              <a:t>• Fraud Investigator Agent: pattern detection across historical data</a:t>
            </a:r>
            <a:br/>
            <a:r>
              <a:t>• Human-in-the-loop only for high-value or fraud-flagged cases</a:t>
            </a:r>
          </a:p>
        </p:txBody>
      </p:sp>
      <p:sp>
        <p:nvSpPr>
          <p:cNvPr id="9" name="Rectangle 8"/>
          <p:cNvSpPr/>
          <p:nvPr/>
        </p:nvSpPr>
        <p:spPr>
          <a:xfrm>
            <a:off x="365760"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65760"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245%</a:t>
            </a:r>
          </a:p>
        </p:txBody>
      </p:sp>
      <p:sp>
        <p:nvSpPr>
          <p:cNvPr id="11" name="TextBox 10"/>
          <p:cNvSpPr txBox="1"/>
          <p:nvPr/>
        </p:nvSpPr>
        <p:spPr>
          <a:xfrm>
            <a:off x="365760"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ROI within</a:t>
            </a:r>
            <a:br/>
            <a:r>
              <a:t>12 months</a:t>
            </a:r>
          </a:p>
        </p:txBody>
      </p:sp>
      <p:sp>
        <p:nvSpPr>
          <p:cNvPr id="12" name="Rectangle 11"/>
          <p:cNvSpPr/>
          <p:nvPr/>
        </p:nvSpPr>
        <p:spPr>
          <a:xfrm>
            <a:off x="2240279"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240279"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62%</a:t>
            </a:r>
          </a:p>
        </p:txBody>
      </p:sp>
      <p:sp>
        <p:nvSpPr>
          <p:cNvPr id="14" name="TextBox 13"/>
          <p:cNvSpPr txBox="1"/>
          <p:nvPr/>
        </p:nvSpPr>
        <p:spPr>
          <a:xfrm>
            <a:off x="2240279"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Faster claims</a:t>
            </a:r>
            <a:br/>
            <a:r>
              <a:t>processing</a:t>
            </a:r>
          </a:p>
        </p:txBody>
      </p:sp>
      <p:sp>
        <p:nvSpPr>
          <p:cNvPr id="15" name="Rectangle 14"/>
          <p:cNvSpPr/>
          <p:nvPr/>
        </p:nvSpPr>
        <p:spPr>
          <a:xfrm>
            <a:off x="4114799"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114799"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$320K</a:t>
            </a:r>
          </a:p>
        </p:txBody>
      </p:sp>
      <p:sp>
        <p:nvSpPr>
          <p:cNvPr id="17" name="TextBox 16"/>
          <p:cNvSpPr txBox="1"/>
          <p:nvPr/>
        </p:nvSpPr>
        <p:spPr>
          <a:xfrm>
            <a:off x="4114799"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Annual cost</a:t>
            </a:r>
            <a:br/>
            <a:r>
              <a:t>savings</a:t>
            </a:r>
          </a:p>
        </p:txBody>
      </p:sp>
      <p:sp>
        <p:nvSpPr>
          <p:cNvPr id="18" name="Rectangle 17"/>
          <p:cNvSpPr/>
          <p:nvPr/>
        </p:nvSpPr>
        <p:spPr>
          <a:xfrm>
            <a:off x="5989319"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989319"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72%</a:t>
            </a:r>
          </a:p>
        </p:txBody>
      </p:sp>
      <p:sp>
        <p:nvSpPr>
          <p:cNvPr id="20" name="TextBox 19"/>
          <p:cNvSpPr txBox="1"/>
          <p:nvPr/>
        </p:nvSpPr>
        <p:spPr>
          <a:xfrm>
            <a:off x="5989319"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Processes</a:t>
            </a:r>
            <a:br/>
            <a:r>
              <a:t>automated</a:t>
            </a:r>
          </a:p>
        </p:txBody>
      </p:sp>
      <p:sp>
        <p:nvSpPr>
          <p:cNvPr id="21" name="TextBox 20"/>
          <p:cNvSpPr txBox="1"/>
          <p:nvPr/>
        </p:nvSpPr>
        <p:spPr>
          <a:xfrm>
            <a:off x="365760" y="3246120"/>
            <a:ext cx="1828800" cy="182880"/>
          </a:xfrm>
          <a:prstGeom prst="rect">
            <a:avLst/>
          </a:prstGeom>
          <a:noFill/>
        </p:spPr>
        <p:txBody>
          <a:bodyPr wrap="square">
            <a:spAutoFit/>
          </a:bodyPr>
          <a:lstStyle/>
          <a:p>
            <a:pPr algn="l">
              <a:spcAft>
                <a:spcPts val="200"/>
              </a:spcAft>
              <a:defRPr sz="800" b="1">
                <a:solidFill>
                  <a:srgbClr val="0A1628"/>
                </a:solidFill>
                <a:latin typeface="Calibri"/>
              </a:defRPr>
            </a:pPr>
            <a:r>
              <a:t>HOW IT WORKS</a:t>
            </a:r>
          </a:p>
        </p:txBody>
      </p:sp>
      <p:sp>
        <p:nvSpPr>
          <p:cNvPr id="22" name="TextBox 21"/>
          <p:cNvSpPr txBox="1"/>
          <p:nvPr/>
        </p:nvSpPr>
        <p:spPr>
          <a:xfrm>
            <a:off x="365760" y="3429000"/>
            <a:ext cx="7436815" cy="594360"/>
          </a:xfrm>
          <a:prstGeom prst="rect">
            <a:avLst/>
          </a:prstGeom>
          <a:noFill/>
        </p:spPr>
        <p:txBody>
          <a:bodyPr wrap="square">
            <a:spAutoFit/>
          </a:bodyPr>
          <a:lstStyle/>
          <a:p>
            <a:pPr algn="l">
              <a:spcAft>
                <a:spcPts val="200"/>
              </a:spcAft>
              <a:defRPr sz="700" b="0">
                <a:solidFill>
                  <a:srgbClr val="0A1628"/>
                </a:solidFill>
                <a:latin typeface="Calibri"/>
              </a:defRPr>
            </a:pPr>
            <a:r>
              <a:t>→ Claim submitted → Insights Agent provides risk overview</a:t>
            </a:r>
            <a:br/>
            <a:r>
              <a:t>→ Fraud Agent cross-references historical patterns and flags anomalies</a:t>
            </a:r>
            <a:br/>
            <a:r>
              <a:t>→ Rules Agent applies business logic and generates decision recommendation</a:t>
            </a:r>
            <a:br/>
            <a:r>
              <a:t>→ Communication Agent drafts tailored emails with policy-compliant language</a:t>
            </a:r>
          </a:p>
        </p:txBody>
      </p:sp>
      <p:sp>
        <p:nvSpPr>
          <p:cNvPr id="23" name="TextBox 22"/>
          <p:cNvSpPr txBox="1"/>
          <p:nvPr/>
        </p:nvSpPr>
        <p:spPr>
          <a:xfrm>
            <a:off x="365760" y="4069080"/>
            <a:ext cx="3200400" cy="182880"/>
          </a:xfrm>
          <a:prstGeom prst="rect">
            <a:avLst/>
          </a:prstGeom>
          <a:noFill/>
        </p:spPr>
        <p:txBody>
          <a:bodyPr wrap="square">
            <a:spAutoFit/>
          </a:bodyPr>
          <a:lstStyle/>
          <a:p>
            <a:pPr algn="l">
              <a:spcAft>
                <a:spcPts val="200"/>
              </a:spcAft>
              <a:defRPr sz="750" b="1">
                <a:solidFill>
                  <a:srgbClr val="0A1628"/>
                </a:solidFill>
                <a:latin typeface="Calibri"/>
              </a:defRPr>
            </a:pPr>
            <a:r>
              <a:t>AGENT ARCHITECTURE</a:t>
            </a:r>
          </a:p>
        </p:txBody>
      </p:sp>
      <p:sp>
        <p:nvSpPr>
          <p:cNvPr id="24" name="TextBox 23"/>
          <p:cNvSpPr txBox="1"/>
          <p:nvPr/>
        </p:nvSpPr>
        <p:spPr>
          <a:xfrm>
            <a:off x="365760" y="4251960"/>
            <a:ext cx="3520440" cy="777240"/>
          </a:xfrm>
          <a:prstGeom prst="rect">
            <a:avLst/>
          </a:prstGeom>
          <a:noFill/>
        </p:spPr>
        <p:txBody>
          <a:bodyPr wrap="square">
            <a:spAutoFit/>
          </a:bodyPr>
          <a:lstStyle/>
          <a:p>
            <a:pPr algn="l">
              <a:spcAft>
                <a:spcPts val="200"/>
              </a:spcAft>
              <a:defRPr sz="700" b="0">
                <a:solidFill>
                  <a:srgbClr val="0A1628"/>
                </a:solidFill>
                <a:latin typeface="Calibri"/>
              </a:defRPr>
            </a:pPr>
            <a:r>
              <a:t>• 4 UiPath-powered AI agents with layered decisioning</a:t>
            </a:r>
            <a:br/>
            <a:r>
              <a:t>• Human-in-the-loop triggered only for high-value/flagged cases</a:t>
            </a:r>
            <a:br/>
            <a:r>
              <a:t>• Each agent has specific sub-function for auditable flow</a:t>
            </a:r>
          </a:p>
        </p:txBody>
      </p:sp>
      <p:sp>
        <p:nvSpPr>
          <p:cNvPr id="25" name="TextBox 24"/>
          <p:cNvSpPr txBox="1"/>
          <p:nvPr/>
        </p:nvSpPr>
        <p:spPr>
          <a:xfrm>
            <a:off x="4023360" y="4069080"/>
            <a:ext cx="3200400" cy="182880"/>
          </a:xfrm>
          <a:prstGeom prst="rect">
            <a:avLst/>
          </a:prstGeom>
          <a:noFill/>
        </p:spPr>
        <p:txBody>
          <a:bodyPr wrap="square">
            <a:spAutoFit/>
          </a:bodyPr>
          <a:lstStyle/>
          <a:p>
            <a:pPr algn="l">
              <a:spcAft>
                <a:spcPts val="200"/>
              </a:spcAft>
              <a:defRPr sz="750" b="1">
                <a:solidFill>
                  <a:srgbClr val="0A1628"/>
                </a:solidFill>
                <a:latin typeface="Calibri"/>
              </a:defRPr>
            </a:pPr>
            <a:r>
              <a:t>GOVERNANCE &amp; COMPLIANCE</a:t>
            </a:r>
          </a:p>
        </p:txBody>
      </p:sp>
      <p:sp>
        <p:nvSpPr>
          <p:cNvPr id="26" name="TextBox 25"/>
          <p:cNvSpPr txBox="1"/>
          <p:nvPr/>
        </p:nvSpPr>
        <p:spPr>
          <a:xfrm>
            <a:off x="4023360" y="4251960"/>
            <a:ext cx="3520440" cy="777240"/>
          </a:xfrm>
          <a:prstGeom prst="rect">
            <a:avLst/>
          </a:prstGeom>
          <a:noFill/>
        </p:spPr>
        <p:txBody>
          <a:bodyPr wrap="square">
            <a:spAutoFit/>
          </a:bodyPr>
          <a:lstStyle/>
          <a:p>
            <a:pPr algn="l">
              <a:spcAft>
                <a:spcPts val="200"/>
              </a:spcAft>
              <a:defRPr sz="700" b="0">
                <a:solidFill>
                  <a:srgbClr val="0A1628"/>
                </a:solidFill>
                <a:latin typeface="Calibri"/>
              </a:defRPr>
            </a:pPr>
            <a:r>
              <a:t>• Full compliance with internal audit and data minimization</a:t>
            </a:r>
            <a:br/>
            <a:r>
              <a:t>• Enterprise-grade access control throughout</a:t>
            </a:r>
            <a:br/>
            <a:r>
              <a:t>• 97.5% reduction in process bottlenecks</a:t>
            </a:r>
          </a:p>
        </p:txBody>
      </p:sp>
      <p:sp>
        <p:nvSpPr>
          <p:cNvPr id="27" name="Rectangle 26"/>
          <p:cNvSpPr/>
          <p:nvPr/>
        </p:nvSpPr>
        <p:spPr>
          <a:xfrm>
            <a:off x="274320" y="5074920"/>
            <a:ext cx="7619695" cy="77724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65760" y="5111496"/>
            <a:ext cx="1828800" cy="164592"/>
          </a:xfrm>
          <a:prstGeom prst="rect">
            <a:avLst/>
          </a:prstGeom>
          <a:noFill/>
        </p:spPr>
        <p:txBody>
          <a:bodyPr wrap="square">
            <a:spAutoFit/>
          </a:bodyPr>
          <a:lstStyle/>
          <a:p>
            <a:pPr algn="l">
              <a:spcAft>
                <a:spcPts val="200"/>
              </a:spcAft>
              <a:defRPr sz="750" b="1">
                <a:solidFill>
                  <a:srgbClr val="00C9A7"/>
                </a:solidFill>
                <a:latin typeface="Calibri"/>
              </a:defRPr>
            </a:pPr>
            <a:r>
              <a:t>TECHNOLOGY STACK</a:t>
            </a:r>
          </a:p>
        </p:txBody>
      </p:sp>
      <p:sp>
        <p:nvSpPr>
          <p:cNvPr id="29" name="TextBox 28"/>
          <p:cNvSpPr txBox="1"/>
          <p:nvPr/>
        </p:nvSpPr>
        <p:spPr>
          <a:xfrm>
            <a:off x="365760"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Platform</a:t>
            </a:r>
          </a:p>
        </p:txBody>
      </p:sp>
      <p:sp>
        <p:nvSpPr>
          <p:cNvPr id="30" name="TextBox 29"/>
          <p:cNvSpPr txBox="1"/>
          <p:nvPr/>
        </p:nvSpPr>
        <p:spPr>
          <a:xfrm>
            <a:off x="365760"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UiPath intelligent</a:t>
            </a:r>
            <a:br/>
            <a:r>
              <a:t>automation</a:t>
            </a:r>
          </a:p>
        </p:txBody>
      </p:sp>
      <p:sp>
        <p:nvSpPr>
          <p:cNvPr id="31" name="TextBox 30"/>
          <p:cNvSpPr txBox="1"/>
          <p:nvPr/>
        </p:nvSpPr>
        <p:spPr>
          <a:xfrm>
            <a:off x="2240279"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Agents</a:t>
            </a:r>
          </a:p>
        </p:txBody>
      </p:sp>
      <p:sp>
        <p:nvSpPr>
          <p:cNvPr id="32" name="TextBox 31"/>
          <p:cNvSpPr txBox="1"/>
          <p:nvPr/>
        </p:nvSpPr>
        <p:spPr>
          <a:xfrm>
            <a:off x="2240279"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4 specialized</a:t>
            </a:r>
            <a:br/>
            <a:r>
              <a:t>AI agents</a:t>
            </a:r>
          </a:p>
        </p:txBody>
      </p:sp>
      <p:sp>
        <p:nvSpPr>
          <p:cNvPr id="33" name="TextBox 32"/>
          <p:cNvSpPr txBox="1"/>
          <p:nvPr/>
        </p:nvSpPr>
        <p:spPr>
          <a:xfrm>
            <a:off x="4114799"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Scale</a:t>
            </a:r>
          </a:p>
        </p:txBody>
      </p:sp>
      <p:sp>
        <p:nvSpPr>
          <p:cNvPr id="34" name="TextBox 33"/>
          <p:cNvSpPr txBox="1"/>
          <p:nvPr/>
        </p:nvSpPr>
        <p:spPr>
          <a:xfrm>
            <a:off x="4114799"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Multi-region</a:t>
            </a:r>
            <a:br/>
            <a:r>
              <a:t>deployment</a:t>
            </a:r>
          </a:p>
        </p:txBody>
      </p:sp>
      <p:sp>
        <p:nvSpPr>
          <p:cNvPr id="35" name="TextBox 34"/>
          <p:cNvSpPr txBox="1"/>
          <p:nvPr/>
        </p:nvSpPr>
        <p:spPr>
          <a:xfrm>
            <a:off x="5989319"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ROI</a:t>
            </a:r>
          </a:p>
        </p:txBody>
      </p:sp>
      <p:sp>
        <p:nvSpPr>
          <p:cNvPr id="36" name="TextBox 35"/>
          <p:cNvSpPr txBox="1"/>
          <p:nvPr/>
        </p:nvSpPr>
        <p:spPr>
          <a:xfrm>
            <a:off x="5989319"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245% within</a:t>
            </a:r>
            <a:br/>
            <a:r>
              <a:t>12 months</a:t>
            </a:r>
          </a:p>
        </p:txBody>
      </p:sp>
      <p:sp>
        <p:nvSpPr>
          <p:cNvPr id="37" name="Rectangle 36"/>
          <p:cNvSpPr/>
          <p:nvPr/>
        </p:nvSpPr>
        <p:spPr>
          <a:xfrm>
            <a:off x="274320" y="5943600"/>
            <a:ext cx="3657600" cy="320040"/>
          </a:xfrm>
          <a:prstGeom prst="rect">
            <a:avLst/>
          </a:prstGeom>
          <a:solidFill>
            <a:srgbClr val="009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365760" y="5980176"/>
            <a:ext cx="3474720" cy="256032"/>
          </a:xfrm>
          <a:prstGeom prst="rect">
            <a:avLst/>
          </a:prstGeom>
          <a:noFill/>
        </p:spPr>
        <p:txBody>
          <a:bodyPr wrap="square">
            <a:spAutoFit/>
          </a:bodyPr>
          <a:lstStyle/>
          <a:p>
            <a:pPr algn="l">
              <a:spcAft>
                <a:spcPts val="200"/>
              </a:spcAft>
              <a:defRPr sz="650" b="1">
                <a:solidFill>
                  <a:srgbClr val="FFFFFF"/>
                </a:solidFill>
                <a:latin typeface="Calibri"/>
              </a:defRPr>
            </a:pPr>
            <a:r>
              <a:t>INDUSTRY: Insurance</a:t>
            </a:r>
          </a:p>
        </p:txBody>
      </p:sp>
      <p:sp>
        <p:nvSpPr>
          <p:cNvPr id="39" name="Rectangle 38"/>
          <p:cNvSpPr/>
          <p:nvPr/>
        </p:nvSpPr>
        <p:spPr>
          <a:xfrm>
            <a:off x="4114800" y="5943600"/>
            <a:ext cx="3657600" cy="320040"/>
          </a:xfrm>
          <a:prstGeom prst="rect">
            <a:avLst/>
          </a:prstGeom>
          <a:solidFill>
            <a:srgbClr val="008F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4206240" y="5980176"/>
            <a:ext cx="3474720" cy="256032"/>
          </a:xfrm>
          <a:prstGeom prst="rect">
            <a:avLst/>
          </a:prstGeom>
          <a:noFill/>
        </p:spPr>
        <p:txBody>
          <a:bodyPr wrap="square">
            <a:spAutoFit/>
          </a:bodyPr>
          <a:lstStyle/>
          <a:p>
            <a:pPr algn="l">
              <a:spcAft>
                <a:spcPts val="200"/>
              </a:spcAft>
              <a:defRPr sz="650" b="1">
                <a:solidFill>
                  <a:srgbClr val="FFFFFF"/>
                </a:solidFill>
                <a:latin typeface="Calibri"/>
              </a:defRPr>
            </a:pPr>
            <a:r>
              <a:t>AGENT TYPE: Employee Agent + Data Agent</a:t>
            </a:r>
          </a:p>
        </p:txBody>
      </p:sp>
      <p:pic>
        <p:nvPicPr>
          <p:cNvPr id="41" name="Picture 40" descr="image.jpg"/>
          <p:cNvPicPr>
            <a:picLocks noChangeAspect="1"/>
          </p:cNvPicPr>
          <p:nvPr/>
        </p:nvPicPr>
        <p:blipFill>
          <a:blip r:embed="rId2"/>
          <a:stretch>
            <a:fillRect/>
          </a:stretch>
        </p:blipFill>
        <p:spPr>
          <a:xfrm>
            <a:off x="8076895" y="0"/>
            <a:ext cx="4114800" cy="6858000"/>
          </a:xfrm>
          <a:prstGeom prst="rect">
            <a:avLst/>
          </a:prstGeom>
        </p:spPr>
      </p:pic>
      <p:sp>
        <p:nvSpPr>
          <p:cNvPr id="42" name="TextBox 41"/>
          <p:cNvSpPr txBox="1"/>
          <p:nvPr/>
        </p:nvSpPr>
        <p:spPr>
          <a:xfrm>
            <a:off x="274320" y="6492240"/>
            <a:ext cx="4572000" cy="274320"/>
          </a:xfrm>
          <a:prstGeom prst="rect">
            <a:avLst/>
          </a:prstGeom>
          <a:noFill/>
        </p:spPr>
        <p:txBody>
          <a:bodyPr wrap="square">
            <a:spAutoFit/>
          </a:bodyPr>
          <a:lstStyle/>
          <a:p>
            <a:pPr algn="l">
              <a:spcAft>
                <a:spcPts val="200"/>
              </a:spcAft>
              <a:defRPr sz="700" b="0">
                <a:solidFill>
                  <a:srgbClr val="888888"/>
                </a:solidFill>
                <a:latin typeface="Calibri"/>
              </a:defRPr>
            </a:pPr>
            <a:r>
              <a:t>Agentic AI Use Cases Across Industries | Confidential</a:t>
            </a:r>
          </a:p>
        </p:txBody>
      </p:sp>
      <p:sp>
        <p:nvSpPr>
          <p:cNvPr id="43" name="TextBox 42"/>
          <p:cNvSpPr txBox="1"/>
          <p:nvPr/>
        </p:nvSpPr>
        <p:spPr>
          <a:xfrm>
            <a:off x="11094415" y="6492240"/>
            <a:ext cx="822960" cy="274320"/>
          </a:xfrm>
          <a:prstGeom prst="rect">
            <a:avLst/>
          </a:prstGeom>
          <a:noFill/>
        </p:spPr>
        <p:txBody>
          <a:bodyPr wrap="square">
            <a:spAutoFit/>
          </a:bodyPr>
          <a:lstStyle/>
          <a:p>
            <a:pPr algn="r">
              <a:spcAft>
                <a:spcPts val="200"/>
              </a:spcAft>
              <a:defRPr sz="700" b="0">
                <a:solidFill>
                  <a:srgbClr val="888888"/>
                </a:solidFill>
                <a:latin typeface="Calibri"/>
              </a:defRPr>
            </a:pPr>
            <a:r>
              <a:t>11 / 46</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2743200"/>
            <a:ext cx="12191695" cy="54864"/>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371600"/>
            <a:ext cx="1097280" cy="731520"/>
          </a:xfrm>
          <a:prstGeom prst="rect">
            <a:avLst/>
          </a:prstGeom>
          <a:noFill/>
        </p:spPr>
        <p:txBody>
          <a:bodyPr wrap="square">
            <a:spAutoFit/>
          </a:bodyPr>
          <a:lstStyle/>
          <a:p>
            <a:pPr algn="l">
              <a:spcAft>
                <a:spcPts val="200"/>
              </a:spcAft>
              <a:defRPr sz="5600" b="1">
                <a:solidFill>
                  <a:srgbClr val="00C9A7"/>
                </a:solidFill>
                <a:latin typeface="Calibri"/>
              </a:defRPr>
            </a:pPr>
            <a:r>
              <a:t>02</a:t>
            </a:r>
          </a:p>
        </p:txBody>
      </p:sp>
      <p:sp>
        <p:nvSpPr>
          <p:cNvPr id="5" name="TextBox 4"/>
          <p:cNvSpPr txBox="1"/>
          <p:nvPr/>
        </p:nvSpPr>
        <p:spPr>
          <a:xfrm>
            <a:off x="2011680" y="1645920"/>
            <a:ext cx="5486400" cy="731520"/>
          </a:xfrm>
          <a:prstGeom prst="rect">
            <a:avLst/>
          </a:prstGeom>
          <a:noFill/>
        </p:spPr>
        <p:txBody>
          <a:bodyPr wrap="square">
            <a:spAutoFit/>
          </a:bodyPr>
          <a:lstStyle/>
          <a:p>
            <a:pPr algn="l">
              <a:spcAft>
                <a:spcPts val="200"/>
              </a:spcAft>
              <a:defRPr sz="3600" b="1">
                <a:solidFill>
                  <a:srgbClr val="FFFFFF"/>
                </a:solidFill>
                <a:latin typeface="Calibri"/>
              </a:defRPr>
            </a:pPr>
            <a:r>
              <a:t>Financial Services</a:t>
            </a:r>
          </a:p>
        </p:txBody>
      </p:sp>
      <p:sp>
        <p:nvSpPr>
          <p:cNvPr id="6" name="TextBox 5"/>
          <p:cNvSpPr txBox="1"/>
          <p:nvPr/>
        </p:nvSpPr>
        <p:spPr>
          <a:xfrm>
            <a:off x="2011680" y="3017520"/>
            <a:ext cx="5486400" cy="457200"/>
          </a:xfrm>
          <a:prstGeom prst="rect">
            <a:avLst/>
          </a:prstGeom>
          <a:noFill/>
        </p:spPr>
        <p:txBody>
          <a:bodyPr wrap="square">
            <a:spAutoFit/>
          </a:bodyPr>
          <a:lstStyle/>
          <a:p>
            <a:pPr algn="l">
              <a:spcAft>
                <a:spcPts val="200"/>
              </a:spcAft>
              <a:defRPr sz="1400" b="0">
                <a:solidFill>
                  <a:srgbClr val="E0F7F1"/>
                </a:solidFill>
                <a:latin typeface="Calibri"/>
              </a:defRPr>
            </a:pPr>
            <a:r>
              <a:t>Agentic banking, research, ERP automation, and business intelligence</a:t>
            </a:r>
          </a:p>
        </p:txBody>
      </p:sp>
      <p:sp>
        <p:nvSpPr>
          <p:cNvPr id="7" name="TextBox 6"/>
          <p:cNvSpPr txBox="1"/>
          <p:nvPr/>
        </p:nvSpPr>
        <p:spPr>
          <a:xfrm>
            <a:off x="2011680" y="3566160"/>
            <a:ext cx="5486400" cy="457200"/>
          </a:xfrm>
          <a:prstGeom prst="rect">
            <a:avLst/>
          </a:prstGeom>
          <a:noFill/>
        </p:spPr>
        <p:txBody>
          <a:bodyPr wrap="square">
            <a:spAutoFit/>
          </a:bodyPr>
          <a:lstStyle/>
          <a:p>
            <a:pPr algn="l">
              <a:spcAft>
                <a:spcPts val="200"/>
              </a:spcAft>
              <a:defRPr sz="1200" b="0">
                <a:solidFill>
                  <a:srgbClr val="888899"/>
                </a:solidFill>
                <a:latin typeface="Calibri"/>
              </a:defRPr>
            </a:pPr>
            <a:r>
              <a:t>4 Agentic AI Use Cases</a:t>
            </a:r>
          </a:p>
        </p:txBody>
      </p:sp>
      <p:pic>
        <p:nvPicPr>
          <p:cNvPr id="8" name="Picture 7" descr="image.jpg"/>
          <p:cNvPicPr>
            <a:picLocks noChangeAspect="1"/>
          </p:cNvPicPr>
          <p:nvPr/>
        </p:nvPicPr>
        <p:blipFill>
          <a:blip r:embed="rId2"/>
          <a:stretch>
            <a:fillRect/>
          </a:stretch>
        </p:blipFill>
        <p:spPr>
          <a:xfrm>
            <a:off x="8076895" y="0"/>
            <a:ext cx="4114800" cy="6858000"/>
          </a:xfrm>
          <a:prstGeom prst="rect">
            <a:avLst/>
          </a:prstGeom>
        </p:spPr>
      </p:pic>
      <p:sp>
        <p:nvSpPr>
          <p:cNvPr id="9" name="TextBox 8"/>
          <p:cNvSpPr txBox="1"/>
          <p:nvPr/>
        </p:nvSpPr>
        <p:spPr>
          <a:xfrm>
            <a:off x="274320" y="6492240"/>
            <a:ext cx="4572000" cy="274320"/>
          </a:xfrm>
          <a:prstGeom prst="rect">
            <a:avLst/>
          </a:prstGeom>
          <a:noFill/>
        </p:spPr>
        <p:txBody>
          <a:bodyPr wrap="square">
            <a:spAutoFit/>
          </a:bodyPr>
          <a:lstStyle/>
          <a:p>
            <a:pPr algn="l">
              <a:spcAft>
                <a:spcPts val="200"/>
              </a:spcAft>
              <a:defRPr sz="700" b="0">
                <a:solidFill>
                  <a:srgbClr val="888888"/>
                </a:solidFill>
                <a:latin typeface="Calibri"/>
              </a:defRPr>
            </a:pPr>
            <a:r>
              <a:t>Agentic AI Use Cases Across Industries | Confidential</a:t>
            </a:r>
          </a:p>
        </p:txBody>
      </p:sp>
      <p:sp>
        <p:nvSpPr>
          <p:cNvPr id="10" name="TextBox 9"/>
          <p:cNvSpPr txBox="1"/>
          <p:nvPr/>
        </p:nvSpPr>
        <p:spPr>
          <a:xfrm>
            <a:off x="11094415" y="6492240"/>
            <a:ext cx="822960" cy="274320"/>
          </a:xfrm>
          <a:prstGeom prst="rect">
            <a:avLst/>
          </a:prstGeom>
          <a:noFill/>
        </p:spPr>
        <p:txBody>
          <a:bodyPr wrap="square">
            <a:spAutoFit/>
          </a:bodyPr>
          <a:lstStyle/>
          <a:p>
            <a:pPr algn="r">
              <a:spcAft>
                <a:spcPts val="200"/>
              </a:spcAft>
              <a:defRPr sz="700" b="0">
                <a:solidFill>
                  <a:srgbClr val="888888"/>
                </a:solidFill>
                <a:latin typeface="Calibri"/>
              </a:defRPr>
            </a:pPr>
            <a:r>
              <a:t>12 / 46</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8076895" cy="6858000"/>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82880"/>
            <a:ext cx="7436815" cy="502920"/>
          </a:xfrm>
          <a:prstGeom prst="rect">
            <a:avLst/>
          </a:prstGeom>
          <a:noFill/>
        </p:spPr>
        <p:txBody>
          <a:bodyPr wrap="square">
            <a:spAutoFit/>
          </a:bodyPr>
          <a:lstStyle/>
          <a:p>
            <a:pPr algn="l">
              <a:spcAft>
                <a:spcPts val="200"/>
              </a:spcAft>
              <a:defRPr sz="2000" b="1">
                <a:solidFill>
                  <a:srgbClr val="FFFFFF"/>
                </a:solidFill>
                <a:latin typeface="Calibri"/>
              </a:defRPr>
            </a:pPr>
            <a:r>
              <a:t>UC06 | Wells Fargo — Agentic AI at Enterprise Scale</a:t>
            </a:r>
          </a:p>
        </p:txBody>
      </p:sp>
      <p:sp>
        <p:nvSpPr>
          <p:cNvPr id="4" name="Rectangle 3"/>
          <p:cNvSpPr/>
          <p:nvPr/>
        </p:nvSpPr>
        <p:spPr>
          <a:xfrm>
            <a:off x="365760" y="658368"/>
            <a:ext cx="1828800" cy="27432"/>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777240"/>
            <a:ext cx="1371600" cy="182880"/>
          </a:xfrm>
          <a:prstGeom prst="rect">
            <a:avLst/>
          </a:prstGeom>
          <a:noFill/>
        </p:spPr>
        <p:txBody>
          <a:bodyPr wrap="square">
            <a:spAutoFit/>
          </a:bodyPr>
          <a:lstStyle/>
          <a:p>
            <a:pPr algn="l">
              <a:spcAft>
                <a:spcPts val="200"/>
              </a:spcAft>
              <a:defRPr sz="800" b="1">
                <a:solidFill>
                  <a:srgbClr val="0A1628"/>
                </a:solidFill>
                <a:latin typeface="Calibri"/>
              </a:defRPr>
            </a:pPr>
            <a:r>
              <a:t>CHALLENGE</a:t>
            </a:r>
          </a:p>
        </p:txBody>
      </p:sp>
      <p:sp>
        <p:nvSpPr>
          <p:cNvPr id="6" name="TextBox 5"/>
          <p:cNvSpPr txBox="1"/>
          <p:nvPr/>
        </p:nvSpPr>
        <p:spPr>
          <a:xfrm>
            <a:off x="365760" y="960120"/>
            <a:ext cx="3520440" cy="1280160"/>
          </a:xfrm>
          <a:prstGeom prst="rect">
            <a:avLst/>
          </a:prstGeom>
          <a:noFill/>
        </p:spPr>
        <p:txBody>
          <a:bodyPr wrap="square">
            <a:spAutoFit/>
          </a:bodyPr>
          <a:lstStyle/>
          <a:p>
            <a:pPr algn="l">
              <a:spcAft>
                <a:spcPts val="200"/>
              </a:spcAft>
              <a:defRPr sz="750" b="0">
                <a:solidFill>
                  <a:srgbClr val="0A1628"/>
                </a:solidFill>
                <a:latin typeface="Calibri"/>
              </a:defRPr>
            </a:pPr>
            <a:r>
              <a:t>• Complex FX post-trade inquiries across multiple internal systems</a:t>
            </a:r>
            <a:br/>
            <a:r>
              <a:t>• Employees navigating policies across disconnected data sources</a:t>
            </a:r>
            <a:br/>
            <a:r>
              <a:t>• Customer service limited to business hours with long wait times</a:t>
            </a:r>
            <a:br/>
            <a:r>
              <a:t>• Need for real-time market insights during client interactions</a:t>
            </a:r>
          </a:p>
        </p:txBody>
      </p:sp>
      <p:sp>
        <p:nvSpPr>
          <p:cNvPr id="7" name="TextBox 6"/>
          <p:cNvSpPr txBox="1"/>
          <p:nvPr/>
        </p:nvSpPr>
        <p:spPr>
          <a:xfrm>
            <a:off x="4023360" y="777240"/>
            <a:ext cx="1828800" cy="182880"/>
          </a:xfrm>
          <a:prstGeom prst="rect">
            <a:avLst/>
          </a:prstGeom>
          <a:noFill/>
        </p:spPr>
        <p:txBody>
          <a:bodyPr wrap="square">
            <a:spAutoFit/>
          </a:bodyPr>
          <a:lstStyle/>
          <a:p>
            <a:pPr algn="l">
              <a:spcAft>
                <a:spcPts val="200"/>
              </a:spcAft>
              <a:defRPr sz="800" b="1">
                <a:solidFill>
                  <a:srgbClr val="0A1628"/>
                </a:solidFill>
                <a:latin typeface="Calibri"/>
              </a:defRPr>
            </a:pPr>
            <a:r>
              <a:t>AGENTIC SOLUTION</a:t>
            </a:r>
          </a:p>
        </p:txBody>
      </p:sp>
      <p:sp>
        <p:nvSpPr>
          <p:cNvPr id="8" name="TextBox 7"/>
          <p:cNvSpPr txBox="1"/>
          <p:nvPr/>
        </p:nvSpPr>
        <p:spPr>
          <a:xfrm>
            <a:off x="4023360" y="960120"/>
            <a:ext cx="3520440" cy="1280160"/>
          </a:xfrm>
          <a:prstGeom prst="rect">
            <a:avLst/>
          </a:prstGeom>
          <a:noFill/>
        </p:spPr>
        <p:txBody>
          <a:bodyPr wrap="square">
            <a:spAutoFit/>
          </a:bodyPr>
          <a:lstStyle/>
          <a:p>
            <a:pPr algn="l">
              <a:spcAft>
                <a:spcPts val="200"/>
              </a:spcAft>
              <a:defRPr sz="750" b="0">
                <a:solidFill>
                  <a:srgbClr val="0A1628"/>
                </a:solidFill>
                <a:latin typeface="Calibri"/>
              </a:defRPr>
            </a:pPr>
            <a:r>
              <a:t>• AI agents triage, answer, and summarize complex FX inquiries</a:t>
            </a:r>
            <a:br/>
            <a:r>
              <a:t>• Multimodal enterprise search across policies and operational tools</a:t>
            </a:r>
            <a:br/>
            <a:r>
              <a:t>• 24/7 hyper-personalized customer experiences across all channels</a:t>
            </a:r>
            <a:br/>
            <a:r>
              <a:t>• NotebookLM for sophisticated research and content generation</a:t>
            </a:r>
          </a:p>
        </p:txBody>
      </p:sp>
      <p:sp>
        <p:nvSpPr>
          <p:cNvPr id="9" name="Rectangle 8"/>
          <p:cNvSpPr/>
          <p:nvPr/>
        </p:nvSpPr>
        <p:spPr>
          <a:xfrm>
            <a:off x="365760"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65760"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30K+</a:t>
            </a:r>
          </a:p>
        </p:txBody>
      </p:sp>
      <p:sp>
        <p:nvSpPr>
          <p:cNvPr id="11" name="TextBox 10"/>
          <p:cNvSpPr txBox="1"/>
          <p:nvPr/>
        </p:nvSpPr>
        <p:spPr>
          <a:xfrm>
            <a:off x="365760"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Employees</a:t>
            </a:r>
            <a:br/>
            <a:r>
              <a:t>empowered</a:t>
            </a:r>
          </a:p>
        </p:txBody>
      </p:sp>
      <p:sp>
        <p:nvSpPr>
          <p:cNvPr id="12" name="Rectangle 11"/>
          <p:cNvSpPr/>
          <p:nvPr/>
        </p:nvSpPr>
        <p:spPr>
          <a:xfrm>
            <a:off x="2240279"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240279"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24/7</a:t>
            </a:r>
          </a:p>
        </p:txBody>
      </p:sp>
      <p:sp>
        <p:nvSpPr>
          <p:cNvPr id="14" name="TextBox 13"/>
          <p:cNvSpPr txBox="1"/>
          <p:nvPr/>
        </p:nvSpPr>
        <p:spPr>
          <a:xfrm>
            <a:off x="2240279"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Customer service</a:t>
            </a:r>
            <a:br/>
            <a:r>
              <a:t>automation</a:t>
            </a:r>
          </a:p>
        </p:txBody>
      </p:sp>
      <p:sp>
        <p:nvSpPr>
          <p:cNvPr id="15" name="Rectangle 14"/>
          <p:cNvSpPr/>
          <p:nvPr/>
        </p:nvSpPr>
        <p:spPr>
          <a:xfrm>
            <a:off x="4114799"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114799"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Real-time</a:t>
            </a:r>
          </a:p>
        </p:txBody>
      </p:sp>
      <p:sp>
        <p:nvSpPr>
          <p:cNvPr id="17" name="TextBox 16"/>
          <p:cNvSpPr txBox="1"/>
          <p:nvPr/>
        </p:nvSpPr>
        <p:spPr>
          <a:xfrm>
            <a:off x="4114799"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Market insights</a:t>
            </a:r>
            <a:br/>
            <a:r>
              <a:t>for bankers</a:t>
            </a:r>
          </a:p>
        </p:txBody>
      </p:sp>
      <p:sp>
        <p:nvSpPr>
          <p:cNvPr id="18" name="Rectangle 17"/>
          <p:cNvSpPr/>
          <p:nvPr/>
        </p:nvSpPr>
        <p:spPr>
          <a:xfrm>
            <a:off x="5989319"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989319"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Multi-channel</a:t>
            </a:r>
          </a:p>
        </p:txBody>
      </p:sp>
      <p:sp>
        <p:nvSpPr>
          <p:cNvPr id="20" name="TextBox 19"/>
          <p:cNvSpPr txBox="1"/>
          <p:nvPr/>
        </p:nvSpPr>
        <p:spPr>
          <a:xfrm>
            <a:off x="5989319"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Digital, branch,</a:t>
            </a:r>
            <a:br/>
            <a:r>
              <a:t>call center</a:t>
            </a:r>
          </a:p>
        </p:txBody>
      </p:sp>
      <p:sp>
        <p:nvSpPr>
          <p:cNvPr id="21" name="TextBox 20"/>
          <p:cNvSpPr txBox="1"/>
          <p:nvPr/>
        </p:nvSpPr>
        <p:spPr>
          <a:xfrm>
            <a:off x="365760" y="3246120"/>
            <a:ext cx="1828800" cy="182880"/>
          </a:xfrm>
          <a:prstGeom prst="rect">
            <a:avLst/>
          </a:prstGeom>
          <a:noFill/>
        </p:spPr>
        <p:txBody>
          <a:bodyPr wrap="square">
            <a:spAutoFit/>
          </a:bodyPr>
          <a:lstStyle/>
          <a:p>
            <a:pPr algn="l">
              <a:spcAft>
                <a:spcPts val="200"/>
              </a:spcAft>
              <a:defRPr sz="800" b="1">
                <a:solidFill>
                  <a:srgbClr val="0A1628"/>
                </a:solidFill>
                <a:latin typeface="Calibri"/>
              </a:defRPr>
            </a:pPr>
            <a:r>
              <a:t>HOW IT WORKS</a:t>
            </a:r>
          </a:p>
        </p:txBody>
      </p:sp>
      <p:sp>
        <p:nvSpPr>
          <p:cNvPr id="22" name="TextBox 21"/>
          <p:cNvSpPr txBox="1"/>
          <p:nvPr/>
        </p:nvSpPr>
        <p:spPr>
          <a:xfrm>
            <a:off x="365760" y="3429000"/>
            <a:ext cx="7436815" cy="594360"/>
          </a:xfrm>
          <a:prstGeom prst="rect">
            <a:avLst/>
          </a:prstGeom>
          <a:noFill/>
        </p:spPr>
        <p:txBody>
          <a:bodyPr wrap="square">
            <a:spAutoFit/>
          </a:bodyPr>
          <a:lstStyle/>
          <a:p>
            <a:pPr algn="l">
              <a:spcAft>
                <a:spcPts val="200"/>
              </a:spcAft>
              <a:defRPr sz="700" b="0">
                <a:solidFill>
                  <a:srgbClr val="0A1628"/>
                </a:solidFill>
                <a:latin typeface="Calibri"/>
              </a:defRPr>
            </a:pPr>
            <a:r>
              <a:t>→ Agents find and synthesize information across enterprise data sources</a:t>
            </a:r>
            <a:br/>
            <a:r>
              <a:t>→ Automate routine tasks: balance inquiries, debit card replacements</a:t>
            </a:r>
            <a:br/>
            <a:r>
              <a:t>→ Provide tailored advice and product recommendations at scale</a:t>
            </a:r>
            <a:br/>
            <a:r>
              <a:t>→ Free up bankers to focus on complex tasks and client relationships</a:t>
            </a:r>
          </a:p>
        </p:txBody>
      </p:sp>
      <p:sp>
        <p:nvSpPr>
          <p:cNvPr id="23" name="TextBox 22"/>
          <p:cNvSpPr txBox="1"/>
          <p:nvPr/>
        </p:nvSpPr>
        <p:spPr>
          <a:xfrm>
            <a:off x="365760" y="4069080"/>
            <a:ext cx="3200400" cy="182880"/>
          </a:xfrm>
          <a:prstGeom prst="rect">
            <a:avLst/>
          </a:prstGeom>
          <a:noFill/>
        </p:spPr>
        <p:txBody>
          <a:bodyPr wrap="square">
            <a:spAutoFit/>
          </a:bodyPr>
          <a:lstStyle/>
          <a:p>
            <a:pPr algn="l">
              <a:spcAft>
                <a:spcPts val="200"/>
              </a:spcAft>
              <a:defRPr sz="750" b="1">
                <a:solidFill>
                  <a:srgbClr val="0A1628"/>
                </a:solidFill>
                <a:latin typeface="Calibri"/>
              </a:defRPr>
            </a:pPr>
            <a:r>
              <a:t>AGENT ARCHITECTURE</a:t>
            </a:r>
          </a:p>
        </p:txBody>
      </p:sp>
      <p:sp>
        <p:nvSpPr>
          <p:cNvPr id="24" name="TextBox 23"/>
          <p:cNvSpPr txBox="1"/>
          <p:nvPr/>
        </p:nvSpPr>
        <p:spPr>
          <a:xfrm>
            <a:off x="365760" y="4251960"/>
            <a:ext cx="3520440" cy="777240"/>
          </a:xfrm>
          <a:prstGeom prst="rect">
            <a:avLst/>
          </a:prstGeom>
          <a:noFill/>
        </p:spPr>
        <p:txBody>
          <a:bodyPr wrap="square">
            <a:spAutoFit/>
          </a:bodyPr>
          <a:lstStyle/>
          <a:p>
            <a:pPr algn="l">
              <a:spcAft>
                <a:spcPts val="200"/>
              </a:spcAft>
              <a:defRPr sz="700" b="0">
                <a:solidFill>
                  <a:srgbClr val="0A1628"/>
                </a:solidFill>
                <a:latin typeface="Calibri"/>
              </a:defRPr>
            </a:pPr>
            <a:r>
              <a:t>• Google Agentspace: unified platform for building/managing agents</a:t>
            </a:r>
            <a:br/>
            <a:r>
              <a:t>• Multimodal search: conversational queries across internal sources</a:t>
            </a:r>
            <a:br/>
            <a:r>
              <a:t>• NotebookLM: upload docs, query, analyze, generate insights</a:t>
            </a:r>
          </a:p>
        </p:txBody>
      </p:sp>
      <p:sp>
        <p:nvSpPr>
          <p:cNvPr id="25" name="TextBox 24"/>
          <p:cNvSpPr txBox="1"/>
          <p:nvPr/>
        </p:nvSpPr>
        <p:spPr>
          <a:xfrm>
            <a:off x="4023360" y="4069080"/>
            <a:ext cx="3200400" cy="182880"/>
          </a:xfrm>
          <a:prstGeom prst="rect">
            <a:avLst/>
          </a:prstGeom>
          <a:noFill/>
        </p:spPr>
        <p:txBody>
          <a:bodyPr wrap="square">
            <a:spAutoFit/>
          </a:bodyPr>
          <a:lstStyle/>
          <a:p>
            <a:pPr algn="l">
              <a:spcAft>
                <a:spcPts val="200"/>
              </a:spcAft>
              <a:defRPr sz="750" b="1">
                <a:solidFill>
                  <a:srgbClr val="0A1628"/>
                </a:solidFill>
                <a:latin typeface="Calibri"/>
              </a:defRPr>
            </a:pPr>
            <a:r>
              <a:t>GOVERNANCE &amp; COMPLIANCE</a:t>
            </a:r>
          </a:p>
        </p:txBody>
      </p:sp>
      <p:sp>
        <p:nvSpPr>
          <p:cNvPr id="26" name="TextBox 25"/>
          <p:cNvSpPr txBox="1"/>
          <p:nvPr/>
        </p:nvSpPr>
        <p:spPr>
          <a:xfrm>
            <a:off x="4023360" y="4251960"/>
            <a:ext cx="3520440" cy="777240"/>
          </a:xfrm>
          <a:prstGeom prst="rect">
            <a:avLst/>
          </a:prstGeom>
          <a:noFill/>
        </p:spPr>
        <p:txBody>
          <a:bodyPr wrap="square">
            <a:spAutoFit/>
          </a:bodyPr>
          <a:lstStyle/>
          <a:p>
            <a:pPr algn="l">
              <a:spcAft>
                <a:spcPts val="200"/>
              </a:spcAft>
              <a:defRPr sz="700" b="0">
                <a:solidFill>
                  <a:srgbClr val="0A1628"/>
                </a:solidFill>
                <a:latin typeface="Calibri"/>
              </a:defRPr>
            </a:pPr>
            <a:r>
              <a:t>• Early adopter of Google Agentspace with security guardrails</a:t>
            </a:r>
            <a:br/>
            <a:r>
              <a:t>• Data remains within Wells Fargo's controlled environment</a:t>
            </a:r>
            <a:br/>
            <a:r>
              <a:t>• Agents deployed internally first before customer-facing use</a:t>
            </a:r>
          </a:p>
        </p:txBody>
      </p:sp>
      <p:sp>
        <p:nvSpPr>
          <p:cNvPr id="27" name="Rectangle 26"/>
          <p:cNvSpPr/>
          <p:nvPr/>
        </p:nvSpPr>
        <p:spPr>
          <a:xfrm>
            <a:off x="274320" y="5074920"/>
            <a:ext cx="7619695" cy="77724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65760" y="5111496"/>
            <a:ext cx="1828800" cy="164592"/>
          </a:xfrm>
          <a:prstGeom prst="rect">
            <a:avLst/>
          </a:prstGeom>
          <a:noFill/>
        </p:spPr>
        <p:txBody>
          <a:bodyPr wrap="square">
            <a:spAutoFit/>
          </a:bodyPr>
          <a:lstStyle/>
          <a:p>
            <a:pPr algn="l">
              <a:spcAft>
                <a:spcPts val="200"/>
              </a:spcAft>
              <a:defRPr sz="750" b="1">
                <a:solidFill>
                  <a:srgbClr val="00C9A7"/>
                </a:solidFill>
                <a:latin typeface="Calibri"/>
              </a:defRPr>
            </a:pPr>
            <a:r>
              <a:t>TECHNOLOGY STACK</a:t>
            </a:r>
          </a:p>
        </p:txBody>
      </p:sp>
      <p:sp>
        <p:nvSpPr>
          <p:cNvPr id="29" name="TextBox 28"/>
          <p:cNvSpPr txBox="1"/>
          <p:nvPr/>
        </p:nvSpPr>
        <p:spPr>
          <a:xfrm>
            <a:off x="365760"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Platform</a:t>
            </a:r>
          </a:p>
        </p:txBody>
      </p:sp>
      <p:sp>
        <p:nvSpPr>
          <p:cNvPr id="30" name="TextBox 29"/>
          <p:cNvSpPr txBox="1"/>
          <p:nvPr/>
        </p:nvSpPr>
        <p:spPr>
          <a:xfrm>
            <a:off x="365760"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Google Agentspace</a:t>
            </a:r>
            <a:br/>
            <a:r>
              <a:t>+ NotebookLM</a:t>
            </a:r>
          </a:p>
        </p:txBody>
      </p:sp>
      <p:sp>
        <p:nvSpPr>
          <p:cNvPr id="31" name="TextBox 30"/>
          <p:cNvSpPr txBox="1"/>
          <p:nvPr/>
        </p:nvSpPr>
        <p:spPr>
          <a:xfrm>
            <a:off x="2240279"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Scope</a:t>
            </a:r>
          </a:p>
        </p:txBody>
      </p:sp>
      <p:sp>
        <p:nvSpPr>
          <p:cNvPr id="32" name="TextBox 31"/>
          <p:cNvSpPr txBox="1"/>
          <p:nvPr/>
        </p:nvSpPr>
        <p:spPr>
          <a:xfrm>
            <a:off x="2240279"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FX, retail, CIB,</a:t>
            </a:r>
            <a:br/>
            <a:r>
              <a:t>marketing</a:t>
            </a:r>
          </a:p>
        </p:txBody>
      </p:sp>
      <p:sp>
        <p:nvSpPr>
          <p:cNvPr id="33" name="TextBox 32"/>
          <p:cNvSpPr txBox="1"/>
          <p:nvPr/>
        </p:nvSpPr>
        <p:spPr>
          <a:xfrm>
            <a:off x="4114799"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Search</a:t>
            </a:r>
          </a:p>
        </p:txBody>
      </p:sp>
      <p:sp>
        <p:nvSpPr>
          <p:cNvPr id="34" name="TextBox 33"/>
          <p:cNvSpPr txBox="1"/>
          <p:nvPr/>
        </p:nvSpPr>
        <p:spPr>
          <a:xfrm>
            <a:off x="4114799"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Multimodal</a:t>
            </a:r>
            <a:br/>
            <a:r>
              <a:t>enterprise search</a:t>
            </a:r>
          </a:p>
        </p:txBody>
      </p:sp>
      <p:sp>
        <p:nvSpPr>
          <p:cNvPr id="35" name="TextBox 34"/>
          <p:cNvSpPr txBox="1"/>
          <p:nvPr/>
        </p:nvSpPr>
        <p:spPr>
          <a:xfrm>
            <a:off x="5989319"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Scale</a:t>
            </a:r>
          </a:p>
        </p:txBody>
      </p:sp>
      <p:sp>
        <p:nvSpPr>
          <p:cNvPr id="36" name="TextBox 35"/>
          <p:cNvSpPr txBox="1"/>
          <p:nvPr/>
        </p:nvSpPr>
        <p:spPr>
          <a:xfrm>
            <a:off x="5989319"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30K+ employees</a:t>
            </a:r>
            <a:br/>
            <a:r>
              <a:t>across enterprise</a:t>
            </a:r>
          </a:p>
        </p:txBody>
      </p:sp>
      <p:sp>
        <p:nvSpPr>
          <p:cNvPr id="37" name="Rectangle 36"/>
          <p:cNvSpPr/>
          <p:nvPr/>
        </p:nvSpPr>
        <p:spPr>
          <a:xfrm>
            <a:off x="274320" y="5943600"/>
            <a:ext cx="3657600" cy="320040"/>
          </a:xfrm>
          <a:prstGeom prst="rect">
            <a:avLst/>
          </a:prstGeom>
          <a:solidFill>
            <a:srgbClr val="009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365760" y="5980176"/>
            <a:ext cx="3474720" cy="256032"/>
          </a:xfrm>
          <a:prstGeom prst="rect">
            <a:avLst/>
          </a:prstGeom>
          <a:noFill/>
        </p:spPr>
        <p:txBody>
          <a:bodyPr wrap="square">
            <a:spAutoFit/>
          </a:bodyPr>
          <a:lstStyle/>
          <a:p>
            <a:pPr algn="l">
              <a:spcAft>
                <a:spcPts val="200"/>
              </a:spcAft>
              <a:defRPr sz="650" b="1">
                <a:solidFill>
                  <a:srgbClr val="FFFFFF"/>
                </a:solidFill>
                <a:latin typeface="Calibri"/>
              </a:defRPr>
            </a:pPr>
            <a:r>
              <a:t>INDUSTRY: Financial Services</a:t>
            </a:r>
          </a:p>
        </p:txBody>
      </p:sp>
      <p:sp>
        <p:nvSpPr>
          <p:cNvPr id="39" name="Rectangle 38"/>
          <p:cNvSpPr/>
          <p:nvPr/>
        </p:nvSpPr>
        <p:spPr>
          <a:xfrm>
            <a:off x="4114800" y="5943600"/>
            <a:ext cx="3657600" cy="320040"/>
          </a:xfrm>
          <a:prstGeom prst="rect">
            <a:avLst/>
          </a:prstGeom>
          <a:solidFill>
            <a:srgbClr val="008F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4206240" y="5980176"/>
            <a:ext cx="3474720" cy="256032"/>
          </a:xfrm>
          <a:prstGeom prst="rect">
            <a:avLst/>
          </a:prstGeom>
          <a:noFill/>
        </p:spPr>
        <p:txBody>
          <a:bodyPr wrap="square">
            <a:spAutoFit/>
          </a:bodyPr>
          <a:lstStyle/>
          <a:p>
            <a:pPr algn="l">
              <a:spcAft>
                <a:spcPts val="200"/>
              </a:spcAft>
              <a:defRPr sz="650" b="1">
                <a:solidFill>
                  <a:srgbClr val="FFFFFF"/>
                </a:solidFill>
                <a:latin typeface="Calibri"/>
              </a:defRPr>
            </a:pPr>
            <a:r>
              <a:t>AGENT TYPE: Customer Agent + Employee Agent</a:t>
            </a:r>
          </a:p>
        </p:txBody>
      </p:sp>
      <p:pic>
        <p:nvPicPr>
          <p:cNvPr id="41" name="Picture 40" descr="image.jpg"/>
          <p:cNvPicPr>
            <a:picLocks noChangeAspect="1"/>
          </p:cNvPicPr>
          <p:nvPr/>
        </p:nvPicPr>
        <p:blipFill>
          <a:blip r:embed="rId2"/>
          <a:stretch>
            <a:fillRect/>
          </a:stretch>
        </p:blipFill>
        <p:spPr>
          <a:xfrm>
            <a:off x="8076895" y="0"/>
            <a:ext cx="4114800" cy="6858000"/>
          </a:xfrm>
          <a:prstGeom prst="rect">
            <a:avLst/>
          </a:prstGeom>
        </p:spPr>
      </p:pic>
      <p:sp>
        <p:nvSpPr>
          <p:cNvPr id="42" name="TextBox 41"/>
          <p:cNvSpPr txBox="1"/>
          <p:nvPr/>
        </p:nvSpPr>
        <p:spPr>
          <a:xfrm>
            <a:off x="274320" y="6492240"/>
            <a:ext cx="4572000" cy="274320"/>
          </a:xfrm>
          <a:prstGeom prst="rect">
            <a:avLst/>
          </a:prstGeom>
          <a:noFill/>
        </p:spPr>
        <p:txBody>
          <a:bodyPr wrap="square">
            <a:spAutoFit/>
          </a:bodyPr>
          <a:lstStyle/>
          <a:p>
            <a:pPr algn="l">
              <a:spcAft>
                <a:spcPts val="200"/>
              </a:spcAft>
              <a:defRPr sz="700" b="0">
                <a:solidFill>
                  <a:srgbClr val="888888"/>
                </a:solidFill>
                <a:latin typeface="Calibri"/>
              </a:defRPr>
            </a:pPr>
            <a:r>
              <a:t>Agentic AI Use Cases Across Industries | Confidential</a:t>
            </a:r>
          </a:p>
        </p:txBody>
      </p:sp>
      <p:sp>
        <p:nvSpPr>
          <p:cNvPr id="43" name="TextBox 42"/>
          <p:cNvSpPr txBox="1"/>
          <p:nvPr/>
        </p:nvSpPr>
        <p:spPr>
          <a:xfrm>
            <a:off x="11094415" y="6492240"/>
            <a:ext cx="822960" cy="274320"/>
          </a:xfrm>
          <a:prstGeom prst="rect">
            <a:avLst/>
          </a:prstGeom>
          <a:noFill/>
        </p:spPr>
        <p:txBody>
          <a:bodyPr wrap="square">
            <a:spAutoFit/>
          </a:bodyPr>
          <a:lstStyle/>
          <a:p>
            <a:pPr algn="r">
              <a:spcAft>
                <a:spcPts val="200"/>
              </a:spcAft>
              <a:defRPr sz="700" b="0">
                <a:solidFill>
                  <a:srgbClr val="888888"/>
                </a:solidFill>
                <a:latin typeface="Calibri"/>
              </a:defRPr>
            </a:pPr>
            <a:r>
              <a:t>13 / 46</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8076895" cy="6858000"/>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82880"/>
            <a:ext cx="7436815" cy="502920"/>
          </a:xfrm>
          <a:prstGeom prst="rect">
            <a:avLst/>
          </a:prstGeom>
          <a:noFill/>
        </p:spPr>
        <p:txBody>
          <a:bodyPr wrap="square">
            <a:spAutoFit/>
          </a:bodyPr>
          <a:lstStyle/>
          <a:p>
            <a:pPr algn="l">
              <a:spcAft>
                <a:spcPts val="200"/>
              </a:spcAft>
              <a:defRPr sz="2000" b="1">
                <a:solidFill>
                  <a:srgbClr val="FFFFFF"/>
                </a:solidFill>
                <a:latin typeface="Calibri"/>
              </a:defRPr>
            </a:pPr>
            <a:r>
              <a:t>UC07 | Schroders — Multi-Agent Financial Research</a:t>
            </a:r>
          </a:p>
        </p:txBody>
      </p:sp>
      <p:sp>
        <p:nvSpPr>
          <p:cNvPr id="4" name="Rectangle 3"/>
          <p:cNvSpPr/>
          <p:nvPr/>
        </p:nvSpPr>
        <p:spPr>
          <a:xfrm>
            <a:off x="365760" y="658368"/>
            <a:ext cx="1828800" cy="27432"/>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777240"/>
            <a:ext cx="1371600" cy="182880"/>
          </a:xfrm>
          <a:prstGeom prst="rect">
            <a:avLst/>
          </a:prstGeom>
          <a:noFill/>
        </p:spPr>
        <p:txBody>
          <a:bodyPr wrap="square">
            <a:spAutoFit/>
          </a:bodyPr>
          <a:lstStyle/>
          <a:p>
            <a:pPr algn="l">
              <a:spcAft>
                <a:spcPts val="200"/>
              </a:spcAft>
              <a:defRPr sz="800" b="1">
                <a:solidFill>
                  <a:srgbClr val="0A1628"/>
                </a:solidFill>
                <a:latin typeface="Calibri"/>
              </a:defRPr>
            </a:pPr>
            <a:r>
              <a:t>CHALLENGE</a:t>
            </a:r>
          </a:p>
        </p:txBody>
      </p:sp>
      <p:sp>
        <p:nvSpPr>
          <p:cNvPr id="6" name="TextBox 5"/>
          <p:cNvSpPr txBox="1"/>
          <p:nvPr/>
        </p:nvSpPr>
        <p:spPr>
          <a:xfrm>
            <a:off x="365760" y="960120"/>
            <a:ext cx="3520440" cy="1280160"/>
          </a:xfrm>
          <a:prstGeom prst="rect">
            <a:avLst/>
          </a:prstGeom>
          <a:noFill/>
        </p:spPr>
        <p:txBody>
          <a:bodyPr wrap="square">
            <a:spAutoFit/>
          </a:bodyPr>
          <a:lstStyle/>
          <a:p>
            <a:pPr algn="l">
              <a:spcAft>
                <a:spcPts val="200"/>
              </a:spcAft>
              <a:defRPr sz="750" b="0">
                <a:solidFill>
                  <a:srgbClr val="0A1628"/>
                </a:solidFill>
                <a:latin typeface="Calibri"/>
              </a:defRPr>
            </a:pPr>
            <a:r>
              <a:t>• Complex multi-step equity research: fundamentals, filings, news synthesis</a:t>
            </a:r>
            <a:br/>
            <a:r>
              <a:t>• Analysis that took analysts days to complete manually</a:t>
            </a:r>
            <a:br/>
            <a:r>
              <a:t>• Dependencies between deterministic tasks and non-deterministic reasoning</a:t>
            </a:r>
            <a:br/>
            <a:r>
              <a:t>• Standalone LLMs couldn't handle ordered data retrieval workflows</a:t>
            </a:r>
          </a:p>
        </p:txBody>
      </p:sp>
      <p:sp>
        <p:nvSpPr>
          <p:cNvPr id="7" name="TextBox 6"/>
          <p:cNvSpPr txBox="1"/>
          <p:nvPr/>
        </p:nvSpPr>
        <p:spPr>
          <a:xfrm>
            <a:off x="4023360" y="777240"/>
            <a:ext cx="1828800" cy="182880"/>
          </a:xfrm>
          <a:prstGeom prst="rect">
            <a:avLst/>
          </a:prstGeom>
          <a:noFill/>
        </p:spPr>
        <p:txBody>
          <a:bodyPr wrap="square">
            <a:spAutoFit/>
          </a:bodyPr>
          <a:lstStyle/>
          <a:p>
            <a:pPr algn="l">
              <a:spcAft>
                <a:spcPts val="200"/>
              </a:spcAft>
              <a:defRPr sz="800" b="1">
                <a:solidFill>
                  <a:srgbClr val="0A1628"/>
                </a:solidFill>
                <a:latin typeface="Calibri"/>
              </a:defRPr>
            </a:pPr>
            <a:r>
              <a:t>AGENTIC SOLUTION</a:t>
            </a:r>
          </a:p>
        </p:txBody>
      </p:sp>
      <p:sp>
        <p:nvSpPr>
          <p:cNvPr id="8" name="TextBox 7"/>
          <p:cNvSpPr txBox="1"/>
          <p:nvPr/>
        </p:nvSpPr>
        <p:spPr>
          <a:xfrm>
            <a:off x="4023360" y="960120"/>
            <a:ext cx="3520440" cy="1280160"/>
          </a:xfrm>
          <a:prstGeom prst="rect">
            <a:avLst/>
          </a:prstGeom>
          <a:noFill/>
        </p:spPr>
        <p:txBody>
          <a:bodyPr wrap="square">
            <a:spAutoFit/>
          </a:bodyPr>
          <a:lstStyle/>
          <a:p>
            <a:pPr algn="l">
              <a:spcAft>
                <a:spcPts val="200"/>
              </a:spcAft>
              <a:defRPr sz="750" b="0">
                <a:solidFill>
                  <a:srgbClr val="0A1628"/>
                </a:solidFill>
                <a:latin typeface="Calibri"/>
              </a:defRPr>
            </a:pPr>
            <a:r>
              <a:t>• Multi-agent research assistant with parent-child graph structure</a:t>
            </a:r>
            <a:br/>
            <a:r>
              <a:t>• Porter's 5 Forces Agent triggers child agents in parallel/sequence</a:t>
            </a:r>
            <a:br/>
            <a:r>
              <a:t>• Users create, test, and combine agents into directed graph workflows</a:t>
            </a:r>
            <a:br/>
            <a:r>
              <a:t>• Analyst creates complete company analysis in minutes, not days</a:t>
            </a:r>
          </a:p>
        </p:txBody>
      </p:sp>
      <p:sp>
        <p:nvSpPr>
          <p:cNvPr id="9" name="Rectangle 8"/>
          <p:cNvSpPr/>
          <p:nvPr/>
        </p:nvSpPr>
        <p:spPr>
          <a:xfrm>
            <a:off x="365760"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65760"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Days → Min</a:t>
            </a:r>
          </a:p>
        </p:txBody>
      </p:sp>
      <p:sp>
        <p:nvSpPr>
          <p:cNvPr id="11" name="TextBox 10"/>
          <p:cNvSpPr txBox="1"/>
          <p:nvPr/>
        </p:nvSpPr>
        <p:spPr>
          <a:xfrm>
            <a:off x="365760"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Company analysis</a:t>
            </a:r>
            <a:br/>
            <a:r>
              <a:t>time</a:t>
            </a:r>
          </a:p>
        </p:txBody>
      </p:sp>
      <p:sp>
        <p:nvSpPr>
          <p:cNvPr id="12" name="Rectangle 11"/>
          <p:cNvSpPr/>
          <p:nvPr/>
        </p:nvSpPr>
        <p:spPr>
          <a:xfrm>
            <a:off x="2240279"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240279"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5 Forces</a:t>
            </a:r>
          </a:p>
        </p:txBody>
      </p:sp>
      <p:sp>
        <p:nvSpPr>
          <p:cNvPr id="14" name="TextBox 13"/>
          <p:cNvSpPr txBox="1"/>
          <p:nvPr/>
        </p:nvSpPr>
        <p:spPr>
          <a:xfrm>
            <a:off x="2240279"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Full Porter’s</a:t>
            </a:r>
            <a:br/>
            <a:r>
              <a:t>analysis automated</a:t>
            </a:r>
          </a:p>
        </p:txBody>
      </p:sp>
      <p:sp>
        <p:nvSpPr>
          <p:cNvPr id="15" name="Rectangle 14"/>
          <p:cNvSpPr/>
          <p:nvPr/>
        </p:nvSpPr>
        <p:spPr>
          <a:xfrm>
            <a:off x="4114799"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114799"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Versioned</a:t>
            </a:r>
          </a:p>
        </p:txBody>
      </p:sp>
      <p:sp>
        <p:nvSpPr>
          <p:cNvPr id="17" name="TextBox 16"/>
          <p:cNvSpPr txBox="1"/>
          <p:nvPr/>
        </p:nvSpPr>
        <p:spPr>
          <a:xfrm>
            <a:off x="4114799"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Agent configs</a:t>
            </a:r>
            <a:br/>
            <a:r>
              <a:t>in Firestore</a:t>
            </a:r>
          </a:p>
        </p:txBody>
      </p:sp>
      <p:sp>
        <p:nvSpPr>
          <p:cNvPr id="18" name="Rectangle 17"/>
          <p:cNvSpPr/>
          <p:nvPr/>
        </p:nvSpPr>
        <p:spPr>
          <a:xfrm>
            <a:off x="5989319"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989319"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Modular</a:t>
            </a:r>
          </a:p>
        </p:txBody>
      </p:sp>
      <p:sp>
        <p:nvSpPr>
          <p:cNvPr id="20" name="TextBox 19"/>
          <p:cNvSpPr txBox="1"/>
          <p:nvPr/>
        </p:nvSpPr>
        <p:spPr>
          <a:xfrm>
            <a:off x="5989319"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Combine agents</a:t>
            </a:r>
            <a:br/>
            <a:r>
              <a:t>into workflows</a:t>
            </a:r>
          </a:p>
        </p:txBody>
      </p:sp>
      <p:sp>
        <p:nvSpPr>
          <p:cNvPr id="21" name="TextBox 20"/>
          <p:cNvSpPr txBox="1"/>
          <p:nvPr/>
        </p:nvSpPr>
        <p:spPr>
          <a:xfrm>
            <a:off x="365760" y="3246120"/>
            <a:ext cx="1828800" cy="182880"/>
          </a:xfrm>
          <a:prstGeom prst="rect">
            <a:avLst/>
          </a:prstGeom>
          <a:noFill/>
        </p:spPr>
        <p:txBody>
          <a:bodyPr wrap="square">
            <a:spAutoFit/>
          </a:bodyPr>
          <a:lstStyle/>
          <a:p>
            <a:pPr algn="l">
              <a:spcAft>
                <a:spcPts val="200"/>
              </a:spcAft>
              <a:defRPr sz="800" b="1">
                <a:solidFill>
                  <a:srgbClr val="0A1628"/>
                </a:solidFill>
                <a:latin typeface="Calibri"/>
              </a:defRPr>
            </a:pPr>
            <a:r>
              <a:t>HOW IT WORKS</a:t>
            </a:r>
          </a:p>
        </p:txBody>
      </p:sp>
      <p:sp>
        <p:nvSpPr>
          <p:cNvPr id="22" name="TextBox 21"/>
          <p:cNvSpPr txBox="1"/>
          <p:nvPr/>
        </p:nvSpPr>
        <p:spPr>
          <a:xfrm>
            <a:off x="365760" y="3429000"/>
            <a:ext cx="7436815" cy="594360"/>
          </a:xfrm>
          <a:prstGeom prst="rect">
            <a:avLst/>
          </a:prstGeom>
          <a:noFill/>
        </p:spPr>
        <p:txBody>
          <a:bodyPr wrap="square">
            <a:spAutoFit/>
          </a:bodyPr>
          <a:lstStyle/>
          <a:p>
            <a:pPr algn="l">
              <a:spcAft>
                <a:spcPts val="200"/>
              </a:spcAft>
              <a:defRPr sz="700" b="0">
                <a:solidFill>
                  <a:srgbClr val="0A1628"/>
                </a:solidFill>
                <a:latin typeface="Calibri"/>
              </a:defRPr>
            </a:pPr>
            <a:r>
              <a:t>→ Analyst creates agent with name, description, prompt template</a:t>
            </a:r>
            <a:br/>
            <a:r>
              <a:t>→ Quick chat function for smoke-testing agents and tweaking prompts</a:t>
            </a:r>
            <a:br/>
            <a:r>
              <a:t>→ Tested agents join pool; users combine them into multi-step workflows</a:t>
            </a:r>
            <a:br/>
            <a:r>
              <a:t>→ Parent graph orchestrates; child agents complete tasks and update state</a:t>
            </a:r>
          </a:p>
        </p:txBody>
      </p:sp>
      <p:sp>
        <p:nvSpPr>
          <p:cNvPr id="23" name="TextBox 22"/>
          <p:cNvSpPr txBox="1"/>
          <p:nvPr/>
        </p:nvSpPr>
        <p:spPr>
          <a:xfrm>
            <a:off x="365760" y="4069080"/>
            <a:ext cx="3200400" cy="182880"/>
          </a:xfrm>
          <a:prstGeom prst="rect">
            <a:avLst/>
          </a:prstGeom>
          <a:noFill/>
        </p:spPr>
        <p:txBody>
          <a:bodyPr wrap="square">
            <a:spAutoFit/>
          </a:bodyPr>
          <a:lstStyle/>
          <a:p>
            <a:pPr algn="l">
              <a:spcAft>
                <a:spcPts val="200"/>
              </a:spcAft>
              <a:defRPr sz="750" b="1">
                <a:solidFill>
                  <a:srgbClr val="0A1628"/>
                </a:solidFill>
                <a:latin typeface="Calibri"/>
              </a:defRPr>
            </a:pPr>
            <a:r>
              <a:t>AGENT ARCHITECTURE</a:t>
            </a:r>
          </a:p>
        </p:txBody>
      </p:sp>
      <p:sp>
        <p:nvSpPr>
          <p:cNvPr id="24" name="TextBox 23"/>
          <p:cNvSpPr txBox="1"/>
          <p:nvPr/>
        </p:nvSpPr>
        <p:spPr>
          <a:xfrm>
            <a:off x="365760" y="4251960"/>
            <a:ext cx="3520440" cy="777240"/>
          </a:xfrm>
          <a:prstGeom prst="rect">
            <a:avLst/>
          </a:prstGeom>
          <a:noFill/>
        </p:spPr>
        <p:txBody>
          <a:bodyPr wrap="square">
            <a:spAutoFit/>
          </a:bodyPr>
          <a:lstStyle/>
          <a:p>
            <a:pPr algn="l">
              <a:spcAft>
                <a:spcPts val="200"/>
              </a:spcAft>
              <a:defRPr sz="700" b="0">
                <a:solidFill>
                  <a:srgbClr val="0A1628"/>
                </a:solidFill>
                <a:latin typeface="Calibri"/>
              </a:defRPr>
            </a:pPr>
            <a:r>
              <a:t>• Vertex AI Agent Builder + LangGraph for state management</a:t>
            </a:r>
            <a:br/>
            <a:r>
              <a:t>• Parent-child graph: child agents write results to parent state</a:t>
            </a:r>
            <a:br/>
            <a:r>
              <a:t>• Human-in-the-loop checkpoints at critical decision points</a:t>
            </a:r>
            <a:br/>
            <a:r>
              <a:t>• AutoSxS Model Evaluation for agent quality assessment</a:t>
            </a:r>
          </a:p>
        </p:txBody>
      </p:sp>
      <p:sp>
        <p:nvSpPr>
          <p:cNvPr id="25" name="TextBox 24"/>
          <p:cNvSpPr txBox="1"/>
          <p:nvPr/>
        </p:nvSpPr>
        <p:spPr>
          <a:xfrm>
            <a:off x="4023360" y="4069080"/>
            <a:ext cx="3200400" cy="182880"/>
          </a:xfrm>
          <a:prstGeom prst="rect">
            <a:avLst/>
          </a:prstGeom>
          <a:noFill/>
        </p:spPr>
        <p:txBody>
          <a:bodyPr wrap="square">
            <a:spAutoFit/>
          </a:bodyPr>
          <a:lstStyle/>
          <a:p>
            <a:pPr algn="l">
              <a:spcAft>
                <a:spcPts val="200"/>
              </a:spcAft>
              <a:defRPr sz="750" b="1">
                <a:solidFill>
                  <a:srgbClr val="0A1628"/>
                </a:solidFill>
                <a:latin typeface="Calibri"/>
              </a:defRPr>
            </a:pPr>
            <a:r>
              <a:t>GOVERNANCE &amp; COMPLIANCE</a:t>
            </a:r>
          </a:p>
        </p:txBody>
      </p:sp>
      <p:sp>
        <p:nvSpPr>
          <p:cNvPr id="26" name="TextBox 25"/>
          <p:cNvSpPr txBox="1"/>
          <p:nvPr/>
        </p:nvSpPr>
        <p:spPr>
          <a:xfrm>
            <a:off x="4023360" y="4251960"/>
            <a:ext cx="3520440" cy="777240"/>
          </a:xfrm>
          <a:prstGeom prst="rect">
            <a:avLst/>
          </a:prstGeom>
          <a:noFill/>
        </p:spPr>
        <p:txBody>
          <a:bodyPr wrap="square">
            <a:spAutoFit/>
          </a:bodyPr>
          <a:lstStyle/>
          <a:p>
            <a:pPr algn="l">
              <a:spcAft>
                <a:spcPts val="200"/>
              </a:spcAft>
              <a:defRPr sz="700" b="0">
                <a:solidFill>
                  <a:srgbClr val="0A1628"/>
                </a:solidFill>
                <a:latin typeface="Calibri"/>
              </a:defRPr>
            </a:pPr>
            <a:r>
              <a:t>• Agent configurations versioned in Firestore (CRUD operations)</a:t>
            </a:r>
            <a:br/>
            <a:r>
              <a:t>• Complete tool call and reasoning trace per agent run</a:t>
            </a:r>
            <a:br/>
            <a:r>
              <a:t>• Designed for regulatory compliance in financial research</a:t>
            </a:r>
          </a:p>
        </p:txBody>
      </p:sp>
      <p:sp>
        <p:nvSpPr>
          <p:cNvPr id="27" name="Rectangle 26"/>
          <p:cNvSpPr/>
          <p:nvPr/>
        </p:nvSpPr>
        <p:spPr>
          <a:xfrm>
            <a:off x="274320" y="5074920"/>
            <a:ext cx="7619695" cy="77724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65760" y="5111496"/>
            <a:ext cx="1828800" cy="164592"/>
          </a:xfrm>
          <a:prstGeom prst="rect">
            <a:avLst/>
          </a:prstGeom>
          <a:noFill/>
        </p:spPr>
        <p:txBody>
          <a:bodyPr wrap="square">
            <a:spAutoFit/>
          </a:bodyPr>
          <a:lstStyle/>
          <a:p>
            <a:pPr algn="l">
              <a:spcAft>
                <a:spcPts val="200"/>
              </a:spcAft>
              <a:defRPr sz="750" b="1">
                <a:solidFill>
                  <a:srgbClr val="00C9A7"/>
                </a:solidFill>
                <a:latin typeface="Calibri"/>
              </a:defRPr>
            </a:pPr>
            <a:r>
              <a:t>TECHNOLOGY STACK</a:t>
            </a:r>
          </a:p>
        </p:txBody>
      </p:sp>
      <p:sp>
        <p:nvSpPr>
          <p:cNvPr id="29" name="TextBox 28"/>
          <p:cNvSpPr txBox="1"/>
          <p:nvPr/>
        </p:nvSpPr>
        <p:spPr>
          <a:xfrm>
            <a:off x="365760"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AI</a:t>
            </a:r>
          </a:p>
        </p:txBody>
      </p:sp>
      <p:sp>
        <p:nvSpPr>
          <p:cNvPr id="30" name="TextBox 29"/>
          <p:cNvSpPr txBox="1"/>
          <p:nvPr/>
        </p:nvSpPr>
        <p:spPr>
          <a:xfrm>
            <a:off x="365760"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Vertex AI Agent</a:t>
            </a:r>
            <a:br/>
            <a:r>
              <a:t>Builder + Gemini</a:t>
            </a:r>
          </a:p>
        </p:txBody>
      </p:sp>
      <p:sp>
        <p:nvSpPr>
          <p:cNvPr id="31" name="TextBox 30"/>
          <p:cNvSpPr txBox="1"/>
          <p:nvPr/>
        </p:nvSpPr>
        <p:spPr>
          <a:xfrm>
            <a:off x="2240279"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Orchestration</a:t>
            </a:r>
          </a:p>
        </p:txBody>
      </p:sp>
      <p:sp>
        <p:nvSpPr>
          <p:cNvPr id="32" name="TextBox 31"/>
          <p:cNvSpPr txBox="1"/>
          <p:nvPr/>
        </p:nvSpPr>
        <p:spPr>
          <a:xfrm>
            <a:off x="2240279"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LangGraph</a:t>
            </a:r>
            <a:br/>
            <a:r>
              <a:t>state management</a:t>
            </a:r>
          </a:p>
        </p:txBody>
      </p:sp>
      <p:sp>
        <p:nvSpPr>
          <p:cNvPr id="33" name="TextBox 32"/>
          <p:cNvSpPr txBox="1"/>
          <p:nvPr/>
        </p:nvSpPr>
        <p:spPr>
          <a:xfrm>
            <a:off x="4114799"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Storage</a:t>
            </a:r>
          </a:p>
        </p:txBody>
      </p:sp>
      <p:sp>
        <p:nvSpPr>
          <p:cNvPr id="34" name="TextBox 33"/>
          <p:cNvSpPr txBox="1"/>
          <p:nvPr/>
        </p:nvSpPr>
        <p:spPr>
          <a:xfrm>
            <a:off x="4114799"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Firestore agent</a:t>
            </a:r>
            <a:br/>
            <a:r>
              <a:t>config versioning</a:t>
            </a:r>
          </a:p>
        </p:txBody>
      </p:sp>
      <p:sp>
        <p:nvSpPr>
          <p:cNvPr id="35" name="TextBox 34"/>
          <p:cNvSpPr txBox="1"/>
          <p:nvPr/>
        </p:nvSpPr>
        <p:spPr>
          <a:xfrm>
            <a:off x="5989319"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Evaluation</a:t>
            </a:r>
          </a:p>
        </p:txBody>
      </p:sp>
      <p:sp>
        <p:nvSpPr>
          <p:cNvPr id="36" name="TextBox 35"/>
          <p:cNvSpPr txBox="1"/>
          <p:nvPr/>
        </p:nvSpPr>
        <p:spPr>
          <a:xfrm>
            <a:off x="5989319"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AutoSxS Model</a:t>
            </a:r>
            <a:br/>
            <a:r>
              <a:t>Evaluation</a:t>
            </a:r>
          </a:p>
        </p:txBody>
      </p:sp>
      <p:sp>
        <p:nvSpPr>
          <p:cNvPr id="37" name="Rectangle 36"/>
          <p:cNvSpPr/>
          <p:nvPr/>
        </p:nvSpPr>
        <p:spPr>
          <a:xfrm>
            <a:off x="274320" y="5943600"/>
            <a:ext cx="3657600" cy="320040"/>
          </a:xfrm>
          <a:prstGeom prst="rect">
            <a:avLst/>
          </a:prstGeom>
          <a:solidFill>
            <a:srgbClr val="009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365760" y="5980176"/>
            <a:ext cx="3474720" cy="256032"/>
          </a:xfrm>
          <a:prstGeom prst="rect">
            <a:avLst/>
          </a:prstGeom>
          <a:noFill/>
        </p:spPr>
        <p:txBody>
          <a:bodyPr wrap="square">
            <a:spAutoFit/>
          </a:bodyPr>
          <a:lstStyle/>
          <a:p>
            <a:pPr algn="l">
              <a:spcAft>
                <a:spcPts val="200"/>
              </a:spcAft>
              <a:defRPr sz="650" b="1">
                <a:solidFill>
                  <a:srgbClr val="FFFFFF"/>
                </a:solidFill>
                <a:latin typeface="Calibri"/>
              </a:defRPr>
            </a:pPr>
            <a:r>
              <a:t>INDUSTRY: Financial Services</a:t>
            </a:r>
          </a:p>
        </p:txBody>
      </p:sp>
      <p:sp>
        <p:nvSpPr>
          <p:cNvPr id="39" name="Rectangle 38"/>
          <p:cNvSpPr/>
          <p:nvPr/>
        </p:nvSpPr>
        <p:spPr>
          <a:xfrm>
            <a:off x="4114800" y="5943600"/>
            <a:ext cx="3657600" cy="320040"/>
          </a:xfrm>
          <a:prstGeom prst="rect">
            <a:avLst/>
          </a:prstGeom>
          <a:solidFill>
            <a:srgbClr val="008F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4206240" y="5980176"/>
            <a:ext cx="3474720" cy="256032"/>
          </a:xfrm>
          <a:prstGeom prst="rect">
            <a:avLst/>
          </a:prstGeom>
          <a:noFill/>
        </p:spPr>
        <p:txBody>
          <a:bodyPr wrap="square">
            <a:spAutoFit/>
          </a:bodyPr>
          <a:lstStyle/>
          <a:p>
            <a:pPr algn="l">
              <a:spcAft>
                <a:spcPts val="200"/>
              </a:spcAft>
              <a:defRPr sz="650" b="1">
                <a:solidFill>
                  <a:srgbClr val="FFFFFF"/>
                </a:solidFill>
                <a:latin typeface="Calibri"/>
              </a:defRPr>
            </a:pPr>
            <a:r>
              <a:t>AGENT TYPE: Data Agent</a:t>
            </a:r>
          </a:p>
        </p:txBody>
      </p:sp>
      <p:pic>
        <p:nvPicPr>
          <p:cNvPr id="41" name="Picture 40" descr="image.jpg"/>
          <p:cNvPicPr>
            <a:picLocks noChangeAspect="1"/>
          </p:cNvPicPr>
          <p:nvPr/>
        </p:nvPicPr>
        <p:blipFill>
          <a:blip r:embed="rId2"/>
          <a:stretch>
            <a:fillRect/>
          </a:stretch>
        </p:blipFill>
        <p:spPr>
          <a:xfrm>
            <a:off x="8076895" y="0"/>
            <a:ext cx="4114800" cy="6858000"/>
          </a:xfrm>
          <a:prstGeom prst="rect">
            <a:avLst/>
          </a:prstGeom>
        </p:spPr>
      </p:pic>
      <p:sp>
        <p:nvSpPr>
          <p:cNvPr id="42" name="TextBox 41"/>
          <p:cNvSpPr txBox="1"/>
          <p:nvPr/>
        </p:nvSpPr>
        <p:spPr>
          <a:xfrm>
            <a:off x="274320" y="6492240"/>
            <a:ext cx="4572000" cy="274320"/>
          </a:xfrm>
          <a:prstGeom prst="rect">
            <a:avLst/>
          </a:prstGeom>
          <a:noFill/>
        </p:spPr>
        <p:txBody>
          <a:bodyPr wrap="square">
            <a:spAutoFit/>
          </a:bodyPr>
          <a:lstStyle/>
          <a:p>
            <a:pPr algn="l">
              <a:spcAft>
                <a:spcPts val="200"/>
              </a:spcAft>
              <a:defRPr sz="700" b="0">
                <a:solidFill>
                  <a:srgbClr val="888888"/>
                </a:solidFill>
                <a:latin typeface="Calibri"/>
              </a:defRPr>
            </a:pPr>
            <a:r>
              <a:t>Agentic AI Use Cases Across Industries | Confidential</a:t>
            </a:r>
          </a:p>
        </p:txBody>
      </p:sp>
      <p:sp>
        <p:nvSpPr>
          <p:cNvPr id="43" name="TextBox 42"/>
          <p:cNvSpPr txBox="1"/>
          <p:nvPr/>
        </p:nvSpPr>
        <p:spPr>
          <a:xfrm>
            <a:off x="11094415" y="6492240"/>
            <a:ext cx="822960" cy="274320"/>
          </a:xfrm>
          <a:prstGeom prst="rect">
            <a:avLst/>
          </a:prstGeom>
          <a:noFill/>
        </p:spPr>
        <p:txBody>
          <a:bodyPr wrap="square">
            <a:spAutoFit/>
          </a:bodyPr>
          <a:lstStyle/>
          <a:p>
            <a:pPr algn="r">
              <a:spcAft>
                <a:spcPts val="200"/>
              </a:spcAft>
              <a:defRPr sz="700" b="0">
                <a:solidFill>
                  <a:srgbClr val="888888"/>
                </a:solidFill>
                <a:latin typeface="Calibri"/>
              </a:defRPr>
            </a:pPr>
            <a:r>
              <a:t>14 / 46</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8076895" cy="6858000"/>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82880"/>
            <a:ext cx="7436815" cy="502920"/>
          </a:xfrm>
          <a:prstGeom prst="rect">
            <a:avLst/>
          </a:prstGeom>
          <a:noFill/>
        </p:spPr>
        <p:txBody>
          <a:bodyPr wrap="square">
            <a:spAutoFit/>
          </a:bodyPr>
          <a:lstStyle/>
          <a:p>
            <a:pPr algn="l">
              <a:spcAft>
                <a:spcPts val="200"/>
              </a:spcAft>
              <a:defRPr sz="2000" b="1">
                <a:solidFill>
                  <a:srgbClr val="FFFFFF"/>
                </a:solidFill>
                <a:latin typeface="Calibri"/>
              </a:defRPr>
            </a:pPr>
            <a:r>
              <a:t>UC08 | FinRobot — Agentic ERP for Financial Workflows</a:t>
            </a:r>
          </a:p>
        </p:txBody>
      </p:sp>
      <p:sp>
        <p:nvSpPr>
          <p:cNvPr id="4" name="Rectangle 3"/>
          <p:cNvSpPr/>
          <p:nvPr/>
        </p:nvSpPr>
        <p:spPr>
          <a:xfrm>
            <a:off x="365760" y="658368"/>
            <a:ext cx="1828800" cy="27432"/>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777240"/>
            <a:ext cx="1371600" cy="182880"/>
          </a:xfrm>
          <a:prstGeom prst="rect">
            <a:avLst/>
          </a:prstGeom>
          <a:noFill/>
        </p:spPr>
        <p:txBody>
          <a:bodyPr wrap="square">
            <a:spAutoFit/>
          </a:bodyPr>
          <a:lstStyle/>
          <a:p>
            <a:pPr algn="l">
              <a:spcAft>
                <a:spcPts val="200"/>
              </a:spcAft>
              <a:defRPr sz="800" b="1">
                <a:solidFill>
                  <a:srgbClr val="0A1628"/>
                </a:solidFill>
                <a:latin typeface="Calibri"/>
              </a:defRPr>
            </a:pPr>
            <a:r>
              <a:t>CHALLENGE</a:t>
            </a:r>
          </a:p>
        </p:txBody>
      </p:sp>
      <p:sp>
        <p:nvSpPr>
          <p:cNvPr id="6" name="TextBox 5"/>
          <p:cNvSpPr txBox="1"/>
          <p:nvPr/>
        </p:nvSpPr>
        <p:spPr>
          <a:xfrm>
            <a:off x="365760" y="960120"/>
            <a:ext cx="3520440" cy="1280160"/>
          </a:xfrm>
          <a:prstGeom prst="rect">
            <a:avLst/>
          </a:prstGeom>
          <a:noFill/>
        </p:spPr>
        <p:txBody>
          <a:bodyPr wrap="square">
            <a:spAutoFit/>
          </a:bodyPr>
          <a:lstStyle/>
          <a:p>
            <a:pPr algn="l">
              <a:spcAft>
                <a:spcPts val="200"/>
              </a:spcAft>
              <a:defRPr sz="750" b="0">
                <a:solidFill>
                  <a:srgbClr val="0A1628"/>
                </a:solidFill>
                <a:latin typeface="Calibri"/>
              </a:defRPr>
            </a:pPr>
            <a:r>
              <a:t>• Wire transfers: mission-critical, strict compliance (SWIFT, AML/KYC)</a:t>
            </a:r>
            <a:br/>
            <a:r>
              <a:t>• Reimbursements: high frequency, unstructured inputs (receipts, invoices)</a:t>
            </a:r>
            <a:br/>
            <a:r>
              <a:t>• Traditional workflow engines are brittle, can't adapt dynamically</a:t>
            </a:r>
            <a:br/>
            <a:r>
              <a:t>• Manual process: end-to-end time measured in days, high error rates</a:t>
            </a:r>
          </a:p>
        </p:txBody>
      </p:sp>
      <p:sp>
        <p:nvSpPr>
          <p:cNvPr id="7" name="TextBox 6"/>
          <p:cNvSpPr txBox="1"/>
          <p:nvPr/>
        </p:nvSpPr>
        <p:spPr>
          <a:xfrm>
            <a:off x="4023360" y="777240"/>
            <a:ext cx="1828800" cy="182880"/>
          </a:xfrm>
          <a:prstGeom prst="rect">
            <a:avLst/>
          </a:prstGeom>
          <a:noFill/>
        </p:spPr>
        <p:txBody>
          <a:bodyPr wrap="square">
            <a:spAutoFit/>
          </a:bodyPr>
          <a:lstStyle/>
          <a:p>
            <a:pPr algn="l">
              <a:spcAft>
                <a:spcPts val="200"/>
              </a:spcAft>
              <a:defRPr sz="800" b="1">
                <a:solidFill>
                  <a:srgbClr val="0A1628"/>
                </a:solidFill>
                <a:latin typeface="Calibri"/>
              </a:defRPr>
            </a:pPr>
            <a:r>
              <a:t>AGENTIC SOLUTION</a:t>
            </a:r>
          </a:p>
        </p:txBody>
      </p:sp>
      <p:sp>
        <p:nvSpPr>
          <p:cNvPr id="8" name="TextBox 7"/>
          <p:cNvSpPr txBox="1"/>
          <p:nvPr/>
        </p:nvSpPr>
        <p:spPr>
          <a:xfrm>
            <a:off x="4023360" y="960120"/>
            <a:ext cx="3520440" cy="1280160"/>
          </a:xfrm>
          <a:prstGeom prst="rect">
            <a:avLst/>
          </a:prstGeom>
          <a:noFill/>
        </p:spPr>
        <p:txBody>
          <a:bodyPr wrap="square">
            <a:spAutoFit/>
          </a:bodyPr>
          <a:lstStyle/>
          <a:p>
            <a:pPr algn="l">
              <a:spcAft>
                <a:spcPts val="200"/>
              </a:spcAft>
              <a:defRPr sz="750" b="0">
                <a:solidFill>
                  <a:srgbClr val="0A1628"/>
                </a:solidFill>
                <a:latin typeface="Calibri"/>
              </a:defRPr>
            </a:pPr>
            <a:r>
              <a:t>• Generative Business Process AI Agents (GBPAs) for ERP automation</a:t>
            </a:r>
            <a:br/>
            <a:r>
              <a:t>• Agents interpret user intent and synthesize workflows in real time</a:t>
            </a:r>
            <a:br/>
            <a:r>
              <a:t>• Coordinate specialized sub-agents for modular task execution</a:t>
            </a:r>
            <a:br/>
            <a:r>
              <a:t>• Intelligent parallelization of approval steps and risk checks</a:t>
            </a:r>
          </a:p>
        </p:txBody>
      </p:sp>
      <p:sp>
        <p:nvSpPr>
          <p:cNvPr id="9" name="Rectangle 8"/>
          <p:cNvSpPr/>
          <p:nvPr/>
        </p:nvSpPr>
        <p:spPr>
          <a:xfrm>
            <a:off x="365760"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65760"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40%</a:t>
            </a:r>
          </a:p>
        </p:txBody>
      </p:sp>
      <p:sp>
        <p:nvSpPr>
          <p:cNvPr id="11" name="TextBox 10"/>
          <p:cNvSpPr txBox="1"/>
          <p:nvPr/>
        </p:nvSpPr>
        <p:spPr>
          <a:xfrm>
            <a:off x="365760"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Processing time</a:t>
            </a:r>
            <a:br/>
            <a:r>
              <a:t>reduction</a:t>
            </a:r>
          </a:p>
        </p:txBody>
      </p:sp>
      <p:sp>
        <p:nvSpPr>
          <p:cNvPr id="12" name="Rectangle 11"/>
          <p:cNvSpPr/>
          <p:nvPr/>
        </p:nvSpPr>
        <p:spPr>
          <a:xfrm>
            <a:off x="2240279"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240279"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94%</a:t>
            </a:r>
          </a:p>
        </p:txBody>
      </p:sp>
      <p:sp>
        <p:nvSpPr>
          <p:cNvPr id="14" name="TextBox 13"/>
          <p:cNvSpPr txBox="1"/>
          <p:nvPr/>
        </p:nvSpPr>
        <p:spPr>
          <a:xfrm>
            <a:off x="2240279"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Error rate</a:t>
            </a:r>
            <a:br/>
            <a:r>
              <a:t>drop</a:t>
            </a:r>
          </a:p>
        </p:txBody>
      </p:sp>
      <p:sp>
        <p:nvSpPr>
          <p:cNvPr id="15" name="Rectangle 14"/>
          <p:cNvSpPr/>
          <p:nvPr/>
        </p:nvSpPr>
        <p:spPr>
          <a:xfrm>
            <a:off x="4114799"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114799"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82%</a:t>
            </a:r>
          </a:p>
        </p:txBody>
      </p:sp>
      <p:sp>
        <p:nvSpPr>
          <p:cNvPr id="17" name="TextBox 16"/>
          <p:cNvSpPr txBox="1"/>
          <p:nvPr/>
        </p:nvSpPr>
        <p:spPr>
          <a:xfrm>
            <a:off x="4114799"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Reimbursement</a:t>
            </a:r>
            <a:br/>
            <a:r>
              <a:t>time reduction</a:t>
            </a:r>
          </a:p>
        </p:txBody>
      </p:sp>
      <p:sp>
        <p:nvSpPr>
          <p:cNvPr id="18" name="Rectangle 17"/>
          <p:cNvSpPr/>
          <p:nvPr/>
        </p:nvSpPr>
        <p:spPr>
          <a:xfrm>
            <a:off x="5989319"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989319"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Real-time</a:t>
            </a:r>
          </a:p>
        </p:txBody>
      </p:sp>
      <p:sp>
        <p:nvSpPr>
          <p:cNvPr id="20" name="TextBox 19"/>
          <p:cNvSpPr txBox="1"/>
          <p:nvPr/>
        </p:nvSpPr>
        <p:spPr>
          <a:xfrm>
            <a:off x="5989319"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Workflow</a:t>
            </a:r>
            <a:br/>
            <a:r>
              <a:t>synthesis</a:t>
            </a:r>
          </a:p>
        </p:txBody>
      </p:sp>
      <p:sp>
        <p:nvSpPr>
          <p:cNvPr id="21" name="TextBox 20"/>
          <p:cNvSpPr txBox="1"/>
          <p:nvPr/>
        </p:nvSpPr>
        <p:spPr>
          <a:xfrm>
            <a:off x="365760" y="3246120"/>
            <a:ext cx="1828800" cy="182880"/>
          </a:xfrm>
          <a:prstGeom prst="rect">
            <a:avLst/>
          </a:prstGeom>
          <a:noFill/>
        </p:spPr>
        <p:txBody>
          <a:bodyPr wrap="square">
            <a:spAutoFit/>
          </a:bodyPr>
          <a:lstStyle/>
          <a:p>
            <a:pPr algn="l">
              <a:spcAft>
                <a:spcPts val="200"/>
              </a:spcAft>
              <a:defRPr sz="800" b="1">
                <a:solidFill>
                  <a:srgbClr val="0A1628"/>
                </a:solidFill>
                <a:latin typeface="Calibri"/>
              </a:defRPr>
            </a:pPr>
            <a:r>
              <a:t>HOW IT WORKS</a:t>
            </a:r>
          </a:p>
        </p:txBody>
      </p:sp>
      <p:sp>
        <p:nvSpPr>
          <p:cNvPr id="22" name="TextBox 21"/>
          <p:cNvSpPr txBox="1"/>
          <p:nvPr/>
        </p:nvSpPr>
        <p:spPr>
          <a:xfrm>
            <a:off x="365760" y="3429000"/>
            <a:ext cx="7436815" cy="594360"/>
          </a:xfrm>
          <a:prstGeom prst="rect">
            <a:avLst/>
          </a:prstGeom>
          <a:noFill/>
        </p:spPr>
        <p:txBody>
          <a:bodyPr wrap="square">
            <a:spAutoFit/>
          </a:bodyPr>
          <a:lstStyle/>
          <a:p>
            <a:pPr algn="l">
              <a:spcAft>
                <a:spcPts val="200"/>
              </a:spcAft>
              <a:defRPr sz="700" b="0">
                <a:solidFill>
                  <a:srgbClr val="0A1628"/>
                </a:solidFill>
                <a:latin typeface="Calibri"/>
              </a:defRPr>
            </a:pPr>
            <a:r>
              <a:t>→ Chain-of-Actions (CoA) engine dynamically executes agent workflows</a:t>
            </a:r>
            <a:br/>
            <a:r>
              <a:t>→ Document, retrieval, reasoning, and API agents as microservices</a:t>
            </a:r>
            <a:br/>
            <a:r>
              <a:t>→ Agents decompose goals into executable plans in real time</a:t>
            </a:r>
            <a:br/>
            <a:r>
              <a:t>→ 5W3H1R schema for structured business process modeling</a:t>
            </a:r>
          </a:p>
        </p:txBody>
      </p:sp>
      <p:sp>
        <p:nvSpPr>
          <p:cNvPr id="23" name="TextBox 22"/>
          <p:cNvSpPr txBox="1"/>
          <p:nvPr/>
        </p:nvSpPr>
        <p:spPr>
          <a:xfrm>
            <a:off x="365760" y="4069080"/>
            <a:ext cx="3200400" cy="182880"/>
          </a:xfrm>
          <a:prstGeom prst="rect">
            <a:avLst/>
          </a:prstGeom>
          <a:noFill/>
        </p:spPr>
        <p:txBody>
          <a:bodyPr wrap="square">
            <a:spAutoFit/>
          </a:bodyPr>
          <a:lstStyle/>
          <a:p>
            <a:pPr algn="l">
              <a:spcAft>
                <a:spcPts val="200"/>
              </a:spcAft>
              <a:defRPr sz="750" b="1">
                <a:solidFill>
                  <a:srgbClr val="0A1628"/>
                </a:solidFill>
                <a:latin typeface="Calibri"/>
              </a:defRPr>
            </a:pPr>
            <a:r>
              <a:t>AGENT ARCHITECTURE</a:t>
            </a:r>
          </a:p>
        </p:txBody>
      </p:sp>
      <p:sp>
        <p:nvSpPr>
          <p:cNvPr id="24" name="TextBox 23"/>
          <p:cNvSpPr txBox="1"/>
          <p:nvPr/>
        </p:nvSpPr>
        <p:spPr>
          <a:xfrm>
            <a:off x="365760" y="4251960"/>
            <a:ext cx="3520440" cy="777240"/>
          </a:xfrm>
          <a:prstGeom prst="rect">
            <a:avLst/>
          </a:prstGeom>
          <a:noFill/>
        </p:spPr>
        <p:txBody>
          <a:bodyPr wrap="square">
            <a:spAutoFit/>
          </a:bodyPr>
          <a:lstStyle/>
          <a:p>
            <a:pPr algn="l">
              <a:spcAft>
                <a:spcPts val="200"/>
              </a:spcAft>
              <a:defRPr sz="700" b="0">
                <a:solidFill>
                  <a:srgbClr val="0A1628"/>
                </a:solidFill>
                <a:latin typeface="Calibri"/>
              </a:defRPr>
            </a:pPr>
            <a:r>
              <a:t>• Stateless microservices: Docker + Kubernetes orchestration</a:t>
            </a:r>
            <a:br/>
            <a:r>
              <a:t>• Chain-of-Actions runtime with dynamic workflow synthesis</a:t>
            </a:r>
            <a:br/>
            <a:r>
              <a:t>• Camunda/Airflow for scheduling, visibility, governance</a:t>
            </a:r>
            <a:br/>
            <a:r>
              <a:t>• RESTful APIs + message queues for enterprise integration</a:t>
            </a:r>
          </a:p>
        </p:txBody>
      </p:sp>
      <p:sp>
        <p:nvSpPr>
          <p:cNvPr id="25" name="TextBox 24"/>
          <p:cNvSpPr txBox="1"/>
          <p:nvPr/>
        </p:nvSpPr>
        <p:spPr>
          <a:xfrm>
            <a:off x="4023360" y="4069080"/>
            <a:ext cx="3200400" cy="182880"/>
          </a:xfrm>
          <a:prstGeom prst="rect">
            <a:avLst/>
          </a:prstGeom>
          <a:noFill/>
        </p:spPr>
        <p:txBody>
          <a:bodyPr wrap="square">
            <a:spAutoFit/>
          </a:bodyPr>
          <a:lstStyle/>
          <a:p>
            <a:pPr algn="l">
              <a:spcAft>
                <a:spcPts val="200"/>
              </a:spcAft>
              <a:defRPr sz="750" b="1">
                <a:solidFill>
                  <a:srgbClr val="0A1628"/>
                </a:solidFill>
                <a:latin typeface="Calibri"/>
              </a:defRPr>
            </a:pPr>
            <a:r>
              <a:t>GOVERNANCE &amp; COMPLIANCE</a:t>
            </a:r>
          </a:p>
        </p:txBody>
      </p:sp>
      <p:sp>
        <p:nvSpPr>
          <p:cNvPr id="26" name="TextBox 25"/>
          <p:cNvSpPr txBox="1"/>
          <p:nvPr/>
        </p:nvSpPr>
        <p:spPr>
          <a:xfrm>
            <a:off x="4023360" y="4251960"/>
            <a:ext cx="3520440" cy="777240"/>
          </a:xfrm>
          <a:prstGeom prst="rect">
            <a:avLst/>
          </a:prstGeom>
          <a:noFill/>
        </p:spPr>
        <p:txBody>
          <a:bodyPr wrap="square">
            <a:spAutoFit/>
          </a:bodyPr>
          <a:lstStyle/>
          <a:p>
            <a:pPr algn="l">
              <a:spcAft>
                <a:spcPts val="200"/>
              </a:spcAft>
              <a:defRPr sz="700" b="0">
                <a:solidFill>
                  <a:srgbClr val="0A1628"/>
                </a:solidFill>
                <a:latin typeface="Calibri"/>
              </a:defRPr>
            </a:pPr>
            <a:r>
              <a:t>• Risk control insertion at every workflow step</a:t>
            </a:r>
            <a:br/>
            <a:r>
              <a:t>• Full audit trails for regulatory compliance</a:t>
            </a:r>
            <a:br/>
            <a:r>
              <a:t>• KPI monitoring and closed-loop optimization</a:t>
            </a:r>
          </a:p>
        </p:txBody>
      </p:sp>
      <p:sp>
        <p:nvSpPr>
          <p:cNvPr id="27" name="Rectangle 26"/>
          <p:cNvSpPr/>
          <p:nvPr/>
        </p:nvSpPr>
        <p:spPr>
          <a:xfrm>
            <a:off x="274320" y="5074920"/>
            <a:ext cx="7619695" cy="77724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65760" y="5111496"/>
            <a:ext cx="1828800" cy="164592"/>
          </a:xfrm>
          <a:prstGeom prst="rect">
            <a:avLst/>
          </a:prstGeom>
          <a:noFill/>
        </p:spPr>
        <p:txBody>
          <a:bodyPr wrap="square">
            <a:spAutoFit/>
          </a:bodyPr>
          <a:lstStyle/>
          <a:p>
            <a:pPr algn="l">
              <a:spcAft>
                <a:spcPts val="200"/>
              </a:spcAft>
              <a:defRPr sz="750" b="1">
                <a:solidFill>
                  <a:srgbClr val="00C9A7"/>
                </a:solidFill>
                <a:latin typeface="Calibri"/>
              </a:defRPr>
            </a:pPr>
            <a:r>
              <a:t>TECHNOLOGY STACK</a:t>
            </a:r>
          </a:p>
        </p:txBody>
      </p:sp>
      <p:sp>
        <p:nvSpPr>
          <p:cNvPr id="29" name="TextBox 28"/>
          <p:cNvSpPr txBox="1"/>
          <p:nvPr/>
        </p:nvSpPr>
        <p:spPr>
          <a:xfrm>
            <a:off x="365760"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Architecture</a:t>
            </a:r>
          </a:p>
        </p:txBody>
      </p:sp>
      <p:sp>
        <p:nvSpPr>
          <p:cNvPr id="30" name="TextBox 29"/>
          <p:cNvSpPr txBox="1"/>
          <p:nvPr/>
        </p:nvSpPr>
        <p:spPr>
          <a:xfrm>
            <a:off x="365760"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Microservice agents</a:t>
            </a:r>
            <a:br/>
            <a:r>
              <a:t>Docker + K8s</a:t>
            </a:r>
          </a:p>
        </p:txBody>
      </p:sp>
      <p:sp>
        <p:nvSpPr>
          <p:cNvPr id="31" name="TextBox 30"/>
          <p:cNvSpPr txBox="1"/>
          <p:nvPr/>
        </p:nvSpPr>
        <p:spPr>
          <a:xfrm>
            <a:off x="2240279"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Engine</a:t>
            </a:r>
          </a:p>
        </p:txBody>
      </p:sp>
      <p:sp>
        <p:nvSpPr>
          <p:cNvPr id="32" name="TextBox 31"/>
          <p:cNvSpPr txBox="1"/>
          <p:nvPr/>
        </p:nvSpPr>
        <p:spPr>
          <a:xfrm>
            <a:off x="2240279"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Chain-of-Actions</a:t>
            </a:r>
            <a:br/>
            <a:r>
              <a:t>runtime executor</a:t>
            </a:r>
          </a:p>
        </p:txBody>
      </p:sp>
      <p:sp>
        <p:nvSpPr>
          <p:cNvPr id="33" name="TextBox 32"/>
          <p:cNvSpPr txBox="1"/>
          <p:nvPr/>
        </p:nvSpPr>
        <p:spPr>
          <a:xfrm>
            <a:off x="4114799"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Integration</a:t>
            </a:r>
          </a:p>
        </p:txBody>
      </p:sp>
      <p:sp>
        <p:nvSpPr>
          <p:cNvPr id="34" name="TextBox 33"/>
          <p:cNvSpPr txBox="1"/>
          <p:nvPr/>
        </p:nvSpPr>
        <p:spPr>
          <a:xfrm>
            <a:off x="4114799"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ERP, CRM,</a:t>
            </a:r>
            <a:br/>
            <a:r>
              <a:t>SWIFT, banking</a:t>
            </a:r>
          </a:p>
        </p:txBody>
      </p:sp>
      <p:sp>
        <p:nvSpPr>
          <p:cNvPr id="35" name="TextBox 34"/>
          <p:cNvSpPr txBox="1"/>
          <p:nvPr/>
        </p:nvSpPr>
        <p:spPr>
          <a:xfrm>
            <a:off x="5989319"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Compliance</a:t>
            </a:r>
          </a:p>
        </p:txBody>
      </p:sp>
      <p:sp>
        <p:nvSpPr>
          <p:cNvPr id="36" name="TextBox 35"/>
          <p:cNvSpPr txBox="1"/>
          <p:nvPr/>
        </p:nvSpPr>
        <p:spPr>
          <a:xfrm>
            <a:off x="5989319"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AML/KYC</a:t>
            </a:r>
            <a:br/>
            <a:r>
              <a:t>built-in controls</a:t>
            </a:r>
          </a:p>
        </p:txBody>
      </p:sp>
      <p:sp>
        <p:nvSpPr>
          <p:cNvPr id="37" name="Rectangle 36"/>
          <p:cNvSpPr/>
          <p:nvPr/>
        </p:nvSpPr>
        <p:spPr>
          <a:xfrm>
            <a:off x="274320" y="5943600"/>
            <a:ext cx="3657600" cy="320040"/>
          </a:xfrm>
          <a:prstGeom prst="rect">
            <a:avLst/>
          </a:prstGeom>
          <a:solidFill>
            <a:srgbClr val="009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365760" y="5980176"/>
            <a:ext cx="3474720" cy="256032"/>
          </a:xfrm>
          <a:prstGeom prst="rect">
            <a:avLst/>
          </a:prstGeom>
          <a:noFill/>
        </p:spPr>
        <p:txBody>
          <a:bodyPr wrap="square">
            <a:spAutoFit/>
          </a:bodyPr>
          <a:lstStyle/>
          <a:p>
            <a:pPr algn="l">
              <a:spcAft>
                <a:spcPts val="200"/>
              </a:spcAft>
              <a:defRPr sz="650" b="1">
                <a:solidFill>
                  <a:srgbClr val="FFFFFF"/>
                </a:solidFill>
                <a:latin typeface="Calibri"/>
              </a:defRPr>
            </a:pPr>
            <a:r>
              <a:t>INDUSTRY: Financial Services</a:t>
            </a:r>
          </a:p>
        </p:txBody>
      </p:sp>
      <p:sp>
        <p:nvSpPr>
          <p:cNvPr id="39" name="Rectangle 38"/>
          <p:cNvSpPr/>
          <p:nvPr/>
        </p:nvSpPr>
        <p:spPr>
          <a:xfrm>
            <a:off x="4114800" y="5943600"/>
            <a:ext cx="3657600" cy="320040"/>
          </a:xfrm>
          <a:prstGeom prst="rect">
            <a:avLst/>
          </a:prstGeom>
          <a:solidFill>
            <a:srgbClr val="008F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4206240" y="5980176"/>
            <a:ext cx="3474720" cy="256032"/>
          </a:xfrm>
          <a:prstGeom prst="rect">
            <a:avLst/>
          </a:prstGeom>
          <a:noFill/>
        </p:spPr>
        <p:txBody>
          <a:bodyPr wrap="square">
            <a:spAutoFit/>
          </a:bodyPr>
          <a:lstStyle/>
          <a:p>
            <a:pPr algn="l">
              <a:spcAft>
                <a:spcPts val="200"/>
              </a:spcAft>
              <a:defRPr sz="650" b="1">
                <a:solidFill>
                  <a:srgbClr val="FFFFFF"/>
                </a:solidFill>
                <a:latin typeface="Calibri"/>
              </a:defRPr>
            </a:pPr>
            <a:r>
              <a:t>AGENT TYPE: Data Agent + Code Agent</a:t>
            </a:r>
          </a:p>
        </p:txBody>
      </p:sp>
      <p:pic>
        <p:nvPicPr>
          <p:cNvPr id="41" name="Picture 40" descr="image.jpg"/>
          <p:cNvPicPr>
            <a:picLocks noChangeAspect="1"/>
          </p:cNvPicPr>
          <p:nvPr/>
        </p:nvPicPr>
        <p:blipFill>
          <a:blip r:embed="rId2"/>
          <a:stretch>
            <a:fillRect/>
          </a:stretch>
        </p:blipFill>
        <p:spPr>
          <a:xfrm>
            <a:off x="8076895" y="0"/>
            <a:ext cx="4114800" cy="6858000"/>
          </a:xfrm>
          <a:prstGeom prst="rect">
            <a:avLst/>
          </a:prstGeom>
        </p:spPr>
      </p:pic>
      <p:sp>
        <p:nvSpPr>
          <p:cNvPr id="42" name="TextBox 41"/>
          <p:cNvSpPr txBox="1"/>
          <p:nvPr/>
        </p:nvSpPr>
        <p:spPr>
          <a:xfrm>
            <a:off x="274320" y="6492240"/>
            <a:ext cx="4572000" cy="274320"/>
          </a:xfrm>
          <a:prstGeom prst="rect">
            <a:avLst/>
          </a:prstGeom>
          <a:noFill/>
        </p:spPr>
        <p:txBody>
          <a:bodyPr wrap="square">
            <a:spAutoFit/>
          </a:bodyPr>
          <a:lstStyle/>
          <a:p>
            <a:pPr algn="l">
              <a:spcAft>
                <a:spcPts val="200"/>
              </a:spcAft>
              <a:defRPr sz="700" b="0">
                <a:solidFill>
                  <a:srgbClr val="888888"/>
                </a:solidFill>
                <a:latin typeface="Calibri"/>
              </a:defRPr>
            </a:pPr>
            <a:r>
              <a:t>Agentic AI Use Cases Across Industries | Confidential</a:t>
            </a:r>
          </a:p>
        </p:txBody>
      </p:sp>
      <p:sp>
        <p:nvSpPr>
          <p:cNvPr id="43" name="TextBox 42"/>
          <p:cNvSpPr txBox="1"/>
          <p:nvPr/>
        </p:nvSpPr>
        <p:spPr>
          <a:xfrm>
            <a:off x="11094415" y="6492240"/>
            <a:ext cx="822960" cy="274320"/>
          </a:xfrm>
          <a:prstGeom prst="rect">
            <a:avLst/>
          </a:prstGeom>
          <a:noFill/>
        </p:spPr>
        <p:txBody>
          <a:bodyPr wrap="square">
            <a:spAutoFit/>
          </a:bodyPr>
          <a:lstStyle/>
          <a:p>
            <a:pPr algn="r">
              <a:spcAft>
                <a:spcPts val="200"/>
              </a:spcAft>
              <a:defRPr sz="700" b="0">
                <a:solidFill>
                  <a:srgbClr val="888888"/>
                </a:solidFill>
                <a:latin typeface="Calibri"/>
              </a:defRPr>
            </a:pPr>
            <a:r>
              <a:t>15 / 46</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8076895" cy="6858000"/>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82880"/>
            <a:ext cx="7436815" cy="502920"/>
          </a:xfrm>
          <a:prstGeom prst="rect">
            <a:avLst/>
          </a:prstGeom>
          <a:noFill/>
        </p:spPr>
        <p:txBody>
          <a:bodyPr wrap="square">
            <a:spAutoFit/>
          </a:bodyPr>
          <a:lstStyle/>
          <a:p>
            <a:pPr algn="l">
              <a:spcAft>
                <a:spcPts val="200"/>
              </a:spcAft>
              <a:defRPr sz="2000" b="1">
                <a:solidFill>
                  <a:srgbClr val="FFFFFF"/>
                </a:solidFill>
                <a:latin typeface="Calibri"/>
              </a:defRPr>
            </a:pPr>
            <a:r>
              <a:t>UC09 | OPLOG — AI Agents for Business Intelligence</a:t>
            </a:r>
          </a:p>
        </p:txBody>
      </p:sp>
      <p:sp>
        <p:nvSpPr>
          <p:cNvPr id="4" name="Rectangle 3"/>
          <p:cNvSpPr/>
          <p:nvPr/>
        </p:nvSpPr>
        <p:spPr>
          <a:xfrm>
            <a:off x="365760" y="658368"/>
            <a:ext cx="1828800" cy="27432"/>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777240"/>
            <a:ext cx="1371600" cy="182880"/>
          </a:xfrm>
          <a:prstGeom prst="rect">
            <a:avLst/>
          </a:prstGeom>
          <a:noFill/>
        </p:spPr>
        <p:txBody>
          <a:bodyPr wrap="square">
            <a:spAutoFit/>
          </a:bodyPr>
          <a:lstStyle/>
          <a:p>
            <a:pPr algn="l">
              <a:spcAft>
                <a:spcPts val="200"/>
              </a:spcAft>
              <a:defRPr sz="800" b="1">
                <a:solidFill>
                  <a:srgbClr val="0A1628"/>
                </a:solidFill>
                <a:latin typeface="Calibri"/>
              </a:defRPr>
            </a:pPr>
            <a:r>
              <a:t>CHALLENGE</a:t>
            </a:r>
          </a:p>
        </p:txBody>
      </p:sp>
      <p:sp>
        <p:nvSpPr>
          <p:cNvPr id="6" name="TextBox 5"/>
          <p:cNvSpPr txBox="1"/>
          <p:nvPr/>
        </p:nvSpPr>
        <p:spPr>
          <a:xfrm>
            <a:off x="365760" y="960120"/>
            <a:ext cx="3520440" cy="1280160"/>
          </a:xfrm>
          <a:prstGeom prst="rect">
            <a:avLst/>
          </a:prstGeom>
          <a:noFill/>
        </p:spPr>
        <p:txBody>
          <a:bodyPr wrap="square">
            <a:spAutoFit/>
          </a:bodyPr>
          <a:lstStyle/>
          <a:p>
            <a:pPr algn="l">
              <a:spcAft>
                <a:spcPts val="200"/>
              </a:spcAft>
              <a:defRPr sz="750" b="0">
                <a:solidFill>
                  <a:srgbClr val="0A1628"/>
                </a:solidFill>
                <a:latin typeface="Calibri"/>
              </a:defRPr>
            </a:pPr>
            <a:r>
              <a:t>• Sales reps spent significant time researching each new prospect</a:t>
            </a:r>
            <a:br/>
            <a:r>
              <a:t>• CRM data quality issues: incomplete fields, missing information</a:t>
            </a:r>
            <a:br/>
            <a:r>
              <a:t>• Manual reporting consumed analyst hours instead of strategic work</a:t>
            </a:r>
            <a:br/>
            <a:r>
              <a:t>• No mechanism to prioritize high-value opportunities automatically</a:t>
            </a:r>
          </a:p>
        </p:txBody>
      </p:sp>
      <p:sp>
        <p:nvSpPr>
          <p:cNvPr id="7" name="TextBox 6"/>
          <p:cNvSpPr txBox="1"/>
          <p:nvPr/>
        </p:nvSpPr>
        <p:spPr>
          <a:xfrm>
            <a:off x="4023360" y="777240"/>
            <a:ext cx="1828800" cy="182880"/>
          </a:xfrm>
          <a:prstGeom prst="rect">
            <a:avLst/>
          </a:prstGeom>
          <a:noFill/>
        </p:spPr>
        <p:txBody>
          <a:bodyPr wrap="square">
            <a:spAutoFit/>
          </a:bodyPr>
          <a:lstStyle/>
          <a:p>
            <a:pPr algn="l">
              <a:spcAft>
                <a:spcPts val="200"/>
              </a:spcAft>
              <a:defRPr sz="800" b="1">
                <a:solidFill>
                  <a:srgbClr val="0A1628"/>
                </a:solidFill>
                <a:latin typeface="Calibri"/>
              </a:defRPr>
            </a:pPr>
            <a:r>
              <a:t>AGENTIC SOLUTION</a:t>
            </a:r>
          </a:p>
        </p:txBody>
      </p:sp>
      <p:sp>
        <p:nvSpPr>
          <p:cNvPr id="8" name="TextBox 7"/>
          <p:cNvSpPr txBox="1"/>
          <p:nvPr/>
        </p:nvSpPr>
        <p:spPr>
          <a:xfrm>
            <a:off x="4023360" y="960120"/>
            <a:ext cx="3520440" cy="1280160"/>
          </a:xfrm>
          <a:prstGeom prst="rect">
            <a:avLst/>
          </a:prstGeom>
          <a:noFill/>
        </p:spPr>
        <p:txBody>
          <a:bodyPr wrap="square">
            <a:spAutoFit/>
          </a:bodyPr>
          <a:lstStyle/>
          <a:p>
            <a:pPr algn="l">
              <a:spcAft>
                <a:spcPts val="200"/>
              </a:spcAft>
              <a:defRPr sz="750" b="0">
                <a:solidFill>
                  <a:srgbClr val="0A1628"/>
                </a:solidFill>
                <a:latin typeface="Calibri"/>
              </a:defRPr>
            </a:pPr>
            <a:r>
              <a:t>• 3 independent AI agents: Deal Analyzer, Sales Coach, Lead Insight</a:t>
            </a:r>
            <a:br/>
            <a:r>
              <a:t>• Sales Coach enforces data quality in real time on stage changes</a:t>
            </a:r>
            <a:br/>
            <a:r>
              <a:t>• Lead Insight analyzes 6 social media platforms per new lead</a:t>
            </a:r>
            <a:br/>
            <a:r>
              <a:t>• Comprehensive ICP fit assessment and approach recommendations</a:t>
            </a:r>
          </a:p>
        </p:txBody>
      </p:sp>
      <p:sp>
        <p:nvSpPr>
          <p:cNvPr id="9" name="Rectangle 8"/>
          <p:cNvSpPr/>
          <p:nvPr/>
        </p:nvSpPr>
        <p:spPr>
          <a:xfrm>
            <a:off x="365760"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65760"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35%</a:t>
            </a:r>
          </a:p>
        </p:txBody>
      </p:sp>
      <p:sp>
        <p:nvSpPr>
          <p:cNvPr id="11" name="TextBox 10"/>
          <p:cNvSpPr txBox="1"/>
          <p:nvPr/>
        </p:nvSpPr>
        <p:spPr>
          <a:xfrm>
            <a:off x="365760"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Sales cycle</a:t>
            </a:r>
            <a:br/>
            <a:r>
              <a:t>reduction</a:t>
            </a:r>
          </a:p>
        </p:txBody>
      </p:sp>
      <p:sp>
        <p:nvSpPr>
          <p:cNvPr id="12" name="Rectangle 11"/>
          <p:cNvSpPr/>
          <p:nvPr/>
        </p:nvSpPr>
        <p:spPr>
          <a:xfrm>
            <a:off x="2240279"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240279"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91%</a:t>
            </a:r>
          </a:p>
        </p:txBody>
      </p:sp>
      <p:sp>
        <p:nvSpPr>
          <p:cNvPr id="14" name="TextBox 13"/>
          <p:cNvSpPr txBox="1"/>
          <p:nvPr/>
        </p:nvSpPr>
        <p:spPr>
          <a:xfrm>
            <a:off x="2240279"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CRM data</a:t>
            </a:r>
            <a:br/>
            <a:r>
              <a:t>completeness</a:t>
            </a:r>
          </a:p>
        </p:txBody>
      </p:sp>
      <p:sp>
        <p:nvSpPr>
          <p:cNvPr id="15" name="Rectangle 14"/>
          <p:cNvSpPr/>
          <p:nvPr/>
        </p:nvSpPr>
        <p:spPr>
          <a:xfrm>
            <a:off x="4114799"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114799"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98%</a:t>
            </a:r>
          </a:p>
        </p:txBody>
      </p:sp>
      <p:sp>
        <p:nvSpPr>
          <p:cNvPr id="17" name="TextBox 16"/>
          <p:cNvSpPr txBox="1"/>
          <p:nvPr/>
        </p:nvSpPr>
        <p:spPr>
          <a:xfrm>
            <a:off x="4114799"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Research time</a:t>
            </a:r>
            <a:br/>
            <a:r>
              <a:t>reduction</a:t>
            </a:r>
          </a:p>
        </p:txBody>
      </p:sp>
      <p:sp>
        <p:nvSpPr>
          <p:cNvPr id="18" name="Rectangle 17"/>
          <p:cNvSpPr/>
          <p:nvPr/>
        </p:nvSpPr>
        <p:spPr>
          <a:xfrm>
            <a:off x="5989319"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989319"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99.5%</a:t>
            </a:r>
          </a:p>
        </p:txBody>
      </p:sp>
      <p:sp>
        <p:nvSpPr>
          <p:cNvPr id="20" name="TextBox 19"/>
          <p:cNvSpPr txBox="1"/>
          <p:nvPr/>
        </p:nvSpPr>
        <p:spPr>
          <a:xfrm>
            <a:off x="5989319"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Teams delivery</a:t>
            </a:r>
            <a:br/>
            <a:r>
              <a:t>success rate</a:t>
            </a:r>
          </a:p>
        </p:txBody>
      </p:sp>
      <p:sp>
        <p:nvSpPr>
          <p:cNvPr id="21" name="TextBox 20"/>
          <p:cNvSpPr txBox="1"/>
          <p:nvPr/>
        </p:nvSpPr>
        <p:spPr>
          <a:xfrm>
            <a:off x="365760" y="3246120"/>
            <a:ext cx="1828800" cy="182880"/>
          </a:xfrm>
          <a:prstGeom prst="rect">
            <a:avLst/>
          </a:prstGeom>
          <a:noFill/>
        </p:spPr>
        <p:txBody>
          <a:bodyPr wrap="square">
            <a:spAutoFit/>
          </a:bodyPr>
          <a:lstStyle/>
          <a:p>
            <a:pPr algn="l">
              <a:spcAft>
                <a:spcPts val="200"/>
              </a:spcAft>
              <a:defRPr sz="800" b="1">
                <a:solidFill>
                  <a:srgbClr val="0A1628"/>
                </a:solidFill>
                <a:latin typeface="Calibri"/>
              </a:defRPr>
            </a:pPr>
            <a:r>
              <a:t>HOW IT WORKS</a:t>
            </a:r>
          </a:p>
        </p:txBody>
      </p:sp>
      <p:sp>
        <p:nvSpPr>
          <p:cNvPr id="22" name="TextBox 21"/>
          <p:cNvSpPr txBox="1"/>
          <p:nvPr/>
        </p:nvSpPr>
        <p:spPr>
          <a:xfrm>
            <a:off x="365760" y="3429000"/>
            <a:ext cx="7436815" cy="594360"/>
          </a:xfrm>
          <a:prstGeom prst="rect">
            <a:avLst/>
          </a:prstGeom>
          <a:noFill/>
        </p:spPr>
        <p:txBody>
          <a:bodyPr wrap="square">
            <a:spAutoFit/>
          </a:bodyPr>
          <a:lstStyle/>
          <a:p>
            <a:pPr algn="l">
              <a:spcAft>
                <a:spcPts val="200"/>
              </a:spcAft>
              <a:defRPr sz="700" b="0">
                <a:solidFill>
                  <a:srgbClr val="0A1628"/>
                </a:solidFill>
                <a:latin typeface="Calibri"/>
              </a:defRPr>
            </a:pPr>
            <a:r>
              <a:t>→ Deal Analyzer: triggered by HubSpot webhooks, validates required fields</a:t>
            </a:r>
            <a:br/>
            <a:r>
              <a:t>→ Sales Coach: creates tasks for missing data when deals change stages</a:t>
            </a:r>
            <a:br/>
            <a:r>
              <a:t>→ Lead Insight: scans 6 platforms, assesses ICP fit, delivers report to Teams</a:t>
            </a:r>
            <a:br/>
            <a:r>
              <a:t>→ Each agent operates independently with targeted intelligence</a:t>
            </a:r>
          </a:p>
        </p:txBody>
      </p:sp>
      <p:sp>
        <p:nvSpPr>
          <p:cNvPr id="23" name="TextBox 22"/>
          <p:cNvSpPr txBox="1"/>
          <p:nvPr/>
        </p:nvSpPr>
        <p:spPr>
          <a:xfrm>
            <a:off x="365760" y="4069080"/>
            <a:ext cx="3200400" cy="182880"/>
          </a:xfrm>
          <a:prstGeom prst="rect">
            <a:avLst/>
          </a:prstGeom>
          <a:noFill/>
        </p:spPr>
        <p:txBody>
          <a:bodyPr wrap="square">
            <a:spAutoFit/>
          </a:bodyPr>
          <a:lstStyle/>
          <a:p>
            <a:pPr algn="l">
              <a:spcAft>
                <a:spcPts val="200"/>
              </a:spcAft>
              <a:defRPr sz="750" b="1">
                <a:solidFill>
                  <a:srgbClr val="0A1628"/>
                </a:solidFill>
                <a:latin typeface="Calibri"/>
              </a:defRPr>
            </a:pPr>
            <a:r>
              <a:t>AGENT ARCHITECTURE</a:t>
            </a:r>
          </a:p>
        </p:txBody>
      </p:sp>
      <p:sp>
        <p:nvSpPr>
          <p:cNvPr id="24" name="TextBox 23"/>
          <p:cNvSpPr txBox="1"/>
          <p:nvPr/>
        </p:nvSpPr>
        <p:spPr>
          <a:xfrm>
            <a:off x="365760" y="4251960"/>
            <a:ext cx="3520440" cy="777240"/>
          </a:xfrm>
          <a:prstGeom prst="rect">
            <a:avLst/>
          </a:prstGeom>
          <a:noFill/>
        </p:spPr>
        <p:txBody>
          <a:bodyPr wrap="square">
            <a:spAutoFit/>
          </a:bodyPr>
          <a:lstStyle/>
          <a:p>
            <a:pPr algn="l">
              <a:spcAft>
                <a:spcPts val="200"/>
              </a:spcAft>
              <a:defRPr sz="700" b="0">
                <a:solidFill>
                  <a:srgbClr val="0A1628"/>
                </a:solidFill>
                <a:latin typeface="Calibri"/>
              </a:defRPr>
            </a:pPr>
            <a:r>
              <a:t>• Amazon Bedrock AgentCore with Claude Sonnet for analysis</a:t>
            </a:r>
            <a:br/>
            <a:r>
              <a:t>• HubSpot webhook triggers for real-time agent activation</a:t>
            </a:r>
            <a:br/>
            <a:r>
              <a:t>• Social media discovery across Instagram, LinkedIn, Facebook, YouTube, X, TikTok</a:t>
            </a:r>
            <a:br/>
            <a:r>
              <a:t>• Serverless architecture for cost-effective scaling</a:t>
            </a:r>
          </a:p>
        </p:txBody>
      </p:sp>
      <p:sp>
        <p:nvSpPr>
          <p:cNvPr id="25" name="TextBox 24"/>
          <p:cNvSpPr txBox="1"/>
          <p:nvPr/>
        </p:nvSpPr>
        <p:spPr>
          <a:xfrm>
            <a:off x="4023360" y="4069080"/>
            <a:ext cx="3200400" cy="182880"/>
          </a:xfrm>
          <a:prstGeom prst="rect">
            <a:avLst/>
          </a:prstGeom>
          <a:noFill/>
        </p:spPr>
        <p:txBody>
          <a:bodyPr wrap="square">
            <a:spAutoFit/>
          </a:bodyPr>
          <a:lstStyle/>
          <a:p>
            <a:pPr algn="l">
              <a:spcAft>
                <a:spcPts val="200"/>
              </a:spcAft>
              <a:defRPr sz="750" b="1">
                <a:solidFill>
                  <a:srgbClr val="0A1628"/>
                </a:solidFill>
                <a:latin typeface="Calibri"/>
              </a:defRPr>
            </a:pPr>
            <a:r>
              <a:t>GOVERNANCE &amp; COMPLIANCE</a:t>
            </a:r>
          </a:p>
        </p:txBody>
      </p:sp>
      <p:sp>
        <p:nvSpPr>
          <p:cNvPr id="26" name="TextBox 25"/>
          <p:cNvSpPr txBox="1"/>
          <p:nvPr/>
        </p:nvSpPr>
        <p:spPr>
          <a:xfrm>
            <a:off x="4023360" y="4251960"/>
            <a:ext cx="3520440" cy="777240"/>
          </a:xfrm>
          <a:prstGeom prst="rect">
            <a:avLst/>
          </a:prstGeom>
          <a:noFill/>
        </p:spPr>
        <p:txBody>
          <a:bodyPr wrap="square">
            <a:spAutoFit/>
          </a:bodyPr>
          <a:lstStyle/>
          <a:p>
            <a:pPr algn="l">
              <a:spcAft>
                <a:spcPts val="200"/>
              </a:spcAft>
              <a:defRPr sz="700" b="0">
                <a:solidFill>
                  <a:srgbClr val="0A1628"/>
                </a:solidFill>
                <a:latin typeface="Calibri"/>
              </a:defRPr>
            </a:pPr>
            <a:r>
              <a:t>• AgentCore Observability tracks analysis time and coverage</a:t>
            </a:r>
            <a:br/>
            <a:r>
              <a:t>• CloudWatch monitoring for delivery success metrics</a:t>
            </a:r>
            <a:br/>
            <a:r>
              <a:t>• 99.9% uptime with serverless infrastructure</a:t>
            </a:r>
          </a:p>
        </p:txBody>
      </p:sp>
      <p:sp>
        <p:nvSpPr>
          <p:cNvPr id="27" name="Rectangle 26"/>
          <p:cNvSpPr/>
          <p:nvPr/>
        </p:nvSpPr>
        <p:spPr>
          <a:xfrm>
            <a:off x="274320" y="5074920"/>
            <a:ext cx="7619695" cy="77724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65760" y="5111496"/>
            <a:ext cx="1828800" cy="164592"/>
          </a:xfrm>
          <a:prstGeom prst="rect">
            <a:avLst/>
          </a:prstGeom>
          <a:noFill/>
        </p:spPr>
        <p:txBody>
          <a:bodyPr wrap="square">
            <a:spAutoFit/>
          </a:bodyPr>
          <a:lstStyle/>
          <a:p>
            <a:pPr algn="l">
              <a:spcAft>
                <a:spcPts val="200"/>
              </a:spcAft>
              <a:defRPr sz="750" b="1">
                <a:solidFill>
                  <a:srgbClr val="00C9A7"/>
                </a:solidFill>
                <a:latin typeface="Calibri"/>
              </a:defRPr>
            </a:pPr>
            <a:r>
              <a:t>TECHNOLOGY STACK</a:t>
            </a:r>
          </a:p>
        </p:txBody>
      </p:sp>
      <p:sp>
        <p:nvSpPr>
          <p:cNvPr id="29" name="TextBox 28"/>
          <p:cNvSpPr txBox="1"/>
          <p:nvPr/>
        </p:nvSpPr>
        <p:spPr>
          <a:xfrm>
            <a:off x="365760"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Platform</a:t>
            </a:r>
          </a:p>
        </p:txBody>
      </p:sp>
      <p:sp>
        <p:nvSpPr>
          <p:cNvPr id="30" name="TextBox 29"/>
          <p:cNvSpPr txBox="1"/>
          <p:nvPr/>
        </p:nvSpPr>
        <p:spPr>
          <a:xfrm>
            <a:off x="365760"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Amazon Bedrock</a:t>
            </a:r>
            <a:br/>
            <a:r>
              <a:t>AgentCore</a:t>
            </a:r>
          </a:p>
        </p:txBody>
      </p:sp>
      <p:sp>
        <p:nvSpPr>
          <p:cNvPr id="31" name="TextBox 30"/>
          <p:cNvSpPr txBox="1"/>
          <p:nvPr/>
        </p:nvSpPr>
        <p:spPr>
          <a:xfrm>
            <a:off x="2240279"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LLM</a:t>
            </a:r>
          </a:p>
        </p:txBody>
      </p:sp>
      <p:sp>
        <p:nvSpPr>
          <p:cNvPr id="32" name="TextBox 31"/>
          <p:cNvSpPr txBox="1"/>
          <p:nvPr/>
        </p:nvSpPr>
        <p:spPr>
          <a:xfrm>
            <a:off x="2240279"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Anthropic Claude</a:t>
            </a:r>
            <a:br/>
            <a:r>
              <a:t>Sonnet</a:t>
            </a:r>
          </a:p>
        </p:txBody>
      </p:sp>
      <p:sp>
        <p:nvSpPr>
          <p:cNvPr id="33" name="TextBox 32"/>
          <p:cNvSpPr txBox="1"/>
          <p:nvPr/>
        </p:nvSpPr>
        <p:spPr>
          <a:xfrm>
            <a:off x="4114799"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CRM</a:t>
            </a:r>
          </a:p>
        </p:txBody>
      </p:sp>
      <p:sp>
        <p:nvSpPr>
          <p:cNvPr id="34" name="TextBox 33"/>
          <p:cNvSpPr txBox="1"/>
          <p:nvPr/>
        </p:nvSpPr>
        <p:spPr>
          <a:xfrm>
            <a:off x="4114799"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HubSpot webhook</a:t>
            </a:r>
            <a:br/>
            <a:r>
              <a:t>integration</a:t>
            </a:r>
          </a:p>
        </p:txBody>
      </p:sp>
      <p:sp>
        <p:nvSpPr>
          <p:cNvPr id="35" name="TextBox 34"/>
          <p:cNvSpPr txBox="1"/>
          <p:nvPr/>
        </p:nvSpPr>
        <p:spPr>
          <a:xfrm>
            <a:off x="5989319"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Delivery</a:t>
            </a:r>
          </a:p>
        </p:txBody>
      </p:sp>
      <p:sp>
        <p:nvSpPr>
          <p:cNvPr id="36" name="TextBox 35"/>
          <p:cNvSpPr txBox="1"/>
          <p:nvPr/>
        </p:nvSpPr>
        <p:spPr>
          <a:xfrm>
            <a:off x="5989319"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Microsoft Teams</a:t>
            </a:r>
            <a:br/>
            <a:r>
              <a:t>alerts + reports</a:t>
            </a:r>
          </a:p>
        </p:txBody>
      </p:sp>
      <p:sp>
        <p:nvSpPr>
          <p:cNvPr id="37" name="Rectangle 36"/>
          <p:cNvSpPr/>
          <p:nvPr/>
        </p:nvSpPr>
        <p:spPr>
          <a:xfrm>
            <a:off x="274320" y="5943600"/>
            <a:ext cx="3657600" cy="320040"/>
          </a:xfrm>
          <a:prstGeom prst="rect">
            <a:avLst/>
          </a:prstGeom>
          <a:solidFill>
            <a:srgbClr val="009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365760" y="5980176"/>
            <a:ext cx="3474720" cy="256032"/>
          </a:xfrm>
          <a:prstGeom prst="rect">
            <a:avLst/>
          </a:prstGeom>
          <a:noFill/>
        </p:spPr>
        <p:txBody>
          <a:bodyPr wrap="square">
            <a:spAutoFit/>
          </a:bodyPr>
          <a:lstStyle/>
          <a:p>
            <a:pPr algn="l">
              <a:spcAft>
                <a:spcPts val="200"/>
              </a:spcAft>
              <a:defRPr sz="650" b="1">
                <a:solidFill>
                  <a:srgbClr val="FFFFFF"/>
                </a:solidFill>
                <a:latin typeface="Calibri"/>
              </a:defRPr>
            </a:pPr>
            <a:r>
              <a:t>INDUSTRY: Financial Services</a:t>
            </a:r>
          </a:p>
        </p:txBody>
      </p:sp>
      <p:sp>
        <p:nvSpPr>
          <p:cNvPr id="39" name="Rectangle 38"/>
          <p:cNvSpPr/>
          <p:nvPr/>
        </p:nvSpPr>
        <p:spPr>
          <a:xfrm>
            <a:off x="4114800" y="5943600"/>
            <a:ext cx="3657600" cy="320040"/>
          </a:xfrm>
          <a:prstGeom prst="rect">
            <a:avLst/>
          </a:prstGeom>
          <a:solidFill>
            <a:srgbClr val="008F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4206240" y="5980176"/>
            <a:ext cx="3474720" cy="256032"/>
          </a:xfrm>
          <a:prstGeom prst="rect">
            <a:avLst/>
          </a:prstGeom>
          <a:noFill/>
        </p:spPr>
        <p:txBody>
          <a:bodyPr wrap="square">
            <a:spAutoFit/>
          </a:bodyPr>
          <a:lstStyle/>
          <a:p>
            <a:pPr algn="l">
              <a:spcAft>
                <a:spcPts val="200"/>
              </a:spcAft>
              <a:defRPr sz="650" b="1">
                <a:solidFill>
                  <a:srgbClr val="FFFFFF"/>
                </a:solidFill>
                <a:latin typeface="Calibri"/>
              </a:defRPr>
            </a:pPr>
            <a:r>
              <a:t>AGENT TYPE: Data Agent + Employee Agent</a:t>
            </a:r>
          </a:p>
        </p:txBody>
      </p:sp>
      <p:pic>
        <p:nvPicPr>
          <p:cNvPr id="41" name="Picture 40" descr="image.jpg"/>
          <p:cNvPicPr>
            <a:picLocks noChangeAspect="1"/>
          </p:cNvPicPr>
          <p:nvPr/>
        </p:nvPicPr>
        <p:blipFill>
          <a:blip r:embed="rId2"/>
          <a:stretch>
            <a:fillRect/>
          </a:stretch>
        </p:blipFill>
        <p:spPr>
          <a:xfrm>
            <a:off x="8076895" y="0"/>
            <a:ext cx="4114800" cy="6858000"/>
          </a:xfrm>
          <a:prstGeom prst="rect">
            <a:avLst/>
          </a:prstGeom>
        </p:spPr>
      </p:pic>
      <p:sp>
        <p:nvSpPr>
          <p:cNvPr id="42" name="TextBox 41"/>
          <p:cNvSpPr txBox="1"/>
          <p:nvPr/>
        </p:nvSpPr>
        <p:spPr>
          <a:xfrm>
            <a:off x="274320" y="6492240"/>
            <a:ext cx="4572000" cy="274320"/>
          </a:xfrm>
          <a:prstGeom prst="rect">
            <a:avLst/>
          </a:prstGeom>
          <a:noFill/>
        </p:spPr>
        <p:txBody>
          <a:bodyPr wrap="square">
            <a:spAutoFit/>
          </a:bodyPr>
          <a:lstStyle/>
          <a:p>
            <a:pPr algn="l">
              <a:spcAft>
                <a:spcPts val="200"/>
              </a:spcAft>
              <a:defRPr sz="700" b="0">
                <a:solidFill>
                  <a:srgbClr val="888888"/>
                </a:solidFill>
                <a:latin typeface="Calibri"/>
              </a:defRPr>
            </a:pPr>
            <a:r>
              <a:t>Agentic AI Use Cases Across Industries | Confidential</a:t>
            </a:r>
          </a:p>
        </p:txBody>
      </p:sp>
      <p:sp>
        <p:nvSpPr>
          <p:cNvPr id="43" name="TextBox 42"/>
          <p:cNvSpPr txBox="1"/>
          <p:nvPr/>
        </p:nvSpPr>
        <p:spPr>
          <a:xfrm>
            <a:off x="11094415" y="6492240"/>
            <a:ext cx="822960" cy="274320"/>
          </a:xfrm>
          <a:prstGeom prst="rect">
            <a:avLst/>
          </a:prstGeom>
          <a:noFill/>
        </p:spPr>
        <p:txBody>
          <a:bodyPr wrap="square">
            <a:spAutoFit/>
          </a:bodyPr>
          <a:lstStyle/>
          <a:p>
            <a:pPr algn="r">
              <a:spcAft>
                <a:spcPts val="200"/>
              </a:spcAft>
              <a:defRPr sz="700" b="0">
                <a:solidFill>
                  <a:srgbClr val="888888"/>
                </a:solidFill>
                <a:latin typeface="Calibri"/>
              </a:defRPr>
            </a:pPr>
            <a:r>
              <a:t>16 / 46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2743200"/>
            <a:ext cx="12191695" cy="54864"/>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371600"/>
            <a:ext cx="1097280" cy="731520"/>
          </a:xfrm>
          <a:prstGeom prst="rect">
            <a:avLst/>
          </a:prstGeom>
          <a:noFill/>
        </p:spPr>
        <p:txBody>
          <a:bodyPr wrap="square">
            <a:spAutoFit/>
          </a:bodyPr>
          <a:lstStyle/>
          <a:p>
            <a:pPr algn="l">
              <a:spcAft>
                <a:spcPts val="200"/>
              </a:spcAft>
              <a:defRPr sz="5600" b="1">
                <a:solidFill>
                  <a:srgbClr val="00C9A7"/>
                </a:solidFill>
                <a:latin typeface="Calibri"/>
              </a:defRPr>
            </a:pPr>
            <a:r>
              <a:t>03</a:t>
            </a:r>
          </a:p>
        </p:txBody>
      </p:sp>
      <p:sp>
        <p:nvSpPr>
          <p:cNvPr id="5" name="TextBox 4"/>
          <p:cNvSpPr txBox="1"/>
          <p:nvPr/>
        </p:nvSpPr>
        <p:spPr>
          <a:xfrm>
            <a:off x="2011680" y="1645920"/>
            <a:ext cx="5486400" cy="731520"/>
          </a:xfrm>
          <a:prstGeom prst="rect">
            <a:avLst/>
          </a:prstGeom>
          <a:noFill/>
        </p:spPr>
        <p:txBody>
          <a:bodyPr wrap="square">
            <a:spAutoFit/>
          </a:bodyPr>
          <a:lstStyle/>
          <a:p>
            <a:pPr algn="l">
              <a:spcAft>
                <a:spcPts val="200"/>
              </a:spcAft>
              <a:defRPr sz="3600" b="1">
                <a:solidFill>
                  <a:srgbClr val="FFFFFF"/>
                </a:solidFill>
                <a:latin typeface="Calibri"/>
              </a:defRPr>
            </a:pPr>
            <a:r>
              <a:t>Supply Chain &amp; Logistics</a:t>
            </a:r>
          </a:p>
        </p:txBody>
      </p:sp>
      <p:sp>
        <p:nvSpPr>
          <p:cNvPr id="6" name="TextBox 5"/>
          <p:cNvSpPr txBox="1"/>
          <p:nvPr/>
        </p:nvSpPr>
        <p:spPr>
          <a:xfrm>
            <a:off x="2011680" y="3017520"/>
            <a:ext cx="5486400" cy="457200"/>
          </a:xfrm>
          <a:prstGeom prst="rect">
            <a:avLst/>
          </a:prstGeom>
          <a:noFill/>
        </p:spPr>
        <p:txBody>
          <a:bodyPr wrap="square">
            <a:spAutoFit/>
          </a:bodyPr>
          <a:lstStyle/>
          <a:p>
            <a:pPr algn="l">
              <a:spcAft>
                <a:spcPts val="200"/>
              </a:spcAft>
              <a:defRPr sz="1400" b="0">
                <a:solidFill>
                  <a:srgbClr val="E0F7F1"/>
                </a:solidFill>
                <a:latin typeface="Calibri"/>
              </a:defRPr>
            </a:pPr>
            <a:r>
              <a:t>Autonomous exception handling, email automation, and control towers</a:t>
            </a:r>
          </a:p>
        </p:txBody>
      </p:sp>
      <p:sp>
        <p:nvSpPr>
          <p:cNvPr id="7" name="TextBox 6"/>
          <p:cNvSpPr txBox="1"/>
          <p:nvPr/>
        </p:nvSpPr>
        <p:spPr>
          <a:xfrm>
            <a:off x="2011680" y="3566160"/>
            <a:ext cx="5486400" cy="457200"/>
          </a:xfrm>
          <a:prstGeom prst="rect">
            <a:avLst/>
          </a:prstGeom>
          <a:noFill/>
        </p:spPr>
        <p:txBody>
          <a:bodyPr wrap="square">
            <a:spAutoFit/>
          </a:bodyPr>
          <a:lstStyle/>
          <a:p>
            <a:pPr algn="l">
              <a:spcAft>
                <a:spcPts val="200"/>
              </a:spcAft>
              <a:defRPr sz="1200" b="0">
                <a:solidFill>
                  <a:srgbClr val="888899"/>
                </a:solidFill>
                <a:latin typeface="Calibri"/>
              </a:defRPr>
            </a:pPr>
            <a:r>
              <a:t>4 Agentic AI Use Cases</a:t>
            </a:r>
          </a:p>
        </p:txBody>
      </p:sp>
      <p:pic>
        <p:nvPicPr>
          <p:cNvPr id="8" name="Picture 7" descr="image.jpg"/>
          <p:cNvPicPr>
            <a:picLocks noChangeAspect="1"/>
          </p:cNvPicPr>
          <p:nvPr/>
        </p:nvPicPr>
        <p:blipFill>
          <a:blip r:embed="rId2"/>
          <a:stretch>
            <a:fillRect/>
          </a:stretch>
        </p:blipFill>
        <p:spPr>
          <a:xfrm>
            <a:off x="8076895" y="0"/>
            <a:ext cx="4114800" cy="6858000"/>
          </a:xfrm>
          <a:prstGeom prst="rect">
            <a:avLst/>
          </a:prstGeom>
        </p:spPr>
      </p:pic>
      <p:sp>
        <p:nvSpPr>
          <p:cNvPr id="9" name="TextBox 8"/>
          <p:cNvSpPr txBox="1"/>
          <p:nvPr/>
        </p:nvSpPr>
        <p:spPr>
          <a:xfrm>
            <a:off x="274320" y="6492240"/>
            <a:ext cx="4572000" cy="274320"/>
          </a:xfrm>
          <a:prstGeom prst="rect">
            <a:avLst/>
          </a:prstGeom>
          <a:noFill/>
        </p:spPr>
        <p:txBody>
          <a:bodyPr wrap="square">
            <a:spAutoFit/>
          </a:bodyPr>
          <a:lstStyle/>
          <a:p>
            <a:pPr algn="l">
              <a:spcAft>
                <a:spcPts val="200"/>
              </a:spcAft>
              <a:defRPr sz="700" b="0">
                <a:solidFill>
                  <a:srgbClr val="888888"/>
                </a:solidFill>
                <a:latin typeface="Calibri"/>
              </a:defRPr>
            </a:pPr>
            <a:r>
              <a:t>Agentic AI Use Cases Across Industries | Confidential</a:t>
            </a:r>
          </a:p>
        </p:txBody>
      </p:sp>
      <p:sp>
        <p:nvSpPr>
          <p:cNvPr id="10" name="TextBox 9"/>
          <p:cNvSpPr txBox="1"/>
          <p:nvPr/>
        </p:nvSpPr>
        <p:spPr>
          <a:xfrm>
            <a:off x="11094415" y="6492240"/>
            <a:ext cx="822960" cy="274320"/>
          </a:xfrm>
          <a:prstGeom prst="rect">
            <a:avLst/>
          </a:prstGeom>
          <a:noFill/>
        </p:spPr>
        <p:txBody>
          <a:bodyPr wrap="square">
            <a:spAutoFit/>
          </a:bodyPr>
          <a:lstStyle/>
          <a:p>
            <a:pPr algn="r">
              <a:spcAft>
                <a:spcPts val="200"/>
              </a:spcAft>
              <a:defRPr sz="700" b="0">
                <a:solidFill>
                  <a:srgbClr val="888888"/>
                </a:solidFill>
                <a:latin typeface="Calibri"/>
              </a:defRPr>
            </a:pPr>
            <a:r>
              <a:t>17 / 46</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8076895" cy="6858000"/>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82880"/>
            <a:ext cx="7436815" cy="502920"/>
          </a:xfrm>
          <a:prstGeom prst="rect">
            <a:avLst/>
          </a:prstGeom>
          <a:noFill/>
        </p:spPr>
        <p:txBody>
          <a:bodyPr wrap="square">
            <a:spAutoFit/>
          </a:bodyPr>
          <a:lstStyle/>
          <a:p>
            <a:pPr algn="l">
              <a:spcAft>
                <a:spcPts val="200"/>
              </a:spcAft>
              <a:defRPr sz="2000" b="1">
                <a:solidFill>
                  <a:srgbClr val="FFFFFF"/>
                </a:solidFill>
                <a:latin typeface="Calibri"/>
              </a:defRPr>
            </a:pPr>
            <a:r>
              <a:t>UC10 | Singapore 3PL — Autonomous Supply Chain Control Tower</a:t>
            </a:r>
          </a:p>
        </p:txBody>
      </p:sp>
      <p:sp>
        <p:nvSpPr>
          <p:cNvPr id="4" name="Rectangle 3"/>
          <p:cNvSpPr/>
          <p:nvPr/>
        </p:nvSpPr>
        <p:spPr>
          <a:xfrm>
            <a:off x="365760" y="658368"/>
            <a:ext cx="1828800" cy="27432"/>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777240"/>
            <a:ext cx="1371600" cy="182880"/>
          </a:xfrm>
          <a:prstGeom prst="rect">
            <a:avLst/>
          </a:prstGeom>
          <a:noFill/>
        </p:spPr>
        <p:txBody>
          <a:bodyPr wrap="square">
            <a:spAutoFit/>
          </a:bodyPr>
          <a:lstStyle/>
          <a:p>
            <a:pPr algn="l">
              <a:spcAft>
                <a:spcPts val="200"/>
              </a:spcAft>
              <a:defRPr sz="800" b="1">
                <a:solidFill>
                  <a:srgbClr val="0A1628"/>
                </a:solidFill>
                <a:latin typeface="Calibri"/>
              </a:defRPr>
            </a:pPr>
            <a:r>
              <a:t>CHALLENGE</a:t>
            </a:r>
          </a:p>
        </p:txBody>
      </p:sp>
      <p:sp>
        <p:nvSpPr>
          <p:cNvPr id="6" name="TextBox 5"/>
          <p:cNvSpPr txBox="1"/>
          <p:nvPr/>
        </p:nvSpPr>
        <p:spPr>
          <a:xfrm>
            <a:off x="365760" y="960120"/>
            <a:ext cx="3520440" cy="1280160"/>
          </a:xfrm>
          <a:prstGeom prst="rect">
            <a:avLst/>
          </a:prstGeom>
          <a:noFill/>
        </p:spPr>
        <p:txBody>
          <a:bodyPr wrap="square">
            <a:spAutoFit/>
          </a:bodyPr>
          <a:lstStyle/>
          <a:p>
            <a:pPr algn="l">
              <a:spcAft>
                <a:spcPts val="200"/>
              </a:spcAft>
              <a:defRPr sz="750" b="0">
                <a:solidFill>
                  <a:srgbClr val="0A1628"/>
                </a:solidFill>
                <a:latin typeface="Calibri"/>
              </a:defRPr>
            </a:pPr>
            <a:r>
              <a:t>• Managing $2.8B in annual freight across 42,000 active shipments</a:t>
            </a:r>
            <a:br/>
            <a:r>
              <a:t>• Average exception resolution: 4.7 hours per incident</a:t>
            </a:r>
            <a:br/>
            <a:r>
              <a:t>• 45-person team handling shipment exceptions manually</a:t>
            </a:r>
            <a:br/>
            <a:r>
              <a:t>• 91.4% on-time delivery rate vs. industry expectations &gt;98%</a:t>
            </a:r>
          </a:p>
        </p:txBody>
      </p:sp>
      <p:sp>
        <p:nvSpPr>
          <p:cNvPr id="7" name="TextBox 6"/>
          <p:cNvSpPr txBox="1"/>
          <p:nvPr/>
        </p:nvSpPr>
        <p:spPr>
          <a:xfrm>
            <a:off x="4023360" y="777240"/>
            <a:ext cx="1828800" cy="182880"/>
          </a:xfrm>
          <a:prstGeom prst="rect">
            <a:avLst/>
          </a:prstGeom>
          <a:noFill/>
        </p:spPr>
        <p:txBody>
          <a:bodyPr wrap="square">
            <a:spAutoFit/>
          </a:bodyPr>
          <a:lstStyle/>
          <a:p>
            <a:pPr algn="l">
              <a:spcAft>
                <a:spcPts val="200"/>
              </a:spcAft>
              <a:defRPr sz="800" b="1">
                <a:solidFill>
                  <a:srgbClr val="0A1628"/>
                </a:solidFill>
                <a:latin typeface="Calibri"/>
              </a:defRPr>
            </a:pPr>
            <a:r>
              <a:t>AGENTIC SOLUTION</a:t>
            </a:r>
          </a:p>
        </p:txBody>
      </p:sp>
      <p:sp>
        <p:nvSpPr>
          <p:cNvPr id="8" name="TextBox 7"/>
          <p:cNvSpPr txBox="1"/>
          <p:nvPr/>
        </p:nvSpPr>
        <p:spPr>
          <a:xfrm>
            <a:off x="4023360" y="960120"/>
            <a:ext cx="3520440" cy="1280160"/>
          </a:xfrm>
          <a:prstGeom prst="rect">
            <a:avLst/>
          </a:prstGeom>
          <a:noFill/>
        </p:spPr>
        <p:txBody>
          <a:bodyPr wrap="square">
            <a:spAutoFit/>
          </a:bodyPr>
          <a:lstStyle/>
          <a:p>
            <a:pPr algn="l">
              <a:spcAft>
                <a:spcPts val="200"/>
              </a:spcAft>
              <a:defRPr sz="750" b="0">
                <a:solidFill>
                  <a:srgbClr val="0A1628"/>
                </a:solidFill>
                <a:latin typeface="Calibri"/>
              </a:defRPr>
            </a:pPr>
            <a:r>
              <a:t>• Multi-agent control tower: detection, root cause, action execution</a:t>
            </a:r>
            <a:br/>
            <a:r>
              <a:t>• Disruption Detection Agent correlates AIS vessel data + carrier feeds</a:t>
            </a:r>
            <a:br/>
            <a:r>
              <a:t>• Root Cause Agent: RAG over 48,000 resolved exceptions (3 years)</a:t>
            </a:r>
            <a:br/>
            <a:r>
              <a:t>• Action Execution Agent auto-resolves when confidence &gt;0.85</a:t>
            </a:r>
          </a:p>
        </p:txBody>
      </p:sp>
      <p:sp>
        <p:nvSpPr>
          <p:cNvPr id="9" name="Rectangle 8"/>
          <p:cNvSpPr/>
          <p:nvPr/>
        </p:nvSpPr>
        <p:spPr>
          <a:xfrm>
            <a:off x="365760"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65760"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73%</a:t>
            </a:r>
          </a:p>
        </p:txBody>
      </p:sp>
      <p:sp>
        <p:nvSpPr>
          <p:cNvPr id="11" name="TextBox 10"/>
          <p:cNvSpPr txBox="1"/>
          <p:nvPr/>
        </p:nvSpPr>
        <p:spPr>
          <a:xfrm>
            <a:off x="365760"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Exceptions resolved</a:t>
            </a:r>
            <a:br/>
            <a:r>
              <a:t>autonomously</a:t>
            </a:r>
          </a:p>
        </p:txBody>
      </p:sp>
      <p:sp>
        <p:nvSpPr>
          <p:cNvPr id="12" name="Rectangle 11"/>
          <p:cNvSpPr/>
          <p:nvPr/>
        </p:nvSpPr>
        <p:spPr>
          <a:xfrm>
            <a:off x="2240279"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240279"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4.7h → 22m</a:t>
            </a:r>
          </a:p>
        </p:txBody>
      </p:sp>
      <p:sp>
        <p:nvSpPr>
          <p:cNvPr id="14" name="TextBox 13"/>
          <p:cNvSpPr txBox="1"/>
          <p:nvPr/>
        </p:nvSpPr>
        <p:spPr>
          <a:xfrm>
            <a:off x="2240279"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Average resolution</a:t>
            </a:r>
            <a:br/>
            <a:r>
              <a:t>time</a:t>
            </a:r>
          </a:p>
        </p:txBody>
      </p:sp>
      <p:sp>
        <p:nvSpPr>
          <p:cNvPr id="15" name="Rectangle 14"/>
          <p:cNvSpPr/>
          <p:nvPr/>
        </p:nvSpPr>
        <p:spPr>
          <a:xfrm>
            <a:off x="4114799"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114799"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S$6.2M → S$1.8M</a:t>
            </a:r>
          </a:p>
        </p:txBody>
      </p:sp>
      <p:sp>
        <p:nvSpPr>
          <p:cNvPr id="17" name="TextBox 16"/>
          <p:cNvSpPr txBox="1"/>
          <p:nvPr/>
        </p:nvSpPr>
        <p:spPr>
          <a:xfrm>
            <a:off x="4114799"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Annual exception</a:t>
            </a:r>
            <a:br/>
            <a:r>
              <a:t>cost</a:t>
            </a:r>
          </a:p>
        </p:txBody>
      </p:sp>
      <p:sp>
        <p:nvSpPr>
          <p:cNvPr id="18" name="Rectangle 17"/>
          <p:cNvSpPr/>
          <p:nvPr/>
        </p:nvSpPr>
        <p:spPr>
          <a:xfrm>
            <a:off x="5989319"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989319"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99.2%</a:t>
            </a:r>
          </a:p>
        </p:txBody>
      </p:sp>
      <p:sp>
        <p:nvSpPr>
          <p:cNvPr id="20" name="TextBox 19"/>
          <p:cNvSpPr txBox="1"/>
          <p:nvPr/>
        </p:nvSpPr>
        <p:spPr>
          <a:xfrm>
            <a:off x="5989319"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On-time delivery</a:t>
            </a:r>
            <a:br/>
            <a:r>
              <a:t>(was 91.4%)</a:t>
            </a:r>
          </a:p>
        </p:txBody>
      </p:sp>
      <p:sp>
        <p:nvSpPr>
          <p:cNvPr id="21" name="TextBox 20"/>
          <p:cNvSpPr txBox="1"/>
          <p:nvPr/>
        </p:nvSpPr>
        <p:spPr>
          <a:xfrm>
            <a:off x="365760" y="3246120"/>
            <a:ext cx="1828800" cy="182880"/>
          </a:xfrm>
          <a:prstGeom prst="rect">
            <a:avLst/>
          </a:prstGeom>
          <a:noFill/>
        </p:spPr>
        <p:txBody>
          <a:bodyPr wrap="square">
            <a:spAutoFit/>
          </a:bodyPr>
          <a:lstStyle/>
          <a:p>
            <a:pPr algn="l">
              <a:spcAft>
                <a:spcPts val="200"/>
              </a:spcAft>
              <a:defRPr sz="800" b="1">
                <a:solidFill>
                  <a:srgbClr val="0A1628"/>
                </a:solidFill>
                <a:latin typeface="Calibri"/>
              </a:defRPr>
            </a:pPr>
            <a:r>
              <a:t>HOW IT WORKS</a:t>
            </a:r>
          </a:p>
        </p:txBody>
      </p:sp>
      <p:sp>
        <p:nvSpPr>
          <p:cNvPr id="22" name="TextBox 21"/>
          <p:cNvSpPr txBox="1"/>
          <p:nvPr/>
        </p:nvSpPr>
        <p:spPr>
          <a:xfrm>
            <a:off x="365760" y="3429000"/>
            <a:ext cx="7436815" cy="594360"/>
          </a:xfrm>
          <a:prstGeom prst="rect">
            <a:avLst/>
          </a:prstGeom>
          <a:noFill/>
        </p:spPr>
        <p:txBody>
          <a:bodyPr wrap="square">
            <a:spAutoFit/>
          </a:bodyPr>
          <a:lstStyle/>
          <a:p>
            <a:pPr algn="l">
              <a:spcAft>
                <a:spcPts val="200"/>
              </a:spcAft>
              <a:defRPr sz="700" b="0">
                <a:solidFill>
                  <a:srgbClr val="0A1628"/>
                </a:solidFill>
                <a:latin typeface="Calibri"/>
              </a:defRPr>
            </a:pPr>
            <a:r>
              <a:t>→ Detection Agent: correlate vessel tracking, customs, carrier data proactively</a:t>
            </a:r>
            <a:br/>
            <a:r>
              <a:t>→ Root Cause Agent: RAG over 3 years of resolution history + carrier SLAs</a:t>
            </a:r>
            <a:br/>
            <a:r>
              <a:t>→ Action Agent: auto-rebook carriers, file customs amendments, notify customers</a:t>
            </a:r>
            <a:br/>
            <a:r>
              <a:t>→ Below 0.85 confidence: route to human with full analysis pre-loaded</a:t>
            </a:r>
          </a:p>
        </p:txBody>
      </p:sp>
      <p:sp>
        <p:nvSpPr>
          <p:cNvPr id="23" name="TextBox 22"/>
          <p:cNvSpPr txBox="1"/>
          <p:nvPr/>
        </p:nvSpPr>
        <p:spPr>
          <a:xfrm>
            <a:off x="365760" y="4069080"/>
            <a:ext cx="3200400" cy="182880"/>
          </a:xfrm>
          <a:prstGeom prst="rect">
            <a:avLst/>
          </a:prstGeom>
          <a:noFill/>
        </p:spPr>
        <p:txBody>
          <a:bodyPr wrap="square">
            <a:spAutoFit/>
          </a:bodyPr>
          <a:lstStyle/>
          <a:p>
            <a:pPr algn="l">
              <a:spcAft>
                <a:spcPts val="200"/>
              </a:spcAft>
              <a:defRPr sz="750" b="1">
                <a:solidFill>
                  <a:srgbClr val="0A1628"/>
                </a:solidFill>
                <a:latin typeface="Calibri"/>
              </a:defRPr>
            </a:pPr>
            <a:r>
              <a:t>AGENT ARCHITECTURE</a:t>
            </a:r>
          </a:p>
        </p:txBody>
      </p:sp>
      <p:sp>
        <p:nvSpPr>
          <p:cNvPr id="24" name="TextBox 23"/>
          <p:cNvSpPr txBox="1"/>
          <p:nvPr/>
        </p:nvSpPr>
        <p:spPr>
          <a:xfrm>
            <a:off x="365760" y="4251960"/>
            <a:ext cx="3520440" cy="777240"/>
          </a:xfrm>
          <a:prstGeom prst="rect">
            <a:avLst/>
          </a:prstGeom>
          <a:noFill/>
        </p:spPr>
        <p:txBody>
          <a:bodyPr wrap="square">
            <a:spAutoFit/>
          </a:bodyPr>
          <a:lstStyle/>
          <a:p>
            <a:pPr algn="l">
              <a:spcAft>
                <a:spcPts val="200"/>
              </a:spcAft>
              <a:defRPr sz="700" b="0">
                <a:solidFill>
                  <a:srgbClr val="0A1628"/>
                </a:solidFill>
                <a:latin typeface="Calibri"/>
              </a:defRPr>
            </a:pPr>
            <a:r>
              <a:t>• 3-agent pipeline: detect → diagnose → execute</a:t>
            </a:r>
            <a:br/>
            <a:r>
              <a:t>• RAG over 48,000 resolved exceptions for pattern matching</a:t>
            </a:r>
            <a:br/>
            <a:r>
              <a:t>• 220+ carrier contract SLAs in knowledge base</a:t>
            </a:r>
            <a:br/>
            <a:r>
              <a:t>• TradeNet MCP connector for customs automation</a:t>
            </a:r>
          </a:p>
        </p:txBody>
      </p:sp>
      <p:sp>
        <p:nvSpPr>
          <p:cNvPr id="25" name="TextBox 24"/>
          <p:cNvSpPr txBox="1"/>
          <p:nvPr/>
        </p:nvSpPr>
        <p:spPr>
          <a:xfrm>
            <a:off x="4023360" y="4069080"/>
            <a:ext cx="3200400" cy="182880"/>
          </a:xfrm>
          <a:prstGeom prst="rect">
            <a:avLst/>
          </a:prstGeom>
          <a:noFill/>
        </p:spPr>
        <p:txBody>
          <a:bodyPr wrap="square">
            <a:spAutoFit/>
          </a:bodyPr>
          <a:lstStyle/>
          <a:p>
            <a:pPr algn="l">
              <a:spcAft>
                <a:spcPts val="200"/>
              </a:spcAft>
              <a:defRPr sz="750" b="1">
                <a:solidFill>
                  <a:srgbClr val="0A1628"/>
                </a:solidFill>
                <a:latin typeface="Calibri"/>
              </a:defRPr>
            </a:pPr>
            <a:r>
              <a:t>GOVERNANCE &amp; COMPLIANCE</a:t>
            </a:r>
          </a:p>
        </p:txBody>
      </p:sp>
      <p:sp>
        <p:nvSpPr>
          <p:cNvPr id="26" name="TextBox 25"/>
          <p:cNvSpPr txBox="1"/>
          <p:nvPr/>
        </p:nvSpPr>
        <p:spPr>
          <a:xfrm>
            <a:off x="4023360" y="4251960"/>
            <a:ext cx="3520440" cy="777240"/>
          </a:xfrm>
          <a:prstGeom prst="rect">
            <a:avLst/>
          </a:prstGeom>
          <a:noFill/>
        </p:spPr>
        <p:txBody>
          <a:bodyPr wrap="square">
            <a:spAutoFit/>
          </a:bodyPr>
          <a:lstStyle/>
          <a:p>
            <a:pPr algn="l">
              <a:spcAft>
                <a:spcPts val="200"/>
              </a:spcAft>
              <a:defRPr sz="700" b="0">
                <a:solidFill>
                  <a:srgbClr val="0A1628"/>
                </a:solidFill>
                <a:latin typeface="Calibri"/>
              </a:defRPr>
            </a:pPr>
            <a:r>
              <a:t>• Confidence threshold (0.85) gates autonomous execution</a:t>
            </a:r>
            <a:br/>
            <a:r>
              <a:t>• Human team reduced from 45 to 14 (complex cases only)</a:t>
            </a:r>
            <a:br/>
            <a:r>
              <a:t>• Customer electronics manufacturer renewed 3-year contract</a:t>
            </a:r>
          </a:p>
        </p:txBody>
      </p:sp>
      <p:sp>
        <p:nvSpPr>
          <p:cNvPr id="27" name="Rectangle 26"/>
          <p:cNvSpPr/>
          <p:nvPr/>
        </p:nvSpPr>
        <p:spPr>
          <a:xfrm>
            <a:off x="274320" y="5074920"/>
            <a:ext cx="7619695" cy="77724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65760" y="5111496"/>
            <a:ext cx="1828800" cy="164592"/>
          </a:xfrm>
          <a:prstGeom prst="rect">
            <a:avLst/>
          </a:prstGeom>
          <a:noFill/>
        </p:spPr>
        <p:txBody>
          <a:bodyPr wrap="square">
            <a:spAutoFit/>
          </a:bodyPr>
          <a:lstStyle/>
          <a:p>
            <a:pPr algn="l">
              <a:spcAft>
                <a:spcPts val="200"/>
              </a:spcAft>
              <a:defRPr sz="750" b="1">
                <a:solidFill>
                  <a:srgbClr val="00C9A7"/>
                </a:solidFill>
                <a:latin typeface="Calibri"/>
              </a:defRPr>
            </a:pPr>
            <a:r>
              <a:t>TECHNOLOGY STACK</a:t>
            </a:r>
          </a:p>
        </p:txBody>
      </p:sp>
      <p:sp>
        <p:nvSpPr>
          <p:cNvPr id="29" name="TextBox 28"/>
          <p:cNvSpPr txBox="1"/>
          <p:nvPr/>
        </p:nvSpPr>
        <p:spPr>
          <a:xfrm>
            <a:off x="365760"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Detection</a:t>
            </a:r>
          </a:p>
        </p:txBody>
      </p:sp>
      <p:sp>
        <p:nvSpPr>
          <p:cNvPr id="30" name="TextBox 29"/>
          <p:cNvSpPr txBox="1"/>
          <p:nvPr/>
        </p:nvSpPr>
        <p:spPr>
          <a:xfrm>
            <a:off x="365760"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AIS vessel data</a:t>
            </a:r>
            <a:br/>
            <a:r>
              <a:t>+ carrier feeds</a:t>
            </a:r>
          </a:p>
        </p:txBody>
      </p:sp>
      <p:sp>
        <p:nvSpPr>
          <p:cNvPr id="31" name="TextBox 30"/>
          <p:cNvSpPr txBox="1"/>
          <p:nvPr/>
        </p:nvSpPr>
        <p:spPr>
          <a:xfrm>
            <a:off x="2240279"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RAG</a:t>
            </a:r>
          </a:p>
        </p:txBody>
      </p:sp>
      <p:sp>
        <p:nvSpPr>
          <p:cNvPr id="32" name="TextBox 31"/>
          <p:cNvSpPr txBox="1"/>
          <p:nvPr/>
        </p:nvSpPr>
        <p:spPr>
          <a:xfrm>
            <a:off x="2240279"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48K exceptions</a:t>
            </a:r>
            <a:br/>
            <a:r>
              <a:t>resolution history</a:t>
            </a:r>
          </a:p>
        </p:txBody>
      </p:sp>
      <p:sp>
        <p:nvSpPr>
          <p:cNvPr id="33" name="TextBox 32"/>
          <p:cNvSpPr txBox="1"/>
          <p:nvPr/>
        </p:nvSpPr>
        <p:spPr>
          <a:xfrm>
            <a:off x="4114799"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Execution</a:t>
            </a:r>
          </a:p>
        </p:txBody>
      </p:sp>
      <p:sp>
        <p:nvSpPr>
          <p:cNvPr id="34" name="TextBox 33"/>
          <p:cNvSpPr txBox="1"/>
          <p:nvPr/>
        </p:nvSpPr>
        <p:spPr>
          <a:xfrm>
            <a:off x="4114799"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Carrier APIs +</a:t>
            </a:r>
            <a:br/>
            <a:r>
              <a:t>TradeNet customs</a:t>
            </a:r>
          </a:p>
        </p:txBody>
      </p:sp>
      <p:sp>
        <p:nvSpPr>
          <p:cNvPr id="35" name="TextBox 34"/>
          <p:cNvSpPr txBox="1"/>
          <p:nvPr/>
        </p:nvSpPr>
        <p:spPr>
          <a:xfrm>
            <a:off x="5989319"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UI</a:t>
            </a:r>
          </a:p>
        </p:txBody>
      </p:sp>
      <p:sp>
        <p:nvSpPr>
          <p:cNvPr id="36" name="TextBox 35"/>
          <p:cNvSpPr txBox="1"/>
          <p:nvPr/>
        </p:nvSpPr>
        <p:spPr>
          <a:xfrm>
            <a:off x="5989319"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Next.js control</a:t>
            </a:r>
            <a:br/>
            <a:r>
              <a:t>tower dashboard</a:t>
            </a:r>
          </a:p>
        </p:txBody>
      </p:sp>
      <p:sp>
        <p:nvSpPr>
          <p:cNvPr id="37" name="Rectangle 36"/>
          <p:cNvSpPr/>
          <p:nvPr/>
        </p:nvSpPr>
        <p:spPr>
          <a:xfrm>
            <a:off x="274320" y="5943600"/>
            <a:ext cx="3657600" cy="320040"/>
          </a:xfrm>
          <a:prstGeom prst="rect">
            <a:avLst/>
          </a:prstGeom>
          <a:solidFill>
            <a:srgbClr val="009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365760" y="5980176"/>
            <a:ext cx="3474720" cy="256032"/>
          </a:xfrm>
          <a:prstGeom prst="rect">
            <a:avLst/>
          </a:prstGeom>
          <a:noFill/>
        </p:spPr>
        <p:txBody>
          <a:bodyPr wrap="square">
            <a:spAutoFit/>
          </a:bodyPr>
          <a:lstStyle/>
          <a:p>
            <a:pPr algn="l">
              <a:spcAft>
                <a:spcPts val="200"/>
              </a:spcAft>
              <a:defRPr sz="650" b="1">
                <a:solidFill>
                  <a:srgbClr val="FFFFFF"/>
                </a:solidFill>
                <a:latin typeface="Calibri"/>
              </a:defRPr>
            </a:pPr>
            <a:r>
              <a:t>INDUSTRY: Supply Chain &amp; Logistics</a:t>
            </a:r>
          </a:p>
        </p:txBody>
      </p:sp>
      <p:sp>
        <p:nvSpPr>
          <p:cNvPr id="39" name="Rectangle 38"/>
          <p:cNvSpPr/>
          <p:nvPr/>
        </p:nvSpPr>
        <p:spPr>
          <a:xfrm>
            <a:off x="4114800" y="5943600"/>
            <a:ext cx="3657600" cy="320040"/>
          </a:xfrm>
          <a:prstGeom prst="rect">
            <a:avLst/>
          </a:prstGeom>
          <a:solidFill>
            <a:srgbClr val="008F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4206240" y="5980176"/>
            <a:ext cx="3474720" cy="256032"/>
          </a:xfrm>
          <a:prstGeom prst="rect">
            <a:avLst/>
          </a:prstGeom>
          <a:noFill/>
        </p:spPr>
        <p:txBody>
          <a:bodyPr wrap="square">
            <a:spAutoFit/>
          </a:bodyPr>
          <a:lstStyle/>
          <a:p>
            <a:pPr algn="l">
              <a:spcAft>
                <a:spcPts val="200"/>
              </a:spcAft>
              <a:defRPr sz="650" b="1">
                <a:solidFill>
                  <a:srgbClr val="FFFFFF"/>
                </a:solidFill>
                <a:latin typeface="Calibri"/>
              </a:defRPr>
            </a:pPr>
            <a:r>
              <a:t>AGENT TYPE: Data Agent + Customer Agent</a:t>
            </a:r>
          </a:p>
        </p:txBody>
      </p:sp>
      <p:pic>
        <p:nvPicPr>
          <p:cNvPr id="41" name="Picture 40" descr="image.jpg"/>
          <p:cNvPicPr>
            <a:picLocks noChangeAspect="1"/>
          </p:cNvPicPr>
          <p:nvPr/>
        </p:nvPicPr>
        <p:blipFill>
          <a:blip r:embed="rId2"/>
          <a:stretch>
            <a:fillRect/>
          </a:stretch>
        </p:blipFill>
        <p:spPr>
          <a:xfrm>
            <a:off x="8076895" y="0"/>
            <a:ext cx="4114800" cy="6858000"/>
          </a:xfrm>
          <a:prstGeom prst="rect">
            <a:avLst/>
          </a:prstGeom>
        </p:spPr>
      </p:pic>
      <p:sp>
        <p:nvSpPr>
          <p:cNvPr id="42" name="TextBox 41"/>
          <p:cNvSpPr txBox="1"/>
          <p:nvPr/>
        </p:nvSpPr>
        <p:spPr>
          <a:xfrm>
            <a:off x="274320" y="6492240"/>
            <a:ext cx="4572000" cy="274320"/>
          </a:xfrm>
          <a:prstGeom prst="rect">
            <a:avLst/>
          </a:prstGeom>
          <a:noFill/>
        </p:spPr>
        <p:txBody>
          <a:bodyPr wrap="square">
            <a:spAutoFit/>
          </a:bodyPr>
          <a:lstStyle/>
          <a:p>
            <a:pPr algn="l">
              <a:spcAft>
                <a:spcPts val="200"/>
              </a:spcAft>
              <a:defRPr sz="700" b="0">
                <a:solidFill>
                  <a:srgbClr val="888888"/>
                </a:solidFill>
                <a:latin typeface="Calibri"/>
              </a:defRPr>
            </a:pPr>
            <a:r>
              <a:t>Agentic AI Use Cases Across Industries | Confidential</a:t>
            </a:r>
          </a:p>
        </p:txBody>
      </p:sp>
      <p:sp>
        <p:nvSpPr>
          <p:cNvPr id="43" name="TextBox 42"/>
          <p:cNvSpPr txBox="1"/>
          <p:nvPr/>
        </p:nvSpPr>
        <p:spPr>
          <a:xfrm>
            <a:off x="11094415" y="6492240"/>
            <a:ext cx="822960" cy="274320"/>
          </a:xfrm>
          <a:prstGeom prst="rect">
            <a:avLst/>
          </a:prstGeom>
          <a:noFill/>
        </p:spPr>
        <p:txBody>
          <a:bodyPr wrap="square">
            <a:spAutoFit/>
          </a:bodyPr>
          <a:lstStyle/>
          <a:p>
            <a:pPr algn="r">
              <a:spcAft>
                <a:spcPts val="200"/>
              </a:spcAft>
              <a:defRPr sz="700" b="0">
                <a:solidFill>
                  <a:srgbClr val="888888"/>
                </a:solidFill>
                <a:latin typeface="Calibri"/>
              </a:defRPr>
            </a:pPr>
            <a:r>
              <a:t>18 / 46</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8076895" cy="6858000"/>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82880"/>
            <a:ext cx="7436815" cy="502920"/>
          </a:xfrm>
          <a:prstGeom prst="rect">
            <a:avLst/>
          </a:prstGeom>
          <a:noFill/>
        </p:spPr>
        <p:txBody>
          <a:bodyPr wrap="square">
            <a:spAutoFit/>
          </a:bodyPr>
          <a:lstStyle/>
          <a:p>
            <a:pPr algn="l">
              <a:spcAft>
                <a:spcPts val="200"/>
              </a:spcAft>
              <a:defRPr sz="2000" b="1">
                <a:solidFill>
                  <a:srgbClr val="FFFFFF"/>
                </a:solidFill>
                <a:latin typeface="Calibri"/>
              </a:defRPr>
            </a:pPr>
            <a:r>
              <a:t>UC11 | C.H. Robinson — Logistics Email Automation</a:t>
            </a:r>
          </a:p>
        </p:txBody>
      </p:sp>
      <p:sp>
        <p:nvSpPr>
          <p:cNvPr id="4" name="Rectangle 3"/>
          <p:cNvSpPr/>
          <p:nvPr/>
        </p:nvSpPr>
        <p:spPr>
          <a:xfrm>
            <a:off x="365760" y="658368"/>
            <a:ext cx="1828800" cy="27432"/>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777240"/>
            <a:ext cx="1371600" cy="182880"/>
          </a:xfrm>
          <a:prstGeom prst="rect">
            <a:avLst/>
          </a:prstGeom>
          <a:noFill/>
        </p:spPr>
        <p:txBody>
          <a:bodyPr wrap="square">
            <a:spAutoFit/>
          </a:bodyPr>
          <a:lstStyle/>
          <a:p>
            <a:pPr algn="l">
              <a:spcAft>
                <a:spcPts val="200"/>
              </a:spcAft>
              <a:defRPr sz="800" b="1">
                <a:solidFill>
                  <a:srgbClr val="0A1628"/>
                </a:solidFill>
                <a:latin typeface="Calibri"/>
              </a:defRPr>
            </a:pPr>
            <a:r>
              <a:t>CHALLENGE</a:t>
            </a:r>
          </a:p>
        </p:txBody>
      </p:sp>
      <p:sp>
        <p:nvSpPr>
          <p:cNvPr id="6" name="TextBox 5"/>
          <p:cNvSpPr txBox="1"/>
          <p:nvPr/>
        </p:nvSpPr>
        <p:spPr>
          <a:xfrm>
            <a:off x="365760" y="960120"/>
            <a:ext cx="3520440" cy="1280160"/>
          </a:xfrm>
          <a:prstGeom prst="rect">
            <a:avLst/>
          </a:prstGeom>
          <a:noFill/>
        </p:spPr>
        <p:txBody>
          <a:bodyPr wrap="square">
            <a:spAutoFit/>
          </a:bodyPr>
          <a:lstStyle/>
          <a:p>
            <a:pPr algn="l">
              <a:spcAft>
                <a:spcPts val="200"/>
              </a:spcAft>
              <a:defRPr sz="750" b="0">
                <a:solidFill>
                  <a:srgbClr val="0A1628"/>
                </a:solidFill>
                <a:latin typeface="Calibri"/>
              </a:defRPr>
            </a:pPr>
            <a:r>
              <a:t>• 15,000 shipping request emails per day with inconsistent formatting</a:t>
            </a:r>
            <a:br/>
            <a:r>
              <a:t>• Handwritten notes on PDFs, missing essential data fields</a:t>
            </a:r>
            <a:br/>
            <a:r>
              <a:t>• 4-hour average wait for email to be processed from queue</a:t>
            </a:r>
            <a:br/>
            <a:r>
              <a:t>• 7 minutes per email for manual order creation</a:t>
            </a:r>
          </a:p>
        </p:txBody>
      </p:sp>
      <p:sp>
        <p:nvSpPr>
          <p:cNvPr id="7" name="TextBox 6"/>
          <p:cNvSpPr txBox="1"/>
          <p:nvPr/>
        </p:nvSpPr>
        <p:spPr>
          <a:xfrm>
            <a:off x="4023360" y="777240"/>
            <a:ext cx="1828800" cy="182880"/>
          </a:xfrm>
          <a:prstGeom prst="rect">
            <a:avLst/>
          </a:prstGeom>
          <a:noFill/>
        </p:spPr>
        <p:txBody>
          <a:bodyPr wrap="square">
            <a:spAutoFit/>
          </a:bodyPr>
          <a:lstStyle/>
          <a:p>
            <a:pPr algn="l">
              <a:spcAft>
                <a:spcPts val="200"/>
              </a:spcAft>
              <a:defRPr sz="800" b="1">
                <a:solidFill>
                  <a:srgbClr val="0A1628"/>
                </a:solidFill>
                <a:latin typeface="Calibri"/>
              </a:defRPr>
            </a:pPr>
            <a:r>
              <a:t>AGENTIC SOLUTION</a:t>
            </a:r>
          </a:p>
        </p:txBody>
      </p:sp>
      <p:sp>
        <p:nvSpPr>
          <p:cNvPr id="8" name="TextBox 7"/>
          <p:cNvSpPr txBox="1"/>
          <p:nvPr/>
        </p:nvSpPr>
        <p:spPr>
          <a:xfrm>
            <a:off x="4023360" y="960120"/>
            <a:ext cx="3520440" cy="1280160"/>
          </a:xfrm>
          <a:prstGeom prst="rect">
            <a:avLst/>
          </a:prstGeom>
          <a:noFill/>
        </p:spPr>
        <p:txBody>
          <a:bodyPr wrap="square">
            <a:spAutoFit/>
          </a:bodyPr>
          <a:lstStyle/>
          <a:p>
            <a:pPr algn="l">
              <a:spcAft>
                <a:spcPts val="200"/>
              </a:spcAft>
              <a:defRPr sz="750" b="0">
                <a:solidFill>
                  <a:srgbClr val="0A1628"/>
                </a:solidFill>
                <a:latin typeface="Calibri"/>
              </a:defRPr>
            </a:pPr>
            <a:r>
              <a:t>• AI agents read emails, connect information, detect missing data</a:t>
            </a:r>
            <a:br/>
            <a:r>
              <a:t>• Automatically fetch missing information and create orders</a:t>
            </a:r>
            <a:br/>
            <a:r>
              <a:t>• LTL vs. FTL classification using LangGraph state management</a:t>
            </a:r>
            <a:br/>
            <a:r>
              <a:t>• Meta-prompting helps users learn better input formats</a:t>
            </a:r>
          </a:p>
        </p:txBody>
      </p:sp>
      <p:sp>
        <p:nvSpPr>
          <p:cNvPr id="9" name="Rectangle 8"/>
          <p:cNvSpPr/>
          <p:nvPr/>
        </p:nvSpPr>
        <p:spPr>
          <a:xfrm>
            <a:off x="365760"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65760"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5,500</a:t>
            </a:r>
          </a:p>
        </p:txBody>
      </p:sp>
      <p:sp>
        <p:nvSpPr>
          <p:cNvPr id="11" name="TextBox 10"/>
          <p:cNvSpPr txBox="1"/>
          <p:nvPr/>
        </p:nvSpPr>
        <p:spPr>
          <a:xfrm>
            <a:off x="365760"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Orders automated</a:t>
            </a:r>
            <a:br/>
            <a:r>
              <a:t>per day</a:t>
            </a:r>
          </a:p>
        </p:txBody>
      </p:sp>
      <p:sp>
        <p:nvSpPr>
          <p:cNvPr id="12" name="Rectangle 11"/>
          <p:cNvSpPr/>
          <p:nvPr/>
        </p:nvSpPr>
        <p:spPr>
          <a:xfrm>
            <a:off x="2240279"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240279"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600h</a:t>
            </a:r>
          </a:p>
        </p:txBody>
      </p:sp>
      <p:sp>
        <p:nvSpPr>
          <p:cNvPr id="14" name="TextBox 13"/>
          <p:cNvSpPr txBox="1"/>
          <p:nvPr/>
        </p:nvSpPr>
        <p:spPr>
          <a:xfrm>
            <a:off x="2240279"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Saved daily on</a:t>
            </a:r>
            <a:br/>
            <a:r>
              <a:t>email processing</a:t>
            </a:r>
          </a:p>
        </p:txBody>
      </p:sp>
      <p:sp>
        <p:nvSpPr>
          <p:cNvPr id="15" name="Rectangle 14"/>
          <p:cNvSpPr/>
          <p:nvPr/>
        </p:nvSpPr>
        <p:spPr>
          <a:xfrm>
            <a:off x="4114799"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114799"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4h → min</a:t>
            </a:r>
          </a:p>
        </p:txBody>
      </p:sp>
      <p:sp>
        <p:nvSpPr>
          <p:cNvPr id="17" name="TextBox 16"/>
          <p:cNvSpPr txBox="1"/>
          <p:nvPr/>
        </p:nvSpPr>
        <p:spPr>
          <a:xfrm>
            <a:off x="4114799"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Email queue</a:t>
            </a:r>
            <a:br/>
            <a:r>
              <a:t>wait time</a:t>
            </a:r>
          </a:p>
        </p:txBody>
      </p:sp>
      <p:sp>
        <p:nvSpPr>
          <p:cNvPr id="18" name="Rectangle 17"/>
          <p:cNvSpPr/>
          <p:nvPr/>
        </p:nvSpPr>
        <p:spPr>
          <a:xfrm>
            <a:off x="5989319"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989319"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37M</a:t>
            </a:r>
          </a:p>
        </p:txBody>
      </p:sp>
      <p:sp>
        <p:nvSpPr>
          <p:cNvPr id="20" name="TextBox 19"/>
          <p:cNvSpPr txBox="1"/>
          <p:nvPr/>
        </p:nvSpPr>
        <p:spPr>
          <a:xfrm>
            <a:off x="5989319"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Shipments managed</a:t>
            </a:r>
            <a:br/>
            <a:r>
              <a:t>annually</a:t>
            </a:r>
          </a:p>
        </p:txBody>
      </p:sp>
      <p:sp>
        <p:nvSpPr>
          <p:cNvPr id="21" name="TextBox 20"/>
          <p:cNvSpPr txBox="1"/>
          <p:nvPr/>
        </p:nvSpPr>
        <p:spPr>
          <a:xfrm>
            <a:off x="365760" y="3246120"/>
            <a:ext cx="1828800" cy="182880"/>
          </a:xfrm>
          <a:prstGeom prst="rect">
            <a:avLst/>
          </a:prstGeom>
          <a:noFill/>
        </p:spPr>
        <p:txBody>
          <a:bodyPr wrap="square">
            <a:spAutoFit/>
          </a:bodyPr>
          <a:lstStyle/>
          <a:p>
            <a:pPr algn="l">
              <a:spcAft>
                <a:spcPts val="200"/>
              </a:spcAft>
              <a:defRPr sz="800" b="1">
                <a:solidFill>
                  <a:srgbClr val="0A1628"/>
                </a:solidFill>
                <a:latin typeface="Calibri"/>
              </a:defRPr>
            </a:pPr>
            <a:r>
              <a:t>HOW IT WORKS</a:t>
            </a:r>
          </a:p>
        </p:txBody>
      </p:sp>
      <p:sp>
        <p:nvSpPr>
          <p:cNvPr id="22" name="TextBox 21"/>
          <p:cNvSpPr txBox="1"/>
          <p:nvPr/>
        </p:nvSpPr>
        <p:spPr>
          <a:xfrm>
            <a:off x="365760" y="3429000"/>
            <a:ext cx="7436815" cy="594360"/>
          </a:xfrm>
          <a:prstGeom prst="rect">
            <a:avLst/>
          </a:prstGeom>
          <a:noFill/>
        </p:spPr>
        <p:txBody>
          <a:bodyPr wrap="square">
            <a:spAutoFit/>
          </a:bodyPr>
          <a:lstStyle/>
          <a:p>
            <a:pPr algn="l">
              <a:spcAft>
                <a:spcPts val="200"/>
              </a:spcAft>
              <a:defRPr sz="700" b="0">
                <a:solidFill>
                  <a:srgbClr val="0A1628"/>
                </a:solidFill>
                <a:latin typeface="Calibri"/>
              </a:defRPr>
            </a:pPr>
            <a:r>
              <a:t>→ Agent ingests email, extracts structured order data from unstructured text</a:t>
            </a:r>
            <a:br/>
            <a:r>
              <a:t>→ Handles PDFs with handwritten notes, inconsistent formats, missing fields</a:t>
            </a:r>
            <a:br/>
            <a:r>
              <a:t>→ LangGraph tracks state through multi-step order entry process</a:t>
            </a:r>
            <a:br/>
            <a:r>
              <a:t>→ SMEs use LangSmith traces to catch errors before deployment</a:t>
            </a:r>
          </a:p>
        </p:txBody>
      </p:sp>
      <p:sp>
        <p:nvSpPr>
          <p:cNvPr id="23" name="TextBox 22"/>
          <p:cNvSpPr txBox="1"/>
          <p:nvPr/>
        </p:nvSpPr>
        <p:spPr>
          <a:xfrm>
            <a:off x="365760" y="4069080"/>
            <a:ext cx="3200400" cy="182880"/>
          </a:xfrm>
          <a:prstGeom prst="rect">
            <a:avLst/>
          </a:prstGeom>
          <a:noFill/>
        </p:spPr>
        <p:txBody>
          <a:bodyPr wrap="square">
            <a:spAutoFit/>
          </a:bodyPr>
          <a:lstStyle/>
          <a:p>
            <a:pPr algn="l">
              <a:spcAft>
                <a:spcPts val="200"/>
              </a:spcAft>
              <a:defRPr sz="750" b="1">
                <a:solidFill>
                  <a:srgbClr val="0A1628"/>
                </a:solidFill>
                <a:latin typeface="Calibri"/>
              </a:defRPr>
            </a:pPr>
            <a:r>
              <a:t>AGENT ARCHITECTURE</a:t>
            </a:r>
          </a:p>
        </p:txBody>
      </p:sp>
      <p:sp>
        <p:nvSpPr>
          <p:cNvPr id="24" name="TextBox 23"/>
          <p:cNvSpPr txBox="1"/>
          <p:nvPr/>
        </p:nvSpPr>
        <p:spPr>
          <a:xfrm>
            <a:off x="365760" y="4251960"/>
            <a:ext cx="3520440" cy="777240"/>
          </a:xfrm>
          <a:prstGeom prst="rect">
            <a:avLst/>
          </a:prstGeom>
          <a:noFill/>
        </p:spPr>
        <p:txBody>
          <a:bodyPr wrap="square">
            <a:spAutoFit/>
          </a:bodyPr>
          <a:lstStyle/>
          <a:p>
            <a:pPr algn="l">
              <a:spcAft>
                <a:spcPts val="200"/>
              </a:spcAft>
              <a:defRPr sz="700" b="0">
                <a:solidFill>
                  <a:srgbClr val="0A1628"/>
                </a:solidFill>
                <a:latin typeface="Calibri"/>
              </a:defRPr>
            </a:pPr>
            <a:r>
              <a:t>• LangChain for model interoperability + user instruction parsing</a:t>
            </a:r>
            <a:br/>
            <a:r>
              <a:t>• LangGraph for complex LTL/FTL classification state management</a:t>
            </a:r>
            <a:br/>
            <a:r>
              <a:t>• LangSmith for tracing, debugging, and error quantification</a:t>
            </a:r>
            <a:br/>
            <a:r>
              <a:t>• Meta-prompting for user input optimization</a:t>
            </a:r>
          </a:p>
        </p:txBody>
      </p:sp>
      <p:sp>
        <p:nvSpPr>
          <p:cNvPr id="25" name="TextBox 24"/>
          <p:cNvSpPr txBox="1"/>
          <p:nvPr/>
        </p:nvSpPr>
        <p:spPr>
          <a:xfrm>
            <a:off x="4023360" y="4069080"/>
            <a:ext cx="3200400" cy="182880"/>
          </a:xfrm>
          <a:prstGeom prst="rect">
            <a:avLst/>
          </a:prstGeom>
          <a:noFill/>
        </p:spPr>
        <p:txBody>
          <a:bodyPr wrap="square">
            <a:spAutoFit/>
          </a:bodyPr>
          <a:lstStyle/>
          <a:p>
            <a:pPr algn="l">
              <a:spcAft>
                <a:spcPts val="200"/>
              </a:spcAft>
              <a:defRPr sz="750" b="1">
                <a:solidFill>
                  <a:srgbClr val="0A1628"/>
                </a:solidFill>
                <a:latin typeface="Calibri"/>
              </a:defRPr>
            </a:pPr>
            <a:r>
              <a:t>GOVERNANCE &amp; COMPLIANCE</a:t>
            </a:r>
          </a:p>
        </p:txBody>
      </p:sp>
      <p:sp>
        <p:nvSpPr>
          <p:cNvPr id="26" name="TextBox 25"/>
          <p:cNvSpPr txBox="1"/>
          <p:nvPr/>
        </p:nvSpPr>
        <p:spPr>
          <a:xfrm>
            <a:off x="4023360" y="4251960"/>
            <a:ext cx="3520440" cy="777240"/>
          </a:xfrm>
          <a:prstGeom prst="rect">
            <a:avLst/>
          </a:prstGeom>
          <a:noFill/>
        </p:spPr>
        <p:txBody>
          <a:bodyPr wrap="square">
            <a:spAutoFit/>
          </a:bodyPr>
          <a:lstStyle/>
          <a:p>
            <a:pPr algn="l">
              <a:spcAft>
                <a:spcPts val="200"/>
              </a:spcAft>
              <a:defRPr sz="700" b="0">
                <a:solidFill>
                  <a:srgbClr val="0A1628"/>
                </a:solidFill>
                <a:latin typeface="Calibri"/>
              </a:defRPr>
            </a:pPr>
            <a:r>
              <a:t>• LangSmith traces stitched across full order entry process</a:t>
            </a:r>
            <a:br/>
            <a:r>
              <a:t>• SMEs review traces to catch issues before production</a:t>
            </a:r>
            <a:br/>
            <a:r>
              <a:t>• Rapid experimentation via prompt management</a:t>
            </a:r>
          </a:p>
        </p:txBody>
      </p:sp>
      <p:sp>
        <p:nvSpPr>
          <p:cNvPr id="27" name="Rectangle 26"/>
          <p:cNvSpPr/>
          <p:nvPr/>
        </p:nvSpPr>
        <p:spPr>
          <a:xfrm>
            <a:off x="274320" y="5074920"/>
            <a:ext cx="7619695" cy="77724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65760" y="5111496"/>
            <a:ext cx="1828800" cy="164592"/>
          </a:xfrm>
          <a:prstGeom prst="rect">
            <a:avLst/>
          </a:prstGeom>
          <a:noFill/>
        </p:spPr>
        <p:txBody>
          <a:bodyPr wrap="square">
            <a:spAutoFit/>
          </a:bodyPr>
          <a:lstStyle/>
          <a:p>
            <a:pPr algn="l">
              <a:spcAft>
                <a:spcPts val="200"/>
              </a:spcAft>
              <a:defRPr sz="750" b="1">
                <a:solidFill>
                  <a:srgbClr val="00C9A7"/>
                </a:solidFill>
                <a:latin typeface="Calibri"/>
              </a:defRPr>
            </a:pPr>
            <a:r>
              <a:t>TECHNOLOGY STACK</a:t>
            </a:r>
          </a:p>
        </p:txBody>
      </p:sp>
      <p:sp>
        <p:nvSpPr>
          <p:cNvPr id="29" name="TextBox 28"/>
          <p:cNvSpPr txBox="1"/>
          <p:nvPr/>
        </p:nvSpPr>
        <p:spPr>
          <a:xfrm>
            <a:off x="365760"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Framework</a:t>
            </a:r>
          </a:p>
        </p:txBody>
      </p:sp>
      <p:sp>
        <p:nvSpPr>
          <p:cNvPr id="30" name="TextBox 29"/>
          <p:cNvSpPr txBox="1"/>
          <p:nvPr/>
        </p:nvSpPr>
        <p:spPr>
          <a:xfrm>
            <a:off x="365760"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LangChain +</a:t>
            </a:r>
            <a:br/>
            <a:r>
              <a:t>LangGraph</a:t>
            </a:r>
          </a:p>
        </p:txBody>
      </p:sp>
      <p:sp>
        <p:nvSpPr>
          <p:cNvPr id="31" name="TextBox 30"/>
          <p:cNvSpPr txBox="1"/>
          <p:nvPr/>
        </p:nvSpPr>
        <p:spPr>
          <a:xfrm>
            <a:off x="2240279"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Observability</a:t>
            </a:r>
          </a:p>
        </p:txBody>
      </p:sp>
      <p:sp>
        <p:nvSpPr>
          <p:cNvPr id="32" name="TextBox 31"/>
          <p:cNvSpPr txBox="1"/>
          <p:nvPr/>
        </p:nvSpPr>
        <p:spPr>
          <a:xfrm>
            <a:off x="2240279"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LangSmith traces</a:t>
            </a:r>
            <a:br/>
            <a:r>
              <a:t>+ debugging</a:t>
            </a:r>
          </a:p>
        </p:txBody>
      </p:sp>
      <p:sp>
        <p:nvSpPr>
          <p:cNvPr id="33" name="TextBox 32"/>
          <p:cNvSpPr txBox="1"/>
          <p:nvPr/>
        </p:nvSpPr>
        <p:spPr>
          <a:xfrm>
            <a:off x="4114799"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Scale</a:t>
            </a:r>
          </a:p>
        </p:txBody>
      </p:sp>
      <p:sp>
        <p:nvSpPr>
          <p:cNvPr id="34" name="TextBox 33"/>
          <p:cNvSpPr txBox="1"/>
          <p:nvPr/>
        </p:nvSpPr>
        <p:spPr>
          <a:xfrm>
            <a:off x="4114799"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15K emails/day</a:t>
            </a:r>
            <a:br/>
            <a:r>
              <a:t>5.5K orders/day</a:t>
            </a:r>
          </a:p>
        </p:txBody>
      </p:sp>
      <p:sp>
        <p:nvSpPr>
          <p:cNvPr id="35" name="TextBox 34"/>
          <p:cNvSpPr txBox="1"/>
          <p:nvPr/>
        </p:nvSpPr>
        <p:spPr>
          <a:xfrm>
            <a:off x="5989319"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Integration</a:t>
            </a:r>
          </a:p>
        </p:txBody>
      </p:sp>
      <p:sp>
        <p:nvSpPr>
          <p:cNvPr id="36" name="TextBox 35"/>
          <p:cNvSpPr txBox="1"/>
          <p:nvPr/>
        </p:nvSpPr>
        <p:spPr>
          <a:xfrm>
            <a:off x="5989319"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Carrier booking</a:t>
            </a:r>
            <a:br/>
            <a:r>
              <a:t>+ TMS systems</a:t>
            </a:r>
          </a:p>
        </p:txBody>
      </p:sp>
      <p:sp>
        <p:nvSpPr>
          <p:cNvPr id="37" name="Rectangle 36"/>
          <p:cNvSpPr/>
          <p:nvPr/>
        </p:nvSpPr>
        <p:spPr>
          <a:xfrm>
            <a:off x="274320" y="5943600"/>
            <a:ext cx="3657600" cy="320040"/>
          </a:xfrm>
          <a:prstGeom prst="rect">
            <a:avLst/>
          </a:prstGeom>
          <a:solidFill>
            <a:srgbClr val="009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365760" y="5980176"/>
            <a:ext cx="3474720" cy="256032"/>
          </a:xfrm>
          <a:prstGeom prst="rect">
            <a:avLst/>
          </a:prstGeom>
          <a:noFill/>
        </p:spPr>
        <p:txBody>
          <a:bodyPr wrap="square">
            <a:spAutoFit/>
          </a:bodyPr>
          <a:lstStyle/>
          <a:p>
            <a:pPr algn="l">
              <a:spcAft>
                <a:spcPts val="200"/>
              </a:spcAft>
              <a:defRPr sz="650" b="1">
                <a:solidFill>
                  <a:srgbClr val="FFFFFF"/>
                </a:solidFill>
                <a:latin typeface="Calibri"/>
              </a:defRPr>
            </a:pPr>
            <a:r>
              <a:t>INDUSTRY: Supply Chain &amp; Logistics</a:t>
            </a:r>
          </a:p>
        </p:txBody>
      </p:sp>
      <p:sp>
        <p:nvSpPr>
          <p:cNvPr id="39" name="Rectangle 38"/>
          <p:cNvSpPr/>
          <p:nvPr/>
        </p:nvSpPr>
        <p:spPr>
          <a:xfrm>
            <a:off x="4114800" y="5943600"/>
            <a:ext cx="3657600" cy="320040"/>
          </a:xfrm>
          <a:prstGeom prst="rect">
            <a:avLst/>
          </a:prstGeom>
          <a:solidFill>
            <a:srgbClr val="008F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4206240" y="5980176"/>
            <a:ext cx="3474720" cy="256032"/>
          </a:xfrm>
          <a:prstGeom prst="rect">
            <a:avLst/>
          </a:prstGeom>
          <a:noFill/>
        </p:spPr>
        <p:txBody>
          <a:bodyPr wrap="square">
            <a:spAutoFit/>
          </a:bodyPr>
          <a:lstStyle/>
          <a:p>
            <a:pPr algn="l">
              <a:spcAft>
                <a:spcPts val="200"/>
              </a:spcAft>
              <a:defRPr sz="650" b="1">
                <a:solidFill>
                  <a:srgbClr val="FFFFFF"/>
                </a:solidFill>
                <a:latin typeface="Calibri"/>
              </a:defRPr>
            </a:pPr>
            <a:r>
              <a:t>AGENT TYPE: Employee Agent + Data Agent</a:t>
            </a:r>
          </a:p>
        </p:txBody>
      </p:sp>
      <p:pic>
        <p:nvPicPr>
          <p:cNvPr id="41" name="Picture 40" descr="image.jpg"/>
          <p:cNvPicPr>
            <a:picLocks noChangeAspect="1"/>
          </p:cNvPicPr>
          <p:nvPr/>
        </p:nvPicPr>
        <p:blipFill>
          <a:blip r:embed="rId2"/>
          <a:stretch>
            <a:fillRect/>
          </a:stretch>
        </p:blipFill>
        <p:spPr>
          <a:xfrm>
            <a:off x="8076895" y="0"/>
            <a:ext cx="4114800" cy="6858000"/>
          </a:xfrm>
          <a:prstGeom prst="rect">
            <a:avLst/>
          </a:prstGeom>
        </p:spPr>
      </p:pic>
      <p:sp>
        <p:nvSpPr>
          <p:cNvPr id="42" name="TextBox 41"/>
          <p:cNvSpPr txBox="1"/>
          <p:nvPr/>
        </p:nvSpPr>
        <p:spPr>
          <a:xfrm>
            <a:off x="274320" y="6492240"/>
            <a:ext cx="4572000" cy="274320"/>
          </a:xfrm>
          <a:prstGeom prst="rect">
            <a:avLst/>
          </a:prstGeom>
          <a:noFill/>
        </p:spPr>
        <p:txBody>
          <a:bodyPr wrap="square">
            <a:spAutoFit/>
          </a:bodyPr>
          <a:lstStyle/>
          <a:p>
            <a:pPr algn="l">
              <a:spcAft>
                <a:spcPts val="200"/>
              </a:spcAft>
              <a:defRPr sz="700" b="0">
                <a:solidFill>
                  <a:srgbClr val="888888"/>
                </a:solidFill>
                <a:latin typeface="Calibri"/>
              </a:defRPr>
            </a:pPr>
            <a:r>
              <a:t>Agentic AI Use Cases Across Industries | Confidential</a:t>
            </a:r>
          </a:p>
        </p:txBody>
      </p:sp>
      <p:sp>
        <p:nvSpPr>
          <p:cNvPr id="43" name="TextBox 42"/>
          <p:cNvSpPr txBox="1"/>
          <p:nvPr/>
        </p:nvSpPr>
        <p:spPr>
          <a:xfrm>
            <a:off x="11094415" y="6492240"/>
            <a:ext cx="822960" cy="274320"/>
          </a:xfrm>
          <a:prstGeom prst="rect">
            <a:avLst/>
          </a:prstGeom>
          <a:noFill/>
        </p:spPr>
        <p:txBody>
          <a:bodyPr wrap="square">
            <a:spAutoFit/>
          </a:bodyPr>
          <a:lstStyle/>
          <a:p>
            <a:pPr algn="r">
              <a:spcAft>
                <a:spcPts val="200"/>
              </a:spcAft>
              <a:defRPr sz="700" b="0">
                <a:solidFill>
                  <a:srgbClr val="888888"/>
                </a:solidFill>
                <a:latin typeface="Calibri"/>
              </a:defRPr>
            </a:pPr>
            <a:r>
              <a:t>19 / 46</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8076895" cy="6858000"/>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82880"/>
            <a:ext cx="7436815" cy="502920"/>
          </a:xfrm>
          <a:prstGeom prst="rect">
            <a:avLst/>
          </a:prstGeom>
          <a:noFill/>
        </p:spPr>
        <p:txBody>
          <a:bodyPr wrap="square">
            <a:spAutoFit/>
          </a:bodyPr>
          <a:lstStyle/>
          <a:p>
            <a:pPr algn="l">
              <a:spcAft>
                <a:spcPts val="200"/>
              </a:spcAft>
              <a:defRPr sz="2000" b="1">
                <a:solidFill>
                  <a:srgbClr val="FFFFFF"/>
                </a:solidFill>
                <a:latin typeface="Calibri"/>
              </a:defRPr>
            </a:pPr>
            <a:r>
              <a:t>UC12 | European 3PL — Autonomous Logistics Support</a:t>
            </a:r>
          </a:p>
        </p:txBody>
      </p:sp>
      <p:sp>
        <p:nvSpPr>
          <p:cNvPr id="4" name="Rectangle 3"/>
          <p:cNvSpPr/>
          <p:nvPr/>
        </p:nvSpPr>
        <p:spPr>
          <a:xfrm>
            <a:off x="365760" y="658368"/>
            <a:ext cx="1828800" cy="27432"/>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777240"/>
            <a:ext cx="1371600" cy="182880"/>
          </a:xfrm>
          <a:prstGeom prst="rect">
            <a:avLst/>
          </a:prstGeom>
          <a:noFill/>
        </p:spPr>
        <p:txBody>
          <a:bodyPr wrap="square">
            <a:spAutoFit/>
          </a:bodyPr>
          <a:lstStyle/>
          <a:p>
            <a:pPr algn="l">
              <a:spcAft>
                <a:spcPts val="200"/>
              </a:spcAft>
              <a:defRPr sz="800" b="1">
                <a:solidFill>
                  <a:srgbClr val="0A1628"/>
                </a:solidFill>
                <a:latin typeface="Calibri"/>
              </a:defRPr>
            </a:pPr>
            <a:r>
              <a:t>CHALLENGE</a:t>
            </a:r>
          </a:p>
        </p:txBody>
      </p:sp>
      <p:sp>
        <p:nvSpPr>
          <p:cNvPr id="6" name="TextBox 5"/>
          <p:cNvSpPr txBox="1"/>
          <p:nvPr/>
        </p:nvSpPr>
        <p:spPr>
          <a:xfrm>
            <a:off x="365760" y="960120"/>
            <a:ext cx="3520440" cy="1280160"/>
          </a:xfrm>
          <a:prstGeom prst="rect">
            <a:avLst/>
          </a:prstGeom>
          <a:noFill/>
        </p:spPr>
        <p:txBody>
          <a:bodyPr wrap="square">
            <a:spAutoFit/>
          </a:bodyPr>
          <a:lstStyle/>
          <a:p>
            <a:pPr algn="l">
              <a:spcAft>
                <a:spcPts val="200"/>
              </a:spcAft>
              <a:defRPr sz="750" b="0">
                <a:solidFill>
                  <a:srgbClr val="0A1628"/>
                </a:solidFill>
                <a:latin typeface="Calibri"/>
              </a:defRPr>
            </a:pPr>
            <a:r>
              <a:t>• 1,200+ support tickets per day (status, exceptions, escalations)</a:t>
            </a:r>
            <a:br/>
            <a:r>
              <a:t>• Average resolution time: 2-4 hours per ticket</a:t>
            </a:r>
            <a:br/>
            <a:r>
              <a:t>• 60% escalation rate to specialists for first-tier queries</a:t>
            </a:r>
            <a:br/>
            <a:r>
              <a:t>• $3.2M annual support cost with 50 FTEs + outsourced overflow</a:t>
            </a:r>
          </a:p>
        </p:txBody>
      </p:sp>
      <p:sp>
        <p:nvSpPr>
          <p:cNvPr id="7" name="TextBox 6"/>
          <p:cNvSpPr txBox="1"/>
          <p:nvPr/>
        </p:nvSpPr>
        <p:spPr>
          <a:xfrm>
            <a:off x="4023360" y="777240"/>
            <a:ext cx="1828800" cy="182880"/>
          </a:xfrm>
          <a:prstGeom prst="rect">
            <a:avLst/>
          </a:prstGeom>
          <a:noFill/>
        </p:spPr>
        <p:txBody>
          <a:bodyPr wrap="square">
            <a:spAutoFit/>
          </a:bodyPr>
          <a:lstStyle/>
          <a:p>
            <a:pPr algn="l">
              <a:spcAft>
                <a:spcPts val="200"/>
              </a:spcAft>
              <a:defRPr sz="800" b="1">
                <a:solidFill>
                  <a:srgbClr val="0A1628"/>
                </a:solidFill>
                <a:latin typeface="Calibri"/>
              </a:defRPr>
            </a:pPr>
            <a:r>
              <a:t>AGENTIC SOLUTION</a:t>
            </a:r>
          </a:p>
        </p:txBody>
      </p:sp>
      <p:sp>
        <p:nvSpPr>
          <p:cNvPr id="8" name="TextBox 7"/>
          <p:cNvSpPr txBox="1"/>
          <p:nvPr/>
        </p:nvSpPr>
        <p:spPr>
          <a:xfrm>
            <a:off x="4023360" y="960120"/>
            <a:ext cx="3520440" cy="1280160"/>
          </a:xfrm>
          <a:prstGeom prst="rect">
            <a:avLst/>
          </a:prstGeom>
          <a:noFill/>
        </p:spPr>
        <p:txBody>
          <a:bodyPr wrap="square">
            <a:spAutoFit/>
          </a:bodyPr>
          <a:lstStyle/>
          <a:p>
            <a:pPr algn="l">
              <a:spcAft>
                <a:spcPts val="200"/>
              </a:spcAft>
              <a:defRPr sz="750" b="0">
                <a:solidFill>
                  <a:srgbClr val="0A1628"/>
                </a:solidFill>
                <a:latin typeface="Calibri"/>
              </a:defRPr>
            </a:pPr>
            <a:r>
              <a:t>• Composite AI across 5 core systems: WMS, TMS, CRM, Accounting, Compliance</a:t>
            </a:r>
            <a:br/>
            <a:r>
              <a:t>• Predictive models flag high-risk shipments before exceptions occur</a:t>
            </a:r>
            <a:br/>
            <a:r>
              <a:t>• Agents autonomously answer 5 core question types</a:t>
            </a:r>
            <a:br/>
            <a:r>
              <a:t>• Rules engine enforces SLA policies and compliance gates</a:t>
            </a:r>
          </a:p>
        </p:txBody>
      </p:sp>
      <p:sp>
        <p:nvSpPr>
          <p:cNvPr id="9" name="Rectangle 8"/>
          <p:cNvSpPr/>
          <p:nvPr/>
        </p:nvSpPr>
        <p:spPr>
          <a:xfrm>
            <a:off x="365760"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65760"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99.2%</a:t>
            </a:r>
          </a:p>
        </p:txBody>
      </p:sp>
      <p:sp>
        <p:nvSpPr>
          <p:cNvPr id="11" name="TextBox 10"/>
          <p:cNvSpPr txBox="1"/>
          <p:nvPr/>
        </p:nvSpPr>
        <p:spPr>
          <a:xfrm>
            <a:off x="365760"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Autonomous ticket</a:t>
            </a:r>
            <a:br/>
            <a:r>
              <a:t>resolution</a:t>
            </a:r>
          </a:p>
        </p:txBody>
      </p:sp>
      <p:sp>
        <p:nvSpPr>
          <p:cNvPr id="12" name="Rectangle 11"/>
          <p:cNvSpPr/>
          <p:nvPr/>
        </p:nvSpPr>
        <p:spPr>
          <a:xfrm>
            <a:off x="2240279"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240279"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94 sec</a:t>
            </a:r>
          </a:p>
        </p:txBody>
      </p:sp>
      <p:sp>
        <p:nvSpPr>
          <p:cNvPr id="14" name="TextBox 13"/>
          <p:cNvSpPr txBox="1"/>
          <p:nvPr/>
        </p:nvSpPr>
        <p:spPr>
          <a:xfrm>
            <a:off x="2240279"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Average resolution</a:t>
            </a:r>
            <a:br/>
            <a:r>
              <a:t>(was 2-4 hours)</a:t>
            </a:r>
          </a:p>
        </p:txBody>
      </p:sp>
      <p:sp>
        <p:nvSpPr>
          <p:cNvPr id="15" name="Rectangle 14"/>
          <p:cNvSpPr/>
          <p:nvPr/>
        </p:nvSpPr>
        <p:spPr>
          <a:xfrm>
            <a:off x="4114799"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114799"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$980K</a:t>
            </a:r>
          </a:p>
        </p:txBody>
      </p:sp>
      <p:sp>
        <p:nvSpPr>
          <p:cNvPr id="17" name="TextBox 16"/>
          <p:cNvSpPr txBox="1"/>
          <p:nvPr/>
        </p:nvSpPr>
        <p:spPr>
          <a:xfrm>
            <a:off x="4114799"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Annual cost</a:t>
            </a:r>
            <a:br/>
            <a:r>
              <a:t>savings</a:t>
            </a:r>
          </a:p>
        </p:txBody>
      </p:sp>
      <p:sp>
        <p:nvSpPr>
          <p:cNvPr id="18" name="Rectangle 17"/>
          <p:cNvSpPr/>
          <p:nvPr/>
        </p:nvSpPr>
        <p:spPr>
          <a:xfrm>
            <a:off x="5989319"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989319"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52 → 78</a:t>
            </a:r>
          </a:p>
        </p:txBody>
      </p:sp>
      <p:sp>
        <p:nvSpPr>
          <p:cNvPr id="20" name="TextBox 19"/>
          <p:cNvSpPr txBox="1"/>
          <p:nvPr/>
        </p:nvSpPr>
        <p:spPr>
          <a:xfrm>
            <a:off x="5989319"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NPS score</a:t>
            </a:r>
            <a:br/>
            <a:r>
              <a:t>improvement</a:t>
            </a:r>
          </a:p>
        </p:txBody>
      </p:sp>
      <p:sp>
        <p:nvSpPr>
          <p:cNvPr id="21" name="TextBox 20"/>
          <p:cNvSpPr txBox="1"/>
          <p:nvPr/>
        </p:nvSpPr>
        <p:spPr>
          <a:xfrm>
            <a:off x="365760" y="3246120"/>
            <a:ext cx="1828800" cy="182880"/>
          </a:xfrm>
          <a:prstGeom prst="rect">
            <a:avLst/>
          </a:prstGeom>
          <a:noFill/>
        </p:spPr>
        <p:txBody>
          <a:bodyPr wrap="square">
            <a:spAutoFit/>
          </a:bodyPr>
          <a:lstStyle/>
          <a:p>
            <a:pPr algn="l">
              <a:spcAft>
                <a:spcPts val="200"/>
              </a:spcAft>
              <a:defRPr sz="800" b="1">
                <a:solidFill>
                  <a:srgbClr val="0A1628"/>
                </a:solidFill>
                <a:latin typeface="Calibri"/>
              </a:defRPr>
            </a:pPr>
            <a:r>
              <a:t>HOW IT WORKS</a:t>
            </a:r>
          </a:p>
        </p:txBody>
      </p:sp>
      <p:sp>
        <p:nvSpPr>
          <p:cNvPr id="22" name="TextBox 21"/>
          <p:cNvSpPr txBox="1"/>
          <p:nvPr/>
        </p:nvSpPr>
        <p:spPr>
          <a:xfrm>
            <a:off x="365760" y="3429000"/>
            <a:ext cx="7436815" cy="594360"/>
          </a:xfrm>
          <a:prstGeom prst="rect">
            <a:avLst/>
          </a:prstGeom>
          <a:noFill/>
        </p:spPr>
        <p:txBody>
          <a:bodyPr wrap="square">
            <a:spAutoFit/>
          </a:bodyPr>
          <a:lstStyle/>
          <a:p>
            <a:pPr algn="l">
              <a:spcAft>
                <a:spcPts val="200"/>
              </a:spcAft>
              <a:defRPr sz="700" b="0">
                <a:solidFill>
                  <a:srgbClr val="0A1628"/>
                </a:solidFill>
                <a:latin typeface="Calibri"/>
              </a:defRPr>
            </a:pPr>
            <a:r>
              <a:t>→ Unified data layer: real-time sync across WMS, TMS, CRM, Accounting, Compliance</a:t>
            </a:r>
            <a:br/>
            <a:r>
              <a:t>→ Predictive layer: flag high-risk shipments before they fail</a:t>
            </a:r>
            <a:br/>
            <a:r>
              <a:t>→ Agentic layer: autonomous resolution of 5 question types (WISMB, cost, changes, exceptions, balance)</a:t>
            </a:r>
            <a:br/>
            <a:r>
              <a:t>→ Rules engine: hard policies, compliance gates, SLA-based routing</a:t>
            </a:r>
          </a:p>
        </p:txBody>
      </p:sp>
      <p:sp>
        <p:nvSpPr>
          <p:cNvPr id="23" name="TextBox 22"/>
          <p:cNvSpPr txBox="1"/>
          <p:nvPr/>
        </p:nvSpPr>
        <p:spPr>
          <a:xfrm>
            <a:off x="365760" y="4069080"/>
            <a:ext cx="3200400" cy="182880"/>
          </a:xfrm>
          <a:prstGeom prst="rect">
            <a:avLst/>
          </a:prstGeom>
          <a:noFill/>
        </p:spPr>
        <p:txBody>
          <a:bodyPr wrap="square">
            <a:spAutoFit/>
          </a:bodyPr>
          <a:lstStyle/>
          <a:p>
            <a:pPr algn="l">
              <a:spcAft>
                <a:spcPts val="200"/>
              </a:spcAft>
              <a:defRPr sz="750" b="1">
                <a:solidFill>
                  <a:srgbClr val="0A1628"/>
                </a:solidFill>
                <a:latin typeface="Calibri"/>
              </a:defRPr>
            </a:pPr>
            <a:r>
              <a:t>AGENT ARCHITECTURE</a:t>
            </a:r>
          </a:p>
        </p:txBody>
      </p:sp>
      <p:sp>
        <p:nvSpPr>
          <p:cNvPr id="24" name="TextBox 23"/>
          <p:cNvSpPr txBox="1"/>
          <p:nvPr/>
        </p:nvSpPr>
        <p:spPr>
          <a:xfrm>
            <a:off x="365760" y="4251960"/>
            <a:ext cx="3520440" cy="777240"/>
          </a:xfrm>
          <a:prstGeom prst="rect">
            <a:avLst/>
          </a:prstGeom>
          <a:noFill/>
        </p:spPr>
        <p:txBody>
          <a:bodyPr wrap="square">
            <a:spAutoFit/>
          </a:bodyPr>
          <a:lstStyle/>
          <a:p>
            <a:pPr algn="l">
              <a:spcAft>
                <a:spcPts val="200"/>
              </a:spcAft>
              <a:defRPr sz="700" b="0">
                <a:solidFill>
                  <a:srgbClr val="0A1628"/>
                </a:solidFill>
                <a:latin typeface="Calibri"/>
              </a:defRPr>
            </a:pPr>
            <a:r>
              <a:t>• 4-phase build: data integration → predictive → agentic → rules</a:t>
            </a:r>
            <a:br/>
            <a:r>
              <a:t>• Unified customer/shipment record (single source of truth)</a:t>
            </a:r>
            <a:br/>
            <a:r>
              <a:t>• Escalation paths: pricing → account mgrs, compliance → team, VIP → CS</a:t>
            </a:r>
          </a:p>
        </p:txBody>
      </p:sp>
      <p:sp>
        <p:nvSpPr>
          <p:cNvPr id="25" name="TextBox 24"/>
          <p:cNvSpPr txBox="1"/>
          <p:nvPr/>
        </p:nvSpPr>
        <p:spPr>
          <a:xfrm>
            <a:off x="4023360" y="4069080"/>
            <a:ext cx="3200400" cy="182880"/>
          </a:xfrm>
          <a:prstGeom prst="rect">
            <a:avLst/>
          </a:prstGeom>
          <a:noFill/>
        </p:spPr>
        <p:txBody>
          <a:bodyPr wrap="square">
            <a:spAutoFit/>
          </a:bodyPr>
          <a:lstStyle/>
          <a:p>
            <a:pPr algn="l">
              <a:spcAft>
                <a:spcPts val="200"/>
              </a:spcAft>
              <a:defRPr sz="750" b="1">
                <a:solidFill>
                  <a:srgbClr val="0A1628"/>
                </a:solidFill>
                <a:latin typeface="Calibri"/>
              </a:defRPr>
            </a:pPr>
            <a:r>
              <a:t>GOVERNANCE &amp; COMPLIANCE</a:t>
            </a:r>
          </a:p>
        </p:txBody>
      </p:sp>
      <p:sp>
        <p:nvSpPr>
          <p:cNvPr id="26" name="TextBox 25"/>
          <p:cNvSpPr txBox="1"/>
          <p:nvPr/>
        </p:nvSpPr>
        <p:spPr>
          <a:xfrm>
            <a:off x="4023360" y="4251960"/>
            <a:ext cx="3520440" cy="777240"/>
          </a:xfrm>
          <a:prstGeom prst="rect">
            <a:avLst/>
          </a:prstGeom>
          <a:noFill/>
        </p:spPr>
        <p:txBody>
          <a:bodyPr wrap="square">
            <a:spAutoFit/>
          </a:bodyPr>
          <a:lstStyle/>
          <a:p>
            <a:pPr algn="l">
              <a:spcAft>
                <a:spcPts val="200"/>
              </a:spcAft>
              <a:defRPr sz="700" b="0">
                <a:solidFill>
                  <a:srgbClr val="0A1628"/>
                </a:solidFill>
                <a:latin typeface="Calibri"/>
              </a:defRPr>
            </a:pPr>
            <a:r>
              <a:t>• Hard policies: no exceptions on strategic accounts, VP sign-off &gt;$100K</a:t>
            </a:r>
            <a:br/>
            <a:r>
              <a:t>• Compliance gates: sanctioned countries, hazmat documentation</a:t>
            </a:r>
            <a:br/>
            <a:r>
              <a:t>• SLA rules: premium = 2hr response, standard = 4hr</a:t>
            </a:r>
          </a:p>
        </p:txBody>
      </p:sp>
      <p:sp>
        <p:nvSpPr>
          <p:cNvPr id="27" name="Rectangle 26"/>
          <p:cNvSpPr/>
          <p:nvPr/>
        </p:nvSpPr>
        <p:spPr>
          <a:xfrm>
            <a:off x="274320" y="5074920"/>
            <a:ext cx="7619695" cy="77724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65760" y="5111496"/>
            <a:ext cx="1828800" cy="164592"/>
          </a:xfrm>
          <a:prstGeom prst="rect">
            <a:avLst/>
          </a:prstGeom>
          <a:noFill/>
        </p:spPr>
        <p:txBody>
          <a:bodyPr wrap="square">
            <a:spAutoFit/>
          </a:bodyPr>
          <a:lstStyle/>
          <a:p>
            <a:pPr algn="l">
              <a:spcAft>
                <a:spcPts val="200"/>
              </a:spcAft>
              <a:defRPr sz="750" b="1">
                <a:solidFill>
                  <a:srgbClr val="00C9A7"/>
                </a:solidFill>
                <a:latin typeface="Calibri"/>
              </a:defRPr>
            </a:pPr>
            <a:r>
              <a:t>TECHNOLOGY STACK</a:t>
            </a:r>
          </a:p>
        </p:txBody>
      </p:sp>
      <p:sp>
        <p:nvSpPr>
          <p:cNvPr id="29" name="TextBox 28"/>
          <p:cNvSpPr txBox="1"/>
          <p:nvPr/>
        </p:nvSpPr>
        <p:spPr>
          <a:xfrm>
            <a:off x="365760"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Systems</a:t>
            </a:r>
          </a:p>
        </p:txBody>
      </p:sp>
      <p:sp>
        <p:nvSpPr>
          <p:cNvPr id="30" name="TextBox 29"/>
          <p:cNvSpPr txBox="1"/>
          <p:nvPr/>
        </p:nvSpPr>
        <p:spPr>
          <a:xfrm>
            <a:off x="365760"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WMS + TMS + CRM</a:t>
            </a:r>
            <a:br/>
            <a:r>
              <a:t>+ Accounting</a:t>
            </a:r>
          </a:p>
        </p:txBody>
      </p:sp>
      <p:sp>
        <p:nvSpPr>
          <p:cNvPr id="31" name="TextBox 30"/>
          <p:cNvSpPr txBox="1"/>
          <p:nvPr/>
        </p:nvSpPr>
        <p:spPr>
          <a:xfrm>
            <a:off x="2240279"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Predictive</a:t>
            </a:r>
          </a:p>
        </p:txBody>
      </p:sp>
      <p:sp>
        <p:nvSpPr>
          <p:cNvPr id="32" name="TextBox 31"/>
          <p:cNvSpPr txBox="1"/>
          <p:nvPr/>
        </p:nvSpPr>
        <p:spPr>
          <a:xfrm>
            <a:off x="2240279"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Exception pattern</a:t>
            </a:r>
            <a:br/>
            <a:r>
              <a:t>forecasting</a:t>
            </a:r>
          </a:p>
        </p:txBody>
      </p:sp>
      <p:sp>
        <p:nvSpPr>
          <p:cNvPr id="33" name="TextBox 32"/>
          <p:cNvSpPr txBox="1"/>
          <p:nvPr/>
        </p:nvSpPr>
        <p:spPr>
          <a:xfrm>
            <a:off x="4114799"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Resolution</a:t>
            </a:r>
          </a:p>
        </p:txBody>
      </p:sp>
      <p:sp>
        <p:nvSpPr>
          <p:cNvPr id="34" name="TextBox 33"/>
          <p:cNvSpPr txBox="1"/>
          <p:nvPr/>
        </p:nvSpPr>
        <p:spPr>
          <a:xfrm>
            <a:off x="4114799"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5 question types</a:t>
            </a:r>
            <a:br/>
            <a:r>
              <a:t>autonomous</a:t>
            </a:r>
          </a:p>
        </p:txBody>
      </p:sp>
      <p:sp>
        <p:nvSpPr>
          <p:cNvPr id="35" name="TextBox 34"/>
          <p:cNvSpPr txBox="1"/>
          <p:nvPr/>
        </p:nvSpPr>
        <p:spPr>
          <a:xfrm>
            <a:off x="5989319"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Rules</a:t>
            </a:r>
          </a:p>
        </p:txBody>
      </p:sp>
      <p:sp>
        <p:nvSpPr>
          <p:cNvPr id="36" name="TextBox 35"/>
          <p:cNvSpPr txBox="1"/>
          <p:nvPr/>
        </p:nvSpPr>
        <p:spPr>
          <a:xfrm>
            <a:off x="5989319"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SLA + compliance</a:t>
            </a:r>
            <a:br/>
            <a:r>
              <a:t>policy engine</a:t>
            </a:r>
          </a:p>
        </p:txBody>
      </p:sp>
      <p:sp>
        <p:nvSpPr>
          <p:cNvPr id="37" name="Rectangle 36"/>
          <p:cNvSpPr/>
          <p:nvPr/>
        </p:nvSpPr>
        <p:spPr>
          <a:xfrm>
            <a:off x="274320" y="5943600"/>
            <a:ext cx="3657600" cy="320040"/>
          </a:xfrm>
          <a:prstGeom prst="rect">
            <a:avLst/>
          </a:prstGeom>
          <a:solidFill>
            <a:srgbClr val="009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365760" y="5980176"/>
            <a:ext cx="3474720" cy="256032"/>
          </a:xfrm>
          <a:prstGeom prst="rect">
            <a:avLst/>
          </a:prstGeom>
          <a:noFill/>
        </p:spPr>
        <p:txBody>
          <a:bodyPr wrap="square">
            <a:spAutoFit/>
          </a:bodyPr>
          <a:lstStyle/>
          <a:p>
            <a:pPr algn="l">
              <a:spcAft>
                <a:spcPts val="200"/>
              </a:spcAft>
              <a:defRPr sz="650" b="1">
                <a:solidFill>
                  <a:srgbClr val="FFFFFF"/>
                </a:solidFill>
                <a:latin typeface="Calibri"/>
              </a:defRPr>
            </a:pPr>
            <a:r>
              <a:t>INDUSTRY: Supply Chain &amp; Logistics</a:t>
            </a:r>
          </a:p>
        </p:txBody>
      </p:sp>
      <p:sp>
        <p:nvSpPr>
          <p:cNvPr id="39" name="Rectangle 38"/>
          <p:cNvSpPr/>
          <p:nvPr/>
        </p:nvSpPr>
        <p:spPr>
          <a:xfrm>
            <a:off x="4114800" y="5943600"/>
            <a:ext cx="3657600" cy="320040"/>
          </a:xfrm>
          <a:prstGeom prst="rect">
            <a:avLst/>
          </a:prstGeom>
          <a:solidFill>
            <a:srgbClr val="008F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4206240" y="5980176"/>
            <a:ext cx="3474720" cy="256032"/>
          </a:xfrm>
          <a:prstGeom prst="rect">
            <a:avLst/>
          </a:prstGeom>
          <a:noFill/>
        </p:spPr>
        <p:txBody>
          <a:bodyPr wrap="square">
            <a:spAutoFit/>
          </a:bodyPr>
          <a:lstStyle/>
          <a:p>
            <a:pPr algn="l">
              <a:spcAft>
                <a:spcPts val="200"/>
              </a:spcAft>
              <a:defRPr sz="650" b="1">
                <a:solidFill>
                  <a:srgbClr val="FFFFFF"/>
                </a:solidFill>
                <a:latin typeface="Calibri"/>
              </a:defRPr>
            </a:pPr>
            <a:r>
              <a:t>AGENT TYPE: Customer Agent + Data Agent</a:t>
            </a:r>
          </a:p>
        </p:txBody>
      </p:sp>
      <p:pic>
        <p:nvPicPr>
          <p:cNvPr id="41" name="Picture 40" descr="image.jpg"/>
          <p:cNvPicPr>
            <a:picLocks noChangeAspect="1"/>
          </p:cNvPicPr>
          <p:nvPr/>
        </p:nvPicPr>
        <p:blipFill>
          <a:blip r:embed="rId2"/>
          <a:stretch>
            <a:fillRect/>
          </a:stretch>
        </p:blipFill>
        <p:spPr>
          <a:xfrm>
            <a:off x="8076895" y="0"/>
            <a:ext cx="4114800" cy="6858000"/>
          </a:xfrm>
          <a:prstGeom prst="rect">
            <a:avLst/>
          </a:prstGeom>
        </p:spPr>
      </p:pic>
      <p:sp>
        <p:nvSpPr>
          <p:cNvPr id="42" name="TextBox 41"/>
          <p:cNvSpPr txBox="1"/>
          <p:nvPr/>
        </p:nvSpPr>
        <p:spPr>
          <a:xfrm>
            <a:off x="274320" y="6492240"/>
            <a:ext cx="4572000" cy="274320"/>
          </a:xfrm>
          <a:prstGeom prst="rect">
            <a:avLst/>
          </a:prstGeom>
          <a:noFill/>
        </p:spPr>
        <p:txBody>
          <a:bodyPr wrap="square">
            <a:spAutoFit/>
          </a:bodyPr>
          <a:lstStyle/>
          <a:p>
            <a:pPr algn="l">
              <a:spcAft>
                <a:spcPts val="200"/>
              </a:spcAft>
              <a:defRPr sz="700" b="0">
                <a:solidFill>
                  <a:srgbClr val="888888"/>
                </a:solidFill>
                <a:latin typeface="Calibri"/>
              </a:defRPr>
            </a:pPr>
            <a:r>
              <a:t>Agentic AI Use Cases Across Industries | Confidential</a:t>
            </a:r>
          </a:p>
        </p:txBody>
      </p:sp>
      <p:sp>
        <p:nvSpPr>
          <p:cNvPr id="43" name="TextBox 42"/>
          <p:cNvSpPr txBox="1"/>
          <p:nvPr/>
        </p:nvSpPr>
        <p:spPr>
          <a:xfrm>
            <a:off x="11094415" y="6492240"/>
            <a:ext cx="822960" cy="274320"/>
          </a:xfrm>
          <a:prstGeom prst="rect">
            <a:avLst/>
          </a:prstGeom>
          <a:noFill/>
        </p:spPr>
        <p:txBody>
          <a:bodyPr wrap="square">
            <a:spAutoFit/>
          </a:bodyPr>
          <a:lstStyle/>
          <a:p>
            <a:pPr algn="r">
              <a:spcAft>
                <a:spcPts val="200"/>
              </a:spcAft>
              <a:defRPr sz="700" b="0">
                <a:solidFill>
                  <a:srgbClr val="888888"/>
                </a:solidFill>
                <a:latin typeface="Calibri"/>
              </a:defRPr>
            </a:pPr>
            <a:r>
              <a:t>20 / 46</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8076895" cy="6858000"/>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82880"/>
            <a:ext cx="7436815" cy="502920"/>
          </a:xfrm>
          <a:prstGeom prst="rect">
            <a:avLst/>
          </a:prstGeom>
          <a:noFill/>
        </p:spPr>
        <p:txBody>
          <a:bodyPr wrap="square">
            <a:spAutoFit/>
          </a:bodyPr>
          <a:lstStyle/>
          <a:p>
            <a:pPr algn="l">
              <a:spcAft>
                <a:spcPts val="200"/>
              </a:spcAft>
              <a:defRPr sz="2000" b="1">
                <a:solidFill>
                  <a:srgbClr val="FFFFFF"/>
                </a:solidFill>
                <a:latin typeface="Calibri"/>
              </a:defRPr>
            </a:pPr>
            <a:r>
              <a:t>UC13 | UNACEM — Industrial Logistics Agent</a:t>
            </a:r>
          </a:p>
        </p:txBody>
      </p:sp>
      <p:sp>
        <p:nvSpPr>
          <p:cNvPr id="4" name="Rectangle 3"/>
          <p:cNvSpPr/>
          <p:nvPr/>
        </p:nvSpPr>
        <p:spPr>
          <a:xfrm>
            <a:off x="365760" y="658368"/>
            <a:ext cx="1828800" cy="27432"/>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777240"/>
            <a:ext cx="1371600" cy="182880"/>
          </a:xfrm>
          <a:prstGeom prst="rect">
            <a:avLst/>
          </a:prstGeom>
          <a:noFill/>
        </p:spPr>
        <p:txBody>
          <a:bodyPr wrap="square">
            <a:spAutoFit/>
          </a:bodyPr>
          <a:lstStyle/>
          <a:p>
            <a:pPr algn="l">
              <a:spcAft>
                <a:spcPts val="200"/>
              </a:spcAft>
              <a:defRPr sz="800" b="1">
                <a:solidFill>
                  <a:srgbClr val="0A1628"/>
                </a:solidFill>
                <a:latin typeface="Calibri"/>
              </a:defRPr>
            </a:pPr>
            <a:r>
              <a:t>CHALLENGE</a:t>
            </a:r>
          </a:p>
        </p:txBody>
      </p:sp>
      <p:sp>
        <p:nvSpPr>
          <p:cNvPr id="6" name="TextBox 5"/>
          <p:cNvSpPr txBox="1"/>
          <p:nvPr/>
        </p:nvSpPr>
        <p:spPr>
          <a:xfrm>
            <a:off x="365760" y="960120"/>
            <a:ext cx="3520440" cy="1280160"/>
          </a:xfrm>
          <a:prstGeom prst="rect">
            <a:avLst/>
          </a:prstGeom>
          <a:noFill/>
        </p:spPr>
        <p:txBody>
          <a:bodyPr wrap="square">
            <a:spAutoFit/>
          </a:bodyPr>
          <a:lstStyle/>
          <a:p>
            <a:pPr algn="l">
              <a:spcAft>
                <a:spcPts val="200"/>
              </a:spcAft>
              <a:defRPr sz="750" b="0">
                <a:solidFill>
                  <a:srgbClr val="0A1628"/>
                </a:solidFill>
                <a:latin typeface="Calibri"/>
              </a:defRPr>
            </a:pPr>
            <a:r>
              <a:t>• Persistent logistics bottleneck at cement plant gates</a:t>
            </a:r>
            <a:br/>
            <a:r>
              <a:t>• Drivers waiting extended times for cement pickup</a:t>
            </a:r>
            <a:br/>
            <a:r>
              <a:t>• Operations span 5 countries with 40+ subsidiaries</a:t>
            </a:r>
            <a:br/>
            <a:r>
              <a:t>• Manual coordination across cement, aggregates, concrete, power</a:t>
            </a:r>
          </a:p>
        </p:txBody>
      </p:sp>
      <p:sp>
        <p:nvSpPr>
          <p:cNvPr id="7" name="TextBox 6"/>
          <p:cNvSpPr txBox="1"/>
          <p:nvPr/>
        </p:nvSpPr>
        <p:spPr>
          <a:xfrm>
            <a:off x="4023360" y="777240"/>
            <a:ext cx="1828800" cy="182880"/>
          </a:xfrm>
          <a:prstGeom prst="rect">
            <a:avLst/>
          </a:prstGeom>
          <a:noFill/>
        </p:spPr>
        <p:txBody>
          <a:bodyPr wrap="square">
            <a:spAutoFit/>
          </a:bodyPr>
          <a:lstStyle/>
          <a:p>
            <a:pPr algn="l">
              <a:spcAft>
                <a:spcPts val="200"/>
              </a:spcAft>
              <a:defRPr sz="800" b="1">
                <a:solidFill>
                  <a:srgbClr val="0A1628"/>
                </a:solidFill>
                <a:latin typeface="Calibri"/>
              </a:defRPr>
            </a:pPr>
            <a:r>
              <a:t>AGENTIC SOLUTION</a:t>
            </a:r>
          </a:p>
        </p:txBody>
      </p:sp>
      <p:sp>
        <p:nvSpPr>
          <p:cNvPr id="8" name="TextBox 7"/>
          <p:cNvSpPr txBox="1"/>
          <p:nvPr/>
        </p:nvSpPr>
        <p:spPr>
          <a:xfrm>
            <a:off x="4023360" y="960120"/>
            <a:ext cx="3520440" cy="1280160"/>
          </a:xfrm>
          <a:prstGeom prst="rect">
            <a:avLst/>
          </a:prstGeom>
          <a:noFill/>
        </p:spPr>
        <p:txBody>
          <a:bodyPr wrap="square">
            <a:spAutoFit/>
          </a:bodyPr>
          <a:lstStyle/>
          <a:p>
            <a:pPr algn="l">
              <a:spcAft>
                <a:spcPts val="200"/>
              </a:spcAft>
              <a:defRPr sz="750" b="0">
                <a:solidFill>
                  <a:srgbClr val="0A1628"/>
                </a:solidFill>
                <a:latin typeface="Calibri"/>
              </a:defRPr>
            </a:pPr>
            <a:r>
              <a:t>• Logistics agent exposed through WhatsApp for driver interaction</a:t>
            </a:r>
            <a:br/>
            <a:r>
              <a:t>• Agent plans, routes, reflects, and calls tools for multi-step work</a:t>
            </a:r>
            <a:br/>
            <a:r>
              <a:t>• Same architecture scales to IT support, procurement, help desk</a:t>
            </a:r>
            <a:br/>
            <a:r>
              <a:t>• Next: Ask Safety agent for EHS compliance and incident protocols</a:t>
            </a:r>
          </a:p>
        </p:txBody>
      </p:sp>
      <p:sp>
        <p:nvSpPr>
          <p:cNvPr id="9" name="Rectangle 8"/>
          <p:cNvSpPr/>
          <p:nvPr/>
        </p:nvSpPr>
        <p:spPr>
          <a:xfrm>
            <a:off x="365760"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65760"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40%</a:t>
            </a:r>
          </a:p>
        </p:txBody>
      </p:sp>
      <p:sp>
        <p:nvSpPr>
          <p:cNvPr id="11" name="TextBox 10"/>
          <p:cNvSpPr txBox="1"/>
          <p:nvPr/>
        </p:nvSpPr>
        <p:spPr>
          <a:xfrm>
            <a:off x="365760"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Driver wait</a:t>
            </a:r>
            <a:br/>
            <a:r>
              <a:t>time reduction</a:t>
            </a:r>
          </a:p>
        </p:txBody>
      </p:sp>
      <p:sp>
        <p:nvSpPr>
          <p:cNvPr id="12" name="Rectangle 11"/>
          <p:cNvSpPr/>
          <p:nvPr/>
        </p:nvSpPr>
        <p:spPr>
          <a:xfrm>
            <a:off x="2240279"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240279"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5</a:t>
            </a:r>
          </a:p>
        </p:txBody>
      </p:sp>
      <p:sp>
        <p:nvSpPr>
          <p:cNvPr id="14" name="TextBox 13"/>
          <p:cNvSpPr txBox="1"/>
          <p:nvPr/>
        </p:nvSpPr>
        <p:spPr>
          <a:xfrm>
            <a:off x="2240279"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Countries</a:t>
            </a:r>
            <a:br/>
            <a:r>
              <a:t>covered</a:t>
            </a:r>
          </a:p>
        </p:txBody>
      </p:sp>
      <p:sp>
        <p:nvSpPr>
          <p:cNvPr id="15" name="Rectangle 14"/>
          <p:cNvSpPr/>
          <p:nvPr/>
        </p:nvSpPr>
        <p:spPr>
          <a:xfrm>
            <a:off x="4114799"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114799"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40+</a:t>
            </a:r>
          </a:p>
        </p:txBody>
      </p:sp>
      <p:sp>
        <p:nvSpPr>
          <p:cNvPr id="17" name="TextBox 16"/>
          <p:cNvSpPr txBox="1"/>
          <p:nvPr/>
        </p:nvSpPr>
        <p:spPr>
          <a:xfrm>
            <a:off x="4114799"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Subsidiaries</a:t>
            </a:r>
            <a:br/>
            <a:r>
              <a:t>in network</a:t>
            </a:r>
          </a:p>
        </p:txBody>
      </p:sp>
      <p:sp>
        <p:nvSpPr>
          <p:cNvPr id="18" name="Rectangle 17"/>
          <p:cNvSpPr/>
          <p:nvPr/>
        </p:nvSpPr>
        <p:spPr>
          <a:xfrm>
            <a:off x="5989319"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989319"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Pipeline</a:t>
            </a:r>
          </a:p>
        </p:txBody>
      </p:sp>
      <p:sp>
        <p:nvSpPr>
          <p:cNvPr id="20" name="TextBox 19"/>
          <p:cNvSpPr txBox="1"/>
          <p:nvPr/>
        </p:nvSpPr>
        <p:spPr>
          <a:xfrm>
            <a:off x="5989319"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IT, procurement,</a:t>
            </a:r>
            <a:br/>
            <a:r>
              <a:t>safety agents next</a:t>
            </a:r>
          </a:p>
        </p:txBody>
      </p:sp>
      <p:sp>
        <p:nvSpPr>
          <p:cNvPr id="21" name="TextBox 20"/>
          <p:cNvSpPr txBox="1"/>
          <p:nvPr/>
        </p:nvSpPr>
        <p:spPr>
          <a:xfrm>
            <a:off x="365760" y="3246120"/>
            <a:ext cx="1828800" cy="182880"/>
          </a:xfrm>
          <a:prstGeom prst="rect">
            <a:avLst/>
          </a:prstGeom>
          <a:noFill/>
        </p:spPr>
        <p:txBody>
          <a:bodyPr wrap="square">
            <a:spAutoFit/>
          </a:bodyPr>
          <a:lstStyle/>
          <a:p>
            <a:pPr algn="l">
              <a:spcAft>
                <a:spcPts val="200"/>
              </a:spcAft>
              <a:defRPr sz="800" b="1">
                <a:solidFill>
                  <a:srgbClr val="0A1628"/>
                </a:solidFill>
                <a:latin typeface="Calibri"/>
              </a:defRPr>
            </a:pPr>
            <a:r>
              <a:t>HOW IT WORKS</a:t>
            </a:r>
          </a:p>
        </p:txBody>
      </p:sp>
      <p:sp>
        <p:nvSpPr>
          <p:cNvPr id="22" name="TextBox 21"/>
          <p:cNvSpPr txBox="1"/>
          <p:nvPr/>
        </p:nvSpPr>
        <p:spPr>
          <a:xfrm>
            <a:off x="365760" y="3429000"/>
            <a:ext cx="7436815" cy="594360"/>
          </a:xfrm>
          <a:prstGeom prst="rect">
            <a:avLst/>
          </a:prstGeom>
          <a:noFill/>
        </p:spPr>
        <p:txBody>
          <a:bodyPr wrap="square">
            <a:spAutoFit/>
          </a:bodyPr>
          <a:lstStyle/>
          <a:p>
            <a:pPr algn="l">
              <a:spcAft>
                <a:spcPts val="200"/>
              </a:spcAft>
              <a:defRPr sz="700" b="0">
                <a:solidFill>
                  <a:srgbClr val="0A1628"/>
                </a:solidFill>
                <a:latin typeface="Calibri"/>
              </a:defRPr>
            </a:pPr>
            <a:r>
              <a:t>→ Driver sends WhatsApp message to logistics agent</a:t>
            </a:r>
            <a:br/>
            <a:r>
              <a:t>→ Agent coordinates cement pickup scheduling and gate management</a:t>
            </a:r>
            <a:br/>
            <a:r>
              <a:t>→ Orchestrate handles multi-step tasks: plan, route, reflect, execute</a:t>
            </a:r>
            <a:br/>
            <a:r>
              <a:t>→ Same blueprint extends to procurement, IT access, help desk agents</a:t>
            </a:r>
          </a:p>
        </p:txBody>
      </p:sp>
      <p:sp>
        <p:nvSpPr>
          <p:cNvPr id="23" name="TextBox 22"/>
          <p:cNvSpPr txBox="1"/>
          <p:nvPr/>
        </p:nvSpPr>
        <p:spPr>
          <a:xfrm>
            <a:off x="365760" y="4069080"/>
            <a:ext cx="3200400" cy="182880"/>
          </a:xfrm>
          <a:prstGeom prst="rect">
            <a:avLst/>
          </a:prstGeom>
          <a:noFill/>
        </p:spPr>
        <p:txBody>
          <a:bodyPr wrap="square">
            <a:spAutoFit/>
          </a:bodyPr>
          <a:lstStyle/>
          <a:p>
            <a:pPr algn="l">
              <a:spcAft>
                <a:spcPts val="200"/>
              </a:spcAft>
              <a:defRPr sz="750" b="1">
                <a:solidFill>
                  <a:srgbClr val="0A1628"/>
                </a:solidFill>
                <a:latin typeface="Calibri"/>
              </a:defRPr>
            </a:pPr>
            <a:r>
              <a:t>AGENT ARCHITECTURE</a:t>
            </a:r>
          </a:p>
        </p:txBody>
      </p:sp>
      <p:sp>
        <p:nvSpPr>
          <p:cNvPr id="24" name="TextBox 23"/>
          <p:cNvSpPr txBox="1"/>
          <p:nvPr/>
        </p:nvSpPr>
        <p:spPr>
          <a:xfrm>
            <a:off x="365760" y="4251960"/>
            <a:ext cx="3520440" cy="777240"/>
          </a:xfrm>
          <a:prstGeom prst="rect">
            <a:avLst/>
          </a:prstGeom>
          <a:noFill/>
        </p:spPr>
        <p:txBody>
          <a:bodyPr wrap="square">
            <a:spAutoFit/>
          </a:bodyPr>
          <a:lstStyle/>
          <a:p>
            <a:pPr algn="l">
              <a:spcAft>
                <a:spcPts val="200"/>
              </a:spcAft>
              <a:defRPr sz="700" b="0">
                <a:solidFill>
                  <a:srgbClr val="0A1628"/>
                </a:solidFill>
                <a:latin typeface="Calibri"/>
              </a:defRPr>
            </a:pPr>
            <a:r>
              <a:t>• IBM watsonx Orchestrate for agent coordination</a:t>
            </a:r>
            <a:br/>
            <a:r>
              <a:t>• WhatsApp interface for familiar user experience</a:t>
            </a:r>
            <a:br/>
            <a:r>
              <a:t>• Multi-agent portfolio: logistics → IT → procurement → safety</a:t>
            </a:r>
            <a:br/>
            <a:r>
              <a:t>• Grounded in enterprise knowledge for responsible answers</a:t>
            </a:r>
          </a:p>
        </p:txBody>
      </p:sp>
      <p:sp>
        <p:nvSpPr>
          <p:cNvPr id="25" name="TextBox 24"/>
          <p:cNvSpPr txBox="1"/>
          <p:nvPr/>
        </p:nvSpPr>
        <p:spPr>
          <a:xfrm>
            <a:off x="4023360" y="4069080"/>
            <a:ext cx="3200400" cy="182880"/>
          </a:xfrm>
          <a:prstGeom prst="rect">
            <a:avLst/>
          </a:prstGeom>
          <a:noFill/>
        </p:spPr>
        <p:txBody>
          <a:bodyPr wrap="square">
            <a:spAutoFit/>
          </a:bodyPr>
          <a:lstStyle/>
          <a:p>
            <a:pPr algn="l">
              <a:spcAft>
                <a:spcPts val="200"/>
              </a:spcAft>
              <a:defRPr sz="750" b="1">
                <a:solidFill>
                  <a:srgbClr val="0A1628"/>
                </a:solidFill>
                <a:latin typeface="Calibri"/>
              </a:defRPr>
            </a:pPr>
            <a:r>
              <a:t>GOVERNANCE &amp; COMPLIANCE</a:t>
            </a:r>
          </a:p>
        </p:txBody>
      </p:sp>
      <p:sp>
        <p:nvSpPr>
          <p:cNvPr id="26" name="TextBox 25"/>
          <p:cNvSpPr txBox="1"/>
          <p:nvPr/>
        </p:nvSpPr>
        <p:spPr>
          <a:xfrm>
            <a:off x="4023360" y="4251960"/>
            <a:ext cx="3520440" cy="777240"/>
          </a:xfrm>
          <a:prstGeom prst="rect">
            <a:avLst/>
          </a:prstGeom>
          <a:noFill/>
        </p:spPr>
        <p:txBody>
          <a:bodyPr wrap="square">
            <a:spAutoFit/>
          </a:bodyPr>
          <a:lstStyle/>
          <a:p>
            <a:pPr algn="l">
              <a:spcAft>
                <a:spcPts val="200"/>
              </a:spcAft>
              <a:defRPr sz="700" b="0">
                <a:solidFill>
                  <a:srgbClr val="0A1628"/>
                </a:solidFill>
                <a:latin typeface="Calibri"/>
              </a:defRPr>
            </a:pPr>
            <a:r>
              <a:t>• Orchestrate enforces governance, lineage, and grounded answers</a:t>
            </a:r>
            <a:br/>
            <a:r>
              <a:t>• Open integration fabric works across hybrid estates</a:t>
            </a:r>
            <a:br/>
            <a:r>
              <a:t>• Ask Safety agent: PPE, machinery protocols, incident reporting</a:t>
            </a:r>
          </a:p>
        </p:txBody>
      </p:sp>
      <p:sp>
        <p:nvSpPr>
          <p:cNvPr id="27" name="Rectangle 26"/>
          <p:cNvSpPr/>
          <p:nvPr/>
        </p:nvSpPr>
        <p:spPr>
          <a:xfrm>
            <a:off x="274320" y="5074920"/>
            <a:ext cx="7619695" cy="77724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65760" y="5111496"/>
            <a:ext cx="1828800" cy="164592"/>
          </a:xfrm>
          <a:prstGeom prst="rect">
            <a:avLst/>
          </a:prstGeom>
          <a:noFill/>
        </p:spPr>
        <p:txBody>
          <a:bodyPr wrap="square">
            <a:spAutoFit/>
          </a:bodyPr>
          <a:lstStyle/>
          <a:p>
            <a:pPr algn="l">
              <a:spcAft>
                <a:spcPts val="200"/>
              </a:spcAft>
              <a:defRPr sz="750" b="1">
                <a:solidFill>
                  <a:srgbClr val="00C9A7"/>
                </a:solidFill>
                <a:latin typeface="Calibri"/>
              </a:defRPr>
            </a:pPr>
            <a:r>
              <a:t>TECHNOLOGY STACK</a:t>
            </a:r>
          </a:p>
        </p:txBody>
      </p:sp>
      <p:sp>
        <p:nvSpPr>
          <p:cNvPr id="29" name="TextBox 28"/>
          <p:cNvSpPr txBox="1"/>
          <p:nvPr/>
        </p:nvSpPr>
        <p:spPr>
          <a:xfrm>
            <a:off x="365760"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Platform</a:t>
            </a:r>
          </a:p>
        </p:txBody>
      </p:sp>
      <p:sp>
        <p:nvSpPr>
          <p:cNvPr id="30" name="TextBox 29"/>
          <p:cNvSpPr txBox="1"/>
          <p:nvPr/>
        </p:nvSpPr>
        <p:spPr>
          <a:xfrm>
            <a:off x="365760"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IBM watsonx</a:t>
            </a:r>
            <a:br/>
            <a:r>
              <a:t>Orchestrate</a:t>
            </a:r>
          </a:p>
        </p:txBody>
      </p:sp>
      <p:sp>
        <p:nvSpPr>
          <p:cNvPr id="31" name="TextBox 30"/>
          <p:cNvSpPr txBox="1"/>
          <p:nvPr/>
        </p:nvSpPr>
        <p:spPr>
          <a:xfrm>
            <a:off x="2240279"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Interface</a:t>
            </a:r>
          </a:p>
        </p:txBody>
      </p:sp>
      <p:sp>
        <p:nvSpPr>
          <p:cNvPr id="32" name="TextBox 31"/>
          <p:cNvSpPr txBox="1"/>
          <p:nvPr/>
        </p:nvSpPr>
        <p:spPr>
          <a:xfrm>
            <a:off x="2240279"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WhatsApp</a:t>
            </a:r>
            <a:br/>
            <a:r>
              <a:t>messaging</a:t>
            </a:r>
          </a:p>
        </p:txBody>
      </p:sp>
      <p:sp>
        <p:nvSpPr>
          <p:cNvPr id="33" name="TextBox 32"/>
          <p:cNvSpPr txBox="1"/>
          <p:nvPr/>
        </p:nvSpPr>
        <p:spPr>
          <a:xfrm>
            <a:off x="4114799"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Scale</a:t>
            </a:r>
          </a:p>
        </p:txBody>
      </p:sp>
      <p:sp>
        <p:nvSpPr>
          <p:cNvPr id="34" name="TextBox 33"/>
          <p:cNvSpPr txBox="1"/>
          <p:nvPr/>
        </p:nvSpPr>
        <p:spPr>
          <a:xfrm>
            <a:off x="4114799"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5 countries</a:t>
            </a:r>
            <a:br/>
            <a:r>
              <a:t>40+ subsidiaries</a:t>
            </a:r>
          </a:p>
        </p:txBody>
      </p:sp>
      <p:sp>
        <p:nvSpPr>
          <p:cNvPr id="35" name="TextBox 34"/>
          <p:cNvSpPr txBox="1"/>
          <p:nvPr/>
        </p:nvSpPr>
        <p:spPr>
          <a:xfrm>
            <a:off x="5989319"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Next</a:t>
            </a:r>
          </a:p>
        </p:txBody>
      </p:sp>
      <p:sp>
        <p:nvSpPr>
          <p:cNvPr id="36" name="TextBox 35"/>
          <p:cNvSpPr txBox="1"/>
          <p:nvPr/>
        </p:nvSpPr>
        <p:spPr>
          <a:xfrm>
            <a:off x="5989319"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EHS Safety</a:t>
            </a:r>
            <a:br/>
            <a:r>
              <a:t>Agent pipeline</a:t>
            </a:r>
          </a:p>
        </p:txBody>
      </p:sp>
      <p:sp>
        <p:nvSpPr>
          <p:cNvPr id="37" name="Rectangle 36"/>
          <p:cNvSpPr/>
          <p:nvPr/>
        </p:nvSpPr>
        <p:spPr>
          <a:xfrm>
            <a:off x="274320" y="5943600"/>
            <a:ext cx="3657600" cy="320040"/>
          </a:xfrm>
          <a:prstGeom prst="rect">
            <a:avLst/>
          </a:prstGeom>
          <a:solidFill>
            <a:srgbClr val="009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365760" y="5980176"/>
            <a:ext cx="3474720" cy="256032"/>
          </a:xfrm>
          <a:prstGeom prst="rect">
            <a:avLst/>
          </a:prstGeom>
          <a:noFill/>
        </p:spPr>
        <p:txBody>
          <a:bodyPr wrap="square">
            <a:spAutoFit/>
          </a:bodyPr>
          <a:lstStyle/>
          <a:p>
            <a:pPr algn="l">
              <a:spcAft>
                <a:spcPts val="200"/>
              </a:spcAft>
              <a:defRPr sz="650" b="1">
                <a:solidFill>
                  <a:srgbClr val="FFFFFF"/>
                </a:solidFill>
                <a:latin typeface="Calibri"/>
              </a:defRPr>
            </a:pPr>
            <a:r>
              <a:t>INDUSTRY: Supply Chain &amp; Logistics</a:t>
            </a:r>
          </a:p>
        </p:txBody>
      </p:sp>
      <p:sp>
        <p:nvSpPr>
          <p:cNvPr id="39" name="Rectangle 38"/>
          <p:cNvSpPr/>
          <p:nvPr/>
        </p:nvSpPr>
        <p:spPr>
          <a:xfrm>
            <a:off x="4114800" y="5943600"/>
            <a:ext cx="3657600" cy="320040"/>
          </a:xfrm>
          <a:prstGeom prst="rect">
            <a:avLst/>
          </a:prstGeom>
          <a:solidFill>
            <a:srgbClr val="008F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4206240" y="5980176"/>
            <a:ext cx="3474720" cy="256032"/>
          </a:xfrm>
          <a:prstGeom prst="rect">
            <a:avLst/>
          </a:prstGeom>
          <a:noFill/>
        </p:spPr>
        <p:txBody>
          <a:bodyPr wrap="square">
            <a:spAutoFit/>
          </a:bodyPr>
          <a:lstStyle/>
          <a:p>
            <a:pPr algn="l">
              <a:spcAft>
                <a:spcPts val="200"/>
              </a:spcAft>
              <a:defRPr sz="650" b="1">
                <a:solidFill>
                  <a:srgbClr val="FFFFFF"/>
                </a:solidFill>
                <a:latin typeface="Calibri"/>
              </a:defRPr>
            </a:pPr>
            <a:r>
              <a:t>AGENT TYPE: Employee Agent</a:t>
            </a:r>
          </a:p>
        </p:txBody>
      </p:sp>
      <p:pic>
        <p:nvPicPr>
          <p:cNvPr id="41" name="Picture 40" descr="image.jpg"/>
          <p:cNvPicPr>
            <a:picLocks noChangeAspect="1"/>
          </p:cNvPicPr>
          <p:nvPr/>
        </p:nvPicPr>
        <p:blipFill>
          <a:blip r:embed="rId2"/>
          <a:stretch>
            <a:fillRect/>
          </a:stretch>
        </p:blipFill>
        <p:spPr>
          <a:xfrm>
            <a:off x="8076895" y="0"/>
            <a:ext cx="4114800" cy="6858000"/>
          </a:xfrm>
          <a:prstGeom prst="rect">
            <a:avLst/>
          </a:prstGeom>
        </p:spPr>
      </p:pic>
      <p:sp>
        <p:nvSpPr>
          <p:cNvPr id="42" name="TextBox 41"/>
          <p:cNvSpPr txBox="1"/>
          <p:nvPr/>
        </p:nvSpPr>
        <p:spPr>
          <a:xfrm>
            <a:off x="274320" y="6492240"/>
            <a:ext cx="4572000" cy="274320"/>
          </a:xfrm>
          <a:prstGeom prst="rect">
            <a:avLst/>
          </a:prstGeom>
          <a:noFill/>
        </p:spPr>
        <p:txBody>
          <a:bodyPr wrap="square">
            <a:spAutoFit/>
          </a:bodyPr>
          <a:lstStyle/>
          <a:p>
            <a:pPr algn="l">
              <a:spcAft>
                <a:spcPts val="200"/>
              </a:spcAft>
              <a:defRPr sz="700" b="0">
                <a:solidFill>
                  <a:srgbClr val="888888"/>
                </a:solidFill>
                <a:latin typeface="Calibri"/>
              </a:defRPr>
            </a:pPr>
            <a:r>
              <a:t>Agentic AI Use Cases Across Industries | Confidential</a:t>
            </a:r>
          </a:p>
        </p:txBody>
      </p:sp>
      <p:sp>
        <p:nvSpPr>
          <p:cNvPr id="43" name="TextBox 42"/>
          <p:cNvSpPr txBox="1"/>
          <p:nvPr/>
        </p:nvSpPr>
        <p:spPr>
          <a:xfrm>
            <a:off x="11094415" y="6492240"/>
            <a:ext cx="822960" cy="274320"/>
          </a:xfrm>
          <a:prstGeom prst="rect">
            <a:avLst/>
          </a:prstGeom>
          <a:noFill/>
        </p:spPr>
        <p:txBody>
          <a:bodyPr wrap="square">
            <a:spAutoFit/>
          </a:bodyPr>
          <a:lstStyle/>
          <a:p>
            <a:pPr algn="r">
              <a:spcAft>
                <a:spcPts val="200"/>
              </a:spcAft>
              <a:defRPr sz="700" b="0">
                <a:solidFill>
                  <a:srgbClr val="888888"/>
                </a:solidFill>
                <a:latin typeface="Calibri"/>
              </a:defRPr>
            </a:pPr>
            <a:r>
              <a:t>21 / 46</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2743200"/>
            <a:ext cx="12191695" cy="54864"/>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371600"/>
            <a:ext cx="1097280" cy="731520"/>
          </a:xfrm>
          <a:prstGeom prst="rect">
            <a:avLst/>
          </a:prstGeom>
          <a:noFill/>
        </p:spPr>
        <p:txBody>
          <a:bodyPr wrap="square">
            <a:spAutoFit/>
          </a:bodyPr>
          <a:lstStyle/>
          <a:p>
            <a:pPr algn="l">
              <a:spcAft>
                <a:spcPts val="200"/>
              </a:spcAft>
              <a:defRPr sz="5600" b="1">
                <a:solidFill>
                  <a:srgbClr val="00C9A7"/>
                </a:solidFill>
                <a:latin typeface="Calibri"/>
              </a:defRPr>
            </a:pPr>
            <a:r>
              <a:t>04</a:t>
            </a:r>
          </a:p>
        </p:txBody>
      </p:sp>
      <p:sp>
        <p:nvSpPr>
          <p:cNvPr id="5" name="TextBox 4"/>
          <p:cNvSpPr txBox="1"/>
          <p:nvPr/>
        </p:nvSpPr>
        <p:spPr>
          <a:xfrm>
            <a:off x="2011680" y="1645920"/>
            <a:ext cx="5486400" cy="731520"/>
          </a:xfrm>
          <a:prstGeom prst="rect">
            <a:avLst/>
          </a:prstGeom>
          <a:noFill/>
        </p:spPr>
        <p:txBody>
          <a:bodyPr wrap="square">
            <a:spAutoFit/>
          </a:bodyPr>
          <a:lstStyle/>
          <a:p>
            <a:pPr algn="l">
              <a:spcAft>
                <a:spcPts val="200"/>
              </a:spcAft>
              <a:defRPr sz="3600" b="1">
                <a:solidFill>
                  <a:srgbClr val="FFFFFF"/>
                </a:solidFill>
                <a:latin typeface="Calibri"/>
              </a:defRPr>
            </a:pPr>
            <a:r>
              <a:t>Manufacturing</a:t>
            </a:r>
          </a:p>
        </p:txBody>
      </p:sp>
      <p:sp>
        <p:nvSpPr>
          <p:cNvPr id="6" name="TextBox 5"/>
          <p:cNvSpPr txBox="1"/>
          <p:nvPr/>
        </p:nvSpPr>
        <p:spPr>
          <a:xfrm>
            <a:off x="2011680" y="3017520"/>
            <a:ext cx="5486400" cy="457200"/>
          </a:xfrm>
          <a:prstGeom prst="rect">
            <a:avLst/>
          </a:prstGeom>
          <a:noFill/>
        </p:spPr>
        <p:txBody>
          <a:bodyPr wrap="square">
            <a:spAutoFit/>
          </a:bodyPr>
          <a:lstStyle/>
          <a:p>
            <a:pPr algn="l">
              <a:spcAft>
                <a:spcPts val="200"/>
              </a:spcAft>
              <a:defRPr sz="1400" b="0">
                <a:solidFill>
                  <a:srgbClr val="E0F7F1"/>
                </a:solidFill>
                <a:latin typeface="Calibri"/>
              </a:defRPr>
            </a:pPr>
            <a:r>
              <a:t>Root cause analysis, quality prediction, and digital twin agents</a:t>
            </a:r>
          </a:p>
        </p:txBody>
      </p:sp>
      <p:sp>
        <p:nvSpPr>
          <p:cNvPr id="7" name="TextBox 6"/>
          <p:cNvSpPr txBox="1"/>
          <p:nvPr/>
        </p:nvSpPr>
        <p:spPr>
          <a:xfrm>
            <a:off x="2011680" y="3566160"/>
            <a:ext cx="5486400" cy="457200"/>
          </a:xfrm>
          <a:prstGeom prst="rect">
            <a:avLst/>
          </a:prstGeom>
          <a:noFill/>
        </p:spPr>
        <p:txBody>
          <a:bodyPr wrap="square">
            <a:spAutoFit/>
          </a:bodyPr>
          <a:lstStyle/>
          <a:p>
            <a:pPr algn="l">
              <a:spcAft>
                <a:spcPts val="200"/>
              </a:spcAft>
              <a:defRPr sz="1200" b="0">
                <a:solidFill>
                  <a:srgbClr val="888899"/>
                </a:solidFill>
                <a:latin typeface="Calibri"/>
              </a:defRPr>
            </a:pPr>
            <a:r>
              <a:t>3 Agentic AI Use Cases</a:t>
            </a:r>
          </a:p>
        </p:txBody>
      </p:sp>
      <p:pic>
        <p:nvPicPr>
          <p:cNvPr id="8" name="Picture 7" descr="image.jpg"/>
          <p:cNvPicPr>
            <a:picLocks noChangeAspect="1"/>
          </p:cNvPicPr>
          <p:nvPr/>
        </p:nvPicPr>
        <p:blipFill>
          <a:blip r:embed="rId2"/>
          <a:stretch>
            <a:fillRect/>
          </a:stretch>
        </p:blipFill>
        <p:spPr>
          <a:xfrm>
            <a:off x="8076895" y="0"/>
            <a:ext cx="4114800" cy="6858000"/>
          </a:xfrm>
          <a:prstGeom prst="rect">
            <a:avLst/>
          </a:prstGeom>
        </p:spPr>
      </p:pic>
      <p:sp>
        <p:nvSpPr>
          <p:cNvPr id="9" name="TextBox 8"/>
          <p:cNvSpPr txBox="1"/>
          <p:nvPr/>
        </p:nvSpPr>
        <p:spPr>
          <a:xfrm>
            <a:off x="274320" y="6492240"/>
            <a:ext cx="4572000" cy="274320"/>
          </a:xfrm>
          <a:prstGeom prst="rect">
            <a:avLst/>
          </a:prstGeom>
          <a:noFill/>
        </p:spPr>
        <p:txBody>
          <a:bodyPr wrap="square">
            <a:spAutoFit/>
          </a:bodyPr>
          <a:lstStyle/>
          <a:p>
            <a:pPr algn="l">
              <a:spcAft>
                <a:spcPts val="200"/>
              </a:spcAft>
              <a:defRPr sz="700" b="0">
                <a:solidFill>
                  <a:srgbClr val="888888"/>
                </a:solidFill>
                <a:latin typeface="Calibri"/>
              </a:defRPr>
            </a:pPr>
            <a:r>
              <a:t>Agentic AI Use Cases Across Industries | Confidential</a:t>
            </a:r>
          </a:p>
        </p:txBody>
      </p:sp>
      <p:sp>
        <p:nvSpPr>
          <p:cNvPr id="10" name="TextBox 9"/>
          <p:cNvSpPr txBox="1"/>
          <p:nvPr/>
        </p:nvSpPr>
        <p:spPr>
          <a:xfrm>
            <a:off x="11094415" y="6492240"/>
            <a:ext cx="822960" cy="274320"/>
          </a:xfrm>
          <a:prstGeom prst="rect">
            <a:avLst/>
          </a:prstGeom>
          <a:noFill/>
        </p:spPr>
        <p:txBody>
          <a:bodyPr wrap="square">
            <a:spAutoFit/>
          </a:bodyPr>
          <a:lstStyle/>
          <a:p>
            <a:pPr algn="r">
              <a:spcAft>
                <a:spcPts val="200"/>
              </a:spcAft>
              <a:defRPr sz="700" b="0">
                <a:solidFill>
                  <a:srgbClr val="888888"/>
                </a:solidFill>
                <a:latin typeface="Calibri"/>
              </a:defRPr>
            </a:pPr>
            <a:r>
              <a:t>22 / 46</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8076895" cy="6858000"/>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82880"/>
            <a:ext cx="7436815" cy="502920"/>
          </a:xfrm>
          <a:prstGeom prst="rect">
            <a:avLst/>
          </a:prstGeom>
          <a:noFill/>
        </p:spPr>
        <p:txBody>
          <a:bodyPr wrap="square">
            <a:spAutoFit/>
          </a:bodyPr>
          <a:lstStyle/>
          <a:p>
            <a:pPr algn="l">
              <a:spcAft>
                <a:spcPts val="200"/>
              </a:spcAft>
              <a:defRPr sz="2000" b="1">
                <a:solidFill>
                  <a:srgbClr val="FFFFFF"/>
                </a:solidFill>
                <a:latin typeface="Calibri"/>
              </a:defRPr>
            </a:pPr>
            <a:r>
              <a:t>UC14 | Apollo Tyres — Manufacturing Reasoner</a:t>
            </a:r>
          </a:p>
        </p:txBody>
      </p:sp>
      <p:sp>
        <p:nvSpPr>
          <p:cNvPr id="4" name="Rectangle 3"/>
          <p:cNvSpPr/>
          <p:nvPr/>
        </p:nvSpPr>
        <p:spPr>
          <a:xfrm>
            <a:off x="365760" y="658368"/>
            <a:ext cx="1828800" cy="27432"/>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777240"/>
            <a:ext cx="1371600" cy="182880"/>
          </a:xfrm>
          <a:prstGeom prst="rect">
            <a:avLst/>
          </a:prstGeom>
          <a:noFill/>
        </p:spPr>
        <p:txBody>
          <a:bodyPr wrap="square">
            <a:spAutoFit/>
          </a:bodyPr>
          <a:lstStyle/>
          <a:p>
            <a:pPr algn="l">
              <a:spcAft>
                <a:spcPts val="200"/>
              </a:spcAft>
              <a:defRPr sz="800" b="1">
                <a:solidFill>
                  <a:srgbClr val="0A1628"/>
                </a:solidFill>
                <a:latin typeface="Calibri"/>
              </a:defRPr>
            </a:pPr>
            <a:r>
              <a:t>CHALLENGE</a:t>
            </a:r>
          </a:p>
        </p:txBody>
      </p:sp>
      <p:sp>
        <p:nvSpPr>
          <p:cNvPr id="6" name="TextBox 5"/>
          <p:cNvSpPr txBox="1"/>
          <p:nvPr/>
        </p:nvSpPr>
        <p:spPr>
          <a:xfrm>
            <a:off x="365760" y="960120"/>
            <a:ext cx="3520440" cy="1280160"/>
          </a:xfrm>
          <a:prstGeom prst="rect">
            <a:avLst/>
          </a:prstGeom>
          <a:noFill/>
        </p:spPr>
        <p:txBody>
          <a:bodyPr wrap="square">
            <a:spAutoFit/>
          </a:bodyPr>
          <a:lstStyle/>
          <a:p>
            <a:pPr algn="l">
              <a:spcAft>
                <a:spcPts val="200"/>
              </a:spcAft>
              <a:defRPr sz="750" b="0">
                <a:solidFill>
                  <a:srgbClr val="0A1628"/>
                </a:solidFill>
                <a:latin typeface="Calibri"/>
              </a:defRPr>
            </a:pPr>
            <a:r>
              <a:t>• Root cause analysis for curing press downtime took up to 7 hours</a:t>
            </a:r>
            <a:br/>
            <a:r>
              <a:t>• 250+ automated curing presses across 3 plants</a:t>
            </a:r>
            <a:br/>
            <a:r>
              <a:t>• 25+ automated sub-elements per press to diagnose</a:t>
            </a:r>
            <a:br/>
            <a:r>
              <a:t>• 140+ SKUs with 3 curing mediums and 2 machine supplier types</a:t>
            </a:r>
          </a:p>
        </p:txBody>
      </p:sp>
      <p:sp>
        <p:nvSpPr>
          <p:cNvPr id="7" name="TextBox 6"/>
          <p:cNvSpPr txBox="1"/>
          <p:nvPr/>
        </p:nvSpPr>
        <p:spPr>
          <a:xfrm>
            <a:off x="4023360" y="777240"/>
            <a:ext cx="1828800" cy="182880"/>
          </a:xfrm>
          <a:prstGeom prst="rect">
            <a:avLst/>
          </a:prstGeom>
          <a:noFill/>
        </p:spPr>
        <p:txBody>
          <a:bodyPr wrap="square">
            <a:spAutoFit/>
          </a:bodyPr>
          <a:lstStyle/>
          <a:p>
            <a:pPr algn="l">
              <a:spcAft>
                <a:spcPts val="200"/>
              </a:spcAft>
              <a:defRPr sz="800" b="1">
                <a:solidFill>
                  <a:srgbClr val="0A1628"/>
                </a:solidFill>
                <a:latin typeface="Calibri"/>
              </a:defRPr>
            </a:pPr>
            <a:r>
              <a:t>AGENTIC SOLUTION</a:t>
            </a:r>
          </a:p>
        </p:txBody>
      </p:sp>
      <p:sp>
        <p:nvSpPr>
          <p:cNvPr id="8" name="TextBox 7"/>
          <p:cNvSpPr txBox="1"/>
          <p:nvPr/>
        </p:nvSpPr>
        <p:spPr>
          <a:xfrm>
            <a:off x="4023360" y="960120"/>
            <a:ext cx="3520440" cy="1280160"/>
          </a:xfrm>
          <a:prstGeom prst="rect">
            <a:avLst/>
          </a:prstGeom>
          <a:noFill/>
        </p:spPr>
        <p:txBody>
          <a:bodyPr wrap="square">
            <a:spAutoFit/>
          </a:bodyPr>
          <a:lstStyle/>
          <a:p>
            <a:pPr algn="l">
              <a:spcAft>
                <a:spcPts val="200"/>
              </a:spcAft>
              <a:defRPr sz="750" b="0">
                <a:solidFill>
                  <a:srgbClr val="0A1628"/>
                </a:solidFill>
                <a:latin typeface="Calibri"/>
              </a:defRPr>
            </a:pPr>
            <a:r>
              <a:t>• Agentic AI Manufacturing Reasoner powered by Amazon Bedrock Agents</a:t>
            </a:r>
            <a:br/>
            <a:r>
              <a:t>• Complex Transformation Engine Agent for context-specific analysis</a:t>
            </a:r>
            <a:br/>
            <a:r>
              <a:t>• RCA Agent: multi-step, multi-LLM workflow for automated diagnosis</a:t>
            </a:r>
            <a:br/>
            <a:r>
              <a:t>• Plant engineers interact via natural language on streaming IoT data</a:t>
            </a:r>
          </a:p>
        </p:txBody>
      </p:sp>
      <p:sp>
        <p:nvSpPr>
          <p:cNvPr id="9" name="Rectangle 8"/>
          <p:cNvSpPr/>
          <p:nvPr/>
        </p:nvSpPr>
        <p:spPr>
          <a:xfrm>
            <a:off x="365760"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65760"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88%</a:t>
            </a:r>
          </a:p>
        </p:txBody>
      </p:sp>
      <p:sp>
        <p:nvSpPr>
          <p:cNvPr id="11" name="TextBox 10"/>
          <p:cNvSpPr txBox="1"/>
          <p:nvPr/>
        </p:nvSpPr>
        <p:spPr>
          <a:xfrm>
            <a:off x="365760"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RCA effort</a:t>
            </a:r>
            <a:br/>
            <a:r>
              <a:t>reduction</a:t>
            </a:r>
          </a:p>
        </p:txBody>
      </p:sp>
      <p:sp>
        <p:nvSpPr>
          <p:cNvPr id="12" name="Rectangle 11"/>
          <p:cNvSpPr/>
          <p:nvPr/>
        </p:nvSpPr>
        <p:spPr>
          <a:xfrm>
            <a:off x="2240279"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240279"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7h → 10m</a:t>
            </a:r>
          </a:p>
        </p:txBody>
      </p:sp>
      <p:sp>
        <p:nvSpPr>
          <p:cNvPr id="14" name="TextBox 13"/>
          <p:cNvSpPr txBox="1"/>
          <p:nvPr/>
        </p:nvSpPr>
        <p:spPr>
          <a:xfrm>
            <a:off x="2240279"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Root cause</a:t>
            </a:r>
            <a:br/>
            <a:r>
              <a:t>analysis time</a:t>
            </a:r>
          </a:p>
        </p:txBody>
      </p:sp>
      <p:sp>
        <p:nvSpPr>
          <p:cNvPr id="15" name="Rectangle 14"/>
          <p:cNvSpPr/>
          <p:nvPr/>
        </p:nvSpPr>
        <p:spPr>
          <a:xfrm>
            <a:off x="4114799"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114799"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₹15M</a:t>
            </a:r>
          </a:p>
        </p:txBody>
      </p:sp>
      <p:sp>
        <p:nvSpPr>
          <p:cNvPr id="17" name="TextBox 16"/>
          <p:cNvSpPr txBox="1"/>
          <p:nvPr/>
        </p:nvSpPr>
        <p:spPr>
          <a:xfrm>
            <a:off x="4114799"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Annual savings</a:t>
            </a:r>
            <a:br/>
            <a:r>
              <a:t>(PCR division)</a:t>
            </a:r>
          </a:p>
        </p:txBody>
      </p:sp>
      <p:sp>
        <p:nvSpPr>
          <p:cNvPr id="18" name="Rectangle 17"/>
          <p:cNvSpPr/>
          <p:nvPr/>
        </p:nvSpPr>
        <p:spPr>
          <a:xfrm>
            <a:off x="5989319"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989319"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250+</a:t>
            </a:r>
          </a:p>
        </p:txBody>
      </p:sp>
      <p:sp>
        <p:nvSpPr>
          <p:cNvPr id="20" name="TextBox 19"/>
          <p:cNvSpPr txBox="1"/>
          <p:nvPr/>
        </p:nvSpPr>
        <p:spPr>
          <a:xfrm>
            <a:off x="5989319"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Presses</a:t>
            </a:r>
            <a:br/>
            <a:r>
              <a:t>monitored</a:t>
            </a:r>
          </a:p>
        </p:txBody>
      </p:sp>
      <p:sp>
        <p:nvSpPr>
          <p:cNvPr id="21" name="TextBox 20"/>
          <p:cNvSpPr txBox="1"/>
          <p:nvPr/>
        </p:nvSpPr>
        <p:spPr>
          <a:xfrm>
            <a:off x="365760" y="3246120"/>
            <a:ext cx="1828800" cy="182880"/>
          </a:xfrm>
          <a:prstGeom prst="rect">
            <a:avLst/>
          </a:prstGeom>
          <a:noFill/>
        </p:spPr>
        <p:txBody>
          <a:bodyPr wrap="square">
            <a:spAutoFit/>
          </a:bodyPr>
          <a:lstStyle/>
          <a:p>
            <a:pPr algn="l">
              <a:spcAft>
                <a:spcPts val="200"/>
              </a:spcAft>
              <a:defRPr sz="800" b="1">
                <a:solidFill>
                  <a:srgbClr val="0A1628"/>
                </a:solidFill>
                <a:latin typeface="Calibri"/>
              </a:defRPr>
            </a:pPr>
            <a:r>
              <a:t>HOW IT WORKS</a:t>
            </a:r>
          </a:p>
        </p:txBody>
      </p:sp>
      <p:sp>
        <p:nvSpPr>
          <p:cNvPr id="22" name="TextBox 21"/>
          <p:cNvSpPr txBox="1"/>
          <p:nvPr/>
        </p:nvSpPr>
        <p:spPr>
          <a:xfrm>
            <a:off x="365760" y="3429000"/>
            <a:ext cx="7436815" cy="594360"/>
          </a:xfrm>
          <a:prstGeom prst="rect">
            <a:avLst/>
          </a:prstGeom>
          <a:noFill/>
        </p:spPr>
        <p:txBody>
          <a:bodyPr wrap="square">
            <a:spAutoFit/>
          </a:bodyPr>
          <a:lstStyle/>
          <a:p>
            <a:pPr algn="l">
              <a:spcAft>
                <a:spcPts val="200"/>
              </a:spcAft>
              <a:defRPr sz="700" b="0">
                <a:solidFill>
                  <a:srgbClr val="0A1628"/>
                </a:solidFill>
                <a:latin typeface="Calibri"/>
              </a:defRPr>
            </a:pPr>
            <a:r>
              <a:t>→ Industrial IoT sends real-time sensor data from curing presses to AWS</a:t>
            </a:r>
            <a:br/>
            <a:r>
              <a:t>→ Engineer asks natural language question about downtime or performance</a:t>
            </a:r>
            <a:br/>
            <a:r>
              <a:t>→ Transformation Agent processes context; RCA Agent runs multi-LLM diagnosis</a:t>
            </a:r>
            <a:br/>
            <a:r>
              <a:t>→ Agent identifies which sub-elements to focus on across 250+ presses</a:t>
            </a:r>
          </a:p>
        </p:txBody>
      </p:sp>
      <p:sp>
        <p:nvSpPr>
          <p:cNvPr id="23" name="TextBox 22"/>
          <p:cNvSpPr txBox="1"/>
          <p:nvPr/>
        </p:nvSpPr>
        <p:spPr>
          <a:xfrm>
            <a:off x="365760" y="4069080"/>
            <a:ext cx="3200400" cy="182880"/>
          </a:xfrm>
          <a:prstGeom prst="rect">
            <a:avLst/>
          </a:prstGeom>
          <a:noFill/>
        </p:spPr>
        <p:txBody>
          <a:bodyPr wrap="square">
            <a:spAutoFit/>
          </a:bodyPr>
          <a:lstStyle/>
          <a:p>
            <a:pPr algn="l">
              <a:spcAft>
                <a:spcPts val="200"/>
              </a:spcAft>
              <a:defRPr sz="750" b="1">
                <a:solidFill>
                  <a:srgbClr val="0A1628"/>
                </a:solidFill>
                <a:latin typeface="Calibri"/>
              </a:defRPr>
            </a:pPr>
            <a:r>
              <a:t>AGENT ARCHITECTURE</a:t>
            </a:r>
          </a:p>
        </p:txBody>
      </p:sp>
      <p:sp>
        <p:nvSpPr>
          <p:cNvPr id="24" name="TextBox 23"/>
          <p:cNvSpPr txBox="1"/>
          <p:nvPr/>
        </p:nvSpPr>
        <p:spPr>
          <a:xfrm>
            <a:off x="365760" y="4251960"/>
            <a:ext cx="3520440" cy="777240"/>
          </a:xfrm>
          <a:prstGeom prst="rect">
            <a:avLst/>
          </a:prstGeom>
          <a:noFill/>
        </p:spPr>
        <p:txBody>
          <a:bodyPr wrap="square">
            <a:spAutoFit/>
          </a:bodyPr>
          <a:lstStyle/>
          <a:p>
            <a:pPr algn="l">
              <a:spcAft>
                <a:spcPts val="200"/>
              </a:spcAft>
              <a:defRPr sz="700" b="0">
                <a:solidFill>
                  <a:srgbClr val="0A1628"/>
                </a:solidFill>
                <a:latin typeface="Calibri"/>
              </a:defRPr>
            </a:pPr>
            <a:r>
              <a:t>• Amazon Bedrock Agents with multi-agentic RAG</a:t>
            </a:r>
            <a:br/>
            <a:r>
              <a:t>• Complex Transformation Engine + RCA Agent pipeline</a:t>
            </a:r>
            <a:br/>
            <a:r>
              <a:t>• Amazon Redshift for actionable data queries</a:t>
            </a:r>
            <a:br/>
            <a:r>
              <a:t>• Scaling from curing to multiple manufacturing areas</a:t>
            </a:r>
          </a:p>
        </p:txBody>
      </p:sp>
      <p:sp>
        <p:nvSpPr>
          <p:cNvPr id="25" name="TextBox 24"/>
          <p:cNvSpPr txBox="1"/>
          <p:nvPr/>
        </p:nvSpPr>
        <p:spPr>
          <a:xfrm>
            <a:off x="4023360" y="4069080"/>
            <a:ext cx="3200400" cy="182880"/>
          </a:xfrm>
          <a:prstGeom prst="rect">
            <a:avLst/>
          </a:prstGeom>
          <a:noFill/>
        </p:spPr>
        <p:txBody>
          <a:bodyPr wrap="square">
            <a:spAutoFit/>
          </a:bodyPr>
          <a:lstStyle/>
          <a:p>
            <a:pPr algn="l">
              <a:spcAft>
                <a:spcPts val="200"/>
              </a:spcAft>
              <a:defRPr sz="750" b="1">
                <a:solidFill>
                  <a:srgbClr val="0A1628"/>
                </a:solidFill>
                <a:latin typeface="Calibri"/>
              </a:defRPr>
            </a:pPr>
            <a:r>
              <a:t>GOVERNANCE &amp; COMPLIANCE</a:t>
            </a:r>
          </a:p>
        </p:txBody>
      </p:sp>
      <p:sp>
        <p:nvSpPr>
          <p:cNvPr id="26" name="TextBox 25"/>
          <p:cNvSpPr txBox="1"/>
          <p:nvPr/>
        </p:nvSpPr>
        <p:spPr>
          <a:xfrm>
            <a:off x="4023360" y="4251960"/>
            <a:ext cx="3520440" cy="777240"/>
          </a:xfrm>
          <a:prstGeom prst="rect">
            <a:avLst/>
          </a:prstGeom>
          <a:noFill/>
        </p:spPr>
        <p:txBody>
          <a:bodyPr wrap="square">
            <a:spAutoFit/>
          </a:bodyPr>
          <a:lstStyle/>
          <a:p>
            <a:pPr algn="l">
              <a:spcAft>
                <a:spcPts val="200"/>
              </a:spcAft>
              <a:defRPr sz="700" b="0">
                <a:solidFill>
                  <a:srgbClr val="0A1628"/>
                </a:solidFill>
                <a:latin typeface="Calibri"/>
              </a:defRPr>
            </a:pPr>
            <a:r>
              <a:t>• Dynamic reporting and visualization capabilities</a:t>
            </a:r>
            <a:br/>
            <a:r>
              <a:t>• Predictive insights for proactive maintenance</a:t>
            </a:r>
            <a:br/>
            <a:r>
              <a:t>• Scaling across all tire manufacturing processes</a:t>
            </a:r>
          </a:p>
        </p:txBody>
      </p:sp>
      <p:sp>
        <p:nvSpPr>
          <p:cNvPr id="27" name="Rectangle 26"/>
          <p:cNvSpPr/>
          <p:nvPr/>
        </p:nvSpPr>
        <p:spPr>
          <a:xfrm>
            <a:off x="274320" y="5074920"/>
            <a:ext cx="7619695" cy="77724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65760" y="5111496"/>
            <a:ext cx="1828800" cy="164592"/>
          </a:xfrm>
          <a:prstGeom prst="rect">
            <a:avLst/>
          </a:prstGeom>
          <a:noFill/>
        </p:spPr>
        <p:txBody>
          <a:bodyPr wrap="square">
            <a:spAutoFit/>
          </a:bodyPr>
          <a:lstStyle/>
          <a:p>
            <a:pPr algn="l">
              <a:spcAft>
                <a:spcPts val="200"/>
              </a:spcAft>
              <a:defRPr sz="750" b="1">
                <a:solidFill>
                  <a:srgbClr val="00C9A7"/>
                </a:solidFill>
                <a:latin typeface="Calibri"/>
              </a:defRPr>
            </a:pPr>
            <a:r>
              <a:t>TECHNOLOGY STACK</a:t>
            </a:r>
          </a:p>
        </p:txBody>
      </p:sp>
      <p:sp>
        <p:nvSpPr>
          <p:cNvPr id="29" name="TextBox 28"/>
          <p:cNvSpPr txBox="1"/>
          <p:nvPr/>
        </p:nvSpPr>
        <p:spPr>
          <a:xfrm>
            <a:off x="365760"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Platform</a:t>
            </a:r>
          </a:p>
        </p:txBody>
      </p:sp>
      <p:sp>
        <p:nvSpPr>
          <p:cNvPr id="30" name="TextBox 29"/>
          <p:cNvSpPr txBox="1"/>
          <p:nvPr/>
        </p:nvSpPr>
        <p:spPr>
          <a:xfrm>
            <a:off x="365760"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Amazon Bedrock</a:t>
            </a:r>
            <a:br/>
            <a:r>
              <a:t>Agents</a:t>
            </a:r>
          </a:p>
        </p:txBody>
      </p:sp>
      <p:sp>
        <p:nvSpPr>
          <p:cNvPr id="31" name="TextBox 30"/>
          <p:cNvSpPr txBox="1"/>
          <p:nvPr/>
        </p:nvSpPr>
        <p:spPr>
          <a:xfrm>
            <a:off x="2240279"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Data</a:t>
            </a:r>
          </a:p>
        </p:txBody>
      </p:sp>
      <p:sp>
        <p:nvSpPr>
          <p:cNvPr id="32" name="TextBox 31"/>
          <p:cNvSpPr txBox="1"/>
          <p:nvPr/>
        </p:nvSpPr>
        <p:spPr>
          <a:xfrm>
            <a:off x="2240279"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Industrial IoT</a:t>
            </a:r>
            <a:br/>
            <a:r>
              <a:t>real-time sensors</a:t>
            </a:r>
          </a:p>
        </p:txBody>
      </p:sp>
      <p:sp>
        <p:nvSpPr>
          <p:cNvPr id="33" name="TextBox 32"/>
          <p:cNvSpPr txBox="1"/>
          <p:nvPr/>
        </p:nvSpPr>
        <p:spPr>
          <a:xfrm>
            <a:off x="4114799"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Storage</a:t>
            </a:r>
          </a:p>
        </p:txBody>
      </p:sp>
      <p:sp>
        <p:nvSpPr>
          <p:cNvPr id="34" name="TextBox 33"/>
          <p:cNvSpPr txBox="1"/>
          <p:nvPr/>
        </p:nvSpPr>
        <p:spPr>
          <a:xfrm>
            <a:off x="4114799"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Amazon Redshift</a:t>
            </a:r>
            <a:br/>
            <a:r>
              <a:t>for analytics</a:t>
            </a:r>
          </a:p>
        </p:txBody>
      </p:sp>
      <p:sp>
        <p:nvSpPr>
          <p:cNvPr id="35" name="TextBox 34"/>
          <p:cNvSpPr txBox="1"/>
          <p:nvPr/>
        </p:nvSpPr>
        <p:spPr>
          <a:xfrm>
            <a:off x="5989319"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Scale</a:t>
            </a:r>
          </a:p>
        </p:txBody>
      </p:sp>
      <p:sp>
        <p:nvSpPr>
          <p:cNvPr id="36" name="TextBox 35"/>
          <p:cNvSpPr txBox="1"/>
          <p:nvPr/>
        </p:nvSpPr>
        <p:spPr>
          <a:xfrm>
            <a:off x="5989319"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3 plants, 250+</a:t>
            </a:r>
            <a:br/>
            <a:r>
              <a:t>presses, 140+ SKUs</a:t>
            </a:r>
          </a:p>
        </p:txBody>
      </p:sp>
      <p:sp>
        <p:nvSpPr>
          <p:cNvPr id="37" name="Rectangle 36"/>
          <p:cNvSpPr/>
          <p:nvPr/>
        </p:nvSpPr>
        <p:spPr>
          <a:xfrm>
            <a:off x="274320" y="5943600"/>
            <a:ext cx="3657600" cy="320040"/>
          </a:xfrm>
          <a:prstGeom prst="rect">
            <a:avLst/>
          </a:prstGeom>
          <a:solidFill>
            <a:srgbClr val="009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365760" y="5980176"/>
            <a:ext cx="3474720" cy="256032"/>
          </a:xfrm>
          <a:prstGeom prst="rect">
            <a:avLst/>
          </a:prstGeom>
          <a:noFill/>
        </p:spPr>
        <p:txBody>
          <a:bodyPr wrap="square">
            <a:spAutoFit/>
          </a:bodyPr>
          <a:lstStyle/>
          <a:p>
            <a:pPr algn="l">
              <a:spcAft>
                <a:spcPts val="200"/>
              </a:spcAft>
              <a:defRPr sz="650" b="1">
                <a:solidFill>
                  <a:srgbClr val="FFFFFF"/>
                </a:solidFill>
                <a:latin typeface="Calibri"/>
              </a:defRPr>
            </a:pPr>
            <a:r>
              <a:t>INDUSTRY: Manufacturing</a:t>
            </a:r>
          </a:p>
        </p:txBody>
      </p:sp>
      <p:sp>
        <p:nvSpPr>
          <p:cNvPr id="39" name="Rectangle 38"/>
          <p:cNvSpPr/>
          <p:nvPr/>
        </p:nvSpPr>
        <p:spPr>
          <a:xfrm>
            <a:off x="4114800" y="5943600"/>
            <a:ext cx="3657600" cy="320040"/>
          </a:xfrm>
          <a:prstGeom prst="rect">
            <a:avLst/>
          </a:prstGeom>
          <a:solidFill>
            <a:srgbClr val="008F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4206240" y="5980176"/>
            <a:ext cx="3474720" cy="256032"/>
          </a:xfrm>
          <a:prstGeom prst="rect">
            <a:avLst/>
          </a:prstGeom>
          <a:noFill/>
        </p:spPr>
        <p:txBody>
          <a:bodyPr wrap="square">
            <a:spAutoFit/>
          </a:bodyPr>
          <a:lstStyle/>
          <a:p>
            <a:pPr algn="l">
              <a:spcAft>
                <a:spcPts val="200"/>
              </a:spcAft>
              <a:defRPr sz="650" b="1">
                <a:solidFill>
                  <a:srgbClr val="FFFFFF"/>
                </a:solidFill>
                <a:latin typeface="Calibri"/>
              </a:defRPr>
            </a:pPr>
            <a:r>
              <a:t>AGENT TYPE: Data Agent + Employee Agent</a:t>
            </a:r>
          </a:p>
        </p:txBody>
      </p:sp>
      <p:pic>
        <p:nvPicPr>
          <p:cNvPr id="41" name="Picture 40" descr="image.jpg"/>
          <p:cNvPicPr>
            <a:picLocks noChangeAspect="1"/>
          </p:cNvPicPr>
          <p:nvPr/>
        </p:nvPicPr>
        <p:blipFill>
          <a:blip r:embed="rId2"/>
          <a:stretch>
            <a:fillRect/>
          </a:stretch>
        </p:blipFill>
        <p:spPr>
          <a:xfrm>
            <a:off x="8076895" y="0"/>
            <a:ext cx="4114800" cy="6858000"/>
          </a:xfrm>
          <a:prstGeom prst="rect">
            <a:avLst/>
          </a:prstGeom>
        </p:spPr>
      </p:pic>
      <p:sp>
        <p:nvSpPr>
          <p:cNvPr id="42" name="TextBox 41"/>
          <p:cNvSpPr txBox="1"/>
          <p:nvPr/>
        </p:nvSpPr>
        <p:spPr>
          <a:xfrm>
            <a:off x="274320" y="6492240"/>
            <a:ext cx="4572000" cy="274320"/>
          </a:xfrm>
          <a:prstGeom prst="rect">
            <a:avLst/>
          </a:prstGeom>
          <a:noFill/>
        </p:spPr>
        <p:txBody>
          <a:bodyPr wrap="square">
            <a:spAutoFit/>
          </a:bodyPr>
          <a:lstStyle/>
          <a:p>
            <a:pPr algn="l">
              <a:spcAft>
                <a:spcPts val="200"/>
              </a:spcAft>
              <a:defRPr sz="700" b="0">
                <a:solidFill>
                  <a:srgbClr val="888888"/>
                </a:solidFill>
                <a:latin typeface="Calibri"/>
              </a:defRPr>
            </a:pPr>
            <a:r>
              <a:t>Agentic AI Use Cases Across Industries | Confidential</a:t>
            </a:r>
          </a:p>
        </p:txBody>
      </p:sp>
      <p:sp>
        <p:nvSpPr>
          <p:cNvPr id="43" name="TextBox 42"/>
          <p:cNvSpPr txBox="1"/>
          <p:nvPr/>
        </p:nvSpPr>
        <p:spPr>
          <a:xfrm>
            <a:off x="11094415" y="6492240"/>
            <a:ext cx="822960" cy="274320"/>
          </a:xfrm>
          <a:prstGeom prst="rect">
            <a:avLst/>
          </a:prstGeom>
          <a:noFill/>
        </p:spPr>
        <p:txBody>
          <a:bodyPr wrap="square">
            <a:spAutoFit/>
          </a:bodyPr>
          <a:lstStyle/>
          <a:p>
            <a:pPr algn="r">
              <a:spcAft>
                <a:spcPts val="200"/>
              </a:spcAft>
              <a:defRPr sz="700" b="0">
                <a:solidFill>
                  <a:srgbClr val="888888"/>
                </a:solidFill>
                <a:latin typeface="Calibri"/>
              </a:defRPr>
            </a:pPr>
            <a:r>
              <a:t>23 / 46</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8076895" cy="6858000"/>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82880"/>
            <a:ext cx="7436815" cy="502920"/>
          </a:xfrm>
          <a:prstGeom prst="rect">
            <a:avLst/>
          </a:prstGeom>
          <a:noFill/>
        </p:spPr>
        <p:txBody>
          <a:bodyPr wrap="square">
            <a:spAutoFit/>
          </a:bodyPr>
          <a:lstStyle/>
          <a:p>
            <a:pPr algn="l">
              <a:spcAft>
                <a:spcPts val="200"/>
              </a:spcAft>
              <a:defRPr sz="2000" b="1">
                <a:solidFill>
                  <a:srgbClr val="FFFFFF"/>
                </a:solidFill>
                <a:latin typeface="Calibri"/>
              </a:defRPr>
            </a:pPr>
            <a:r>
              <a:t>UC15 | HCLTech Insight — Quality AI Agent</a:t>
            </a:r>
          </a:p>
        </p:txBody>
      </p:sp>
      <p:sp>
        <p:nvSpPr>
          <p:cNvPr id="4" name="Rectangle 3"/>
          <p:cNvSpPr/>
          <p:nvPr/>
        </p:nvSpPr>
        <p:spPr>
          <a:xfrm>
            <a:off x="365760" y="658368"/>
            <a:ext cx="1828800" cy="27432"/>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777240"/>
            <a:ext cx="1371600" cy="182880"/>
          </a:xfrm>
          <a:prstGeom prst="rect">
            <a:avLst/>
          </a:prstGeom>
          <a:noFill/>
        </p:spPr>
        <p:txBody>
          <a:bodyPr wrap="square">
            <a:spAutoFit/>
          </a:bodyPr>
          <a:lstStyle/>
          <a:p>
            <a:pPr algn="l">
              <a:spcAft>
                <a:spcPts val="200"/>
              </a:spcAft>
              <a:defRPr sz="800" b="1">
                <a:solidFill>
                  <a:srgbClr val="0A1628"/>
                </a:solidFill>
                <a:latin typeface="Calibri"/>
              </a:defRPr>
            </a:pPr>
            <a:r>
              <a:t>CHALLENGE</a:t>
            </a:r>
          </a:p>
        </p:txBody>
      </p:sp>
      <p:sp>
        <p:nvSpPr>
          <p:cNvPr id="6" name="TextBox 5"/>
          <p:cNvSpPr txBox="1"/>
          <p:nvPr/>
        </p:nvSpPr>
        <p:spPr>
          <a:xfrm>
            <a:off x="365760" y="960120"/>
            <a:ext cx="3520440" cy="1280160"/>
          </a:xfrm>
          <a:prstGeom prst="rect">
            <a:avLst/>
          </a:prstGeom>
          <a:noFill/>
        </p:spPr>
        <p:txBody>
          <a:bodyPr wrap="square">
            <a:spAutoFit/>
          </a:bodyPr>
          <a:lstStyle/>
          <a:p>
            <a:pPr algn="l">
              <a:spcAft>
                <a:spcPts val="200"/>
              </a:spcAft>
              <a:defRPr sz="750" b="0">
                <a:solidFill>
                  <a:srgbClr val="0A1628"/>
                </a:solidFill>
                <a:latin typeface="Calibri"/>
              </a:defRPr>
            </a:pPr>
            <a:r>
              <a:t>• Manufacturing defects across complex production lines</a:t>
            </a:r>
            <a:br/>
            <a:r>
              <a:t>• Prediction and elimination of different defect types</a:t>
            </a:r>
            <a:br/>
            <a:r>
              <a:t>• Need for real-time quality monitoring at scale</a:t>
            </a:r>
            <a:br/>
            <a:r>
              <a:t>• Integration across multiple data sources and manufacturing systems</a:t>
            </a:r>
          </a:p>
        </p:txBody>
      </p:sp>
      <p:sp>
        <p:nvSpPr>
          <p:cNvPr id="7" name="TextBox 6"/>
          <p:cNvSpPr txBox="1"/>
          <p:nvPr/>
        </p:nvSpPr>
        <p:spPr>
          <a:xfrm>
            <a:off x="4023360" y="777240"/>
            <a:ext cx="1828800" cy="182880"/>
          </a:xfrm>
          <a:prstGeom prst="rect">
            <a:avLst/>
          </a:prstGeom>
          <a:noFill/>
        </p:spPr>
        <p:txBody>
          <a:bodyPr wrap="square">
            <a:spAutoFit/>
          </a:bodyPr>
          <a:lstStyle/>
          <a:p>
            <a:pPr algn="l">
              <a:spcAft>
                <a:spcPts val="200"/>
              </a:spcAft>
              <a:defRPr sz="800" b="1">
                <a:solidFill>
                  <a:srgbClr val="0A1628"/>
                </a:solidFill>
                <a:latin typeface="Calibri"/>
              </a:defRPr>
            </a:pPr>
            <a:r>
              <a:t>AGENTIC SOLUTION</a:t>
            </a:r>
          </a:p>
        </p:txBody>
      </p:sp>
      <p:sp>
        <p:nvSpPr>
          <p:cNvPr id="8" name="TextBox 7"/>
          <p:cNvSpPr txBox="1"/>
          <p:nvPr/>
        </p:nvSpPr>
        <p:spPr>
          <a:xfrm>
            <a:off x="4023360" y="960120"/>
            <a:ext cx="3520440" cy="1280160"/>
          </a:xfrm>
          <a:prstGeom prst="rect">
            <a:avLst/>
          </a:prstGeom>
          <a:noFill/>
        </p:spPr>
        <p:txBody>
          <a:bodyPr wrap="square">
            <a:spAutoFit/>
          </a:bodyPr>
          <a:lstStyle/>
          <a:p>
            <a:pPr algn="l">
              <a:spcAft>
                <a:spcPts val="200"/>
              </a:spcAft>
              <a:defRPr sz="750" b="0">
                <a:solidFill>
                  <a:srgbClr val="0A1628"/>
                </a:solidFill>
                <a:latin typeface="Calibri"/>
              </a:defRPr>
            </a:pPr>
            <a:r>
              <a:t>• HCLTech Insight: manufacturing quality AI agent</a:t>
            </a:r>
            <a:br/>
            <a:r>
              <a:t>• Predict and eliminate different types of defects</a:t>
            </a:r>
            <a:br/>
            <a:r>
              <a:t>• Vertex AI + Google Cloud Cortex Framework integration</a:t>
            </a:r>
            <a:br/>
            <a:r>
              <a:t>• Manufacturing Data Engine platform for unified data access</a:t>
            </a:r>
          </a:p>
        </p:txBody>
      </p:sp>
      <p:sp>
        <p:nvSpPr>
          <p:cNvPr id="9" name="Rectangle 8"/>
          <p:cNvSpPr/>
          <p:nvPr/>
        </p:nvSpPr>
        <p:spPr>
          <a:xfrm>
            <a:off x="365760"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65760"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Real-time</a:t>
            </a:r>
          </a:p>
        </p:txBody>
      </p:sp>
      <p:sp>
        <p:nvSpPr>
          <p:cNvPr id="11" name="TextBox 10"/>
          <p:cNvSpPr txBox="1"/>
          <p:nvPr/>
        </p:nvSpPr>
        <p:spPr>
          <a:xfrm>
            <a:off x="365760"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Defect</a:t>
            </a:r>
            <a:br/>
            <a:r>
              <a:t>prediction</a:t>
            </a:r>
          </a:p>
        </p:txBody>
      </p:sp>
      <p:sp>
        <p:nvSpPr>
          <p:cNvPr id="12" name="Rectangle 11"/>
          <p:cNvSpPr/>
          <p:nvPr/>
        </p:nvSpPr>
        <p:spPr>
          <a:xfrm>
            <a:off x="2240279"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240279"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Multi-type</a:t>
            </a:r>
          </a:p>
        </p:txBody>
      </p:sp>
      <p:sp>
        <p:nvSpPr>
          <p:cNvPr id="14" name="TextBox 13"/>
          <p:cNvSpPr txBox="1"/>
          <p:nvPr/>
        </p:nvSpPr>
        <p:spPr>
          <a:xfrm>
            <a:off x="2240279"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Defect</a:t>
            </a:r>
            <a:br/>
            <a:r>
              <a:t>coverage</a:t>
            </a:r>
          </a:p>
        </p:txBody>
      </p:sp>
      <p:sp>
        <p:nvSpPr>
          <p:cNvPr id="15" name="Rectangle 14"/>
          <p:cNvSpPr/>
          <p:nvPr/>
        </p:nvSpPr>
        <p:spPr>
          <a:xfrm>
            <a:off x="4114799"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114799"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Automated</a:t>
            </a:r>
          </a:p>
        </p:txBody>
      </p:sp>
      <p:sp>
        <p:nvSpPr>
          <p:cNvPr id="17" name="TextBox 16"/>
          <p:cNvSpPr txBox="1"/>
          <p:nvPr/>
        </p:nvSpPr>
        <p:spPr>
          <a:xfrm>
            <a:off x="4114799"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Quality</a:t>
            </a:r>
            <a:br/>
            <a:r>
              <a:t>monitoring</a:t>
            </a:r>
          </a:p>
        </p:txBody>
      </p:sp>
      <p:sp>
        <p:nvSpPr>
          <p:cNvPr id="18" name="Rectangle 17"/>
          <p:cNvSpPr/>
          <p:nvPr/>
        </p:nvSpPr>
        <p:spPr>
          <a:xfrm>
            <a:off x="5989319"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989319"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Cortex</a:t>
            </a:r>
          </a:p>
        </p:txBody>
      </p:sp>
      <p:sp>
        <p:nvSpPr>
          <p:cNvPr id="20" name="TextBox 19"/>
          <p:cNvSpPr txBox="1"/>
          <p:nvPr/>
        </p:nvSpPr>
        <p:spPr>
          <a:xfrm>
            <a:off x="5989319"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Framework</a:t>
            </a:r>
            <a:br/>
            <a:r>
              <a:t>integration</a:t>
            </a:r>
          </a:p>
        </p:txBody>
      </p:sp>
      <p:sp>
        <p:nvSpPr>
          <p:cNvPr id="21" name="TextBox 20"/>
          <p:cNvSpPr txBox="1"/>
          <p:nvPr/>
        </p:nvSpPr>
        <p:spPr>
          <a:xfrm>
            <a:off x="365760" y="3246120"/>
            <a:ext cx="1828800" cy="182880"/>
          </a:xfrm>
          <a:prstGeom prst="rect">
            <a:avLst/>
          </a:prstGeom>
          <a:noFill/>
        </p:spPr>
        <p:txBody>
          <a:bodyPr wrap="square">
            <a:spAutoFit/>
          </a:bodyPr>
          <a:lstStyle/>
          <a:p>
            <a:pPr algn="l">
              <a:spcAft>
                <a:spcPts val="200"/>
              </a:spcAft>
              <a:defRPr sz="800" b="1">
                <a:solidFill>
                  <a:srgbClr val="0A1628"/>
                </a:solidFill>
                <a:latin typeface="Calibri"/>
              </a:defRPr>
            </a:pPr>
            <a:r>
              <a:t>HOW IT WORKS</a:t>
            </a:r>
          </a:p>
        </p:txBody>
      </p:sp>
      <p:sp>
        <p:nvSpPr>
          <p:cNvPr id="22" name="TextBox 21"/>
          <p:cNvSpPr txBox="1"/>
          <p:nvPr/>
        </p:nvSpPr>
        <p:spPr>
          <a:xfrm>
            <a:off x="365760" y="3429000"/>
            <a:ext cx="7436815" cy="594360"/>
          </a:xfrm>
          <a:prstGeom prst="rect">
            <a:avLst/>
          </a:prstGeom>
          <a:noFill/>
        </p:spPr>
        <p:txBody>
          <a:bodyPr wrap="square">
            <a:spAutoFit/>
          </a:bodyPr>
          <a:lstStyle/>
          <a:p>
            <a:pPr algn="l">
              <a:spcAft>
                <a:spcPts val="200"/>
              </a:spcAft>
              <a:defRPr sz="700" b="0">
                <a:solidFill>
                  <a:srgbClr val="0A1628"/>
                </a:solidFill>
                <a:latin typeface="Calibri"/>
              </a:defRPr>
            </a:pPr>
            <a:r>
              <a:t>→ Manufacturing Data Engine ingests data from production systems</a:t>
            </a:r>
            <a:br/>
            <a:r>
              <a:t>→ Cortex Framework provides pre-built manufacturing data models</a:t>
            </a:r>
            <a:br/>
            <a:r>
              <a:t>→ AI agent analyzes patterns to predict defect occurrence</a:t>
            </a:r>
            <a:br/>
            <a:r>
              <a:t>→ Automated recommendations for corrective action</a:t>
            </a:r>
          </a:p>
        </p:txBody>
      </p:sp>
      <p:sp>
        <p:nvSpPr>
          <p:cNvPr id="23" name="TextBox 22"/>
          <p:cNvSpPr txBox="1"/>
          <p:nvPr/>
        </p:nvSpPr>
        <p:spPr>
          <a:xfrm>
            <a:off x="365760" y="4069080"/>
            <a:ext cx="3200400" cy="182880"/>
          </a:xfrm>
          <a:prstGeom prst="rect">
            <a:avLst/>
          </a:prstGeom>
          <a:noFill/>
        </p:spPr>
        <p:txBody>
          <a:bodyPr wrap="square">
            <a:spAutoFit/>
          </a:bodyPr>
          <a:lstStyle/>
          <a:p>
            <a:pPr algn="l">
              <a:spcAft>
                <a:spcPts val="200"/>
              </a:spcAft>
              <a:defRPr sz="750" b="1">
                <a:solidFill>
                  <a:srgbClr val="0A1628"/>
                </a:solidFill>
                <a:latin typeface="Calibri"/>
              </a:defRPr>
            </a:pPr>
            <a:r>
              <a:t>AGENT ARCHITECTURE</a:t>
            </a:r>
          </a:p>
        </p:txBody>
      </p:sp>
      <p:sp>
        <p:nvSpPr>
          <p:cNvPr id="24" name="TextBox 23"/>
          <p:cNvSpPr txBox="1"/>
          <p:nvPr/>
        </p:nvSpPr>
        <p:spPr>
          <a:xfrm>
            <a:off x="365760" y="4251960"/>
            <a:ext cx="3520440" cy="777240"/>
          </a:xfrm>
          <a:prstGeom prst="rect">
            <a:avLst/>
          </a:prstGeom>
          <a:noFill/>
        </p:spPr>
        <p:txBody>
          <a:bodyPr wrap="square">
            <a:spAutoFit/>
          </a:bodyPr>
          <a:lstStyle/>
          <a:p>
            <a:pPr algn="l">
              <a:spcAft>
                <a:spcPts val="200"/>
              </a:spcAft>
              <a:defRPr sz="700" b="0">
                <a:solidFill>
                  <a:srgbClr val="0A1628"/>
                </a:solidFill>
                <a:latin typeface="Calibri"/>
              </a:defRPr>
            </a:pPr>
            <a:r>
              <a:t>• Vertex AI for model training and serving</a:t>
            </a:r>
            <a:br/>
            <a:r>
              <a:t>• Google Cloud Cortex Framework for manufacturing templates</a:t>
            </a:r>
            <a:br/>
            <a:r>
              <a:t>• Manufacturing Data Engine for unified data platform</a:t>
            </a:r>
          </a:p>
        </p:txBody>
      </p:sp>
      <p:sp>
        <p:nvSpPr>
          <p:cNvPr id="25" name="TextBox 24"/>
          <p:cNvSpPr txBox="1"/>
          <p:nvPr/>
        </p:nvSpPr>
        <p:spPr>
          <a:xfrm>
            <a:off x="4023360" y="4069080"/>
            <a:ext cx="3200400" cy="182880"/>
          </a:xfrm>
          <a:prstGeom prst="rect">
            <a:avLst/>
          </a:prstGeom>
          <a:noFill/>
        </p:spPr>
        <p:txBody>
          <a:bodyPr wrap="square">
            <a:spAutoFit/>
          </a:bodyPr>
          <a:lstStyle/>
          <a:p>
            <a:pPr algn="l">
              <a:spcAft>
                <a:spcPts val="200"/>
              </a:spcAft>
              <a:defRPr sz="750" b="1">
                <a:solidFill>
                  <a:srgbClr val="0A1628"/>
                </a:solidFill>
                <a:latin typeface="Calibri"/>
              </a:defRPr>
            </a:pPr>
            <a:r>
              <a:t>GOVERNANCE &amp; COMPLIANCE</a:t>
            </a:r>
          </a:p>
        </p:txBody>
      </p:sp>
      <p:sp>
        <p:nvSpPr>
          <p:cNvPr id="26" name="TextBox 25"/>
          <p:cNvSpPr txBox="1"/>
          <p:nvPr/>
        </p:nvSpPr>
        <p:spPr>
          <a:xfrm>
            <a:off x="4023360" y="4251960"/>
            <a:ext cx="3520440" cy="777240"/>
          </a:xfrm>
          <a:prstGeom prst="rect">
            <a:avLst/>
          </a:prstGeom>
          <a:noFill/>
        </p:spPr>
        <p:txBody>
          <a:bodyPr wrap="square">
            <a:spAutoFit/>
          </a:bodyPr>
          <a:lstStyle/>
          <a:p>
            <a:pPr algn="l">
              <a:spcAft>
                <a:spcPts val="200"/>
              </a:spcAft>
              <a:defRPr sz="700" b="0">
                <a:solidFill>
                  <a:srgbClr val="0A1628"/>
                </a:solidFill>
                <a:latin typeface="Calibri"/>
              </a:defRPr>
            </a:pPr>
            <a:r>
              <a:t>• Industry-standard quality compliance integration</a:t>
            </a:r>
            <a:br/>
            <a:r>
              <a:t>• Traceable predictions with explainable reasoning</a:t>
            </a:r>
          </a:p>
        </p:txBody>
      </p:sp>
      <p:sp>
        <p:nvSpPr>
          <p:cNvPr id="27" name="Rectangle 26"/>
          <p:cNvSpPr/>
          <p:nvPr/>
        </p:nvSpPr>
        <p:spPr>
          <a:xfrm>
            <a:off x="274320" y="5074920"/>
            <a:ext cx="7619695" cy="77724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65760" y="5111496"/>
            <a:ext cx="1828800" cy="164592"/>
          </a:xfrm>
          <a:prstGeom prst="rect">
            <a:avLst/>
          </a:prstGeom>
          <a:noFill/>
        </p:spPr>
        <p:txBody>
          <a:bodyPr wrap="square">
            <a:spAutoFit/>
          </a:bodyPr>
          <a:lstStyle/>
          <a:p>
            <a:pPr algn="l">
              <a:spcAft>
                <a:spcPts val="200"/>
              </a:spcAft>
              <a:defRPr sz="750" b="1">
                <a:solidFill>
                  <a:srgbClr val="00C9A7"/>
                </a:solidFill>
                <a:latin typeface="Calibri"/>
              </a:defRPr>
            </a:pPr>
            <a:r>
              <a:t>TECHNOLOGY STACK</a:t>
            </a:r>
          </a:p>
        </p:txBody>
      </p:sp>
      <p:sp>
        <p:nvSpPr>
          <p:cNvPr id="29" name="TextBox 28"/>
          <p:cNvSpPr txBox="1"/>
          <p:nvPr/>
        </p:nvSpPr>
        <p:spPr>
          <a:xfrm>
            <a:off x="365760"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AI</a:t>
            </a:r>
          </a:p>
        </p:txBody>
      </p:sp>
      <p:sp>
        <p:nvSpPr>
          <p:cNvPr id="30" name="TextBox 29"/>
          <p:cNvSpPr txBox="1"/>
          <p:nvPr/>
        </p:nvSpPr>
        <p:spPr>
          <a:xfrm>
            <a:off x="365760"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Vertex AI</a:t>
            </a:r>
            <a:br/>
            <a:r>
              <a:t>model serving</a:t>
            </a:r>
          </a:p>
        </p:txBody>
      </p:sp>
      <p:sp>
        <p:nvSpPr>
          <p:cNvPr id="31" name="TextBox 30"/>
          <p:cNvSpPr txBox="1"/>
          <p:nvPr/>
        </p:nvSpPr>
        <p:spPr>
          <a:xfrm>
            <a:off x="2240279"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Framework</a:t>
            </a:r>
          </a:p>
        </p:txBody>
      </p:sp>
      <p:sp>
        <p:nvSpPr>
          <p:cNvPr id="32" name="TextBox 31"/>
          <p:cNvSpPr txBox="1"/>
          <p:nvPr/>
        </p:nvSpPr>
        <p:spPr>
          <a:xfrm>
            <a:off x="2240279"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Google Cloud</a:t>
            </a:r>
            <a:br/>
            <a:r>
              <a:t>Cortex</a:t>
            </a:r>
          </a:p>
        </p:txBody>
      </p:sp>
      <p:sp>
        <p:nvSpPr>
          <p:cNvPr id="33" name="TextBox 32"/>
          <p:cNvSpPr txBox="1"/>
          <p:nvPr/>
        </p:nvSpPr>
        <p:spPr>
          <a:xfrm>
            <a:off x="4114799"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Data</a:t>
            </a:r>
          </a:p>
        </p:txBody>
      </p:sp>
      <p:sp>
        <p:nvSpPr>
          <p:cNvPr id="34" name="TextBox 33"/>
          <p:cNvSpPr txBox="1"/>
          <p:nvPr/>
        </p:nvSpPr>
        <p:spPr>
          <a:xfrm>
            <a:off x="4114799"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Manufacturing</a:t>
            </a:r>
            <a:br/>
            <a:r>
              <a:t>Data Engine</a:t>
            </a:r>
          </a:p>
        </p:txBody>
      </p:sp>
      <p:sp>
        <p:nvSpPr>
          <p:cNvPr id="35" name="TextBox 34"/>
          <p:cNvSpPr txBox="1"/>
          <p:nvPr/>
        </p:nvSpPr>
        <p:spPr>
          <a:xfrm>
            <a:off x="5989319"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Scope</a:t>
            </a:r>
          </a:p>
        </p:txBody>
      </p:sp>
      <p:sp>
        <p:nvSpPr>
          <p:cNvPr id="36" name="TextBox 35"/>
          <p:cNvSpPr txBox="1"/>
          <p:nvPr/>
        </p:nvSpPr>
        <p:spPr>
          <a:xfrm>
            <a:off x="5989319"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Multi-defect</a:t>
            </a:r>
            <a:br/>
            <a:r>
              <a:t>prediction</a:t>
            </a:r>
          </a:p>
        </p:txBody>
      </p:sp>
      <p:sp>
        <p:nvSpPr>
          <p:cNvPr id="37" name="Rectangle 36"/>
          <p:cNvSpPr/>
          <p:nvPr/>
        </p:nvSpPr>
        <p:spPr>
          <a:xfrm>
            <a:off x="274320" y="5943600"/>
            <a:ext cx="3657600" cy="320040"/>
          </a:xfrm>
          <a:prstGeom prst="rect">
            <a:avLst/>
          </a:prstGeom>
          <a:solidFill>
            <a:srgbClr val="009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365760" y="5980176"/>
            <a:ext cx="3474720" cy="256032"/>
          </a:xfrm>
          <a:prstGeom prst="rect">
            <a:avLst/>
          </a:prstGeom>
          <a:noFill/>
        </p:spPr>
        <p:txBody>
          <a:bodyPr wrap="square">
            <a:spAutoFit/>
          </a:bodyPr>
          <a:lstStyle/>
          <a:p>
            <a:pPr algn="l">
              <a:spcAft>
                <a:spcPts val="200"/>
              </a:spcAft>
              <a:defRPr sz="650" b="1">
                <a:solidFill>
                  <a:srgbClr val="FFFFFF"/>
                </a:solidFill>
                <a:latin typeface="Calibri"/>
              </a:defRPr>
            </a:pPr>
            <a:r>
              <a:t>INDUSTRY: Manufacturing</a:t>
            </a:r>
          </a:p>
        </p:txBody>
      </p:sp>
      <p:sp>
        <p:nvSpPr>
          <p:cNvPr id="39" name="Rectangle 38"/>
          <p:cNvSpPr/>
          <p:nvPr/>
        </p:nvSpPr>
        <p:spPr>
          <a:xfrm>
            <a:off x="4114800" y="5943600"/>
            <a:ext cx="3657600" cy="320040"/>
          </a:xfrm>
          <a:prstGeom prst="rect">
            <a:avLst/>
          </a:prstGeom>
          <a:solidFill>
            <a:srgbClr val="008F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4206240" y="5980176"/>
            <a:ext cx="3474720" cy="256032"/>
          </a:xfrm>
          <a:prstGeom prst="rect">
            <a:avLst/>
          </a:prstGeom>
          <a:noFill/>
        </p:spPr>
        <p:txBody>
          <a:bodyPr wrap="square">
            <a:spAutoFit/>
          </a:bodyPr>
          <a:lstStyle/>
          <a:p>
            <a:pPr algn="l">
              <a:spcAft>
                <a:spcPts val="200"/>
              </a:spcAft>
              <a:defRPr sz="650" b="1">
                <a:solidFill>
                  <a:srgbClr val="FFFFFF"/>
                </a:solidFill>
                <a:latin typeface="Calibri"/>
              </a:defRPr>
            </a:pPr>
            <a:r>
              <a:t>AGENT TYPE: Data Agent</a:t>
            </a:r>
          </a:p>
        </p:txBody>
      </p:sp>
      <p:pic>
        <p:nvPicPr>
          <p:cNvPr id="41" name="Picture 40" descr="image.jpg"/>
          <p:cNvPicPr>
            <a:picLocks noChangeAspect="1"/>
          </p:cNvPicPr>
          <p:nvPr/>
        </p:nvPicPr>
        <p:blipFill>
          <a:blip r:embed="rId2"/>
          <a:stretch>
            <a:fillRect/>
          </a:stretch>
        </p:blipFill>
        <p:spPr>
          <a:xfrm>
            <a:off x="8076895" y="0"/>
            <a:ext cx="4114800" cy="6858000"/>
          </a:xfrm>
          <a:prstGeom prst="rect">
            <a:avLst/>
          </a:prstGeom>
        </p:spPr>
      </p:pic>
      <p:sp>
        <p:nvSpPr>
          <p:cNvPr id="42" name="TextBox 41"/>
          <p:cNvSpPr txBox="1"/>
          <p:nvPr/>
        </p:nvSpPr>
        <p:spPr>
          <a:xfrm>
            <a:off x="274320" y="6492240"/>
            <a:ext cx="4572000" cy="274320"/>
          </a:xfrm>
          <a:prstGeom prst="rect">
            <a:avLst/>
          </a:prstGeom>
          <a:noFill/>
        </p:spPr>
        <p:txBody>
          <a:bodyPr wrap="square">
            <a:spAutoFit/>
          </a:bodyPr>
          <a:lstStyle/>
          <a:p>
            <a:pPr algn="l">
              <a:spcAft>
                <a:spcPts val="200"/>
              </a:spcAft>
              <a:defRPr sz="700" b="0">
                <a:solidFill>
                  <a:srgbClr val="888888"/>
                </a:solidFill>
                <a:latin typeface="Calibri"/>
              </a:defRPr>
            </a:pPr>
            <a:r>
              <a:t>Agentic AI Use Cases Across Industries | Confidential</a:t>
            </a:r>
          </a:p>
        </p:txBody>
      </p:sp>
      <p:sp>
        <p:nvSpPr>
          <p:cNvPr id="43" name="TextBox 42"/>
          <p:cNvSpPr txBox="1"/>
          <p:nvPr/>
        </p:nvSpPr>
        <p:spPr>
          <a:xfrm>
            <a:off x="11094415" y="6492240"/>
            <a:ext cx="822960" cy="274320"/>
          </a:xfrm>
          <a:prstGeom prst="rect">
            <a:avLst/>
          </a:prstGeom>
          <a:noFill/>
        </p:spPr>
        <p:txBody>
          <a:bodyPr wrap="square">
            <a:spAutoFit/>
          </a:bodyPr>
          <a:lstStyle/>
          <a:p>
            <a:pPr algn="r">
              <a:spcAft>
                <a:spcPts val="200"/>
              </a:spcAft>
              <a:defRPr sz="700" b="0">
                <a:solidFill>
                  <a:srgbClr val="888888"/>
                </a:solidFill>
                <a:latin typeface="Calibri"/>
              </a:defRPr>
            </a:pPr>
            <a:r>
              <a:t>24 / 46</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8076895" cy="6858000"/>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82880"/>
            <a:ext cx="7436815" cy="502920"/>
          </a:xfrm>
          <a:prstGeom prst="rect">
            <a:avLst/>
          </a:prstGeom>
          <a:noFill/>
        </p:spPr>
        <p:txBody>
          <a:bodyPr wrap="square">
            <a:spAutoFit/>
          </a:bodyPr>
          <a:lstStyle/>
          <a:p>
            <a:pPr algn="l">
              <a:spcAft>
                <a:spcPts val="200"/>
              </a:spcAft>
              <a:defRPr sz="2000" b="1">
                <a:solidFill>
                  <a:srgbClr val="FFFFFF"/>
                </a:solidFill>
                <a:latin typeface="Calibri"/>
              </a:defRPr>
            </a:pPr>
            <a:r>
              <a:t>UC16 | BMW Group — Digital Twin Supply Chain Agents</a:t>
            </a:r>
          </a:p>
        </p:txBody>
      </p:sp>
      <p:sp>
        <p:nvSpPr>
          <p:cNvPr id="4" name="Rectangle 3"/>
          <p:cNvSpPr/>
          <p:nvPr/>
        </p:nvSpPr>
        <p:spPr>
          <a:xfrm>
            <a:off x="365760" y="658368"/>
            <a:ext cx="1828800" cy="27432"/>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777240"/>
            <a:ext cx="1371600" cy="182880"/>
          </a:xfrm>
          <a:prstGeom prst="rect">
            <a:avLst/>
          </a:prstGeom>
          <a:noFill/>
        </p:spPr>
        <p:txBody>
          <a:bodyPr wrap="square">
            <a:spAutoFit/>
          </a:bodyPr>
          <a:lstStyle/>
          <a:p>
            <a:pPr algn="l">
              <a:spcAft>
                <a:spcPts val="200"/>
              </a:spcAft>
              <a:defRPr sz="800" b="1">
                <a:solidFill>
                  <a:srgbClr val="0A1628"/>
                </a:solidFill>
                <a:latin typeface="Calibri"/>
              </a:defRPr>
            </a:pPr>
            <a:r>
              <a:t>CHALLENGE</a:t>
            </a:r>
          </a:p>
        </p:txBody>
      </p:sp>
      <p:sp>
        <p:nvSpPr>
          <p:cNvPr id="6" name="TextBox 5"/>
          <p:cNvSpPr txBox="1"/>
          <p:nvPr/>
        </p:nvSpPr>
        <p:spPr>
          <a:xfrm>
            <a:off x="365760" y="960120"/>
            <a:ext cx="3520440" cy="1280160"/>
          </a:xfrm>
          <a:prstGeom prst="rect">
            <a:avLst/>
          </a:prstGeom>
          <a:noFill/>
        </p:spPr>
        <p:txBody>
          <a:bodyPr wrap="square">
            <a:spAutoFit/>
          </a:bodyPr>
          <a:lstStyle/>
          <a:p>
            <a:pPr algn="l">
              <a:spcAft>
                <a:spcPts val="200"/>
              </a:spcAft>
              <a:defRPr sz="750" b="0">
                <a:solidFill>
                  <a:srgbClr val="0A1628"/>
                </a:solidFill>
                <a:latin typeface="Calibri"/>
              </a:defRPr>
            </a:pPr>
            <a:r>
              <a:t>• Complex industrial planning processes and supply chains</a:t>
            </a:r>
            <a:br/>
            <a:r>
              <a:t>• Physical asset scanning and modeling at scale</a:t>
            </a:r>
            <a:br/>
            <a:r>
              <a:t>• Thousands of distribution simulations needed for optimization</a:t>
            </a:r>
            <a:br/>
            <a:r>
              <a:t>• Manual planning cycles too slow for dynamic supply chains</a:t>
            </a:r>
          </a:p>
        </p:txBody>
      </p:sp>
      <p:sp>
        <p:nvSpPr>
          <p:cNvPr id="7" name="TextBox 6"/>
          <p:cNvSpPr txBox="1"/>
          <p:nvPr/>
        </p:nvSpPr>
        <p:spPr>
          <a:xfrm>
            <a:off x="4023360" y="777240"/>
            <a:ext cx="1828800" cy="182880"/>
          </a:xfrm>
          <a:prstGeom prst="rect">
            <a:avLst/>
          </a:prstGeom>
          <a:noFill/>
        </p:spPr>
        <p:txBody>
          <a:bodyPr wrap="square">
            <a:spAutoFit/>
          </a:bodyPr>
          <a:lstStyle/>
          <a:p>
            <a:pPr algn="l">
              <a:spcAft>
                <a:spcPts val="200"/>
              </a:spcAft>
              <a:defRPr sz="800" b="1">
                <a:solidFill>
                  <a:srgbClr val="0A1628"/>
                </a:solidFill>
                <a:latin typeface="Calibri"/>
              </a:defRPr>
            </a:pPr>
            <a:r>
              <a:t>AGENTIC SOLUTION</a:t>
            </a:r>
          </a:p>
        </p:txBody>
      </p:sp>
      <p:sp>
        <p:nvSpPr>
          <p:cNvPr id="8" name="TextBox 7"/>
          <p:cNvSpPr txBox="1"/>
          <p:nvPr/>
        </p:nvSpPr>
        <p:spPr>
          <a:xfrm>
            <a:off x="4023360" y="960120"/>
            <a:ext cx="3520440" cy="1280160"/>
          </a:xfrm>
          <a:prstGeom prst="rect">
            <a:avLst/>
          </a:prstGeom>
          <a:noFill/>
        </p:spPr>
        <p:txBody>
          <a:bodyPr wrap="square">
            <a:spAutoFit/>
          </a:bodyPr>
          <a:lstStyle/>
          <a:p>
            <a:pPr algn="l">
              <a:spcAft>
                <a:spcPts val="200"/>
              </a:spcAft>
              <a:defRPr sz="750" b="0">
                <a:solidFill>
                  <a:srgbClr val="0A1628"/>
                </a:solidFill>
                <a:latin typeface="Calibri"/>
              </a:defRPr>
            </a:pPr>
            <a:r>
              <a:t>• AI agents create 3D digital twins from scanned physical assets</a:t>
            </a:r>
            <a:br/>
            <a:r>
              <a:t>• Digital twins perform thousands of autonomous simulations</a:t>
            </a:r>
            <a:br/>
            <a:r>
              <a:t>• Optimize distribution efficiency across the entire supply chain</a:t>
            </a:r>
            <a:br/>
            <a:r>
              <a:t>• Gen AI on Vertex AI for automated 3D model creation</a:t>
            </a:r>
          </a:p>
        </p:txBody>
      </p:sp>
      <p:sp>
        <p:nvSpPr>
          <p:cNvPr id="9" name="Rectangle 8"/>
          <p:cNvSpPr/>
          <p:nvPr/>
        </p:nvSpPr>
        <p:spPr>
          <a:xfrm>
            <a:off x="365760"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65760"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1000s</a:t>
            </a:r>
          </a:p>
        </p:txBody>
      </p:sp>
      <p:sp>
        <p:nvSpPr>
          <p:cNvPr id="11" name="TextBox 10"/>
          <p:cNvSpPr txBox="1"/>
          <p:nvPr/>
        </p:nvSpPr>
        <p:spPr>
          <a:xfrm>
            <a:off x="365760"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Autonomous</a:t>
            </a:r>
            <a:br/>
            <a:r>
              <a:t>simulations</a:t>
            </a:r>
          </a:p>
        </p:txBody>
      </p:sp>
      <p:sp>
        <p:nvSpPr>
          <p:cNvPr id="12" name="Rectangle 11"/>
          <p:cNvSpPr/>
          <p:nvPr/>
        </p:nvSpPr>
        <p:spPr>
          <a:xfrm>
            <a:off x="2240279"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240279"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3D</a:t>
            </a:r>
          </a:p>
        </p:txBody>
      </p:sp>
      <p:sp>
        <p:nvSpPr>
          <p:cNvPr id="14" name="TextBox 13"/>
          <p:cNvSpPr txBox="1"/>
          <p:nvPr/>
        </p:nvSpPr>
        <p:spPr>
          <a:xfrm>
            <a:off x="2240279"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Digital twin</a:t>
            </a:r>
            <a:br/>
            <a:r>
              <a:t>generation</a:t>
            </a:r>
          </a:p>
        </p:txBody>
      </p:sp>
      <p:sp>
        <p:nvSpPr>
          <p:cNvPr id="15" name="Rectangle 14"/>
          <p:cNvSpPr/>
          <p:nvPr/>
        </p:nvSpPr>
        <p:spPr>
          <a:xfrm>
            <a:off x="4114799"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114799"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Optimized</a:t>
            </a:r>
          </a:p>
        </p:txBody>
      </p:sp>
      <p:sp>
        <p:nvSpPr>
          <p:cNvPr id="17" name="TextBox 16"/>
          <p:cNvSpPr txBox="1"/>
          <p:nvPr/>
        </p:nvSpPr>
        <p:spPr>
          <a:xfrm>
            <a:off x="4114799"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Distribution</a:t>
            </a:r>
            <a:br/>
            <a:r>
              <a:t>efficiency</a:t>
            </a:r>
          </a:p>
        </p:txBody>
      </p:sp>
      <p:sp>
        <p:nvSpPr>
          <p:cNvPr id="18" name="Rectangle 17"/>
          <p:cNvSpPr/>
          <p:nvPr/>
        </p:nvSpPr>
        <p:spPr>
          <a:xfrm>
            <a:off x="5989319"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989319"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Real-time</a:t>
            </a:r>
          </a:p>
        </p:txBody>
      </p:sp>
      <p:sp>
        <p:nvSpPr>
          <p:cNvPr id="20" name="TextBox 19"/>
          <p:cNvSpPr txBox="1"/>
          <p:nvPr/>
        </p:nvSpPr>
        <p:spPr>
          <a:xfrm>
            <a:off x="5989319"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Planning</a:t>
            </a:r>
            <a:br/>
            <a:r>
              <a:t>adjustments</a:t>
            </a:r>
          </a:p>
        </p:txBody>
      </p:sp>
      <p:sp>
        <p:nvSpPr>
          <p:cNvPr id="21" name="TextBox 20"/>
          <p:cNvSpPr txBox="1"/>
          <p:nvPr/>
        </p:nvSpPr>
        <p:spPr>
          <a:xfrm>
            <a:off x="365760" y="3246120"/>
            <a:ext cx="1828800" cy="182880"/>
          </a:xfrm>
          <a:prstGeom prst="rect">
            <a:avLst/>
          </a:prstGeom>
          <a:noFill/>
        </p:spPr>
        <p:txBody>
          <a:bodyPr wrap="square">
            <a:spAutoFit/>
          </a:bodyPr>
          <a:lstStyle/>
          <a:p>
            <a:pPr algn="l">
              <a:spcAft>
                <a:spcPts val="200"/>
              </a:spcAft>
              <a:defRPr sz="800" b="1">
                <a:solidFill>
                  <a:srgbClr val="0A1628"/>
                </a:solidFill>
                <a:latin typeface="Calibri"/>
              </a:defRPr>
            </a:pPr>
            <a:r>
              <a:t>HOW IT WORKS</a:t>
            </a:r>
          </a:p>
        </p:txBody>
      </p:sp>
      <p:sp>
        <p:nvSpPr>
          <p:cNvPr id="22" name="TextBox 21"/>
          <p:cNvSpPr txBox="1"/>
          <p:nvPr/>
        </p:nvSpPr>
        <p:spPr>
          <a:xfrm>
            <a:off x="365760" y="3429000"/>
            <a:ext cx="7436815" cy="594360"/>
          </a:xfrm>
          <a:prstGeom prst="rect">
            <a:avLst/>
          </a:prstGeom>
          <a:noFill/>
        </p:spPr>
        <p:txBody>
          <a:bodyPr wrap="square">
            <a:spAutoFit/>
          </a:bodyPr>
          <a:lstStyle/>
          <a:p>
            <a:pPr algn="l">
              <a:spcAft>
                <a:spcPts val="200"/>
              </a:spcAft>
              <a:defRPr sz="700" b="0">
                <a:solidFill>
                  <a:srgbClr val="0A1628"/>
                </a:solidFill>
                <a:latin typeface="Calibri"/>
              </a:defRPr>
            </a:pPr>
            <a:r>
              <a:t>→ Scan physical assets across manufacturing and logistics</a:t>
            </a:r>
            <a:br/>
            <a:r>
              <a:t>→ Vertex AI creates 3D digital twin models from scans</a:t>
            </a:r>
            <a:br/>
            <a:r>
              <a:t>→ Digital twins autonomously run distribution simulations</a:t>
            </a:r>
            <a:br/>
            <a:r>
              <a:t>→ AI optimizes supply chain based on simulation results</a:t>
            </a:r>
          </a:p>
        </p:txBody>
      </p:sp>
      <p:sp>
        <p:nvSpPr>
          <p:cNvPr id="23" name="TextBox 22"/>
          <p:cNvSpPr txBox="1"/>
          <p:nvPr/>
        </p:nvSpPr>
        <p:spPr>
          <a:xfrm>
            <a:off x="365760" y="4069080"/>
            <a:ext cx="3200400" cy="182880"/>
          </a:xfrm>
          <a:prstGeom prst="rect">
            <a:avLst/>
          </a:prstGeom>
          <a:noFill/>
        </p:spPr>
        <p:txBody>
          <a:bodyPr wrap="square">
            <a:spAutoFit/>
          </a:bodyPr>
          <a:lstStyle/>
          <a:p>
            <a:pPr algn="l">
              <a:spcAft>
                <a:spcPts val="200"/>
              </a:spcAft>
              <a:defRPr sz="750" b="1">
                <a:solidFill>
                  <a:srgbClr val="0A1628"/>
                </a:solidFill>
                <a:latin typeface="Calibri"/>
              </a:defRPr>
            </a:pPr>
            <a:r>
              <a:t>AGENT ARCHITECTURE</a:t>
            </a:r>
          </a:p>
        </p:txBody>
      </p:sp>
      <p:sp>
        <p:nvSpPr>
          <p:cNvPr id="24" name="TextBox 23"/>
          <p:cNvSpPr txBox="1"/>
          <p:nvPr/>
        </p:nvSpPr>
        <p:spPr>
          <a:xfrm>
            <a:off x="365760" y="4251960"/>
            <a:ext cx="3520440" cy="777240"/>
          </a:xfrm>
          <a:prstGeom prst="rect">
            <a:avLst/>
          </a:prstGeom>
          <a:noFill/>
        </p:spPr>
        <p:txBody>
          <a:bodyPr wrap="square">
            <a:spAutoFit/>
          </a:bodyPr>
          <a:lstStyle/>
          <a:p>
            <a:pPr algn="l">
              <a:spcAft>
                <a:spcPts val="200"/>
              </a:spcAft>
              <a:defRPr sz="700" b="0">
                <a:solidFill>
                  <a:srgbClr val="0A1628"/>
                </a:solidFill>
                <a:latin typeface="Calibri"/>
              </a:defRPr>
            </a:pPr>
            <a:r>
              <a:t>• Vertex AI for generative 3D model creation</a:t>
            </a:r>
            <a:br/>
            <a:r>
              <a:t>• Monkeyway collaboration for SORDI.ai solution</a:t>
            </a:r>
            <a:br/>
            <a:r>
              <a:t>• Autonomous simulation engine for optimization</a:t>
            </a:r>
          </a:p>
        </p:txBody>
      </p:sp>
      <p:sp>
        <p:nvSpPr>
          <p:cNvPr id="25" name="TextBox 24"/>
          <p:cNvSpPr txBox="1"/>
          <p:nvPr/>
        </p:nvSpPr>
        <p:spPr>
          <a:xfrm>
            <a:off x="4023360" y="4069080"/>
            <a:ext cx="3200400" cy="182880"/>
          </a:xfrm>
          <a:prstGeom prst="rect">
            <a:avLst/>
          </a:prstGeom>
          <a:noFill/>
        </p:spPr>
        <p:txBody>
          <a:bodyPr wrap="square">
            <a:spAutoFit/>
          </a:bodyPr>
          <a:lstStyle/>
          <a:p>
            <a:pPr algn="l">
              <a:spcAft>
                <a:spcPts val="200"/>
              </a:spcAft>
              <a:defRPr sz="750" b="1">
                <a:solidFill>
                  <a:srgbClr val="0A1628"/>
                </a:solidFill>
                <a:latin typeface="Calibri"/>
              </a:defRPr>
            </a:pPr>
            <a:r>
              <a:t>GOVERNANCE &amp; COMPLIANCE</a:t>
            </a:r>
          </a:p>
        </p:txBody>
      </p:sp>
      <p:sp>
        <p:nvSpPr>
          <p:cNvPr id="26" name="TextBox 25"/>
          <p:cNvSpPr txBox="1"/>
          <p:nvPr/>
        </p:nvSpPr>
        <p:spPr>
          <a:xfrm>
            <a:off x="4023360" y="4251960"/>
            <a:ext cx="3520440" cy="777240"/>
          </a:xfrm>
          <a:prstGeom prst="rect">
            <a:avLst/>
          </a:prstGeom>
          <a:noFill/>
        </p:spPr>
        <p:txBody>
          <a:bodyPr wrap="square">
            <a:spAutoFit/>
          </a:bodyPr>
          <a:lstStyle/>
          <a:p>
            <a:pPr algn="l">
              <a:spcAft>
                <a:spcPts val="200"/>
              </a:spcAft>
              <a:defRPr sz="700" b="0">
                <a:solidFill>
                  <a:srgbClr val="0A1628"/>
                </a:solidFill>
                <a:latin typeface="Calibri"/>
              </a:defRPr>
            </a:pPr>
            <a:r>
              <a:t>• Physical-digital traceability across supply chain</a:t>
            </a:r>
            <a:br/>
            <a:r>
              <a:t>• Simulation results auditable for planning decisions</a:t>
            </a:r>
          </a:p>
        </p:txBody>
      </p:sp>
      <p:sp>
        <p:nvSpPr>
          <p:cNvPr id="27" name="Rectangle 26"/>
          <p:cNvSpPr/>
          <p:nvPr/>
        </p:nvSpPr>
        <p:spPr>
          <a:xfrm>
            <a:off x="274320" y="5074920"/>
            <a:ext cx="7619695" cy="77724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65760" y="5111496"/>
            <a:ext cx="1828800" cy="164592"/>
          </a:xfrm>
          <a:prstGeom prst="rect">
            <a:avLst/>
          </a:prstGeom>
          <a:noFill/>
        </p:spPr>
        <p:txBody>
          <a:bodyPr wrap="square">
            <a:spAutoFit/>
          </a:bodyPr>
          <a:lstStyle/>
          <a:p>
            <a:pPr algn="l">
              <a:spcAft>
                <a:spcPts val="200"/>
              </a:spcAft>
              <a:defRPr sz="750" b="1">
                <a:solidFill>
                  <a:srgbClr val="00C9A7"/>
                </a:solidFill>
                <a:latin typeface="Calibri"/>
              </a:defRPr>
            </a:pPr>
            <a:r>
              <a:t>TECHNOLOGY STACK</a:t>
            </a:r>
          </a:p>
        </p:txBody>
      </p:sp>
      <p:sp>
        <p:nvSpPr>
          <p:cNvPr id="29" name="TextBox 28"/>
          <p:cNvSpPr txBox="1"/>
          <p:nvPr/>
        </p:nvSpPr>
        <p:spPr>
          <a:xfrm>
            <a:off x="365760"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AI</a:t>
            </a:r>
          </a:p>
        </p:txBody>
      </p:sp>
      <p:sp>
        <p:nvSpPr>
          <p:cNvPr id="30" name="TextBox 29"/>
          <p:cNvSpPr txBox="1"/>
          <p:nvPr/>
        </p:nvSpPr>
        <p:spPr>
          <a:xfrm>
            <a:off x="365760"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Vertex AI</a:t>
            </a:r>
            <a:br/>
            <a:r>
              <a:t>+ SORDI.ai</a:t>
            </a:r>
          </a:p>
        </p:txBody>
      </p:sp>
      <p:sp>
        <p:nvSpPr>
          <p:cNvPr id="31" name="TextBox 30"/>
          <p:cNvSpPr txBox="1"/>
          <p:nvPr/>
        </p:nvSpPr>
        <p:spPr>
          <a:xfrm>
            <a:off x="2240279"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Modeling</a:t>
            </a:r>
          </a:p>
        </p:txBody>
      </p:sp>
      <p:sp>
        <p:nvSpPr>
          <p:cNvPr id="32" name="TextBox 31"/>
          <p:cNvSpPr txBox="1"/>
          <p:nvPr/>
        </p:nvSpPr>
        <p:spPr>
          <a:xfrm>
            <a:off x="2240279"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3D digital twin</a:t>
            </a:r>
            <a:br/>
            <a:r>
              <a:t>generation</a:t>
            </a:r>
          </a:p>
        </p:txBody>
      </p:sp>
      <p:sp>
        <p:nvSpPr>
          <p:cNvPr id="33" name="TextBox 32"/>
          <p:cNvSpPr txBox="1"/>
          <p:nvPr/>
        </p:nvSpPr>
        <p:spPr>
          <a:xfrm>
            <a:off x="4114799"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Simulation</a:t>
            </a:r>
          </a:p>
        </p:txBody>
      </p:sp>
      <p:sp>
        <p:nvSpPr>
          <p:cNvPr id="34" name="TextBox 33"/>
          <p:cNvSpPr txBox="1"/>
          <p:nvPr/>
        </p:nvSpPr>
        <p:spPr>
          <a:xfrm>
            <a:off x="4114799"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Autonomous</a:t>
            </a:r>
            <a:br/>
            <a:r>
              <a:t>optimization</a:t>
            </a:r>
          </a:p>
        </p:txBody>
      </p:sp>
      <p:sp>
        <p:nvSpPr>
          <p:cNvPr id="35" name="TextBox 34"/>
          <p:cNvSpPr txBox="1"/>
          <p:nvPr/>
        </p:nvSpPr>
        <p:spPr>
          <a:xfrm>
            <a:off x="5989319"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Partner</a:t>
            </a:r>
          </a:p>
        </p:txBody>
      </p:sp>
      <p:sp>
        <p:nvSpPr>
          <p:cNvPr id="36" name="TextBox 35"/>
          <p:cNvSpPr txBox="1"/>
          <p:nvPr/>
        </p:nvSpPr>
        <p:spPr>
          <a:xfrm>
            <a:off x="5989319"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Monkeyway</a:t>
            </a:r>
            <a:br/>
            <a:r>
              <a:t>collaboration</a:t>
            </a:r>
          </a:p>
        </p:txBody>
      </p:sp>
      <p:sp>
        <p:nvSpPr>
          <p:cNvPr id="37" name="Rectangle 36"/>
          <p:cNvSpPr/>
          <p:nvPr/>
        </p:nvSpPr>
        <p:spPr>
          <a:xfrm>
            <a:off x="274320" y="5943600"/>
            <a:ext cx="3657600" cy="320040"/>
          </a:xfrm>
          <a:prstGeom prst="rect">
            <a:avLst/>
          </a:prstGeom>
          <a:solidFill>
            <a:srgbClr val="009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365760" y="5980176"/>
            <a:ext cx="3474720" cy="256032"/>
          </a:xfrm>
          <a:prstGeom prst="rect">
            <a:avLst/>
          </a:prstGeom>
          <a:noFill/>
        </p:spPr>
        <p:txBody>
          <a:bodyPr wrap="square">
            <a:spAutoFit/>
          </a:bodyPr>
          <a:lstStyle/>
          <a:p>
            <a:pPr algn="l">
              <a:spcAft>
                <a:spcPts val="200"/>
              </a:spcAft>
              <a:defRPr sz="650" b="1">
                <a:solidFill>
                  <a:srgbClr val="FFFFFF"/>
                </a:solidFill>
                <a:latin typeface="Calibri"/>
              </a:defRPr>
            </a:pPr>
            <a:r>
              <a:t>INDUSTRY: Manufacturing</a:t>
            </a:r>
          </a:p>
        </p:txBody>
      </p:sp>
      <p:sp>
        <p:nvSpPr>
          <p:cNvPr id="39" name="Rectangle 38"/>
          <p:cNvSpPr/>
          <p:nvPr/>
        </p:nvSpPr>
        <p:spPr>
          <a:xfrm>
            <a:off x="4114800" y="5943600"/>
            <a:ext cx="3657600" cy="320040"/>
          </a:xfrm>
          <a:prstGeom prst="rect">
            <a:avLst/>
          </a:prstGeom>
          <a:solidFill>
            <a:srgbClr val="008F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4206240" y="5980176"/>
            <a:ext cx="3474720" cy="256032"/>
          </a:xfrm>
          <a:prstGeom prst="rect">
            <a:avLst/>
          </a:prstGeom>
          <a:noFill/>
        </p:spPr>
        <p:txBody>
          <a:bodyPr wrap="square">
            <a:spAutoFit/>
          </a:bodyPr>
          <a:lstStyle/>
          <a:p>
            <a:pPr algn="l">
              <a:spcAft>
                <a:spcPts val="200"/>
              </a:spcAft>
              <a:defRPr sz="650" b="1">
                <a:solidFill>
                  <a:srgbClr val="FFFFFF"/>
                </a:solidFill>
                <a:latin typeface="Calibri"/>
              </a:defRPr>
            </a:pPr>
            <a:r>
              <a:t>AGENT TYPE: Data Agent</a:t>
            </a:r>
          </a:p>
        </p:txBody>
      </p:sp>
      <p:pic>
        <p:nvPicPr>
          <p:cNvPr id="41" name="Picture 40" descr="image.jpg"/>
          <p:cNvPicPr>
            <a:picLocks noChangeAspect="1"/>
          </p:cNvPicPr>
          <p:nvPr/>
        </p:nvPicPr>
        <p:blipFill>
          <a:blip r:embed="rId2"/>
          <a:stretch>
            <a:fillRect/>
          </a:stretch>
        </p:blipFill>
        <p:spPr>
          <a:xfrm>
            <a:off x="8076895" y="0"/>
            <a:ext cx="4114800" cy="6858000"/>
          </a:xfrm>
          <a:prstGeom prst="rect">
            <a:avLst/>
          </a:prstGeom>
        </p:spPr>
      </p:pic>
      <p:sp>
        <p:nvSpPr>
          <p:cNvPr id="42" name="TextBox 41"/>
          <p:cNvSpPr txBox="1"/>
          <p:nvPr/>
        </p:nvSpPr>
        <p:spPr>
          <a:xfrm>
            <a:off x="274320" y="6492240"/>
            <a:ext cx="4572000" cy="274320"/>
          </a:xfrm>
          <a:prstGeom prst="rect">
            <a:avLst/>
          </a:prstGeom>
          <a:noFill/>
        </p:spPr>
        <p:txBody>
          <a:bodyPr wrap="square">
            <a:spAutoFit/>
          </a:bodyPr>
          <a:lstStyle/>
          <a:p>
            <a:pPr algn="l">
              <a:spcAft>
                <a:spcPts val="200"/>
              </a:spcAft>
              <a:defRPr sz="700" b="0">
                <a:solidFill>
                  <a:srgbClr val="888888"/>
                </a:solidFill>
                <a:latin typeface="Calibri"/>
              </a:defRPr>
            </a:pPr>
            <a:r>
              <a:t>Agentic AI Use Cases Across Industries | Confidential</a:t>
            </a:r>
          </a:p>
        </p:txBody>
      </p:sp>
      <p:sp>
        <p:nvSpPr>
          <p:cNvPr id="43" name="TextBox 42"/>
          <p:cNvSpPr txBox="1"/>
          <p:nvPr/>
        </p:nvSpPr>
        <p:spPr>
          <a:xfrm>
            <a:off x="11094415" y="6492240"/>
            <a:ext cx="822960" cy="274320"/>
          </a:xfrm>
          <a:prstGeom prst="rect">
            <a:avLst/>
          </a:prstGeom>
          <a:noFill/>
        </p:spPr>
        <p:txBody>
          <a:bodyPr wrap="square">
            <a:spAutoFit/>
          </a:bodyPr>
          <a:lstStyle/>
          <a:p>
            <a:pPr algn="r">
              <a:spcAft>
                <a:spcPts val="200"/>
              </a:spcAft>
              <a:defRPr sz="700" b="0">
                <a:solidFill>
                  <a:srgbClr val="888888"/>
                </a:solidFill>
                <a:latin typeface="Calibri"/>
              </a:defRPr>
            </a:pPr>
            <a:r>
              <a:t>25 / 46</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2743200"/>
            <a:ext cx="12191695" cy="54864"/>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371600"/>
            <a:ext cx="1097280" cy="731520"/>
          </a:xfrm>
          <a:prstGeom prst="rect">
            <a:avLst/>
          </a:prstGeom>
          <a:noFill/>
        </p:spPr>
        <p:txBody>
          <a:bodyPr wrap="square">
            <a:spAutoFit/>
          </a:bodyPr>
          <a:lstStyle/>
          <a:p>
            <a:pPr algn="l">
              <a:spcAft>
                <a:spcPts val="200"/>
              </a:spcAft>
              <a:defRPr sz="5600" b="1">
                <a:solidFill>
                  <a:srgbClr val="00C9A7"/>
                </a:solidFill>
                <a:latin typeface="Calibri"/>
              </a:defRPr>
            </a:pPr>
            <a:r>
              <a:t>05</a:t>
            </a:r>
          </a:p>
        </p:txBody>
      </p:sp>
      <p:sp>
        <p:nvSpPr>
          <p:cNvPr id="5" name="TextBox 4"/>
          <p:cNvSpPr txBox="1"/>
          <p:nvPr/>
        </p:nvSpPr>
        <p:spPr>
          <a:xfrm>
            <a:off x="2011680" y="1645920"/>
            <a:ext cx="5486400" cy="731520"/>
          </a:xfrm>
          <a:prstGeom prst="rect">
            <a:avLst/>
          </a:prstGeom>
          <a:noFill/>
        </p:spPr>
        <p:txBody>
          <a:bodyPr wrap="square">
            <a:spAutoFit/>
          </a:bodyPr>
          <a:lstStyle/>
          <a:p>
            <a:pPr algn="l">
              <a:spcAft>
                <a:spcPts val="200"/>
              </a:spcAft>
              <a:defRPr sz="3600" b="1">
                <a:solidFill>
                  <a:srgbClr val="FFFFFF"/>
                </a:solidFill>
                <a:latin typeface="Calibri"/>
              </a:defRPr>
            </a:pPr>
            <a:r>
              <a:t>Healthcare &amp; Life Sciences</a:t>
            </a:r>
          </a:p>
        </p:txBody>
      </p:sp>
      <p:sp>
        <p:nvSpPr>
          <p:cNvPr id="6" name="TextBox 5"/>
          <p:cNvSpPr txBox="1"/>
          <p:nvPr/>
        </p:nvSpPr>
        <p:spPr>
          <a:xfrm>
            <a:off x="2011680" y="3017520"/>
            <a:ext cx="5486400" cy="457200"/>
          </a:xfrm>
          <a:prstGeom prst="rect">
            <a:avLst/>
          </a:prstGeom>
          <a:noFill/>
        </p:spPr>
        <p:txBody>
          <a:bodyPr wrap="square">
            <a:spAutoFit/>
          </a:bodyPr>
          <a:lstStyle/>
          <a:p>
            <a:pPr algn="l">
              <a:spcAft>
                <a:spcPts val="200"/>
              </a:spcAft>
              <a:defRPr sz="1400" b="0">
                <a:solidFill>
                  <a:srgbClr val="E0F7F1"/>
                </a:solidFill>
                <a:latin typeface="Calibri"/>
              </a:defRPr>
            </a:pPr>
            <a:r>
              <a:t>Clinical reasoning, precision therapeutics, and drug discovery automation</a:t>
            </a:r>
          </a:p>
        </p:txBody>
      </p:sp>
      <p:sp>
        <p:nvSpPr>
          <p:cNvPr id="7" name="TextBox 6"/>
          <p:cNvSpPr txBox="1"/>
          <p:nvPr/>
        </p:nvSpPr>
        <p:spPr>
          <a:xfrm>
            <a:off x="2011680" y="3566160"/>
            <a:ext cx="5486400" cy="457200"/>
          </a:xfrm>
          <a:prstGeom prst="rect">
            <a:avLst/>
          </a:prstGeom>
          <a:noFill/>
        </p:spPr>
        <p:txBody>
          <a:bodyPr wrap="square">
            <a:spAutoFit/>
          </a:bodyPr>
          <a:lstStyle/>
          <a:p>
            <a:pPr algn="l">
              <a:spcAft>
                <a:spcPts val="200"/>
              </a:spcAft>
              <a:defRPr sz="1200" b="0">
                <a:solidFill>
                  <a:srgbClr val="888899"/>
                </a:solidFill>
                <a:latin typeface="Calibri"/>
              </a:defRPr>
            </a:pPr>
            <a:r>
              <a:t>3 Agentic AI Use Cases</a:t>
            </a:r>
          </a:p>
        </p:txBody>
      </p:sp>
      <p:pic>
        <p:nvPicPr>
          <p:cNvPr id="8" name="Picture 7" descr="image.jpg"/>
          <p:cNvPicPr>
            <a:picLocks noChangeAspect="1"/>
          </p:cNvPicPr>
          <p:nvPr/>
        </p:nvPicPr>
        <p:blipFill>
          <a:blip r:embed="rId2"/>
          <a:stretch>
            <a:fillRect/>
          </a:stretch>
        </p:blipFill>
        <p:spPr>
          <a:xfrm>
            <a:off x="8076895" y="0"/>
            <a:ext cx="4114800" cy="6858000"/>
          </a:xfrm>
          <a:prstGeom prst="rect">
            <a:avLst/>
          </a:prstGeom>
        </p:spPr>
      </p:pic>
      <p:sp>
        <p:nvSpPr>
          <p:cNvPr id="9" name="TextBox 8"/>
          <p:cNvSpPr txBox="1"/>
          <p:nvPr/>
        </p:nvSpPr>
        <p:spPr>
          <a:xfrm>
            <a:off x="274320" y="6492240"/>
            <a:ext cx="4572000" cy="274320"/>
          </a:xfrm>
          <a:prstGeom prst="rect">
            <a:avLst/>
          </a:prstGeom>
          <a:noFill/>
        </p:spPr>
        <p:txBody>
          <a:bodyPr wrap="square">
            <a:spAutoFit/>
          </a:bodyPr>
          <a:lstStyle/>
          <a:p>
            <a:pPr algn="l">
              <a:spcAft>
                <a:spcPts val="200"/>
              </a:spcAft>
              <a:defRPr sz="700" b="0">
                <a:solidFill>
                  <a:srgbClr val="888888"/>
                </a:solidFill>
                <a:latin typeface="Calibri"/>
              </a:defRPr>
            </a:pPr>
            <a:r>
              <a:t>Agentic AI Use Cases Across Industries | Confidential</a:t>
            </a:r>
          </a:p>
        </p:txBody>
      </p:sp>
      <p:sp>
        <p:nvSpPr>
          <p:cNvPr id="10" name="TextBox 9"/>
          <p:cNvSpPr txBox="1"/>
          <p:nvPr/>
        </p:nvSpPr>
        <p:spPr>
          <a:xfrm>
            <a:off x="11094415" y="6492240"/>
            <a:ext cx="822960" cy="274320"/>
          </a:xfrm>
          <a:prstGeom prst="rect">
            <a:avLst/>
          </a:prstGeom>
          <a:noFill/>
        </p:spPr>
        <p:txBody>
          <a:bodyPr wrap="square">
            <a:spAutoFit/>
          </a:bodyPr>
          <a:lstStyle/>
          <a:p>
            <a:pPr algn="r">
              <a:spcAft>
                <a:spcPts val="200"/>
              </a:spcAft>
              <a:defRPr sz="700" b="0">
                <a:solidFill>
                  <a:srgbClr val="888888"/>
                </a:solidFill>
                <a:latin typeface="Calibri"/>
              </a:defRPr>
            </a:pPr>
            <a:r>
              <a:t>26 / 46</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8076895" cy="6858000"/>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82880"/>
            <a:ext cx="7436815" cy="502920"/>
          </a:xfrm>
          <a:prstGeom prst="rect">
            <a:avLst/>
          </a:prstGeom>
          <a:noFill/>
        </p:spPr>
        <p:txBody>
          <a:bodyPr wrap="square">
            <a:spAutoFit/>
          </a:bodyPr>
          <a:lstStyle/>
          <a:p>
            <a:pPr algn="l">
              <a:spcAft>
                <a:spcPts val="200"/>
              </a:spcAft>
              <a:defRPr sz="2000" b="1">
                <a:solidFill>
                  <a:srgbClr val="FFFFFF"/>
                </a:solidFill>
                <a:latin typeface="Calibri"/>
              </a:defRPr>
            </a:pPr>
            <a:r>
              <a:t>UC17 | Autonomous Cognitive Concern Detection</a:t>
            </a:r>
          </a:p>
        </p:txBody>
      </p:sp>
      <p:sp>
        <p:nvSpPr>
          <p:cNvPr id="4" name="Rectangle 3"/>
          <p:cNvSpPr/>
          <p:nvPr/>
        </p:nvSpPr>
        <p:spPr>
          <a:xfrm>
            <a:off x="365760" y="658368"/>
            <a:ext cx="1828800" cy="27432"/>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777240"/>
            <a:ext cx="1371600" cy="182880"/>
          </a:xfrm>
          <a:prstGeom prst="rect">
            <a:avLst/>
          </a:prstGeom>
          <a:noFill/>
        </p:spPr>
        <p:txBody>
          <a:bodyPr wrap="square">
            <a:spAutoFit/>
          </a:bodyPr>
          <a:lstStyle/>
          <a:p>
            <a:pPr algn="l">
              <a:spcAft>
                <a:spcPts val="200"/>
              </a:spcAft>
              <a:defRPr sz="800" b="1">
                <a:solidFill>
                  <a:srgbClr val="0A1628"/>
                </a:solidFill>
                <a:latin typeface="Calibri"/>
              </a:defRPr>
            </a:pPr>
            <a:r>
              <a:t>CHALLENGE</a:t>
            </a:r>
          </a:p>
        </p:txBody>
      </p:sp>
      <p:sp>
        <p:nvSpPr>
          <p:cNvPr id="6" name="TextBox 5"/>
          <p:cNvSpPr txBox="1"/>
          <p:nvPr/>
        </p:nvSpPr>
        <p:spPr>
          <a:xfrm>
            <a:off x="365760" y="960120"/>
            <a:ext cx="3520440" cy="1280160"/>
          </a:xfrm>
          <a:prstGeom prst="rect">
            <a:avLst/>
          </a:prstGeom>
          <a:noFill/>
        </p:spPr>
        <p:txBody>
          <a:bodyPr wrap="square">
            <a:spAutoFit/>
          </a:bodyPr>
          <a:lstStyle/>
          <a:p>
            <a:pPr algn="l">
              <a:spcAft>
                <a:spcPts val="200"/>
              </a:spcAft>
              <a:defRPr sz="750" b="0">
                <a:solidFill>
                  <a:srgbClr val="0A1628"/>
                </a:solidFill>
                <a:latin typeface="Calibri"/>
              </a:defRPr>
            </a:pPr>
            <a:r>
              <a:t>• Early detection of cognitive impairment limited by screening tools</a:t>
            </a:r>
            <a:br/>
            <a:r>
              <a:t>• Traditional screening requires significant clinical resources</a:t>
            </a:r>
            <a:br/>
            <a:r>
              <a:t>• Expert-driven prompt refinement is time-intensive and costly</a:t>
            </a:r>
            <a:br/>
            <a:r>
              <a:t>• Prevalence shift between datasets impacts generalizability</a:t>
            </a:r>
          </a:p>
        </p:txBody>
      </p:sp>
      <p:sp>
        <p:nvSpPr>
          <p:cNvPr id="7" name="TextBox 6"/>
          <p:cNvSpPr txBox="1"/>
          <p:nvPr/>
        </p:nvSpPr>
        <p:spPr>
          <a:xfrm>
            <a:off x="4023360" y="777240"/>
            <a:ext cx="1828800" cy="182880"/>
          </a:xfrm>
          <a:prstGeom prst="rect">
            <a:avLst/>
          </a:prstGeom>
          <a:noFill/>
        </p:spPr>
        <p:txBody>
          <a:bodyPr wrap="square">
            <a:spAutoFit/>
          </a:bodyPr>
          <a:lstStyle/>
          <a:p>
            <a:pPr algn="l">
              <a:spcAft>
                <a:spcPts val="200"/>
              </a:spcAft>
              <a:defRPr sz="800" b="1">
                <a:solidFill>
                  <a:srgbClr val="0A1628"/>
                </a:solidFill>
                <a:latin typeface="Calibri"/>
              </a:defRPr>
            </a:pPr>
            <a:r>
              <a:t>AGENTIC SOLUTION</a:t>
            </a:r>
          </a:p>
        </p:txBody>
      </p:sp>
      <p:sp>
        <p:nvSpPr>
          <p:cNvPr id="8" name="TextBox 7"/>
          <p:cNvSpPr txBox="1"/>
          <p:nvPr/>
        </p:nvSpPr>
        <p:spPr>
          <a:xfrm>
            <a:off x="4023360" y="960120"/>
            <a:ext cx="3520440" cy="1280160"/>
          </a:xfrm>
          <a:prstGeom prst="rect">
            <a:avLst/>
          </a:prstGeom>
          <a:noFill/>
        </p:spPr>
        <p:txBody>
          <a:bodyPr wrap="square">
            <a:spAutoFit/>
          </a:bodyPr>
          <a:lstStyle/>
          <a:p>
            <a:pPr algn="l">
              <a:spcAft>
                <a:spcPts val="200"/>
              </a:spcAft>
              <a:defRPr sz="750" b="0">
                <a:solidFill>
                  <a:srgbClr val="0A1628"/>
                </a:solidFill>
                <a:latin typeface="Calibri"/>
              </a:defRPr>
            </a:pPr>
            <a:r>
              <a:t>• 5 specialized agents: sensitivity, specificity, clinical reasoning synthesis</a:t>
            </a:r>
            <a:br/>
            <a:r>
              <a:t>• Fully autonomous — zero human input after deployment</a:t>
            </a:r>
            <a:br/>
            <a:r>
              <a:t>• Iterative self-refinement through transparent agent interactions</a:t>
            </a:r>
            <a:br/>
            <a:r>
              <a:t>• Comparable to expert-level performance on clinical notes</a:t>
            </a:r>
          </a:p>
        </p:txBody>
      </p:sp>
      <p:sp>
        <p:nvSpPr>
          <p:cNvPr id="9" name="Rectangle 8"/>
          <p:cNvSpPr/>
          <p:nvPr/>
        </p:nvSpPr>
        <p:spPr>
          <a:xfrm>
            <a:off x="365760"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65760"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F1=0.74</a:t>
            </a:r>
          </a:p>
        </p:txBody>
      </p:sp>
      <p:sp>
        <p:nvSpPr>
          <p:cNvPr id="11" name="TextBox 10"/>
          <p:cNvSpPr txBox="1"/>
          <p:nvPr/>
        </p:nvSpPr>
        <p:spPr>
          <a:xfrm>
            <a:off x="365760"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Validation</a:t>
            </a:r>
            <a:br/>
            <a:r>
              <a:t>performance</a:t>
            </a:r>
          </a:p>
        </p:txBody>
      </p:sp>
      <p:sp>
        <p:nvSpPr>
          <p:cNvPr id="12" name="Rectangle 11"/>
          <p:cNvSpPr/>
          <p:nvPr/>
        </p:nvSpPr>
        <p:spPr>
          <a:xfrm>
            <a:off x="2240279"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240279"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F1=0.93</a:t>
            </a:r>
          </a:p>
        </p:txBody>
      </p:sp>
      <p:sp>
        <p:nvSpPr>
          <p:cNvPr id="14" name="TextBox 13"/>
          <p:cNvSpPr txBox="1"/>
          <p:nvPr/>
        </p:nvSpPr>
        <p:spPr>
          <a:xfrm>
            <a:off x="2240279"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Refinement</a:t>
            </a:r>
            <a:br/>
            <a:r>
              <a:t>dataset score</a:t>
            </a:r>
          </a:p>
        </p:txBody>
      </p:sp>
      <p:sp>
        <p:nvSpPr>
          <p:cNvPr id="15" name="Rectangle 14"/>
          <p:cNvSpPr/>
          <p:nvPr/>
        </p:nvSpPr>
        <p:spPr>
          <a:xfrm>
            <a:off x="4114799"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114799"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5</a:t>
            </a:r>
          </a:p>
        </p:txBody>
      </p:sp>
      <p:sp>
        <p:nvSpPr>
          <p:cNvPr id="17" name="TextBox 16"/>
          <p:cNvSpPr txBox="1"/>
          <p:nvPr/>
        </p:nvSpPr>
        <p:spPr>
          <a:xfrm>
            <a:off x="4114799"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Specialized</a:t>
            </a:r>
            <a:br/>
            <a:r>
              <a:t>agents</a:t>
            </a:r>
          </a:p>
        </p:txBody>
      </p:sp>
      <p:sp>
        <p:nvSpPr>
          <p:cNvPr id="18" name="Rectangle 17"/>
          <p:cNvSpPr/>
          <p:nvPr/>
        </p:nvSpPr>
        <p:spPr>
          <a:xfrm>
            <a:off x="5989319"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989319"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0</a:t>
            </a:r>
          </a:p>
        </p:txBody>
      </p:sp>
      <p:sp>
        <p:nvSpPr>
          <p:cNvPr id="20" name="TextBox 19"/>
          <p:cNvSpPr txBox="1"/>
          <p:nvPr/>
        </p:nvSpPr>
        <p:spPr>
          <a:xfrm>
            <a:off x="5989319"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Human input</a:t>
            </a:r>
            <a:br/>
            <a:r>
              <a:t>after deployment</a:t>
            </a:r>
          </a:p>
        </p:txBody>
      </p:sp>
      <p:sp>
        <p:nvSpPr>
          <p:cNvPr id="21" name="TextBox 20"/>
          <p:cNvSpPr txBox="1"/>
          <p:nvPr/>
        </p:nvSpPr>
        <p:spPr>
          <a:xfrm>
            <a:off x="365760" y="3246120"/>
            <a:ext cx="1828800" cy="182880"/>
          </a:xfrm>
          <a:prstGeom prst="rect">
            <a:avLst/>
          </a:prstGeom>
          <a:noFill/>
        </p:spPr>
        <p:txBody>
          <a:bodyPr wrap="square">
            <a:spAutoFit/>
          </a:bodyPr>
          <a:lstStyle/>
          <a:p>
            <a:pPr algn="l">
              <a:spcAft>
                <a:spcPts val="200"/>
              </a:spcAft>
              <a:defRPr sz="800" b="1">
                <a:solidFill>
                  <a:srgbClr val="0A1628"/>
                </a:solidFill>
                <a:latin typeface="Calibri"/>
              </a:defRPr>
            </a:pPr>
            <a:r>
              <a:t>HOW IT WORKS</a:t>
            </a:r>
          </a:p>
        </p:txBody>
      </p:sp>
      <p:sp>
        <p:nvSpPr>
          <p:cNvPr id="22" name="TextBox 21"/>
          <p:cNvSpPr txBox="1"/>
          <p:nvPr/>
        </p:nvSpPr>
        <p:spPr>
          <a:xfrm>
            <a:off x="365760" y="3429000"/>
            <a:ext cx="7436815" cy="594360"/>
          </a:xfrm>
          <a:prstGeom prst="rect">
            <a:avLst/>
          </a:prstGeom>
          <a:noFill/>
        </p:spPr>
        <p:txBody>
          <a:bodyPr wrap="square">
            <a:spAutoFit/>
          </a:bodyPr>
          <a:lstStyle/>
          <a:p>
            <a:pPr algn="l">
              <a:spcAft>
                <a:spcPts val="200"/>
              </a:spcAft>
              <a:defRPr sz="700" b="0">
                <a:solidFill>
                  <a:srgbClr val="0A1628"/>
                </a:solidFill>
                <a:latin typeface="Calibri"/>
              </a:defRPr>
            </a:pPr>
            <a:r>
              <a:t>→ Specialist Agent: focused clinical decisions (256 tokens, deterministic)</a:t>
            </a:r>
            <a:br/>
            <a:r>
              <a:t>→ Optimization agents: comprehensive analysis (512 tokens each)</a:t>
            </a:r>
            <a:br/>
            <a:r>
              <a:t>→ Iterative refinement: max 5 cycles until sensitivity + specificity ≥ 0.9</a:t>
            </a:r>
            <a:br/>
            <a:r>
              <a:t>→ Sequential execution: each agent receives structured context from prior</a:t>
            </a:r>
          </a:p>
        </p:txBody>
      </p:sp>
      <p:sp>
        <p:nvSpPr>
          <p:cNvPr id="23" name="TextBox 22"/>
          <p:cNvSpPr txBox="1"/>
          <p:nvPr/>
        </p:nvSpPr>
        <p:spPr>
          <a:xfrm>
            <a:off x="365760" y="4069080"/>
            <a:ext cx="3200400" cy="182880"/>
          </a:xfrm>
          <a:prstGeom prst="rect">
            <a:avLst/>
          </a:prstGeom>
          <a:noFill/>
        </p:spPr>
        <p:txBody>
          <a:bodyPr wrap="square">
            <a:spAutoFit/>
          </a:bodyPr>
          <a:lstStyle/>
          <a:p>
            <a:pPr algn="l">
              <a:spcAft>
                <a:spcPts val="200"/>
              </a:spcAft>
              <a:defRPr sz="750" b="1">
                <a:solidFill>
                  <a:srgbClr val="0A1628"/>
                </a:solidFill>
                <a:latin typeface="Calibri"/>
              </a:defRPr>
            </a:pPr>
            <a:r>
              <a:t>AGENT ARCHITECTURE</a:t>
            </a:r>
          </a:p>
        </p:txBody>
      </p:sp>
      <p:sp>
        <p:nvSpPr>
          <p:cNvPr id="24" name="TextBox 23"/>
          <p:cNvSpPr txBox="1"/>
          <p:nvPr/>
        </p:nvSpPr>
        <p:spPr>
          <a:xfrm>
            <a:off x="365760" y="4251960"/>
            <a:ext cx="3520440" cy="777240"/>
          </a:xfrm>
          <a:prstGeom prst="rect">
            <a:avLst/>
          </a:prstGeom>
          <a:noFill/>
        </p:spPr>
        <p:txBody>
          <a:bodyPr wrap="square">
            <a:spAutoFit/>
          </a:bodyPr>
          <a:lstStyle/>
          <a:p>
            <a:pPr algn="l">
              <a:spcAft>
                <a:spcPts val="200"/>
              </a:spcAft>
              <a:defRPr sz="700" b="0">
                <a:solidFill>
                  <a:srgbClr val="0A1628"/>
                </a:solidFill>
                <a:latin typeface="Calibri"/>
              </a:defRPr>
            </a:pPr>
            <a:r>
              <a:t>• 5 agents on Llama3.1: each represents clinical reasoning domain</a:t>
            </a:r>
            <a:br/>
            <a:r>
              <a:t>• Deterministic parameters (temperature=0) for reproducibility</a:t>
            </a:r>
            <a:br/>
            <a:r>
              <a:t>• String-based prompt passing with context payload + task specification</a:t>
            </a:r>
            <a:br/>
            <a:r>
              <a:t>• Convergence criterion: improvement &lt;0.01 or both metrics ≥0.9</a:t>
            </a:r>
          </a:p>
        </p:txBody>
      </p:sp>
      <p:sp>
        <p:nvSpPr>
          <p:cNvPr id="25" name="TextBox 24"/>
          <p:cNvSpPr txBox="1"/>
          <p:nvPr/>
        </p:nvSpPr>
        <p:spPr>
          <a:xfrm>
            <a:off x="4023360" y="4069080"/>
            <a:ext cx="3200400" cy="182880"/>
          </a:xfrm>
          <a:prstGeom prst="rect">
            <a:avLst/>
          </a:prstGeom>
          <a:noFill/>
        </p:spPr>
        <p:txBody>
          <a:bodyPr wrap="square">
            <a:spAutoFit/>
          </a:bodyPr>
          <a:lstStyle/>
          <a:p>
            <a:pPr algn="l">
              <a:spcAft>
                <a:spcPts val="200"/>
              </a:spcAft>
              <a:defRPr sz="750" b="1">
                <a:solidFill>
                  <a:srgbClr val="0A1628"/>
                </a:solidFill>
                <a:latin typeface="Calibri"/>
              </a:defRPr>
            </a:pPr>
            <a:r>
              <a:t>GOVERNANCE &amp; COMPLIANCE</a:t>
            </a:r>
          </a:p>
        </p:txBody>
      </p:sp>
      <p:sp>
        <p:nvSpPr>
          <p:cNvPr id="26" name="TextBox 25"/>
          <p:cNvSpPr txBox="1"/>
          <p:nvPr/>
        </p:nvSpPr>
        <p:spPr>
          <a:xfrm>
            <a:off x="4023360" y="4251960"/>
            <a:ext cx="3520440" cy="777240"/>
          </a:xfrm>
          <a:prstGeom prst="rect">
            <a:avLst/>
          </a:prstGeom>
          <a:noFill/>
        </p:spPr>
        <p:txBody>
          <a:bodyPr wrap="square">
            <a:spAutoFit/>
          </a:bodyPr>
          <a:lstStyle/>
          <a:p>
            <a:pPr algn="l">
              <a:spcAft>
                <a:spcPts val="200"/>
              </a:spcAft>
              <a:defRPr sz="700" b="0">
                <a:solidFill>
                  <a:srgbClr val="0A1628"/>
                </a:solidFill>
                <a:latin typeface="Calibri"/>
              </a:defRPr>
            </a:pPr>
            <a:r>
              <a:t>• 44% of apparent false negatives were clinically appropriate reasoning</a:t>
            </a:r>
            <a:br/>
            <a:r>
              <a:t>• Complete agent interaction trace for clinical auditability</a:t>
            </a:r>
            <a:br/>
            <a:r>
              <a:t>• Interpretable reasoning supporting clinical decision-making</a:t>
            </a:r>
          </a:p>
        </p:txBody>
      </p:sp>
      <p:sp>
        <p:nvSpPr>
          <p:cNvPr id="27" name="Rectangle 26"/>
          <p:cNvSpPr/>
          <p:nvPr/>
        </p:nvSpPr>
        <p:spPr>
          <a:xfrm>
            <a:off x="274320" y="5074920"/>
            <a:ext cx="7619695" cy="77724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65760" y="5111496"/>
            <a:ext cx="1828800" cy="164592"/>
          </a:xfrm>
          <a:prstGeom prst="rect">
            <a:avLst/>
          </a:prstGeom>
          <a:noFill/>
        </p:spPr>
        <p:txBody>
          <a:bodyPr wrap="square">
            <a:spAutoFit/>
          </a:bodyPr>
          <a:lstStyle/>
          <a:p>
            <a:pPr algn="l">
              <a:spcAft>
                <a:spcPts val="200"/>
              </a:spcAft>
              <a:defRPr sz="750" b="1">
                <a:solidFill>
                  <a:srgbClr val="00C9A7"/>
                </a:solidFill>
                <a:latin typeface="Calibri"/>
              </a:defRPr>
            </a:pPr>
            <a:r>
              <a:t>TECHNOLOGY STACK</a:t>
            </a:r>
          </a:p>
        </p:txBody>
      </p:sp>
      <p:sp>
        <p:nvSpPr>
          <p:cNvPr id="29" name="TextBox 28"/>
          <p:cNvSpPr txBox="1"/>
          <p:nvPr/>
        </p:nvSpPr>
        <p:spPr>
          <a:xfrm>
            <a:off x="365760"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Model</a:t>
            </a:r>
          </a:p>
        </p:txBody>
      </p:sp>
      <p:sp>
        <p:nvSpPr>
          <p:cNvPr id="30" name="TextBox 29"/>
          <p:cNvSpPr txBox="1"/>
          <p:nvPr/>
        </p:nvSpPr>
        <p:spPr>
          <a:xfrm>
            <a:off x="365760"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Llama 3.1 8B</a:t>
            </a:r>
            <a:br/>
            <a:r>
              <a:t>(efficient)</a:t>
            </a:r>
          </a:p>
        </p:txBody>
      </p:sp>
      <p:sp>
        <p:nvSpPr>
          <p:cNvPr id="31" name="TextBox 30"/>
          <p:cNvSpPr txBox="1"/>
          <p:nvPr/>
        </p:nvSpPr>
        <p:spPr>
          <a:xfrm>
            <a:off x="2240279"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Agents</a:t>
            </a:r>
          </a:p>
        </p:txBody>
      </p:sp>
      <p:sp>
        <p:nvSpPr>
          <p:cNvPr id="32" name="TextBox 31"/>
          <p:cNvSpPr txBox="1"/>
          <p:nvPr/>
        </p:nvSpPr>
        <p:spPr>
          <a:xfrm>
            <a:off x="2240279"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5 specialized</a:t>
            </a:r>
            <a:br/>
            <a:r>
              <a:t>clinical domains</a:t>
            </a:r>
          </a:p>
        </p:txBody>
      </p:sp>
      <p:sp>
        <p:nvSpPr>
          <p:cNvPr id="33" name="TextBox 32"/>
          <p:cNvSpPr txBox="1"/>
          <p:nvPr/>
        </p:nvSpPr>
        <p:spPr>
          <a:xfrm>
            <a:off x="4114799"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Method</a:t>
            </a:r>
          </a:p>
        </p:txBody>
      </p:sp>
      <p:sp>
        <p:nvSpPr>
          <p:cNvPr id="34" name="TextBox 33"/>
          <p:cNvSpPr txBox="1"/>
          <p:nvPr/>
        </p:nvSpPr>
        <p:spPr>
          <a:xfrm>
            <a:off x="4114799"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Autonomous</a:t>
            </a:r>
            <a:br/>
            <a:r>
              <a:t>self-optimization</a:t>
            </a:r>
          </a:p>
        </p:txBody>
      </p:sp>
      <p:sp>
        <p:nvSpPr>
          <p:cNvPr id="35" name="TextBox 34"/>
          <p:cNvSpPr txBox="1"/>
          <p:nvPr/>
        </p:nvSpPr>
        <p:spPr>
          <a:xfrm>
            <a:off x="5989319"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Evaluation</a:t>
            </a:r>
          </a:p>
        </p:txBody>
      </p:sp>
      <p:sp>
        <p:nvSpPr>
          <p:cNvPr id="36" name="TextBox 35"/>
          <p:cNvSpPr txBox="1"/>
          <p:nvPr/>
        </p:nvSpPr>
        <p:spPr>
          <a:xfrm>
            <a:off x="5989319"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Sensitivity +</a:t>
            </a:r>
            <a:br/>
            <a:r>
              <a:t>specificity tracking</a:t>
            </a:r>
          </a:p>
        </p:txBody>
      </p:sp>
      <p:sp>
        <p:nvSpPr>
          <p:cNvPr id="37" name="Rectangle 36"/>
          <p:cNvSpPr/>
          <p:nvPr/>
        </p:nvSpPr>
        <p:spPr>
          <a:xfrm>
            <a:off x="274320" y="5943600"/>
            <a:ext cx="3657600" cy="320040"/>
          </a:xfrm>
          <a:prstGeom prst="rect">
            <a:avLst/>
          </a:prstGeom>
          <a:solidFill>
            <a:srgbClr val="009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365760" y="5980176"/>
            <a:ext cx="3474720" cy="256032"/>
          </a:xfrm>
          <a:prstGeom prst="rect">
            <a:avLst/>
          </a:prstGeom>
          <a:noFill/>
        </p:spPr>
        <p:txBody>
          <a:bodyPr wrap="square">
            <a:spAutoFit/>
          </a:bodyPr>
          <a:lstStyle/>
          <a:p>
            <a:pPr algn="l">
              <a:spcAft>
                <a:spcPts val="200"/>
              </a:spcAft>
              <a:defRPr sz="650" b="1">
                <a:solidFill>
                  <a:srgbClr val="FFFFFF"/>
                </a:solidFill>
                <a:latin typeface="Calibri"/>
              </a:defRPr>
            </a:pPr>
            <a:r>
              <a:t>INDUSTRY: Healthcare &amp; Life Sciences</a:t>
            </a:r>
          </a:p>
        </p:txBody>
      </p:sp>
      <p:sp>
        <p:nvSpPr>
          <p:cNvPr id="39" name="Rectangle 38"/>
          <p:cNvSpPr/>
          <p:nvPr/>
        </p:nvSpPr>
        <p:spPr>
          <a:xfrm>
            <a:off x="4114800" y="5943600"/>
            <a:ext cx="3657600" cy="320040"/>
          </a:xfrm>
          <a:prstGeom prst="rect">
            <a:avLst/>
          </a:prstGeom>
          <a:solidFill>
            <a:srgbClr val="008F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4206240" y="5980176"/>
            <a:ext cx="3474720" cy="256032"/>
          </a:xfrm>
          <a:prstGeom prst="rect">
            <a:avLst/>
          </a:prstGeom>
          <a:noFill/>
        </p:spPr>
        <p:txBody>
          <a:bodyPr wrap="square">
            <a:spAutoFit/>
          </a:bodyPr>
          <a:lstStyle/>
          <a:p>
            <a:pPr algn="l">
              <a:spcAft>
                <a:spcPts val="200"/>
              </a:spcAft>
              <a:defRPr sz="650" b="1">
                <a:solidFill>
                  <a:srgbClr val="FFFFFF"/>
                </a:solidFill>
                <a:latin typeface="Calibri"/>
              </a:defRPr>
            </a:pPr>
            <a:r>
              <a:t>AGENT TYPE: Data Agent</a:t>
            </a:r>
          </a:p>
        </p:txBody>
      </p:sp>
      <p:pic>
        <p:nvPicPr>
          <p:cNvPr id="41" name="Picture 40" descr="image.jpg"/>
          <p:cNvPicPr>
            <a:picLocks noChangeAspect="1"/>
          </p:cNvPicPr>
          <p:nvPr/>
        </p:nvPicPr>
        <p:blipFill>
          <a:blip r:embed="rId2"/>
          <a:stretch>
            <a:fillRect/>
          </a:stretch>
        </p:blipFill>
        <p:spPr>
          <a:xfrm>
            <a:off x="8076895" y="0"/>
            <a:ext cx="4114800" cy="6858000"/>
          </a:xfrm>
          <a:prstGeom prst="rect">
            <a:avLst/>
          </a:prstGeom>
        </p:spPr>
      </p:pic>
      <p:sp>
        <p:nvSpPr>
          <p:cNvPr id="42" name="TextBox 41"/>
          <p:cNvSpPr txBox="1"/>
          <p:nvPr/>
        </p:nvSpPr>
        <p:spPr>
          <a:xfrm>
            <a:off x="274320" y="6492240"/>
            <a:ext cx="4572000" cy="274320"/>
          </a:xfrm>
          <a:prstGeom prst="rect">
            <a:avLst/>
          </a:prstGeom>
          <a:noFill/>
        </p:spPr>
        <p:txBody>
          <a:bodyPr wrap="square">
            <a:spAutoFit/>
          </a:bodyPr>
          <a:lstStyle/>
          <a:p>
            <a:pPr algn="l">
              <a:spcAft>
                <a:spcPts val="200"/>
              </a:spcAft>
              <a:defRPr sz="700" b="0">
                <a:solidFill>
                  <a:srgbClr val="888888"/>
                </a:solidFill>
                <a:latin typeface="Calibri"/>
              </a:defRPr>
            </a:pPr>
            <a:r>
              <a:t>Agentic AI Use Cases Across Industries | Confidential</a:t>
            </a:r>
          </a:p>
        </p:txBody>
      </p:sp>
      <p:sp>
        <p:nvSpPr>
          <p:cNvPr id="43" name="TextBox 42"/>
          <p:cNvSpPr txBox="1"/>
          <p:nvPr/>
        </p:nvSpPr>
        <p:spPr>
          <a:xfrm>
            <a:off x="11094415" y="6492240"/>
            <a:ext cx="822960" cy="274320"/>
          </a:xfrm>
          <a:prstGeom prst="rect">
            <a:avLst/>
          </a:prstGeom>
          <a:noFill/>
        </p:spPr>
        <p:txBody>
          <a:bodyPr wrap="square">
            <a:spAutoFit/>
          </a:bodyPr>
          <a:lstStyle/>
          <a:p>
            <a:pPr algn="r">
              <a:spcAft>
                <a:spcPts val="200"/>
              </a:spcAft>
              <a:defRPr sz="700" b="0">
                <a:solidFill>
                  <a:srgbClr val="888888"/>
                </a:solidFill>
                <a:latin typeface="Calibri"/>
              </a:defRPr>
            </a:pPr>
            <a:r>
              <a:t>27 / 46</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8076895" cy="6858000"/>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82880"/>
            <a:ext cx="7436815" cy="502920"/>
          </a:xfrm>
          <a:prstGeom prst="rect">
            <a:avLst/>
          </a:prstGeom>
          <a:noFill/>
        </p:spPr>
        <p:txBody>
          <a:bodyPr wrap="square">
            <a:spAutoFit/>
          </a:bodyPr>
          <a:lstStyle/>
          <a:p>
            <a:pPr algn="l">
              <a:spcAft>
                <a:spcPts val="200"/>
              </a:spcAft>
              <a:defRPr sz="2000" b="1">
                <a:solidFill>
                  <a:srgbClr val="FFFFFF"/>
                </a:solidFill>
                <a:latin typeface="Calibri"/>
              </a:defRPr>
            </a:pPr>
            <a:r>
              <a:t>UC18 | TXAGENT — Precision Therapeutics Agent</a:t>
            </a:r>
          </a:p>
        </p:txBody>
      </p:sp>
      <p:sp>
        <p:nvSpPr>
          <p:cNvPr id="4" name="Rectangle 3"/>
          <p:cNvSpPr/>
          <p:nvPr/>
        </p:nvSpPr>
        <p:spPr>
          <a:xfrm>
            <a:off x="365760" y="658368"/>
            <a:ext cx="1828800" cy="27432"/>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777240"/>
            <a:ext cx="1371600" cy="182880"/>
          </a:xfrm>
          <a:prstGeom prst="rect">
            <a:avLst/>
          </a:prstGeom>
          <a:noFill/>
        </p:spPr>
        <p:txBody>
          <a:bodyPr wrap="square">
            <a:spAutoFit/>
          </a:bodyPr>
          <a:lstStyle/>
          <a:p>
            <a:pPr algn="l">
              <a:spcAft>
                <a:spcPts val="200"/>
              </a:spcAft>
              <a:defRPr sz="800" b="1">
                <a:solidFill>
                  <a:srgbClr val="0A1628"/>
                </a:solidFill>
                <a:latin typeface="Calibri"/>
              </a:defRPr>
            </a:pPr>
            <a:r>
              <a:t>CHALLENGE</a:t>
            </a:r>
          </a:p>
        </p:txBody>
      </p:sp>
      <p:sp>
        <p:nvSpPr>
          <p:cNvPr id="6" name="TextBox 5"/>
          <p:cNvSpPr txBox="1"/>
          <p:nvPr/>
        </p:nvSpPr>
        <p:spPr>
          <a:xfrm>
            <a:off x="365760" y="960120"/>
            <a:ext cx="3520440" cy="1280160"/>
          </a:xfrm>
          <a:prstGeom prst="rect">
            <a:avLst/>
          </a:prstGeom>
          <a:noFill/>
        </p:spPr>
        <p:txBody>
          <a:bodyPr wrap="square">
            <a:spAutoFit/>
          </a:bodyPr>
          <a:lstStyle/>
          <a:p>
            <a:pPr algn="l">
              <a:spcAft>
                <a:spcPts val="200"/>
              </a:spcAft>
              <a:defRPr sz="750" b="0">
                <a:solidFill>
                  <a:srgbClr val="0A1628"/>
                </a:solidFill>
                <a:latin typeface="Calibri"/>
              </a:defRPr>
            </a:pPr>
            <a:r>
              <a:t>• Precision therapeutics require multimodal adaptive treatment models</a:t>
            </a:r>
            <a:br/>
            <a:r>
              <a:t>• Clinicians must reason across drugs, genes, diseases simultaneously</a:t>
            </a:r>
            <a:br/>
            <a:r>
              <a:t>• Static knowledge bases become outdated as guidelines evolve</a:t>
            </a:r>
            <a:br/>
            <a:r>
              <a:t>• Complex queries require multi-step reasoning across diverse sources</a:t>
            </a:r>
          </a:p>
        </p:txBody>
      </p:sp>
      <p:sp>
        <p:nvSpPr>
          <p:cNvPr id="7" name="TextBox 6"/>
          <p:cNvSpPr txBox="1"/>
          <p:nvPr/>
        </p:nvSpPr>
        <p:spPr>
          <a:xfrm>
            <a:off x="4023360" y="777240"/>
            <a:ext cx="1828800" cy="182880"/>
          </a:xfrm>
          <a:prstGeom prst="rect">
            <a:avLst/>
          </a:prstGeom>
          <a:noFill/>
        </p:spPr>
        <p:txBody>
          <a:bodyPr wrap="square">
            <a:spAutoFit/>
          </a:bodyPr>
          <a:lstStyle/>
          <a:p>
            <a:pPr algn="l">
              <a:spcAft>
                <a:spcPts val="200"/>
              </a:spcAft>
              <a:defRPr sz="800" b="1">
                <a:solidFill>
                  <a:srgbClr val="0A1628"/>
                </a:solidFill>
                <a:latin typeface="Calibri"/>
              </a:defRPr>
            </a:pPr>
            <a:r>
              <a:t>AGENTIC SOLUTION</a:t>
            </a:r>
          </a:p>
        </p:txBody>
      </p:sp>
      <p:sp>
        <p:nvSpPr>
          <p:cNvPr id="8" name="TextBox 7"/>
          <p:cNvSpPr txBox="1"/>
          <p:nvPr/>
        </p:nvSpPr>
        <p:spPr>
          <a:xfrm>
            <a:off x="4023360" y="960120"/>
            <a:ext cx="3520440" cy="1280160"/>
          </a:xfrm>
          <a:prstGeom prst="rect">
            <a:avLst/>
          </a:prstGeom>
          <a:noFill/>
        </p:spPr>
        <p:txBody>
          <a:bodyPr wrap="square">
            <a:spAutoFit/>
          </a:bodyPr>
          <a:lstStyle/>
          <a:p>
            <a:pPr algn="l">
              <a:spcAft>
                <a:spcPts val="200"/>
              </a:spcAft>
              <a:defRPr sz="750" b="0">
                <a:solidFill>
                  <a:srgbClr val="0A1628"/>
                </a:solidFill>
                <a:latin typeface="Calibri"/>
              </a:defRPr>
            </a:pPr>
            <a:r>
              <a:t>• AI agent with 211 biomedical tools for multi-step therapeutic reasoning</a:t>
            </a:r>
            <a:br/>
            <a:r>
              <a:t>• TOOLUNIVERSE: consolidated toolbox of databases + ML models</a:t>
            </a:r>
            <a:br/>
            <a:r>
              <a:t>• Real-time retrieval from continually updated knowledge sources</a:t>
            </a:r>
            <a:br/>
            <a:r>
              <a:t>• Transparent reasoning traces grounded in multi-source evidence</a:t>
            </a:r>
          </a:p>
        </p:txBody>
      </p:sp>
      <p:sp>
        <p:nvSpPr>
          <p:cNvPr id="9" name="Rectangle 8"/>
          <p:cNvSpPr/>
          <p:nvPr/>
        </p:nvSpPr>
        <p:spPr>
          <a:xfrm>
            <a:off x="365760"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65760"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211</a:t>
            </a:r>
          </a:p>
        </p:txBody>
      </p:sp>
      <p:sp>
        <p:nvSpPr>
          <p:cNvPr id="11" name="TextBox 10"/>
          <p:cNvSpPr txBox="1"/>
          <p:nvPr/>
        </p:nvSpPr>
        <p:spPr>
          <a:xfrm>
            <a:off x="365760"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Biomedical</a:t>
            </a:r>
            <a:br/>
            <a:r>
              <a:t>tools</a:t>
            </a:r>
          </a:p>
        </p:txBody>
      </p:sp>
      <p:sp>
        <p:nvSpPr>
          <p:cNvPr id="12" name="Rectangle 11"/>
          <p:cNvSpPr/>
          <p:nvPr/>
        </p:nvSpPr>
        <p:spPr>
          <a:xfrm>
            <a:off x="2240279"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240279"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Multi-step</a:t>
            </a:r>
          </a:p>
        </p:txBody>
      </p:sp>
      <p:sp>
        <p:nvSpPr>
          <p:cNvPr id="14" name="TextBox 13"/>
          <p:cNvSpPr txBox="1"/>
          <p:nvPr/>
        </p:nvSpPr>
        <p:spPr>
          <a:xfrm>
            <a:off x="2240279"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Therapeutic</a:t>
            </a:r>
            <a:br/>
            <a:r>
              <a:t>reasoning</a:t>
            </a:r>
          </a:p>
        </p:txBody>
      </p:sp>
      <p:sp>
        <p:nvSpPr>
          <p:cNvPr id="15" name="Rectangle 14"/>
          <p:cNvSpPr/>
          <p:nvPr/>
        </p:nvSpPr>
        <p:spPr>
          <a:xfrm>
            <a:off x="4114799"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114799"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Real-time</a:t>
            </a:r>
          </a:p>
        </p:txBody>
      </p:sp>
      <p:sp>
        <p:nvSpPr>
          <p:cNvPr id="17" name="TextBox 16"/>
          <p:cNvSpPr txBox="1"/>
          <p:nvPr/>
        </p:nvSpPr>
        <p:spPr>
          <a:xfrm>
            <a:off x="4114799"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Knowledge</a:t>
            </a:r>
            <a:br/>
            <a:r>
              <a:t>retrieval</a:t>
            </a:r>
          </a:p>
        </p:txBody>
      </p:sp>
      <p:sp>
        <p:nvSpPr>
          <p:cNvPr id="18" name="Rectangle 17"/>
          <p:cNvSpPr/>
          <p:nvPr/>
        </p:nvSpPr>
        <p:spPr>
          <a:xfrm>
            <a:off x="5989319"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989319"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Traceable</a:t>
            </a:r>
          </a:p>
        </p:txBody>
      </p:sp>
      <p:sp>
        <p:nvSpPr>
          <p:cNvPr id="20" name="TextBox 19"/>
          <p:cNvSpPr txBox="1"/>
          <p:nvPr/>
        </p:nvSpPr>
        <p:spPr>
          <a:xfrm>
            <a:off x="5989319"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Evidence-grounded</a:t>
            </a:r>
            <a:br/>
            <a:r>
              <a:t>recommendations</a:t>
            </a:r>
          </a:p>
        </p:txBody>
      </p:sp>
      <p:sp>
        <p:nvSpPr>
          <p:cNvPr id="21" name="TextBox 20"/>
          <p:cNvSpPr txBox="1"/>
          <p:nvPr/>
        </p:nvSpPr>
        <p:spPr>
          <a:xfrm>
            <a:off x="365760" y="3246120"/>
            <a:ext cx="1828800" cy="182880"/>
          </a:xfrm>
          <a:prstGeom prst="rect">
            <a:avLst/>
          </a:prstGeom>
          <a:noFill/>
        </p:spPr>
        <p:txBody>
          <a:bodyPr wrap="square">
            <a:spAutoFit/>
          </a:bodyPr>
          <a:lstStyle/>
          <a:p>
            <a:pPr algn="l">
              <a:spcAft>
                <a:spcPts val="200"/>
              </a:spcAft>
              <a:defRPr sz="800" b="1">
                <a:solidFill>
                  <a:srgbClr val="0A1628"/>
                </a:solidFill>
                <a:latin typeface="Calibri"/>
              </a:defRPr>
            </a:pPr>
            <a:r>
              <a:t>HOW IT WORKS</a:t>
            </a:r>
          </a:p>
        </p:txBody>
      </p:sp>
      <p:sp>
        <p:nvSpPr>
          <p:cNvPr id="22" name="TextBox 21"/>
          <p:cNvSpPr txBox="1"/>
          <p:nvPr/>
        </p:nvSpPr>
        <p:spPr>
          <a:xfrm>
            <a:off x="365760" y="3429000"/>
            <a:ext cx="7436815" cy="594360"/>
          </a:xfrm>
          <a:prstGeom prst="rect">
            <a:avLst/>
          </a:prstGeom>
          <a:noFill/>
        </p:spPr>
        <p:txBody>
          <a:bodyPr wrap="square">
            <a:spAutoFit/>
          </a:bodyPr>
          <a:lstStyle/>
          <a:p>
            <a:pPr algn="l">
              <a:spcAft>
                <a:spcPts val="200"/>
              </a:spcAft>
              <a:defRPr sz="700" b="0">
                <a:solidFill>
                  <a:srgbClr val="0A1628"/>
                </a:solidFill>
                <a:latin typeface="Calibri"/>
              </a:defRPr>
            </a:pPr>
            <a:r>
              <a:t>→ Receives therapeutic question → generates thought process</a:t>
            </a:r>
            <a:br/>
            <a:r>
              <a:t>→ TOOLRAG model selects relevant tools from TOOLUNIVERSE</a:t>
            </a:r>
            <a:br/>
            <a:r>
              <a:t>→ Iterative: invoke tools, receive feedback, refine reasoning</a:t>
            </a:r>
            <a:br/>
            <a:r>
              <a:t>→ FINISH tool concludes with final answer + multi-step trace</a:t>
            </a:r>
          </a:p>
        </p:txBody>
      </p:sp>
      <p:sp>
        <p:nvSpPr>
          <p:cNvPr id="23" name="TextBox 22"/>
          <p:cNvSpPr txBox="1"/>
          <p:nvPr/>
        </p:nvSpPr>
        <p:spPr>
          <a:xfrm>
            <a:off x="365760" y="4069080"/>
            <a:ext cx="3200400" cy="182880"/>
          </a:xfrm>
          <a:prstGeom prst="rect">
            <a:avLst/>
          </a:prstGeom>
          <a:noFill/>
        </p:spPr>
        <p:txBody>
          <a:bodyPr wrap="square">
            <a:spAutoFit/>
          </a:bodyPr>
          <a:lstStyle/>
          <a:p>
            <a:pPr algn="l">
              <a:spcAft>
                <a:spcPts val="200"/>
              </a:spcAft>
              <a:defRPr sz="750" b="1">
                <a:solidFill>
                  <a:srgbClr val="0A1628"/>
                </a:solidFill>
                <a:latin typeface="Calibri"/>
              </a:defRPr>
            </a:pPr>
            <a:r>
              <a:t>AGENT ARCHITECTURE</a:t>
            </a:r>
          </a:p>
        </p:txBody>
      </p:sp>
      <p:sp>
        <p:nvSpPr>
          <p:cNvPr id="24" name="TextBox 23"/>
          <p:cNvSpPr txBox="1"/>
          <p:nvPr/>
        </p:nvSpPr>
        <p:spPr>
          <a:xfrm>
            <a:off x="365760" y="4251960"/>
            <a:ext cx="3520440" cy="777240"/>
          </a:xfrm>
          <a:prstGeom prst="rect">
            <a:avLst/>
          </a:prstGeom>
          <a:noFill/>
        </p:spPr>
        <p:txBody>
          <a:bodyPr wrap="square">
            <a:spAutoFit/>
          </a:bodyPr>
          <a:lstStyle/>
          <a:p>
            <a:pPr algn="l">
              <a:spcAft>
                <a:spcPts val="200"/>
              </a:spcAft>
              <a:defRPr sz="700" b="0">
                <a:solidFill>
                  <a:srgbClr val="0A1628"/>
                </a:solidFill>
                <a:latin typeface="Calibri"/>
              </a:defRPr>
            </a:pPr>
            <a:r>
              <a:t>• TOOLRAG: adaptive tool retrieval model for 211 tools</a:t>
            </a:r>
            <a:br/>
            <a:r>
              <a:t>• TOOLGEN: multi-agent system that generates tools from API docs</a:t>
            </a:r>
            <a:br/>
            <a:r>
              <a:t>• TRACEGEN: multi-agent system for generating reasoning traces</a:t>
            </a:r>
            <a:br/>
            <a:r>
              <a:t>• Training: 85,340 multi-step reasoning samples</a:t>
            </a:r>
          </a:p>
        </p:txBody>
      </p:sp>
      <p:sp>
        <p:nvSpPr>
          <p:cNvPr id="25" name="TextBox 24"/>
          <p:cNvSpPr txBox="1"/>
          <p:nvPr/>
        </p:nvSpPr>
        <p:spPr>
          <a:xfrm>
            <a:off x="4023360" y="4069080"/>
            <a:ext cx="3200400" cy="182880"/>
          </a:xfrm>
          <a:prstGeom prst="rect">
            <a:avLst/>
          </a:prstGeom>
          <a:noFill/>
        </p:spPr>
        <p:txBody>
          <a:bodyPr wrap="square">
            <a:spAutoFit/>
          </a:bodyPr>
          <a:lstStyle/>
          <a:p>
            <a:pPr algn="l">
              <a:spcAft>
                <a:spcPts val="200"/>
              </a:spcAft>
              <a:defRPr sz="750" b="1">
                <a:solidFill>
                  <a:srgbClr val="0A1628"/>
                </a:solidFill>
                <a:latin typeface="Calibri"/>
              </a:defRPr>
            </a:pPr>
            <a:r>
              <a:t>GOVERNANCE &amp; COMPLIANCE</a:t>
            </a:r>
          </a:p>
        </p:txBody>
      </p:sp>
      <p:sp>
        <p:nvSpPr>
          <p:cNvPr id="26" name="TextBox 25"/>
          <p:cNvSpPr txBox="1"/>
          <p:nvPr/>
        </p:nvSpPr>
        <p:spPr>
          <a:xfrm>
            <a:off x="4023360" y="4251960"/>
            <a:ext cx="3520440" cy="777240"/>
          </a:xfrm>
          <a:prstGeom prst="rect">
            <a:avLst/>
          </a:prstGeom>
          <a:noFill/>
        </p:spPr>
        <p:txBody>
          <a:bodyPr wrap="square">
            <a:spAutoFit/>
          </a:bodyPr>
          <a:lstStyle/>
          <a:p>
            <a:pPr algn="l">
              <a:spcAft>
                <a:spcPts val="200"/>
              </a:spcAft>
              <a:defRPr sz="700" b="0">
                <a:solidFill>
                  <a:srgbClr val="0A1628"/>
                </a:solidFill>
                <a:latin typeface="Calibri"/>
              </a:defRPr>
            </a:pPr>
            <a:r>
              <a:t>• White-box reasoning: every step includes thought + tool call + feedback</a:t>
            </a:r>
            <a:br/>
            <a:r>
              <a:t>• Clinical guideline alignment verification</a:t>
            </a:r>
            <a:br/>
            <a:r>
              <a:t>• Real-world drug interaction and contraindication checking</a:t>
            </a:r>
          </a:p>
        </p:txBody>
      </p:sp>
      <p:sp>
        <p:nvSpPr>
          <p:cNvPr id="27" name="Rectangle 26"/>
          <p:cNvSpPr/>
          <p:nvPr/>
        </p:nvSpPr>
        <p:spPr>
          <a:xfrm>
            <a:off x="274320" y="5074920"/>
            <a:ext cx="7619695" cy="77724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65760" y="5111496"/>
            <a:ext cx="1828800" cy="164592"/>
          </a:xfrm>
          <a:prstGeom prst="rect">
            <a:avLst/>
          </a:prstGeom>
          <a:noFill/>
        </p:spPr>
        <p:txBody>
          <a:bodyPr wrap="square">
            <a:spAutoFit/>
          </a:bodyPr>
          <a:lstStyle/>
          <a:p>
            <a:pPr algn="l">
              <a:spcAft>
                <a:spcPts val="200"/>
              </a:spcAft>
              <a:defRPr sz="750" b="1">
                <a:solidFill>
                  <a:srgbClr val="00C9A7"/>
                </a:solidFill>
                <a:latin typeface="Calibri"/>
              </a:defRPr>
            </a:pPr>
            <a:r>
              <a:t>TECHNOLOGY STACK</a:t>
            </a:r>
          </a:p>
        </p:txBody>
      </p:sp>
      <p:sp>
        <p:nvSpPr>
          <p:cNvPr id="29" name="TextBox 28"/>
          <p:cNvSpPr txBox="1"/>
          <p:nvPr/>
        </p:nvSpPr>
        <p:spPr>
          <a:xfrm>
            <a:off x="365760"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Tools</a:t>
            </a:r>
          </a:p>
        </p:txBody>
      </p:sp>
      <p:sp>
        <p:nvSpPr>
          <p:cNvPr id="30" name="TextBox 29"/>
          <p:cNvSpPr txBox="1"/>
          <p:nvPr/>
        </p:nvSpPr>
        <p:spPr>
          <a:xfrm>
            <a:off x="365760"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TOOLUNIVERSE</a:t>
            </a:r>
            <a:br/>
            <a:r>
              <a:t>211 biomedical tools</a:t>
            </a:r>
          </a:p>
        </p:txBody>
      </p:sp>
      <p:sp>
        <p:nvSpPr>
          <p:cNvPr id="31" name="TextBox 30"/>
          <p:cNvSpPr txBox="1"/>
          <p:nvPr/>
        </p:nvSpPr>
        <p:spPr>
          <a:xfrm>
            <a:off x="2240279"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Retrieval</a:t>
            </a:r>
          </a:p>
        </p:txBody>
      </p:sp>
      <p:sp>
        <p:nvSpPr>
          <p:cNvPr id="32" name="TextBox 31"/>
          <p:cNvSpPr txBox="1"/>
          <p:nvPr/>
        </p:nvSpPr>
        <p:spPr>
          <a:xfrm>
            <a:off x="2240279"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TOOLRAG adaptive</a:t>
            </a:r>
            <a:br/>
            <a:r>
              <a:t>tool selection</a:t>
            </a:r>
          </a:p>
        </p:txBody>
      </p:sp>
      <p:sp>
        <p:nvSpPr>
          <p:cNvPr id="33" name="TextBox 32"/>
          <p:cNvSpPr txBox="1"/>
          <p:nvPr/>
        </p:nvSpPr>
        <p:spPr>
          <a:xfrm>
            <a:off x="4114799"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Training</a:t>
            </a:r>
          </a:p>
        </p:txBody>
      </p:sp>
      <p:sp>
        <p:nvSpPr>
          <p:cNvPr id="34" name="TextBox 33"/>
          <p:cNvSpPr txBox="1"/>
          <p:nvPr/>
        </p:nvSpPr>
        <p:spPr>
          <a:xfrm>
            <a:off x="4114799"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85K multi-step</a:t>
            </a:r>
            <a:br/>
            <a:r>
              <a:t>reasoning traces</a:t>
            </a:r>
          </a:p>
        </p:txBody>
      </p:sp>
      <p:sp>
        <p:nvSpPr>
          <p:cNvPr id="35" name="TextBox 34"/>
          <p:cNvSpPr txBox="1"/>
          <p:nvPr/>
        </p:nvSpPr>
        <p:spPr>
          <a:xfrm>
            <a:off x="5989319"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Output</a:t>
            </a:r>
          </a:p>
        </p:txBody>
      </p:sp>
      <p:sp>
        <p:nvSpPr>
          <p:cNvPr id="36" name="TextBox 35"/>
          <p:cNvSpPr txBox="1"/>
          <p:nvPr/>
        </p:nvSpPr>
        <p:spPr>
          <a:xfrm>
            <a:off x="5989319"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Transparent</a:t>
            </a:r>
            <a:br/>
            <a:r>
              <a:t>reasoning chains</a:t>
            </a:r>
          </a:p>
        </p:txBody>
      </p:sp>
      <p:sp>
        <p:nvSpPr>
          <p:cNvPr id="37" name="Rectangle 36"/>
          <p:cNvSpPr/>
          <p:nvPr/>
        </p:nvSpPr>
        <p:spPr>
          <a:xfrm>
            <a:off x="274320" y="5943600"/>
            <a:ext cx="3657600" cy="320040"/>
          </a:xfrm>
          <a:prstGeom prst="rect">
            <a:avLst/>
          </a:prstGeom>
          <a:solidFill>
            <a:srgbClr val="009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365760" y="5980176"/>
            <a:ext cx="3474720" cy="256032"/>
          </a:xfrm>
          <a:prstGeom prst="rect">
            <a:avLst/>
          </a:prstGeom>
          <a:noFill/>
        </p:spPr>
        <p:txBody>
          <a:bodyPr wrap="square">
            <a:spAutoFit/>
          </a:bodyPr>
          <a:lstStyle/>
          <a:p>
            <a:pPr algn="l">
              <a:spcAft>
                <a:spcPts val="200"/>
              </a:spcAft>
              <a:defRPr sz="650" b="1">
                <a:solidFill>
                  <a:srgbClr val="FFFFFF"/>
                </a:solidFill>
                <a:latin typeface="Calibri"/>
              </a:defRPr>
            </a:pPr>
            <a:r>
              <a:t>INDUSTRY: Healthcare &amp; Life Sciences</a:t>
            </a:r>
          </a:p>
        </p:txBody>
      </p:sp>
      <p:sp>
        <p:nvSpPr>
          <p:cNvPr id="39" name="Rectangle 38"/>
          <p:cNvSpPr/>
          <p:nvPr/>
        </p:nvSpPr>
        <p:spPr>
          <a:xfrm>
            <a:off x="4114800" y="5943600"/>
            <a:ext cx="3657600" cy="320040"/>
          </a:xfrm>
          <a:prstGeom prst="rect">
            <a:avLst/>
          </a:prstGeom>
          <a:solidFill>
            <a:srgbClr val="008F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4206240" y="5980176"/>
            <a:ext cx="3474720" cy="256032"/>
          </a:xfrm>
          <a:prstGeom prst="rect">
            <a:avLst/>
          </a:prstGeom>
          <a:noFill/>
        </p:spPr>
        <p:txBody>
          <a:bodyPr wrap="square">
            <a:spAutoFit/>
          </a:bodyPr>
          <a:lstStyle/>
          <a:p>
            <a:pPr algn="l">
              <a:spcAft>
                <a:spcPts val="200"/>
              </a:spcAft>
              <a:defRPr sz="650" b="1">
                <a:solidFill>
                  <a:srgbClr val="FFFFFF"/>
                </a:solidFill>
                <a:latin typeface="Calibri"/>
              </a:defRPr>
            </a:pPr>
            <a:r>
              <a:t>AGENT TYPE: Data Agent + Code Agent</a:t>
            </a:r>
          </a:p>
        </p:txBody>
      </p:sp>
      <p:pic>
        <p:nvPicPr>
          <p:cNvPr id="41" name="Picture 40" descr="image.jpg"/>
          <p:cNvPicPr>
            <a:picLocks noChangeAspect="1"/>
          </p:cNvPicPr>
          <p:nvPr/>
        </p:nvPicPr>
        <p:blipFill>
          <a:blip r:embed="rId2"/>
          <a:stretch>
            <a:fillRect/>
          </a:stretch>
        </p:blipFill>
        <p:spPr>
          <a:xfrm>
            <a:off x="8076895" y="0"/>
            <a:ext cx="4114800" cy="6858000"/>
          </a:xfrm>
          <a:prstGeom prst="rect">
            <a:avLst/>
          </a:prstGeom>
        </p:spPr>
      </p:pic>
      <p:sp>
        <p:nvSpPr>
          <p:cNvPr id="42" name="TextBox 41"/>
          <p:cNvSpPr txBox="1"/>
          <p:nvPr/>
        </p:nvSpPr>
        <p:spPr>
          <a:xfrm>
            <a:off x="274320" y="6492240"/>
            <a:ext cx="4572000" cy="274320"/>
          </a:xfrm>
          <a:prstGeom prst="rect">
            <a:avLst/>
          </a:prstGeom>
          <a:noFill/>
        </p:spPr>
        <p:txBody>
          <a:bodyPr wrap="square">
            <a:spAutoFit/>
          </a:bodyPr>
          <a:lstStyle/>
          <a:p>
            <a:pPr algn="l">
              <a:spcAft>
                <a:spcPts val="200"/>
              </a:spcAft>
              <a:defRPr sz="700" b="0">
                <a:solidFill>
                  <a:srgbClr val="888888"/>
                </a:solidFill>
                <a:latin typeface="Calibri"/>
              </a:defRPr>
            </a:pPr>
            <a:r>
              <a:t>Agentic AI Use Cases Across Industries | Confidential</a:t>
            </a:r>
          </a:p>
        </p:txBody>
      </p:sp>
      <p:sp>
        <p:nvSpPr>
          <p:cNvPr id="43" name="TextBox 42"/>
          <p:cNvSpPr txBox="1"/>
          <p:nvPr/>
        </p:nvSpPr>
        <p:spPr>
          <a:xfrm>
            <a:off x="11094415" y="6492240"/>
            <a:ext cx="822960" cy="274320"/>
          </a:xfrm>
          <a:prstGeom prst="rect">
            <a:avLst/>
          </a:prstGeom>
          <a:noFill/>
        </p:spPr>
        <p:txBody>
          <a:bodyPr wrap="square">
            <a:spAutoFit/>
          </a:bodyPr>
          <a:lstStyle/>
          <a:p>
            <a:pPr algn="r">
              <a:spcAft>
                <a:spcPts val="200"/>
              </a:spcAft>
              <a:defRPr sz="700" b="0">
                <a:solidFill>
                  <a:srgbClr val="888888"/>
                </a:solidFill>
                <a:latin typeface="Calibri"/>
              </a:defRPr>
            </a:pPr>
            <a:r>
              <a:t>28 / 46</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8076895" cy="6858000"/>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82880"/>
            <a:ext cx="7436815" cy="502920"/>
          </a:xfrm>
          <a:prstGeom prst="rect">
            <a:avLst/>
          </a:prstGeom>
          <a:noFill/>
        </p:spPr>
        <p:txBody>
          <a:bodyPr wrap="square">
            <a:spAutoFit/>
          </a:bodyPr>
          <a:lstStyle/>
          <a:p>
            <a:pPr algn="l">
              <a:spcAft>
                <a:spcPts val="200"/>
              </a:spcAft>
              <a:defRPr sz="2000" b="1">
                <a:solidFill>
                  <a:srgbClr val="FFFFFF"/>
                </a:solidFill>
                <a:latin typeface="Calibri"/>
              </a:defRPr>
            </a:pPr>
            <a:r>
              <a:t>UC19 | Tippy — Drug Discovery DMTA Automation</a:t>
            </a:r>
          </a:p>
        </p:txBody>
      </p:sp>
      <p:sp>
        <p:nvSpPr>
          <p:cNvPr id="4" name="Rectangle 3"/>
          <p:cNvSpPr/>
          <p:nvPr/>
        </p:nvSpPr>
        <p:spPr>
          <a:xfrm>
            <a:off x="365760" y="658368"/>
            <a:ext cx="1828800" cy="27432"/>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777240"/>
            <a:ext cx="1371600" cy="182880"/>
          </a:xfrm>
          <a:prstGeom prst="rect">
            <a:avLst/>
          </a:prstGeom>
          <a:noFill/>
        </p:spPr>
        <p:txBody>
          <a:bodyPr wrap="square">
            <a:spAutoFit/>
          </a:bodyPr>
          <a:lstStyle/>
          <a:p>
            <a:pPr algn="l">
              <a:spcAft>
                <a:spcPts val="200"/>
              </a:spcAft>
              <a:defRPr sz="800" b="1">
                <a:solidFill>
                  <a:srgbClr val="0A1628"/>
                </a:solidFill>
                <a:latin typeface="Calibri"/>
              </a:defRPr>
            </a:pPr>
            <a:r>
              <a:t>CHALLENGE</a:t>
            </a:r>
          </a:p>
        </p:txBody>
      </p:sp>
      <p:sp>
        <p:nvSpPr>
          <p:cNvPr id="6" name="TextBox 5"/>
          <p:cNvSpPr txBox="1"/>
          <p:nvPr/>
        </p:nvSpPr>
        <p:spPr>
          <a:xfrm>
            <a:off x="365760" y="960120"/>
            <a:ext cx="3520440" cy="1280160"/>
          </a:xfrm>
          <a:prstGeom prst="rect">
            <a:avLst/>
          </a:prstGeom>
          <a:noFill/>
        </p:spPr>
        <p:txBody>
          <a:bodyPr wrap="square">
            <a:spAutoFit/>
          </a:bodyPr>
          <a:lstStyle/>
          <a:p>
            <a:pPr algn="l">
              <a:spcAft>
                <a:spcPts val="200"/>
              </a:spcAft>
              <a:defRPr sz="750" b="0">
                <a:solidFill>
                  <a:srgbClr val="0A1628"/>
                </a:solidFill>
                <a:latin typeface="Calibri"/>
              </a:defRPr>
            </a:pPr>
            <a:r>
              <a:t>• Drug discovery DMTA cycle relies on manual coordination across teams</a:t>
            </a:r>
            <a:br/>
            <a:r>
              <a:t>• Design-Make-Test-Analyze requires cross-disciplinary expertise</a:t>
            </a:r>
            <a:br/>
            <a:r>
              <a:t>• Laboratory workflows are complex with safety-critical operations</a:t>
            </a:r>
            <a:br/>
            <a:r>
              <a:t>• Integration needed across LIMS, ELN, and analytical instruments</a:t>
            </a:r>
          </a:p>
        </p:txBody>
      </p:sp>
      <p:sp>
        <p:nvSpPr>
          <p:cNvPr id="7" name="TextBox 6"/>
          <p:cNvSpPr txBox="1"/>
          <p:nvPr/>
        </p:nvSpPr>
        <p:spPr>
          <a:xfrm>
            <a:off x="4023360" y="777240"/>
            <a:ext cx="1828800" cy="182880"/>
          </a:xfrm>
          <a:prstGeom prst="rect">
            <a:avLst/>
          </a:prstGeom>
          <a:noFill/>
        </p:spPr>
        <p:txBody>
          <a:bodyPr wrap="square">
            <a:spAutoFit/>
          </a:bodyPr>
          <a:lstStyle/>
          <a:p>
            <a:pPr algn="l">
              <a:spcAft>
                <a:spcPts val="200"/>
              </a:spcAft>
              <a:defRPr sz="800" b="1">
                <a:solidFill>
                  <a:srgbClr val="0A1628"/>
                </a:solidFill>
                <a:latin typeface="Calibri"/>
              </a:defRPr>
            </a:pPr>
            <a:r>
              <a:t>AGENTIC SOLUTION</a:t>
            </a:r>
          </a:p>
        </p:txBody>
      </p:sp>
      <p:sp>
        <p:nvSpPr>
          <p:cNvPr id="8" name="TextBox 7"/>
          <p:cNvSpPr txBox="1"/>
          <p:nvPr/>
        </p:nvSpPr>
        <p:spPr>
          <a:xfrm>
            <a:off x="4023360" y="960120"/>
            <a:ext cx="3520440" cy="1280160"/>
          </a:xfrm>
          <a:prstGeom prst="rect">
            <a:avLst/>
          </a:prstGeom>
          <a:noFill/>
        </p:spPr>
        <p:txBody>
          <a:bodyPr wrap="square">
            <a:spAutoFit/>
          </a:bodyPr>
          <a:lstStyle/>
          <a:p>
            <a:pPr algn="l">
              <a:spcAft>
                <a:spcPts val="200"/>
              </a:spcAft>
              <a:defRPr sz="750" b="0">
                <a:solidFill>
                  <a:srgbClr val="0A1628"/>
                </a:solidFill>
                <a:latin typeface="Calibri"/>
              </a:defRPr>
            </a:pPr>
            <a:r>
              <a:t>• 5 specialized agents: Supervisor, Molecule, Lab, Analysis, Report</a:t>
            </a:r>
            <a:br/>
            <a:r>
              <a:t>• Safety Guardrail Agent provides oversight across all operations</a:t>
            </a:r>
            <a:br/>
            <a:r>
              <a:t>• First production-ready implementation for automating DMTA cycle</a:t>
            </a:r>
            <a:br/>
            <a:r>
              <a:t>• Seamless coordination between lab operations and cloud infrastructure</a:t>
            </a:r>
          </a:p>
        </p:txBody>
      </p:sp>
      <p:sp>
        <p:nvSpPr>
          <p:cNvPr id="9" name="Rectangle 8"/>
          <p:cNvSpPr/>
          <p:nvPr/>
        </p:nvSpPr>
        <p:spPr>
          <a:xfrm>
            <a:off x="365760"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65760"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5+1</a:t>
            </a:r>
          </a:p>
        </p:txBody>
      </p:sp>
      <p:sp>
        <p:nvSpPr>
          <p:cNvPr id="11" name="TextBox 10"/>
          <p:cNvSpPr txBox="1"/>
          <p:nvPr/>
        </p:nvSpPr>
        <p:spPr>
          <a:xfrm>
            <a:off x="365760"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Specialized agents</a:t>
            </a:r>
            <a:br/>
            <a:r>
              <a:t>+ Safety Guardrail</a:t>
            </a:r>
          </a:p>
        </p:txBody>
      </p:sp>
      <p:sp>
        <p:nvSpPr>
          <p:cNvPr id="12" name="Rectangle 11"/>
          <p:cNvSpPr/>
          <p:nvPr/>
        </p:nvSpPr>
        <p:spPr>
          <a:xfrm>
            <a:off x="2240279"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240279"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DMTA</a:t>
            </a:r>
          </a:p>
        </p:txBody>
      </p:sp>
      <p:sp>
        <p:nvSpPr>
          <p:cNvPr id="14" name="TextBox 13"/>
          <p:cNvSpPr txBox="1"/>
          <p:nvPr/>
        </p:nvSpPr>
        <p:spPr>
          <a:xfrm>
            <a:off x="2240279"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Full cycle</a:t>
            </a:r>
            <a:br/>
            <a:r>
              <a:t>automated</a:t>
            </a:r>
          </a:p>
        </p:txBody>
      </p:sp>
      <p:sp>
        <p:nvSpPr>
          <p:cNvPr id="15" name="Rectangle 14"/>
          <p:cNvSpPr/>
          <p:nvPr/>
        </p:nvSpPr>
        <p:spPr>
          <a:xfrm>
            <a:off x="4114799"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114799"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Production</a:t>
            </a:r>
          </a:p>
        </p:txBody>
      </p:sp>
      <p:sp>
        <p:nvSpPr>
          <p:cNvPr id="17" name="TextBox 16"/>
          <p:cNvSpPr txBox="1"/>
          <p:nvPr/>
        </p:nvSpPr>
        <p:spPr>
          <a:xfrm>
            <a:off x="4114799"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First production-ready</a:t>
            </a:r>
            <a:br/>
            <a:r>
              <a:t>DMTA agents</a:t>
            </a:r>
          </a:p>
        </p:txBody>
      </p:sp>
      <p:sp>
        <p:nvSpPr>
          <p:cNvPr id="18" name="Rectangle 17"/>
          <p:cNvSpPr/>
          <p:nvPr/>
        </p:nvSpPr>
        <p:spPr>
          <a:xfrm>
            <a:off x="5989319"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989319"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Integrated</a:t>
            </a:r>
          </a:p>
        </p:txBody>
      </p:sp>
      <p:sp>
        <p:nvSpPr>
          <p:cNvPr id="20" name="TextBox 19"/>
          <p:cNvSpPr txBox="1"/>
          <p:nvPr/>
        </p:nvSpPr>
        <p:spPr>
          <a:xfrm>
            <a:off x="5989319"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LIMS + ELN +</a:t>
            </a:r>
            <a:br/>
            <a:r>
              <a:t>instrument data</a:t>
            </a:r>
          </a:p>
        </p:txBody>
      </p:sp>
      <p:sp>
        <p:nvSpPr>
          <p:cNvPr id="21" name="TextBox 20"/>
          <p:cNvSpPr txBox="1"/>
          <p:nvPr/>
        </p:nvSpPr>
        <p:spPr>
          <a:xfrm>
            <a:off x="365760" y="3246120"/>
            <a:ext cx="1828800" cy="182880"/>
          </a:xfrm>
          <a:prstGeom prst="rect">
            <a:avLst/>
          </a:prstGeom>
          <a:noFill/>
        </p:spPr>
        <p:txBody>
          <a:bodyPr wrap="square">
            <a:spAutoFit/>
          </a:bodyPr>
          <a:lstStyle/>
          <a:p>
            <a:pPr algn="l">
              <a:spcAft>
                <a:spcPts val="200"/>
              </a:spcAft>
              <a:defRPr sz="800" b="1">
                <a:solidFill>
                  <a:srgbClr val="0A1628"/>
                </a:solidFill>
                <a:latin typeface="Calibri"/>
              </a:defRPr>
            </a:pPr>
            <a:r>
              <a:t>HOW IT WORKS</a:t>
            </a:r>
          </a:p>
        </p:txBody>
      </p:sp>
      <p:sp>
        <p:nvSpPr>
          <p:cNvPr id="22" name="TextBox 21"/>
          <p:cNvSpPr txBox="1"/>
          <p:nvPr/>
        </p:nvSpPr>
        <p:spPr>
          <a:xfrm>
            <a:off x="365760" y="3429000"/>
            <a:ext cx="7436815" cy="594360"/>
          </a:xfrm>
          <a:prstGeom prst="rect">
            <a:avLst/>
          </a:prstGeom>
          <a:noFill/>
        </p:spPr>
        <p:txBody>
          <a:bodyPr wrap="square">
            <a:spAutoFit/>
          </a:bodyPr>
          <a:lstStyle/>
          <a:p>
            <a:pPr algn="l">
              <a:spcAft>
                <a:spcPts val="200"/>
              </a:spcAft>
              <a:defRPr sz="700" b="0">
                <a:solidFill>
                  <a:srgbClr val="0A1628"/>
                </a:solidFill>
                <a:latin typeface="Calibri"/>
              </a:defRPr>
            </a:pPr>
            <a:r>
              <a:t>→ Supervisor Agent orchestrates across 5 domain-specific agents</a:t>
            </a:r>
            <a:br/>
            <a:r>
              <a:t>→ Molecule Agent: computational chemistry tasks (Design phase)</a:t>
            </a:r>
            <a:br/>
            <a:r>
              <a:t>→ Lab Agent: HPLC workflows, synthesis jobs on Artificial platform (Make/Test)</a:t>
            </a:r>
            <a:br/>
            <a:r>
              <a:t>→ Analysis Agent: data processing, statistical analysis (Analyze phase)</a:t>
            </a:r>
            <a:br/>
            <a:r>
              <a:t>→ Report Agent: documentation and communication</a:t>
            </a:r>
          </a:p>
        </p:txBody>
      </p:sp>
      <p:sp>
        <p:nvSpPr>
          <p:cNvPr id="23" name="TextBox 22"/>
          <p:cNvSpPr txBox="1"/>
          <p:nvPr/>
        </p:nvSpPr>
        <p:spPr>
          <a:xfrm>
            <a:off x="365760" y="4069080"/>
            <a:ext cx="3200400" cy="182880"/>
          </a:xfrm>
          <a:prstGeom prst="rect">
            <a:avLst/>
          </a:prstGeom>
          <a:noFill/>
        </p:spPr>
        <p:txBody>
          <a:bodyPr wrap="square">
            <a:spAutoFit/>
          </a:bodyPr>
          <a:lstStyle/>
          <a:p>
            <a:pPr algn="l">
              <a:spcAft>
                <a:spcPts val="200"/>
              </a:spcAft>
              <a:defRPr sz="750" b="1">
                <a:solidFill>
                  <a:srgbClr val="0A1628"/>
                </a:solidFill>
                <a:latin typeface="Calibri"/>
              </a:defRPr>
            </a:pPr>
            <a:r>
              <a:t>AGENT ARCHITECTURE</a:t>
            </a:r>
          </a:p>
        </p:txBody>
      </p:sp>
      <p:sp>
        <p:nvSpPr>
          <p:cNvPr id="24" name="TextBox 23"/>
          <p:cNvSpPr txBox="1"/>
          <p:nvPr/>
        </p:nvSpPr>
        <p:spPr>
          <a:xfrm>
            <a:off x="365760" y="4251960"/>
            <a:ext cx="3520440" cy="777240"/>
          </a:xfrm>
          <a:prstGeom prst="rect">
            <a:avLst/>
          </a:prstGeom>
          <a:noFill/>
        </p:spPr>
        <p:txBody>
          <a:bodyPr wrap="square">
            <a:spAutoFit/>
          </a:bodyPr>
          <a:lstStyle/>
          <a:p>
            <a:pPr algn="l">
              <a:spcAft>
                <a:spcPts val="200"/>
              </a:spcAft>
              <a:defRPr sz="700" b="0">
                <a:solidFill>
                  <a:srgbClr val="0A1628"/>
                </a:solidFill>
                <a:latin typeface="Calibri"/>
              </a:defRPr>
            </a:pPr>
            <a:r>
              <a:t>• Supervisor orchestrates; Safety Guardrail monitors all operations</a:t>
            </a:r>
            <a:br/>
            <a:r>
              <a:t>• Each agent equipped with specialized tools for its DMTA phase</a:t>
            </a:r>
            <a:br/>
            <a:r>
              <a:t>• Integration via standardized APIs with LIMS, ELN, instruments</a:t>
            </a:r>
            <a:br/>
            <a:r>
              <a:t>• Cloud-based data infrastructure for downstream analysis</a:t>
            </a:r>
          </a:p>
        </p:txBody>
      </p:sp>
      <p:sp>
        <p:nvSpPr>
          <p:cNvPr id="25" name="TextBox 24"/>
          <p:cNvSpPr txBox="1"/>
          <p:nvPr/>
        </p:nvSpPr>
        <p:spPr>
          <a:xfrm>
            <a:off x="4023360" y="4069080"/>
            <a:ext cx="3200400" cy="182880"/>
          </a:xfrm>
          <a:prstGeom prst="rect">
            <a:avLst/>
          </a:prstGeom>
          <a:noFill/>
        </p:spPr>
        <p:txBody>
          <a:bodyPr wrap="square">
            <a:spAutoFit/>
          </a:bodyPr>
          <a:lstStyle/>
          <a:p>
            <a:pPr algn="l">
              <a:spcAft>
                <a:spcPts val="200"/>
              </a:spcAft>
              <a:defRPr sz="750" b="1">
                <a:solidFill>
                  <a:srgbClr val="0A1628"/>
                </a:solidFill>
                <a:latin typeface="Calibri"/>
              </a:defRPr>
            </a:pPr>
            <a:r>
              <a:t>GOVERNANCE &amp; COMPLIANCE</a:t>
            </a:r>
          </a:p>
        </p:txBody>
      </p:sp>
      <p:sp>
        <p:nvSpPr>
          <p:cNvPr id="26" name="TextBox 25"/>
          <p:cNvSpPr txBox="1"/>
          <p:nvPr/>
        </p:nvSpPr>
        <p:spPr>
          <a:xfrm>
            <a:off x="4023360" y="4251960"/>
            <a:ext cx="3520440" cy="777240"/>
          </a:xfrm>
          <a:prstGeom prst="rect">
            <a:avLst/>
          </a:prstGeom>
          <a:noFill/>
        </p:spPr>
        <p:txBody>
          <a:bodyPr wrap="square">
            <a:spAutoFit/>
          </a:bodyPr>
          <a:lstStyle/>
          <a:p>
            <a:pPr algn="l">
              <a:spcAft>
                <a:spcPts val="200"/>
              </a:spcAft>
              <a:defRPr sz="700" b="0">
                <a:solidFill>
                  <a:srgbClr val="0A1628"/>
                </a:solidFill>
                <a:latin typeface="Calibri"/>
              </a:defRPr>
            </a:pPr>
            <a:r>
              <a:t>• Safety Guardrail Agent: critical oversight across all operations</a:t>
            </a:r>
            <a:br/>
            <a:r>
              <a:t>• Quality control integration with existing lab systems</a:t>
            </a:r>
            <a:br/>
            <a:r>
              <a:t>• Automated records in LIMS and ELN for compliance</a:t>
            </a:r>
          </a:p>
        </p:txBody>
      </p:sp>
      <p:sp>
        <p:nvSpPr>
          <p:cNvPr id="27" name="Rectangle 26"/>
          <p:cNvSpPr/>
          <p:nvPr/>
        </p:nvSpPr>
        <p:spPr>
          <a:xfrm>
            <a:off x="274320" y="5074920"/>
            <a:ext cx="7619695" cy="77724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65760" y="5111496"/>
            <a:ext cx="1828800" cy="164592"/>
          </a:xfrm>
          <a:prstGeom prst="rect">
            <a:avLst/>
          </a:prstGeom>
          <a:noFill/>
        </p:spPr>
        <p:txBody>
          <a:bodyPr wrap="square">
            <a:spAutoFit/>
          </a:bodyPr>
          <a:lstStyle/>
          <a:p>
            <a:pPr algn="l">
              <a:spcAft>
                <a:spcPts val="200"/>
              </a:spcAft>
              <a:defRPr sz="750" b="1">
                <a:solidFill>
                  <a:srgbClr val="00C9A7"/>
                </a:solidFill>
                <a:latin typeface="Calibri"/>
              </a:defRPr>
            </a:pPr>
            <a:r>
              <a:t>TECHNOLOGY STACK</a:t>
            </a:r>
          </a:p>
        </p:txBody>
      </p:sp>
      <p:sp>
        <p:nvSpPr>
          <p:cNvPr id="29" name="TextBox 28"/>
          <p:cNvSpPr txBox="1"/>
          <p:nvPr/>
        </p:nvSpPr>
        <p:spPr>
          <a:xfrm>
            <a:off x="365760"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Platform</a:t>
            </a:r>
          </a:p>
        </p:txBody>
      </p:sp>
      <p:sp>
        <p:nvSpPr>
          <p:cNvPr id="30" name="TextBox 29"/>
          <p:cNvSpPr txBox="1"/>
          <p:nvPr/>
        </p:nvSpPr>
        <p:spPr>
          <a:xfrm>
            <a:off x="365760"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Artificial lab</a:t>
            </a:r>
            <a:br/>
            <a:r>
              <a:t>orchestration</a:t>
            </a:r>
          </a:p>
        </p:txBody>
      </p:sp>
      <p:sp>
        <p:nvSpPr>
          <p:cNvPr id="31" name="TextBox 30"/>
          <p:cNvSpPr txBox="1"/>
          <p:nvPr/>
        </p:nvSpPr>
        <p:spPr>
          <a:xfrm>
            <a:off x="2240279"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Agents</a:t>
            </a:r>
          </a:p>
        </p:txBody>
      </p:sp>
      <p:sp>
        <p:nvSpPr>
          <p:cNvPr id="32" name="TextBox 31"/>
          <p:cNvSpPr txBox="1"/>
          <p:nvPr/>
        </p:nvSpPr>
        <p:spPr>
          <a:xfrm>
            <a:off x="2240279"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5 domain-specific</a:t>
            </a:r>
            <a:br/>
            <a:r>
              <a:t>+ Safety Guardrail</a:t>
            </a:r>
          </a:p>
        </p:txBody>
      </p:sp>
      <p:sp>
        <p:nvSpPr>
          <p:cNvPr id="33" name="TextBox 32"/>
          <p:cNvSpPr txBox="1"/>
          <p:nvPr/>
        </p:nvSpPr>
        <p:spPr>
          <a:xfrm>
            <a:off x="4114799"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Integration</a:t>
            </a:r>
          </a:p>
        </p:txBody>
      </p:sp>
      <p:sp>
        <p:nvSpPr>
          <p:cNvPr id="34" name="TextBox 33"/>
          <p:cNvSpPr txBox="1"/>
          <p:nvPr/>
        </p:nvSpPr>
        <p:spPr>
          <a:xfrm>
            <a:off x="4114799"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LIMS + ELN +</a:t>
            </a:r>
            <a:br/>
            <a:r>
              <a:t>HPLC instruments</a:t>
            </a:r>
          </a:p>
        </p:txBody>
      </p:sp>
      <p:sp>
        <p:nvSpPr>
          <p:cNvPr id="35" name="TextBox 34"/>
          <p:cNvSpPr txBox="1"/>
          <p:nvPr/>
        </p:nvSpPr>
        <p:spPr>
          <a:xfrm>
            <a:off x="5989319"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Scope</a:t>
            </a:r>
          </a:p>
        </p:txBody>
      </p:sp>
      <p:sp>
        <p:nvSpPr>
          <p:cNvPr id="36" name="TextBox 35"/>
          <p:cNvSpPr txBox="1"/>
          <p:nvPr/>
        </p:nvSpPr>
        <p:spPr>
          <a:xfrm>
            <a:off x="5989319"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Full DMTA</a:t>
            </a:r>
            <a:br/>
            <a:r>
              <a:t>cycle coverage</a:t>
            </a:r>
          </a:p>
        </p:txBody>
      </p:sp>
      <p:sp>
        <p:nvSpPr>
          <p:cNvPr id="37" name="Rectangle 36"/>
          <p:cNvSpPr/>
          <p:nvPr/>
        </p:nvSpPr>
        <p:spPr>
          <a:xfrm>
            <a:off x="274320" y="5943600"/>
            <a:ext cx="3657600" cy="320040"/>
          </a:xfrm>
          <a:prstGeom prst="rect">
            <a:avLst/>
          </a:prstGeom>
          <a:solidFill>
            <a:srgbClr val="009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365760" y="5980176"/>
            <a:ext cx="3474720" cy="256032"/>
          </a:xfrm>
          <a:prstGeom prst="rect">
            <a:avLst/>
          </a:prstGeom>
          <a:noFill/>
        </p:spPr>
        <p:txBody>
          <a:bodyPr wrap="square">
            <a:spAutoFit/>
          </a:bodyPr>
          <a:lstStyle/>
          <a:p>
            <a:pPr algn="l">
              <a:spcAft>
                <a:spcPts val="200"/>
              </a:spcAft>
              <a:defRPr sz="650" b="1">
                <a:solidFill>
                  <a:srgbClr val="FFFFFF"/>
                </a:solidFill>
                <a:latin typeface="Calibri"/>
              </a:defRPr>
            </a:pPr>
            <a:r>
              <a:t>INDUSTRY: Healthcare &amp; Life Sciences</a:t>
            </a:r>
          </a:p>
        </p:txBody>
      </p:sp>
      <p:sp>
        <p:nvSpPr>
          <p:cNvPr id="39" name="Rectangle 38"/>
          <p:cNvSpPr/>
          <p:nvPr/>
        </p:nvSpPr>
        <p:spPr>
          <a:xfrm>
            <a:off x="4114800" y="5943600"/>
            <a:ext cx="3657600" cy="320040"/>
          </a:xfrm>
          <a:prstGeom prst="rect">
            <a:avLst/>
          </a:prstGeom>
          <a:solidFill>
            <a:srgbClr val="008F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4206240" y="5980176"/>
            <a:ext cx="3474720" cy="256032"/>
          </a:xfrm>
          <a:prstGeom prst="rect">
            <a:avLst/>
          </a:prstGeom>
          <a:noFill/>
        </p:spPr>
        <p:txBody>
          <a:bodyPr wrap="square">
            <a:spAutoFit/>
          </a:bodyPr>
          <a:lstStyle/>
          <a:p>
            <a:pPr algn="l">
              <a:spcAft>
                <a:spcPts val="200"/>
              </a:spcAft>
              <a:defRPr sz="650" b="1">
                <a:solidFill>
                  <a:srgbClr val="FFFFFF"/>
                </a:solidFill>
                <a:latin typeface="Calibri"/>
              </a:defRPr>
            </a:pPr>
            <a:r>
              <a:t>AGENT TYPE: Code Agent + Data Agent</a:t>
            </a:r>
          </a:p>
        </p:txBody>
      </p:sp>
      <p:pic>
        <p:nvPicPr>
          <p:cNvPr id="41" name="Picture 40" descr="image.jpg"/>
          <p:cNvPicPr>
            <a:picLocks noChangeAspect="1"/>
          </p:cNvPicPr>
          <p:nvPr/>
        </p:nvPicPr>
        <p:blipFill>
          <a:blip r:embed="rId2"/>
          <a:stretch>
            <a:fillRect/>
          </a:stretch>
        </p:blipFill>
        <p:spPr>
          <a:xfrm>
            <a:off x="8076895" y="0"/>
            <a:ext cx="4114800" cy="6858000"/>
          </a:xfrm>
          <a:prstGeom prst="rect">
            <a:avLst/>
          </a:prstGeom>
        </p:spPr>
      </p:pic>
      <p:sp>
        <p:nvSpPr>
          <p:cNvPr id="42" name="TextBox 41"/>
          <p:cNvSpPr txBox="1"/>
          <p:nvPr/>
        </p:nvSpPr>
        <p:spPr>
          <a:xfrm>
            <a:off x="274320" y="6492240"/>
            <a:ext cx="4572000" cy="274320"/>
          </a:xfrm>
          <a:prstGeom prst="rect">
            <a:avLst/>
          </a:prstGeom>
          <a:noFill/>
        </p:spPr>
        <p:txBody>
          <a:bodyPr wrap="square">
            <a:spAutoFit/>
          </a:bodyPr>
          <a:lstStyle/>
          <a:p>
            <a:pPr algn="l">
              <a:spcAft>
                <a:spcPts val="200"/>
              </a:spcAft>
              <a:defRPr sz="700" b="0">
                <a:solidFill>
                  <a:srgbClr val="888888"/>
                </a:solidFill>
                <a:latin typeface="Calibri"/>
              </a:defRPr>
            </a:pPr>
            <a:r>
              <a:t>Agentic AI Use Cases Across Industries | Confidential</a:t>
            </a:r>
          </a:p>
        </p:txBody>
      </p:sp>
      <p:sp>
        <p:nvSpPr>
          <p:cNvPr id="43" name="TextBox 42"/>
          <p:cNvSpPr txBox="1"/>
          <p:nvPr/>
        </p:nvSpPr>
        <p:spPr>
          <a:xfrm>
            <a:off x="11094415" y="6492240"/>
            <a:ext cx="822960" cy="274320"/>
          </a:xfrm>
          <a:prstGeom prst="rect">
            <a:avLst/>
          </a:prstGeom>
          <a:noFill/>
        </p:spPr>
        <p:txBody>
          <a:bodyPr wrap="square">
            <a:spAutoFit/>
          </a:bodyPr>
          <a:lstStyle/>
          <a:p>
            <a:pPr algn="r">
              <a:spcAft>
                <a:spcPts val="200"/>
              </a:spcAft>
              <a:defRPr sz="700" b="0">
                <a:solidFill>
                  <a:srgbClr val="888888"/>
                </a:solidFill>
                <a:latin typeface="Calibri"/>
              </a:defRPr>
            </a:pPr>
            <a:r>
              <a:t>29 / 46</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2743200"/>
            <a:ext cx="12191695" cy="54864"/>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371600"/>
            <a:ext cx="1097280" cy="731520"/>
          </a:xfrm>
          <a:prstGeom prst="rect">
            <a:avLst/>
          </a:prstGeom>
          <a:noFill/>
        </p:spPr>
        <p:txBody>
          <a:bodyPr wrap="square">
            <a:spAutoFit/>
          </a:bodyPr>
          <a:lstStyle/>
          <a:p>
            <a:pPr algn="l">
              <a:spcAft>
                <a:spcPts val="200"/>
              </a:spcAft>
              <a:defRPr sz="5600" b="1">
                <a:solidFill>
                  <a:srgbClr val="00C9A7"/>
                </a:solidFill>
                <a:latin typeface="Calibri"/>
              </a:defRPr>
            </a:pPr>
            <a:r>
              <a:t>06</a:t>
            </a:r>
          </a:p>
        </p:txBody>
      </p:sp>
      <p:sp>
        <p:nvSpPr>
          <p:cNvPr id="5" name="TextBox 4"/>
          <p:cNvSpPr txBox="1"/>
          <p:nvPr/>
        </p:nvSpPr>
        <p:spPr>
          <a:xfrm>
            <a:off x="2011680" y="1645920"/>
            <a:ext cx="5486400" cy="731520"/>
          </a:xfrm>
          <a:prstGeom prst="rect">
            <a:avLst/>
          </a:prstGeom>
          <a:noFill/>
        </p:spPr>
        <p:txBody>
          <a:bodyPr wrap="square">
            <a:spAutoFit/>
          </a:bodyPr>
          <a:lstStyle/>
          <a:p>
            <a:pPr algn="l">
              <a:spcAft>
                <a:spcPts val="200"/>
              </a:spcAft>
              <a:defRPr sz="3600" b="1">
                <a:solidFill>
                  <a:srgbClr val="FFFFFF"/>
                </a:solidFill>
                <a:latin typeface="Calibri"/>
              </a:defRPr>
            </a:pPr>
            <a:r>
              <a:t>Enterprise Operations</a:t>
            </a:r>
          </a:p>
        </p:txBody>
      </p:sp>
      <p:sp>
        <p:nvSpPr>
          <p:cNvPr id="6" name="TextBox 5"/>
          <p:cNvSpPr txBox="1"/>
          <p:nvPr/>
        </p:nvSpPr>
        <p:spPr>
          <a:xfrm>
            <a:off x="2011680" y="3017520"/>
            <a:ext cx="5486400" cy="457200"/>
          </a:xfrm>
          <a:prstGeom prst="rect">
            <a:avLst/>
          </a:prstGeom>
          <a:noFill/>
        </p:spPr>
        <p:txBody>
          <a:bodyPr wrap="square">
            <a:spAutoFit/>
          </a:bodyPr>
          <a:lstStyle/>
          <a:p>
            <a:pPr algn="l">
              <a:spcAft>
                <a:spcPts val="200"/>
              </a:spcAft>
              <a:defRPr sz="1400" b="0">
                <a:solidFill>
                  <a:srgbClr val="E0F7F1"/>
                </a:solidFill>
                <a:latin typeface="Calibri"/>
              </a:defRPr>
            </a:pPr>
            <a:r>
              <a:t>Workforce transformation, multi-agent platforms, and research intelligence</a:t>
            </a:r>
          </a:p>
        </p:txBody>
      </p:sp>
      <p:sp>
        <p:nvSpPr>
          <p:cNvPr id="7" name="TextBox 6"/>
          <p:cNvSpPr txBox="1"/>
          <p:nvPr/>
        </p:nvSpPr>
        <p:spPr>
          <a:xfrm>
            <a:off x="2011680" y="3566160"/>
            <a:ext cx="5486400" cy="457200"/>
          </a:xfrm>
          <a:prstGeom prst="rect">
            <a:avLst/>
          </a:prstGeom>
          <a:noFill/>
        </p:spPr>
        <p:txBody>
          <a:bodyPr wrap="square">
            <a:spAutoFit/>
          </a:bodyPr>
          <a:lstStyle/>
          <a:p>
            <a:pPr algn="l">
              <a:spcAft>
                <a:spcPts val="200"/>
              </a:spcAft>
              <a:defRPr sz="1200" b="0">
                <a:solidFill>
                  <a:srgbClr val="888899"/>
                </a:solidFill>
                <a:latin typeface="Calibri"/>
              </a:defRPr>
            </a:pPr>
            <a:r>
              <a:t>3 Agentic AI Use Cases</a:t>
            </a:r>
          </a:p>
        </p:txBody>
      </p:sp>
      <p:pic>
        <p:nvPicPr>
          <p:cNvPr id="8" name="Picture 7" descr="image.jpg"/>
          <p:cNvPicPr>
            <a:picLocks noChangeAspect="1"/>
          </p:cNvPicPr>
          <p:nvPr/>
        </p:nvPicPr>
        <p:blipFill>
          <a:blip r:embed="rId2"/>
          <a:stretch>
            <a:fillRect/>
          </a:stretch>
        </p:blipFill>
        <p:spPr>
          <a:xfrm>
            <a:off x="8076895" y="0"/>
            <a:ext cx="4114800" cy="6858000"/>
          </a:xfrm>
          <a:prstGeom prst="rect">
            <a:avLst/>
          </a:prstGeom>
        </p:spPr>
      </p:pic>
      <p:sp>
        <p:nvSpPr>
          <p:cNvPr id="9" name="TextBox 8"/>
          <p:cNvSpPr txBox="1"/>
          <p:nvPr/>
        </p:nvSpPr>
        <p:spPr>
          <a:xfrm>
            <a:off x="274320" y="6492240"/>
            <a:ext cx="4572000" cy="274320"/>
          </a:xfrm>
          <a:prstGeom prst="rect">
            <a:avLst/>
          </a:prstGeom>
          <a:noFill/>
        </p:spPr>
        <p:txBody>
          <a:bodyPr wrap="square">
            <a:spAutoFit/>
          </a:bodyPr>
          <a:lstStyle/>
          <a:p>
            <a:pPr algn="l">
              <a:spcAft>
                <a:spcPts val="200"/>
              </a:spcAft>
              <a:defRPr sz="700" b="0">
                <a:solidFill>
                  <a:srgbClr val="888888"/>
                </a:solidFill>
                <a:latin typeface="Calibri"/>
              </a:defRPr>
            </a:pPr>
            <a:r>
              <a:t>Agentic AI Use Cases Across Industries | Confidential</a:t>
            </a:r>
          </a:p>
        </p:txBody>
      </p:sp>
      <p:sp>
        <p:nvSpPr>
          <p:cNvPr id="10" name="TextBox 9"/>
          <p:cNvSpPr txBox="1"/>
          <p:nvPr/>
        </p:nvSpPr>
        <p:spPr>
          <a:xfrm>
            <a:off x="11094415" y="6492240"/>
            <a:ext cx="822960" cy="274320"/>
          </a:xfrm>
          <a:prstGeom prst="rect">
            <a:avLst/>
          </a:prstGeom>
          <a:noFill/>
        </p:spPr>
        <p:txBody>
          <a:bodyPr wrap="square">
            <a:spAutoFit/>
          </a:bodyPr>
          <a:lstStyle/>
          <a:p>
            <a:pPr algn="r">
              <a:spcAft>
                <a:spcPts val="200"/>
              </a:spcAft>
              <a:defRPr sz="700" b="0">
                <a:solidFill>
                  <a:srgbClr val="888888"/>
                </a:solidFill>
                <a:latin typeface="Calibri"/>
              </a:defRPr>
            </a:pPr>
            <a:r>
              <a:t>30 / 46</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8076895" cy="6858000"/>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82880"/>
            <a:ext cx="7436815" cy="502920"/>
          </a:xfrm>
          <a:prstGeom prst="rect">
            <a:avLst/>
          </a:prstGeom>
          <a:noFill/>
        </p:spPr>
        <p:txBody>
          <a:bodyPr wrap="square">
            <a:spAutoFit/>
          </a:bodyPr>
          <a:lstStyle/>
          <a:p>
            <a:pPr algn="l">
              <a:spcAft>
                <a:spcPts val="200"/>
              </a:spcAft>
              <a:defRPr sz="2000" b="1">
                <a:solidFill>
                  <a:srgbClr val="FFFFFF"/>
                </a:solidFill>
                <a:latin typeface="Calibri"/>
              </a:defRPr>
            </a:pPr>
            <a:r>
              <a:t>UC20 | ServiceNow — Workforce Transformation with AI Agents</a:t>
            </a:r>
          </a:p>
        </p:txBody>
      </p:sp>
      <p:sp>
        <p:nvSpPr>
          <p:cNvPr id="4" name="Rectangle 3"/>
          <p:cNvSpPr/>
          <p:nvPr/>
        </p:nvSpPr>
        <p:spPr>
          <a:xfrm>
            <a:off x="365760" y="658368"/>
            <a:ext cx="1828800" cy="27432"/>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777240"/>
            <a:ext cx="1371600" cy="182880"/>
          </a:xfrm>
          <a:prstGeom prst="rect">
            <a:avLst/>
          </a:prstGeom>
          <a:noFill/>
        </p:spPr>
        <p:txBody>
          <a:bodyPr wrap="square">
            <a:spAutoFit/>
          </a:bodyPr>
          <a:lstStyle/>
          <a:p>
            <a:pPr algn="l">
              <a:spcAft>
                <a:spcPts val="200"/>
              </a:spcAft>
              <a:defRPr sz="800" b="1">
                <a:solidFill>
                  <a:srgbClr val="0A1628"/>
                </a:solidFill>
                <a:latin typeface="Calibri"/>
              </a:defRPr>
            </a:pPr>
            <a:r>
              <a:t>CHALLENGE</a:t>
            </a:r>
          </a:p>
        </p:txBody>
      </p:sp>
      <p:sp>
        <p:nvSpPr>
          <p:cNvPr id="6" name="TextBox 5"/>
          <p:cNvSpPr txBox="1"/>
          <p:nvPr/>
        </p:nvSpPr>
        <p:spPr>
          <a:xfrm>
            <a:off x="365760" y="960120"/>
            <a:ext cx="3520440" cy="1280160"/>
          </a:xfrm>
          <a:prstGeom prst="rect">
            <a:avLst/>
          </a:prstGeom>
          <a:noFill/>
        </p:spPr>
        <p:txBody>
          <a:bodyPr wrap="square">
            <a:spAutoFit/>
          </a:bodyPr>
          <a:lstStyle/>
          <a:p>
            <a:pPr algn="l">
              <a:spcAft>
                <a:spcPts val="200"/>
              </a:spcAft>
              <a:defRPr sz="750" b="0">
                <a:solidFill>
                  <a:srgbClr val="0A1628"/>
                </a:solidFill>
                <a:latin typeface="Calibri"/>
              </a:defRPr>
            </a:pPr>
            <a:r>
              <a:t>• Finance queries took avg 4 days for resolution via manual process</a:t>
            </a:r>
            <a:br/>
            <a:r>
              <a:t>• IT service desk tickets required extensive human triage</a:t>
            </a:r>
            <a:br/>
            <a:r>
              <a:t>• Workforce grew from 14K to 30K without proportional ops headcount</a:t>
            </a:r>
            <a:br/>
            <a:r>
              <a:t>• Unchecked agent proliferation created duplication and cost spirals</a:t>
            </a:r>
          </a:p>
        </p:txBody>
      </p:sp>
      <p:sp>
        <p:nvSpPr>
          <p:cNvPr id="7" name="TextBox 6"/>
          <p:cNvSpPr txBox="1"/>
          <p:nvPr/>
        </p:nvSpPr>
        <p:spPr>
          <a:xfrm>
            <a:off x="4023360" y="777240"/>
            <a:ext cx="1828800" cy="182880"/>
          </a:xfrm>
          <a:prstGeom prst="rect">
            <a:avLst/>
          </a:prstGeom>
          <a:noFill/>
        </p:spPr>
        <p:txBody>
          <a:bodyPr wrap="square">
            <a:spAutoFit/>
          </a:bodyPr>
          <a:lstStyle/>
          <a:p>
            <a:pPr algn="l">
              <a:spcAft>
                <a:spcPts val="200"/>
              </a:spcAft>
              <a:defRPr sz="800" b="1">
                <a:solidFill>
                  <a:srgbClr val="0A1628"/>
                </a:solidFill>
                <a:latin typeface="Calibri"/>
              </a:defRPr>
            </a:pPr>
            <a:r>
              <a:t>AGENTIC SOLUTION</a:t>
            </a:r>
          </a:p>
        </p:txBody>
      </p:sp>
      <p:sp>
        <p:nvSpPr>
          <p:cNvPr id="8" name="TextBox 7"/>
          <p:cNvSpPr txBox="1"/>
          <p:nvPr/>
        </p:nvSpPr>
        <p:spPr>
          <a:xfrm>
            <a:off x="4023360" y="960120"/>
            <a:ext cx="3520440" cy="1280160"/>
          </a:xfrm>
          <a:prstGeom prst="rect">
            <a:avLst/>
          </a:prstGeom>
          <a:noFill/>
        </p:spPr>
        <p:txBody>
          <a:bodyPr wrap="square">
            <a:spAutoFit/>
          </a:bodyPr>
          <a:lstStyle/>
          <a:p>
            <a:pPr algn="l">
              <a:spcAft>
                <a:spcPts val="200"/>
              </a:spcAft>
              <a:defRPr sz="750" b="0">
                <a:solidFill>
                  <a:srgbClr val="0A1628"/>
                </a:solidFill>
                <a:latin typeface="Calibri"/>
              </a:defRPr>
            </a:pPr>
            <a:r>
              <a:t>• Redesigned processes around AI agents, not just automation layered on</a:t>
            </a:r>
            <a:br/>
            <a:r>
              <a:t>• Finance queries: from 4 days to 8 seconds resolution</a:t>
            </a:r>
            <a:br/>
            <a:r>
              <a:t>• IT service desk: 90% of tickets from first touch to resolution autonomously</a:t>
            </a:r>
            <a:br/>
            <a:r>
              <a:t>• Agent Command Center for governance across all deployed agents</a:t>
            </a:r>
          </a:p>
        </p:txBody>
      </p:sp>
      <p:sp>
        <p:nvSpPr>
          <p:cNvPr id="9" name="Rectangle 8"/>
          <p:cNvSpPr/>
          <p:nvPr/>
        </p:nvSpPr>
        <p:spPr>
          <a:xfrm>
            <a:off x="365760"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65760"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4d → 8s</a:t>
            </a:r>
          </a:p>
        </p:txBody>
      </p:sp>
      <p:sp>
        <p:nvSpPr>
          <p:cNvPr id="11" name="TextBox 10"/>
          <p:cNvSpPr txBox="1"/>
          <p:nvPr/>
        </p:nvSpPr>
        <p:spPr>
          <a:xfrm>
            <a:off x="365760"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Finance query</a:t>
            </a:r>
            <a:br/>
            <a:r>
              <a:t>resolution</a:t>
            </a:r>
          </a:p>
        </p:txBody>
      </p:sp>
      <p:sp>
        <p:nvSpPr>
          <p:cNvPr id="12" name="Rectangle 11"/>
          <p:cNvSpPr/>
          <p:nvPr/>
        </p:nvSpPr>
        <p:spPr>
          <a:xfrm>
            <a:off x="2240279"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240279"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90%</a:t>
            </a:r>
          </a:p>
        </p:txBody>
      </p:sp>
      <p:sp>
        <p:nvSpPr>
          <p:cNvPr id="14" name="TextBox 13"/>
          <p:cNvSpPr txBox="1"/>
          <p:nvPr/>
        </p:nvSpPr>
        <p:spPr>
          <a:xfrm>
            <a:off x="2240279"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IT tickets</a:t>
            </a:r>
            <a:br/>
            <a:r>
              <a:t>autonomous</a:t>
            </a:r>
          </a:p>
        </p:txBody>
      </p:sp>
      <p:sp>
        <p:nvSpPr>
          <p:cNvPr id="15" name="Rectangle 14"/>
          <p:cNvSpPr/>
          <p:nvPr/>
        </p:nvSpPr>
        <p:spPr>
          <a:xfrm>
            <a:off x="4114799"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114799"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2.5x</a:t>
            </a:r>
          </a:p>
        </p:txBody>
      </p:sp>
      <p:sp>
        <p:nvSpPr>
          <p:cNvPr id="17" name="TextBox 16"/>
          <p:cNvSpPr txBox="1"/>
          <p:nvPr/>
        </p:nvSpPr>
        <p:spPr>
          <a:xfrm>
            <a:off x="4114799"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HR capacity</a:t>
            </a:r>
            <a:br/>
            <a:r>
              <a:t>per partner</a:t>
            </a:r>
          </a:p>
        </p:txBody>
      </p:sp>
      <p:sp>
        <p:nvSpPr>
          <p:cNvPr id="18" name="Rectangle 17"/>
          <p:cNvSpPr/>
          <p:nvPr/>
        </p:nvSpPr>
        <p:spPr>
          <a:xfrm>
            <a:off x="5989319"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989319"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85%</a:t>
            </a:r>
          </a:p>
        </p:txBody>
      </p:sp>
      <p:sp>
        <p:nvSpPr>
          <p:cNvPr id="20" name="TextBox 19"/>
          <p:cNvSpPr txBox="1"/>
          <p:nvPr/>
        </p:nvSpPr>
        <p:spPr>
          <a:xfrm>
            <a:off x="5989319"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IT staff redeployed</a:t>
            </a:r>
            <a:br/>
            <a:r>
              <a:t>to higher value</a:t>
            </a:r>
          </a:p>
        </p:txBody>
      </p:sp>
      <p:sp>
        <p:nvSpPr>
          <p:cNvPr id="21" name="TextBox 20"/>
          <p:cNvSpPr txBox="1"/>
          <p:nvPr/>
        </p:nvSpPr>
        <p:spPr>
          <a:xfrm>
            <a:off x="365760" y="3246120"/>
            <a:ext cx="1828800" cy="182880"/>
          </a:xfrm>
          <a:prstGeom prst="rect">
            <a:avLst/>
          </a:prstGeom>
          <a:noFill/>
        </p:spPr>
        <p:txBody>
          <a:bodyPr wrap="square">
            <a:spAutoFit/>
          </a:bodyPr>
          <a:lstStyle/>
          <a:p>
            <a:pPr algn="l">
              <a:spcAft>
                <a:spcPts val="200"/>
              </a:spcAft>
              <a:defRPr sz="800" b="1">
                <a:solidFill>
                  <a:srgbClr val="0A1628"/>
                </a:solidFill>
                <a:latin typeface="Calibri"/>
              </a:defRPr>
            </a:pPr>
            <a:r>
              <a:t>HOW IT WORKS</a:t>
            </a:r>
          </a:p>
        </p:txBody>
      </p:sp>
      <p:sp>
        <p:nvSpPr>
          <p:cNvPr id="22" name="TextBox 21"/>
          <p:cNvSpPr txBox="1"/>
          <p:nvPr/>
        </p:nvSpPr>
        <p:spPr>
          <a:xfrm>
            <a:off x="365760" y="3429000"/>
            <a:ext cx="7436815" cy="594360"/>
          </a:xfrm>
          <a:prstGeom prst="rect">
            <a:avLst/>
          </a:prstGeom>
          <a:noFill/>
        </p:spPr>
        <p:txBody>
          <a:bodyPr wrap="square">
            <a:spAutoFit/>
          </a:bodyPr>
          <a:lstStyle/>
          <a:p>
            <a:pPr algn="l">
              <a:spcAft>
                <a:spcPts val="200"/>
              </a:spcAft>
              <a:defRPr sz="700" b="0">
                <a:solidFill>
                  <a:srgbClr val="0A1628"/>
                </a:solidFill>
                <a:latin typeface="Calibri"/>
              </a:defRPr>
            </a:pPr>
            <a:r>
              <a:t>→ Agents resolve finance, IT, and HR queries end-to-end</a:t>
            </a:r>
            <a:br/>
            <a:r>
              <a:t>→ Process redesign: treat workflow as the problem, not just speed</a:t>
            </a:r>
            <a:br/>
            <a:r>
              <a:t>→ 85% of displaced IT staff redeployed to SecOps, AI Ops, Executive Briefings</a:t>
            </a:r>
            <a:br/>
            <a:r>
              <a:t>→ 15% now manage the agentic workforce (monitoring, edge cases, governance)</a:t>
            </a:r>
          </a:p>
        </p:txBody>
      </p:sp>
      <p:sp>
        <p:nvSpPr>
          <p:cNvPr id="23" name="TextBox 22"/>
          <p:cNvSpPr txBox="1"/>
          <p:nvPr/>
        </p:nvSpPr>
        <p:spPr>
          <a:xfrm>
            <a:off x="365760" y="4069080"/>
            <a:ext cx="3200400" cy="182880"/>
          </a:xfrm>
          <a:prstGeom prst="rect">
            <a:avLst/>
          </a:prstGeom>
          <a:noFill/>
        </p:spPr>
        <p:txBody>
          <a:bodyPr wrap="square">
            <a:spAutoFit/>
          </a:bodyPr>
          <a:lstStyle/>
          <a:p>
            <a:pPr algn="l">
              <a:spcAft>
                <a:spcPts val="200"/>
              </a:spcAft>
              <a:defRPr sz="750" b="1">
                <a:solidFill>
                  <a:srgbClr val="0A1628"/>
                </a:solidFill>
                <a:latin typeface="Calibri"/>
              </a:defRPr>
            </a:pPr>
            <a:r>
              <a:t>AGENT ARCHITECTURE</a:t>
            </a:r>
          </a:p>
        </p:txBody>
      </p:sp>
      <p:sp>
        <p:nvSpPr>
          <p:cNvPr id="24" name="TextBox 23"/>
          <p:cNvSpPr txBox="1"/>
          <p:nvPr/>
        </p:nvSpPr>
        <p:spPr>
          <a:xfrm>
            <a:off x="365760" y="4251960"/>
            <a:ext cx="3520440" cy="777240"/>
          </a:xfrm>
          <a:prstGeom prst="rect">
            <a:avLst/>
          </a:prstGeom>
          <a:noFill/>
        </p:spPr>
        <p:txBody>
          <a:bodyPr wrap="square">
            <a:spAutoFit/>
          </a:bodyPr>
          <a:lstStyle/>
          <a:p>
            <a:pPr algn="l">
              <a:spcAft>
                <a:spcPts val="200"/>
              </a:spcAft>
              <a:defRPr sz="700" b="0">
                <a:solidFill>
                  <a:srgbClr val="0A1628"/>
                </a:solidFill>
                <a:latin typeface="Calibri"/>
              </a:defRPr>
            </a:pPr>
            <a:r>
              <a:t>• Agent Command Center: centralized governance for all agents</a:t>
            </a:r>
            <a:br/>
            <a:r>
              <a:t>• Monitors adoption, cost, performance, security across org</a:t>
            </a:r>
            <a:br/>
            <a:r>
              <a:t>• Token cost management as active financial line item</a:t>
            </a:r>
            <a:br/>
            <a:r>
              <a:t>• Citizen-developed agents require oversight to prevent sprawl</a:t>
            </a:r>
          </a:p>
        </p:txBody>
      </p:sp>
      <p:sp>
        <p:nvSpPr>
          <p:cNvPr id="25" name="TextBox 24"/>
          <p:cNvSpPr txBox="1"/>
          <p:nvPr/>
        </p:nvSpPr>
        <p:spPr>
          <a:xfrm>
            <a:off x="4023360" y="4069080"/>
            <a:ext cx="3200400" cy="182880"/>
          </a:xfrm>
          <a:prstGeom prst="rect">
            <a:avLst/>
          </a:prstGeom>
          <a:noFill/>
        </p:spPr>
        <p:txBody>
          <a:bodyPr wrap="square">
            <a:spAutoFit/>
          </a:bodyPr>
          <a:lstStyle/>
          <a:p>
            <a:pPr algn="l">
              <a:spcAft>
                <a:spcPts val="200"/>
              </a:spcAft>
              <a:defRPr sz="750" b="1">
                <a:solidFill>
                  <a:srgbClr val="0A1628"/>
                </a:solidFill>
                <a:latin typeface="Calibri"/>
              </a:defRPr>
            </a:pPr>
            <a:r>
              <a:t>GOVERNANCE &amp; COMPLIANCE</a:t>
            </a:r>
          </a:p>
        </p:txBody>
      </p:sp>
      <p:sp>
        <p:nvSpPr>
          <p:cNvPr id="26" name="TextBox 25"/>
          <p:cNvSpPr txBox="1"/>
          <p:nvPr/>
        </p:nvSpPr>
        <p:spPr>
          <a:xfrm>
            <a:off x="4023360" y="4251960"/>
            <a:ext cx="3520440" cy="777240"/>
          </a:xfrm>
          <a:prstGeom prst="rect">
            <a:avLst/>
          </a:prstGeom>
          <a:noFill/>
        </p:spPr>
        <p:txBody>
          <a:bodyPr wrap="square">
            <a:spAutoFit/>
          </a:bodyPr>
          <a:lstStyle/>
          <a:p>
            <a:pPr algn="l">
              <a:spcAft>
                <a:spcPts val="200"/>
              </a:spcAft>
              <a:defRPr sz="700" b="0">
                <a:solidFill>
                  <a:srgbClr val="0A1628"/>
                </a:solidFill>
                <a:latin typeface="Calibri"/>
              </a:defRPr>
            </a:pPr>
            <a:r>
              <a:t>• Centralized monitoring of all AI agents across organization</a:t>
            </a:r>
            <a:br/>
            <a:r>
              <a:t>• Token cost tracked as operational expense</a:t>
            </a:r>
            <a:br/>
            <a:r>
              <a:t>• Recovery and resilience partnerships (Cohesity)</a:t>
            </a:r>
            <a:br/>
            <a:r>
              <a:t>• No layoffs: capacity reallocation, not headcount reduction</a:t>
            </a:r>
          </a:p>
        </p:txBody>
      </p:sp>
      <p:sp>
        <p:nvSpPr>
          <p:cNvPr id="27" name="Rectangle 26"/>
          <p:cNvSpPr/>
          <p:nvPr/>
        </p:nvSpPr>
        <p:spPr>
          <a:xfrm>
            <a:off x="274320" y="5074920"/>
            <a:ext cx="7619695" cy="77724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65760" y="5111496"/>
            <a:ext cx="1828800" cy="164592"/>
          </a:xfrm>
          <a:prstGeom prst="rect">
            <a:avLst/>
          </a:prstGeom>
          <a:noFill/>
        </p:spPr>
        <p:txBody>
          <a:bodyPr wrap="square">
            <a:spAutoFit/>
          </a:bodyPr>
          <a:lstStyle/>
          <a:p>
            <a:pPr algn="l">
              <a:spcAft>
                <a:spcPts val="200"/>
              </a:spcAft>
              <a:defRPr sz="750" b="1">
                <a:solidFill>
                  <a:srgbClr val="00C9A7"/>
                </a:solidFill>
                <a:latin typeface="Calibri"/>
              </a:defRPr>
            </a:pPr>
            <a:r>
              <a:t>TECHNOLOGY STACK</a:t>
            </a:r>
          </a:p>
        </p:txBody>
      </p:sp>
      <p:sp>
        <p:nvSpPr>
          <p:cNvPr id="29" name="TextBox 28"/>
          <p:cNvSpPr txBox="1"/>
          <p:nvPr/>
        </p:nvSpPr>
        <p:spPr>
          <a:xfrm>
            <a:off x="365760"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Platform</a:t>
            </a:r>
          </a:p>
        </p:txBody>
      </p:sp>
      <p:sp>
        <p:nvSpPr>
          <p:cNvPr id="30" name="TextBox 29"/>
          <p:cNvSpPr txBox="1"/>
          <p:nvPr/>
        </p:nvSpPr>
        <p:spPr>
          <a:xfrm>
            <a:off x="365760"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ServiceNow</a:t>
            </a:r>
            <a:br/>
            <a:r>
              <a:t>Now Platform</a:t>
            </a:r>
          </a:p>
        </p:txBody>
      </p:sp>
      <p:sp>
        <p:nvSpPr>
          <p:cNvPr id="31" name="TextBox 30"/>
          <p:cNvSpPr txBox="1"/>
          <p:nvPr/>
        </p:nvSpPr>
        <p:spPr>
          <a:xfrm>
            <a:off x="2240279"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Governance</a:t>
            </a:r>
          </a:p>
        </p:txBody>
      </p:sp>
      <p:sp>
        <p:nvSpPr>
          <p:cNvPr id="32" name="TextBox 31"/>
          <p:cNvSpPr txBox="1"/>
          <p:nvPr/>
        </p:nvSpPr>
        <p:spPr>
          <a:xfrm>
            <a:off x="2240279"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Agent Command</a:t>
            </a:r>
            <a:br/>
            <a:r>
              <a:t>Center</a:t>
            </a:r>
          </a:p>
        </p:txBody>
      </p:sp>
      <p:sp>
        <p:nvSpPr>
          <p:cNvPr id="33" name="TextBox 32"/>
          <p:cNvSpPr txBox="1"/>
          <p:nvPr/>
        </p:nvSpPr>
        <p:spPr>
          <a:xfrm>
            <a:off x="4114799"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Scale</a:t>
            </a:r>
          </a:p>
        </p:txBody>
      </p:sp>
      <p:sp>
        <p:nvSpPr>
          <p:cNvPr id="34" name="TextBox 33"/>
          <p:cNvSpPr txBox="1"/>
          <p:nvPr/>
        </p:nvSpPr>
        <p:spPr>
          <a:xfrm>
            <a:off x="4114799"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14K → 30K employees</a:t>
            </a:r>
            <a:br/>
            <a:r>
              <a:t>without ops growth</a:t>
            </a:r>
          </a:p>
        </p:txBody>
      </p:sp>
      <p:sp>
        <p:nvSpPr>
          <p:cNvPr id="35" name="TextBox 34"/>
          <p:cNvSpPr txBox="1"/>
          <p:nvPr/>
        </p:nvSpPr>
        <p:spPr>
          <a:xfrm>
            <a:off x="5989319"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Revenue</a:t>
            </a:r>
          </a:p>
        </p:txBody>
      </p:sp>
      <p:sp>
        <p:nvSpPr>
          <p:cNvPr id="36" name="TextBox 35"/>
          <p:cNvSpPr txBox="1"/>
          <p:nvPr/>
        </p:nvSpPr>
        <p:spPr>
          <a:xfrm>
            <a:off x="5989319"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$3.77B Q1 2026</a:t>
            </a:r>
            <a:br/>
            <a:r>
              <a:t>22% YoY growth</a:t>
            </a:r>
          </a:p>
        </p:txBody>
      </p:sp>
      <p:sp>
        <p:nvSpPr>
          <p:cNvPr id="37" name="Rectangle 36"/>
          <p:cNvSpPr/>
          <p:nvPr/>
        </p:nvSpPr>
        <p:spPr>
          <a:xfrm>
            <a:off x="274320" y="5943600"/>
            <a:ext cx="3657600" cy="320040"/>
          </a:xfrm>
          <a:prstGeom prst="rect">
            <a:avLst/>
          </a:prstGeom>
          <a:solidFill>
            <a:srgbClr val="009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365760" y="5980176"/>
            <a:ext cx="3474720" cy="256032"/>
          </a:xfrm>
          <a:prstGeom prst="rect">
            <a:avLst/>
          </a:prstGeom>
          <a:noFill/>
        </p:spPr>
        <p:txBody>
          <a:bodyPr wrap="square">
            <a:spAutoFit/>
          </a:bodyPr>
          <a:lstStyle/>
          <a:p>
            <a:pPr algn="l">
              <a:spcAft>
                <a:spcPts val="200"/>
              </a:spcAft>
              <a:defRPr sz="650" b="1">
                <a:solidFill>
                  <a:srgbClr val="FFFFFF"/>
                </a:solidFill>
                <a:latin typeface="Calibri"/>
              </a:defRPr>
            </a:pPr>
            <a:r>
              <a:t>INDUSTRY: Enterprise Operations</a:t>
            </a:r>
          </a:p>
        </p:txBody>
      </p:sp>
      <p:sp>
        <p:nvSpPr>
          <p:cNvPr id="39" name="Rectangle 38"/>
          <p:cNvSpPr/>
          <p:nvPr/>
        </p:nvSpPr>
        <p:spPr>
          <a:xfrm>
            <a:off x="4114800" y="5943600"/>
            <a:ext cx="3657600" cy="320040"/>
          </a:xfrm>
          <a:prstGeom prst="rect">
            <a:avLst/>
          </a:prstGeom>
          <a:solidFill>
            <a:srgbClr val="008F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4206240" y="5980176"/>
            <a:ext cx="3474720" cy="256032"/>
          </a:xfrm>
          <a:prstGeom prst="rect">
            <a:avLst/>
          </a:prstGeom>
          <a:noFill/>
        </p:spPr>
        <p:txBody>
          <a:bodyPr wrap="square">
            <a:spAutoFit/>
          </a:bodyPr>
          <a:lstStyle/>
          <a:p>
            <a:pPr algn="l">
              <a:spcAft>
                <a:spcPts val="200"/>
              </a:spcAft>
              <a:defRPr sz="650" b="1">
                <a:solidFill>
                  <a:srgbClr val="FFFFFF"/>
                </a:solidFill>
                <a:latin typeface="Calibri"/>
              </a:defRPr>
            </a:pPr>
            <a:r>
              <a:t>AGENT TYPE: Employee Agent + Security Agent</a:t>
            </a:r>
          </a:p>
        </p:txBody>
      </p:sp>
      <p:pic>
        <p:nvPicPr>
          <p:cNvPr id="41" name="Picture 40" descr="image.jpg"/>
          <p:cNvPicPr>
            <a:picLocks noChangeAspect="1"/>
          </p:cNvPicPr>
          <p:nvPr/>
        </p:nvPicPr>
        <p:blipFill>
          <a:blip r:embed="rId2"/>
          <a:stretch>
            <a:fillRect/>
          </a:stretch>
        </p:blipFill>
        <p:spPr>
          <a:xfrm>
            <a:off x="8076895" y="0"/>
            <a:ext cx="4114800" cy="6858000"/>
          </a:xfrm>
          <a:prstGeom prst="rect">
            <a:avLst/>
          </a:prstGeom>
        </p:spPr>
      </p:pic>
      <p:sp>
        <p:nvSpPr>
          <p:cNvPr id="42" name="TextBox 41"/>
          <p:cNvSpPr txBox="1"/>
          <p:nvPr/>
        </p:nvSpPr>
        <p:spPr>
          <a:xfrm>
            <a:off x="274320" y="6492240"/>
            <a:ext cx="4572000" cy="274320"/>
          </a:xfrm>
          <a:prstGeom prst="rect">
            <a:avLst/>
          </a:prstGeom>
          <a:noFill/>
        </p:spPr>
        <p:txBody>
          <a:bodyPr wrap="square">
            <a:spAutoFit/>
          </a:bodyPr>
          <a:lstStyle/>
          <a:p>
            <a:pPr algn="l">
              <a:spcAft>
                <a:spcPts val="200"/>
              </a:spcAft>
              <a:defRPr sz="700" b="0">
                <a:solidFill>
                  <a:srgbClr val="888888"/>
                </a:solidFill>
                <a:latin typeface="Calibri"/>
              </a:defRPr>
            </a:pPr>
            <a:r>
              <a:t>Agentic AI Use Cases Across Industries | Confidential</a:t>
            </a:r>
          </a:p>
        </p:txBody>
      </p:sp>
      <p:sp>
        <p:nvSpPr>
          <p:cNvPr id="43" name="TextBox 42"/>
          <p:cNvSpPr txBox="1"/>
          <p:nvPr/>
        </p:nvSpPr>
        <p:spPr>
          <a:xfrm>
            <a:off x="11094415" y="6492240"/>
            <a:ext cx="822960" cy="274320"/>
          </a:xfrm>
          <a:prstGeom prst="rect">
            <a:avLst/>
          </a:prstGeom>
          <a:noFill/>
        </p:spPr>
        <p:txBody>
          <a:bodyPr wrap="square">
            <a:spAutoFit/>
          </a:bodyPr>
          <a:lstStyle/>
          <a:p>
            <a:pPr algn="r">
              <a:spcAft>
                <a:spcPts val="200"/>
              </a:spcAft>
              <a:defRPr sz="700" b="0">
                <a:solidFill>
                  <a:srgbClr val="888888"/>
                </a:solidFill>
                <a:latin typeface="Calibri"/>
              </a:defRPr>
            </a:pPr>
            <a:r>
              <a:t>31 / 46</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8076895" cy="6858000"/>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82880"/>
            <a:ext cx="7436815" cy="502920"/>
          </a:xfrm>
          <a:prstGeom prst="rect">
            <a:avLst/>
          </a:prstGeom>
          <a:noFill/>
        </p:spPr>
        <p:txBody>
          <a:bodyPr wrap="square">
            <a:spAutoFit/>
          </a:bodyPr>
          <a:lstStyle/>
          <a:p>
            <a:pPr algn="l">
              <a:spcAft>
                <a:spcPts val="200"/>
              </a:spcAft>
              <a:defRPr sz="2000" b="1">
                <a:solidFill>
                  <a:srgbClr val="FFFFFF"/>
                </a:solidFill>
                <a:latin typeface="Calibri"/>
              </a:defRPr>
            </a:pPr>
            <a:r>
              <a:t>UC21 | Cognizant — Multi-Agent Platform for 350K Employees</a:t>
            </a:r>
          </a:p>
        </p:txBody>
      </p:sp>
      <p:sp>
        <p:nvSpPr>
          <p:cNvPr id="4" name="Rectangle 3"/>
          <p:cNvSpPr/>
          <p:nvPr/>
        </p:nvSpPr>
        <p:spPr>
          <a:xfrm>
            <a:off x="365760" y="658368"/>
            <a:ext cx="1828800" cy="27432"/>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777240"/>
            <a:ext cx="1371600" cy="182880"/>
          </a:xfrm>
          <a:prstGeom prst="rect">
            <a:avLst/>
          </a:prstGeom>
          <a:noFill/>
        </p:spPr>
        <p:txBody>
          <a:bodyPr wrap="square">
            <a:spAutoFit/>
          </a:bodyPr>
          <a:lstStyle/>
          <a:p>
            <a:pPr algn="l">
              <a:spcAft>
                <a:spcPts val="200"/>
              </a:spcAft>
              <a:defRPr sz="800" b="1">
                <a:solidFill>
                  <a:srgbClr val="0A1628"/>
                </a:solidFill>
                <a:latin typeface="Calibri"/>
              </a:defRPr>
            </a:pPr>
            <a:r>
              <a:t>CHALLENGE</a:t>
            </a:r>
          </a:p>
        </p:txBody>
      </p:sp>
      <p:sp>
        <p:nvSpPr>
          <p:cNvPr id="6" name="TextBox 5"/>
          <p:cNvSpPr txBox="1"/>
          <p:nvPr/>
        </p:nvSpPr>
        <p:spPr>
          <a:xfrm>
            <a:off x="365760" y="960120"/>
            <a:ext cx="3520440" cy="1280160"/>
          </a:xfrm>
          <a:prstGeom prst="rect">
            <a:avLst/>
          </a:prstGeom>
          <a:noFill/>
        </p:spPr>
        <p:txBody>
          <a:bodyPr wrap="square">
            <a:spAutoFit/>
          </a:bodyPr>
          <a:lstStyle/>
          <a:p>
            <a:pPr algn="l">
              <a:spcAft>
                <a:spcPts val="200"/>
              </a:spcAft>
              <a:defRPr sz="750" b="0">
                <a:solidFill>
                  <a:srgbClr val="0A1628"/>
                </a:solidFill>
                <a:latin typeface="Calibri"/>
              </a:defRPr>
            </a:pPr>
            <a:r>
              <a:t>• Employees toggling between multiple portals and disconnected systems</a:t>
            </a:r>
            <a:br/>
            <a:r>
              <a:t>• Teams adopting AI tools in silos, increasing complexity</a:t>
            </a:r>
            <a:br/>
            <a:r>
              <a:t>• Support burden and governance risk from fragmented agent landscape</a:t>
            </a:r>
            <a:br/>
            <a:r>
              <a:t>• Simple tasks (leave, seating, transport) required navigating multiple apps</a:t>
            </a:r>
          </a:p>
        </p:txBody>
      </p:sp>
      <p:sp>
        <p:nvSpPr>
          <p:cNvPr id="7" name="TextBox 6"/>
          <p:cNvSpPr txBox="1"/>
          <p:nvPr/>
        </p:nvSpPr>
        <p:spPr>
          <a:xfrm>
            <a:off x="4023360" y="777240"/>
            <a:ext cx="1828800" cy="182880"/>
          </a:xfrm>
          <a:prstGeom prst="rect">
            <a:avLst/>
          </a:prstGeom>
          <a:noFill/>
        </p:spPr>
        <p:txBody>
          <a:bodyPr wrap="square">
            <a:spAutoFit/>
          </a:bodyPr>
          <a:lstStyle/>
          <a:p>
            <a:pPr algn="l">
              <a:spcAft>
                <a:spcPts val="200"/>
              </a:spcAft>
              <a:defRPr sz="800" b="1">
                <a:solidFill>
                  <a:srgbClr val="0A1628"/>
                </a:solidFill>
                <a:latin typeface="Calibri"/>
              </a:defRPr>
            </a:pPr>
            <a:r>
              <a:t>AGENTIC SOLUTION</a:t>
            </a:r>
          </a:p>
        </p:txBody>
      </p:sp>
      <p:sp>
        <p:nvSpPr>
          <p:cNvPr id="8" name="TextBox 7"/>
          <p:cNvSpPr txBox="1"/>
          <p:nvPr/>
        </p:nvSpPr>
        <p:spPr>
          <a:xfrm>
            <a:off x="4023360" y="960120"/>
            <a:ext cx="3520440" cy="1280160"/>
          </a:xfrm>
          <a:prstGeom prst="rect">
            <a:avLst/>
          </a:prstGeom>
          <a:noFill/>
        </p:spPr>
        <p:txBody>
          <a:bodyPr wrap="square">
            <a:spAutoFit/>
          </a:bodyPr>
          <a:lstStyle/>
          <a:p>
            <a:pPr algn="l">
              <a:spcAft>
                <a:spcPts val="200"/>
              </a:spcAft>
              <a:defRPr sz="750" b="0">
                <a:solidFill>
                  <a:srgbClr val="0A1628"/>
                </a:solidFill>
                <a:latin typeface="Calibri"/>
              </a:defRPr>
            </a:pPr>
            <a:r>
              <a:t>• OneCognizant (1C): single AI-powered digital front door</a:t>
            </a:r>
            <a:br/>
            <a:r>
              <a:t>• Neuro AI Multi-Agent Accelerator (neuro-san) for orchestration</a:t>
            </a:r>
            <a:br/>
            <a:r>
              <a:t>• Intelligent search surfaces actions based on associate behavior</a:t>
            </a:r>
            <a:br/>
            <a:r>
              <a:t>• Combined tasks in single interaction via coordinated agent workflows</a:t>
            </a:r>
          </a:p>
        </p:txBody>
      </p:sp>
      <p:sp>
        <p:nvSpPr>
          <p:cNvPr id="9" name="Rectangle 8"/>
          <p:cNvSpPr/>
          <p:nvPr/>
        </p:nvSpPr>
        <p:spPr>
          <a:xfrm>
            <a:off x="365760"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65760"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350K</a:t>
            </a:r>
          </a:p>
        </p:txBody>
      </p:sp>
      <p:sp>
        <p:nvSpPr>
          <p:cNvPr id="11" name="TextBox 10"/>
          <p:cNvSpPr txBox="1"/>
          <p:nvPr/>
        </p:nvSpPr>
        <p:spPr>
          <a:xfrm>
            <a:off x="365760"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Users worldwide</a:t>
            </a:r>
            <a:br/>
            <a:r>
              <a:t>on single platform</a:t>
            </a:r>
          </a:p>
        </p:txBody>
      </p:sp>
      <p:sp>
        <p:nvSpPr>
          <p:cNvPr id="12" name="Rectangle 11"/>
          <p:cNvSpPr/>
          <p:nvPr/>
        </p:nvSpPr>
        <p:spPr>
          <a:xfrm>
            <a:off x="2240279"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240279"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100s</a:t>
            </a:r>
          </a:p>
        </p:txBody>
      </p:sp>
      <p:sp>
        <p:nvSpPr>
          <p:cNvPr id="14" name="TextBox 13"/>
          <p:cNvSpPr txBox="1"/>
          <p:nvPr/>
        </p:nvSpPr>
        <p:spPr>
          <a:xfrm>
            <a:off x="2240279"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Enterprise apps</a:t>
            </a:r>
            <a:br/>
            <a:r>
              <a:t>unified</a:t>
            </a:r>
          </a:p>
        </p:txBody>
      </p:sp>
      <p:sp>
        <p:nvSpPr>
          <p:cNvPr id="15" name="Rectangle 14"/>
          <p:cNvSpPr/>
          <p:nvPr/>
        </p:nvSpPr>
        <p:spPr>
          <a:xfrm>
            <a:off x="4114799"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114799"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Single</a:t>
            </a:r>
          </a:p>
        </p:txBody>
      </p:sp>
      <p:sp>
        <p:nvSpPr>
          <p:cNvPr id="17" name="TextBox 16"/>
          <p:cNvSpPr txBox="1"/>
          <p:nvPr/>
        </p:nvSpPr>
        <p:spPr>
          <a:xfrm>
            <a:off x="4114799"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Digital front</a:t>
            </a:r>
            <a:br/>
            <a:r>
              <a:t>door</a:t>
            </a:r>
          </a:p>
        </p:txBody>
      </p:sp>
      <p:sp>
        <p:nvSpPr>
          <p:cNvPr id="18" name="Rectangle 17"/>
          <p:cNvSpPr/>
          <p:nvPr/>
        </p:nvSpPr>
        <p:spPr>
          <a:xfrm>
            <a:off x="5989319"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989319"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Client Zero</a:t>
            </a:r>
          </a:p>
        </p:txBody>
      </p:sp>
      <p:sp>
        <p:nvSpPr>
          <p:cNvPr id="20" name="TextBox 19"/>
          <p:cNvSpPr txBox="1"/>
          <p:nvPr/>
        </p:nvSpPr>
        <p:spPr>
          <a:xfrm>
            <a:off x="5989319"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Proven internally</a:t>
            </a:r>
            <a:br/>
            <a:r>
              <a:t>before client use</a:t>
            </a:r>
          </a:p>
        </p:txBody>
      </p:sp>
      <p:sp>
        <p:nvSpPr>
          <p:cNvPr id="21" name="TextBox 20"/>
          <p:cNvSpPr txBox="1"/>
          <p:nvPr/>
        </p:nvSpPr>
        <p:spPr>
          <a:xfrm>
            <a:off x="365760" y="3246120"/>
            <a:ext cx="1828800" cy="182880"/>
          </a:xfrm>
          <a:prstGeom prst="rect">
            <a:avLst/>
          </a:prstGeom>
          <a:noFill/>
        </p:spPr>
        <p:txBody>
          <a:bodyPr wrap="square">
            <a:spAutoFit/>
          </a:bodyPr>
          <a:lstStyle/>
          <a:p>
            <a:pPr algn="l">
              <a:spcAft>
                <a:spcPts val="200"/>
              </a:spcAft>
              <a:defRPr sz="800" b="1">
                <a:solidFill>
                  <a:srgbClr val="0A1628"/>
                </a:solidFill>
                <a:latin typeface="Calibri"/>
              </a:defRPr>
            </a:pPr>
            <a:r>
              <a:t>HOW IT WORKS</a:t>
            </a:r>
          </a:p>
        </p:txBody>
      </p:sp>
      <p:sp>
        <p:nvSpPr>
          <p:cNvPr id="22" name="TextBox 21"/>
          <p:cNvSpPr txBox="1"/>
          <p:nvPr/>
        </p:nvSpPr>
        <p:spPr>
          <a:xfrm>
            <a:off x="365760" y="3429000"/>
            <a:ext cx="7436815" cy="594360"/>
          </a:xfrm>
          <a:prstGeom prst="rect">
            <a:avLst/>
          </a:prstGeom>
          <a:noFill/>
        </p:spPr>
        <p:txBody>
          <a:bodyPr wrap="square">
            <a:spAutoFit/>
          </a:bodyPr>
          <a:lstStyle/>
          <a:p>
            <a:pPr algn="l">
              <a:spcAft>
                <a:spcPts val="200"/>
              </a:spcAft>
              <a:defRPr sz="700" b="0">
                <a:solidFill>
                  <a:srgbClr val="0A1628"/>
                </a:solidFill>
                <a:latin typeface="Calibri"/>
              </a:defRPr>
            </a:pPr>
            <a:r>
              <a:t>→ Employee requests (leave, seating, HW/SW) handled via 1C</a:t>
            </a:r>
            <a:br/>
            <a:r>
              <a:t>→ Intelligent search suggests relevant actions based on behavior</a:t>
            </a:r>
            <a:br/>
            <a:r>
              <a:t>→ ServiceNow agents execute tasks within coordinated workflows</a:t>
            </a:r>
            <a:br/>
            <a:r>
              <a:t>→ Multiple requests combined in single interaction seamlessly</a:t>
            </a:r>
          </a:p>
        </p:txBody>
      </p:sp>
      <p:sp>
        <p:nvSpPr>
          <p:cNvPr id="23" name="TextBox 22"/>
          <p:cNvSpPr txBox="1"/>
          <p:nvPr/>
        </p:nvSpPr>
        <p:spPr>
          <a:xfrm>
            <a:off x="365760" y="4069080"/>
            <a:ext cx="3200400" cy="182880"/>
          </a:xfrm>
          <a:prstGeom prst="rect">
            <a:avLst/>
          </a:prstGeom>
          <a:noFill/>
        </p:spPr>
        <p:txBody>
          <a:bodyPr wrap="square">
            <a:spAutoFit/>
          </a:bodyPr>
          <a:lstStyle/>
          <a:p>
            <a:pPr algn="l">
              <a:spcAft>
                <a:spcPts val="200"/>
              </a:spcAft>
              <a:defRPr sz="750" b="1">
                <a:solidFill>
                  <a:srgbClr val="0A1628"/>
                </a:solidFill>
                <a:latin typeface="Calibri"/>
              </a:defRPr>
            </a:pPr>
            <a:r>
              <a:t>AGENT ARCHITECTURE</a:t>
            </a:r>
          </a:p>
        </p:txBody>
      </p:sp>
      <p:sp>
        <p:nvSpPr>
          <p:cNvPr id="24" name="TextBox 23"/>
          <p:cNvSpPr txBox="1"/>
          <p:nvPr/>
        </p:nvSpPr>
        <p:spPr>
          <a:xfrm>
            <a:off x="365760" y="4251960"/>
            <a:ext cx="3520440" cy="777240"/>
          </a:xfrm>
          <a:prstGeom prst="rect">
            <a:avLst/>
          </a:prstGeom>
          <a:noFill/>
        </p:spPr>
        <p:txBody>
          <a:bodyPr wrap="square">
            <a:spAutoFit/>
          </a:bodyPr>
          <a:lstStyle/>
          <a:p>
            <a:pPr algn="l">
              <a:spcAft>
                <a:spcPts val="200"/>
              </a:spcAft>
              <a:defRPr sz="700" b="0">
                <a:solidFill>
                  <a:srgbClr val="0A1628"/>
                </a:solidFill>
                <a:latin typeface="Calibri"/>
              </a:defRPr>
            </a:pPr>
            <a:r>
              <a:t>• Cognizant Neuro AI Multi-Agent Accelerator (neuro-san)</a:t>
            </a:r>
            <a:br/>
            <a:r>
              <a:t>• Cloud-native, AI-powered digital front door across web + mobile</a:t>
            </a:r>
            <a:br/>
            <a:r>
              <a:t>• Third-party enterprise apps + proprietary AI agents unified</a:t>
            </a:r>
            <a:br/>
            <a:r>
              <a:t>• Client Zero model: validated internally at full scale before external</a:t>
            </a:r>
          </a:p>
        </p:txBody>
      </p:sp>
      <p:sp>
        <p:nvSpPr>
          <p:cNvPr id="25" name="TextBox 24"/>
          <p:cNvSpPr txBox="1"/>
          <p:nvPr/>
        </p:nvSpPr>
        <p:spPr>
          <a:xfrm>
            <a:off x="4023360" y="4069080"/>
            <a:ext cx="3200400" cy="182880"/>
          </a:xfrm>
          <a:prstGeom prst="rect">
            <a:avLst/>
          </a:prstGeom>
          <a:noFill/>
        </p:spPr>
        <p:txBody>
          <a:bodyPr wrap="square">
            <a:spAutoFit/>
          </a:bodyPr>
          <a:lstStyle/>
          <a:p>
            <a:pPr algn="l">
              <a:spcAft>
                <a:spcPts val="200"/>
              </a:spcAft>
              <a:defRPr sz="750" b="1">
                <a:solidFill>
                  <a:srgbClr val="0A1628"/>
                </a:solidFill>
                <a:latin typeface="Calibri"/>
              </a:defRPr>
            </a:pPr>
            <a:r>
              <a:t>GOVERNANCE &amp; COMPLIANCE</a:t>
            </a:r>
          </a:p>
        </p:txBody>
      </p:sp>
      <p:sp>
        <p:nvSpPr>
          <p:cNvPr id="26" name="TextBox 25"/>
          <p:cNvSpPr txBox="1"/>
          <p:nvPr/>
        </p:nvSpPr>
        <p:spPr>
          <a:xfrm>
            <a:off x="4023360" y="4251960"/>
            <a:ext cx="3520440" cy="777240"/>
          </a:xfrm>
          <a:prstGeom prst="rect">
            <a:avLst/>
          </a:prstGeom>
          <a:noFill/>
        </p:spPr>
        <p:txBody>
          <a:bodyPr wrap="square">
            <a:spAutoFit/>
          </a:bodyPr>
          <a:lstStyle/>
          <a:p>
            <a:pPr algn="l">
              <a:spcAft>
                <a:spcPts val="200"/>
              </a:spcAft>
              <a:defRPr sz="700" b="0">
                <a:solidFill>
                  <a:srgbClr val="0A1628"/>
                </a:solidFill>
                <a:latin typeface="Calibri"/>
              </a:defRPr>
            </a:pPr>
            <a:r>
              <a:t>• Centralized control without slowing innovation</a:t>
            </a:r>
            <a:br/>
            <a:r>
              <a:t>• Scalable operating layer for all enterprise AI</a:t>
            </a:r>
            <a:br/>
            <a:r>
              <a:t>• Single searchable interface eliminates shadow AI risk</a:t>
            </a:r>
          </a:p>
        </p:txBody>
      </p:sp>
      <p:sp>
        <p:nvSpPr>
          <p:cNvPr id="27" name="Rectangle 26"/>
          <p:cNvSpPr/>
          <p:nvPr/>
        </p:nvSpPr>
        <p:spPr>
          <a:xfrm>
            <a:off x="274320" y="5074920"/>
            <a:ext cx="7619695" cy="77724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65760" y="5111496"/>
            <a:ext cx="1828800" cy="164592"/>
          </a:xfrm>
          <a:prstGeom prst="rect">
            <a:avLst/>
          </a:prstGeom>
          <a:noFill/>
        </p:spPr>
        <p:txBody>
          <a:bodyPr wrap="square">
            <a:spAutoFit/>
          </a:bodyPr>
          <a:lstStyle/>
          <a:p>
            <a:pPr algn="l">
              <a:spcAft>
                <a:spcPts val="200"/>
              </a:spcAft>
              <a:defRPr sz="750" b="1">
                <a:solidFill>
                  <a:srgbClr val="00C9A7"/>
                </a:solidFill>
                <a:latin typeface="Calibri"/>
              </a:defRPr>
            </a:pPr>
            <a:r>
              <a:t>TECHNOLOGY STACK</a:t>
            </a:r>
          </a:p>
        </p:txBody>
      </p:sp>
      <p:sp>
        <p:nvSpPr>
          <p:cNvPr id="29" name="TextBox 28"/>
          <p:cNvSpPr txBox="1"/>
          <p:nvPr/>
        </p:nvSpPr>
        <p:spPr>
          <a:xfrm>
            <a:off x="365760"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Platform</a:t>
            </a:r>
          </a:p>
        </p:txBody>
      </p:sp>
      <p:sp>
        <p:nvSpPr>
          <p:cNvPr id="30" name="TextBox 29"/>
          <p:cNvSpPr txBox="1"/>
          <p:nvPr/>
        </p:nvSpPr>
        <p:spPr>
          <a:xfrm>
            <a:off x="365760"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OneCognizant</a:t>
            </a:r>
            <a:br/>
            <a:r>
              <a:t>1C platform</a:t>
            </a:r>
          </a:p>
        </p:txBody>
      </p:sp>
      <p:sp>
        <p:nvSpPr>
          <p:cNvPr id="31" name="TextBox 30"/>
          <p:cNvSpPr txBox="1"/>
          <p:nvPr/>
        </p:nvSpPr>
        <p:spPr>
          <a:xfrm>
            <a:off x="2240279"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Orchestration</a:t>
            </a:r>
          </a:p>
        </p:txBody>
      </p:sp>
      <p:sp>
        <p:nvSpPr>
          <p:cNvPr id="32" name="TextBox 31"/>
          <p:cNvSpPr txBox="1"/>
          <p:nvPr/>
        </p:nvSpPr>
        <p:spPr>
          <a:xfrm>
            <a:off x="2240279"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Neuro-san</a:t>
            </a:r>
            <a:br/>
            <a:r>
              <a:t>multi-agent</a:t>
            </a:r>
          </a:p>
        </p:txBody>
      </p:sp>
      <p:sp>
        <p:nvSpPr>
          <p:cNvPr id="33" name="TextBox 32"/>
          <p:cNvSpPr txBox="1"/>
          <p:nvPr/>
        </p:nvSpPr>
        <p:spPr>
          <a:xfrm>
            <a:off x="4114799"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Integration</a:t>
            </a:r>
          </a:p>
        </p:txBody>
      </p:sp>
      <p:sp>
        <p:nvSpPr>
          <p:cNvPr id="34" name="TextBox 33"/>
          <p:cNvSpPr txBox="1"/>
          <p:nvPr/>
        </p:nvSpPr>
        <p:spPr>
          <a:xfrm>
            <a:off x="4114799"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ServiceNow +</a:t>
            </a:r>
            <a:br/>
            <a:r>
              <a:t>enterprise apps</a:t>
            </a:r>
          </a:p>
        </p:txBody>
      </p:sp>
      <p:sp>
        <p:nvSpPr>
          <p:cNvPr id="35" name="TextBox 34"/>
          <p:cNvSpPr txBox="1"/>
          <p:nvPr/>
        </p:nvSpPr>
        <p:spPr>
          <a:xfrm>
            <a:off x="5989319"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Scale</a:t>
            </a:r>
          </a:p>
        </p:txBody>
      </p:sp>
      <p:sp>
        <p:nvSpPr>
          <p:cNvPr id="36" name="TextBox 35"/>
          <p:cNvSpPr txBox="1"/>
          <p:nvPr/>
        </p:nvSpPr>
        <p:spPr>
          <a:xfrm>
            <a:off x="5989319"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350K users</a:t>
            </a:r>
            <a:br/>
            <a:r>
              <a:t>worldwide</a:t>
            </a:r>
          </a:p>
        </p:txBody>
      </p:sp>
      <p:sp>
        <p:nvSpPr>
          <p:cNvPr id="37" name="Rectangle 36"/>
          <p:cNvSpPr/>
          <p:nvPr/>
        </p:nvSpPr>
        <p:spPr>
          <a:xfrm>
            <a:off x="274320" y="5943600"/>
            <a:ext cx="3657600" cy="320040"/>
          </a:xfrm>
          <a:prstGeom prst="rect">
            <a:avLst/>
          </a:prstGeom>
          <a:solidFill>
            <a:srgbClr val="009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365760" y="5980176"/>
            <a:ext cx="3474720" cy="256032"/>
          </a:xfrm>
          <a:prstGeom prst="rect">
            <a:avLst/>
          </a:prstGeom>
          <a:noFill/>
        </p:spPr>
        <p:txBody>
          <a:bodyPr wrap="square">
            <a:spAutoFit/>
          </a:bodyPr>
          <a:lstStyle/>
          <a:p>
            <a:pPr algn="l">
              <a:spcAft>
                <a:spcPts val="200"/>
              </a:spcAft>
              <a:defRPr sz="650" b="1">
                <a:solidFill>
                  <a:srgbClr val="FFFFFF"/>
                </a:solidFill>
                <a:latin typeface="Calibri"/>
              </a:defRPr>
            </a:pPr>
            <a:r>
              <a:t>INDUSTRY: Enterprise Operations</a:t>
            </a:r>
          </a:p>
        </p:txBody>
      </p:sp>
      <p:sp>
        <p:nvSpPr>
          <p:cNvPr id="39" name="Rectangle 38"/>
          <p:cNvSpPr/>
          <p:nvPr/>
        </p:nvSpPr>
        <p:spPr>
          <a:xfrm>
            <a:off x="4114800" y="5943600"/>
            <a:ext cx="3657600" cy="320040"/>
          </a:xfrm>
          <a:prstGeom prst="rect">
            <a:avLst/>
          </a:prstGeom>
          <a:solidFill>
            <a:srgbClr val="008F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4206240" y="5980176"/>
            <a:ext cx="3474720" cy="256032"/>
          </a:xfrm>
          <a:prstGeom prst="rect">
            <a:avLst/>
          </a:prstGeom>
          <a:noFill/>
        </p:spPr>
        <p:txBody>
          <a:bodyPr wrap="square">
            <a:spAutoFit/>
          </a:bodyPr>
          <a:lstStyle/>
          <a:p>
            <a:pPr algn="l">
              <a:spcAft>
                <a:spcPts val="200"/>
              </a:spcAft>
              <a:defRPr sz="650" b="1">
                <a:solidFill>
                  <a:srgbClr val="FFFFFF"/>
                </a:solidFill>
                <a:latin typeface="Calibri"/>
              </a:defRPr>
            </a:pPr>
            <a:r>
              <a:t>AGENT TYPE: Employee Agent</a:t>
            </a:r>
          </a:p>
        </p:txBody>
      </p:sp>
      <p:pic>
        <p:nvPicPr>
          <p:cNvPr id="41" name="Picture 40" descr="image.jpg"/>
          <p:cNvPicPr>
            <a:picLocks noChangeAspect="1"/>
          </p:cNvPicPr>
          <p:nvPr/>
        </p:nvPicPr>
        <p:blipFill>
          <a:blip r:embed="rId2"/>
          <a:stretch>
            <a:fillRect/>
          </a:stretch>
        </p:blipFill>
        <p:spPr>
          <a:xfrm>
            <a:off x="8076895" y="0"/>
            <a:ext cx="4114800" cy="6858000"/>
          </a:xfrm>
          <a:prstGeom prst="rect">
            <a:avLst/>
          </a:prstGeom>
        </p:spPr>
      </p:pic>
      <p:sp>
        <p:nvSpPr>
          <p:cNvPr id="42" name="TextBox 41"/>
          <p:cNvSpPr txBox="1"/>
          <p:nvPr/>
        </p:nvSpPr>
        <p:spPr>
          <a:xfrm>
            <a:off x="274320" y="6492240"/>
            <a:ext cx="4572000" cy="274320"/>
          </a:xfrm>
          <a:prstGeom prst="rect">
            <a:avLst/>
          </a:prstGeom>
          <a:noFill/>
        </p:spPr>
        <p:txBody>
          <a:bodyPr wrap="square">
            <a:spAutoFit/>
          </a:bodyPr>
          <a:lstStyle/>
          <a:p>
            <a:pPr algn="l">
              <a:spcAft>
                <a:spcPts val="200"/>
              </a:spcAft>
              <a:defRPr sz="700" b="0">
                <a:solidFill>
                  <a:srgbClr val="888888"/>
                </a:solidFill>
                <a:latin typeface="Calibri"/>
              </a:defRPr>
            </a:pPr>
            <a:r>
              <a:t>Agentic AI Use Cases Across Industries | Confidential</a:t>
            </a:r>
          </a:p>
        </p:txBody>
      </p:sp>
      <p:sp>
        <p:nvSpPr>
          <p:cNvPr id="43" name="TextBox 42"/>
          <p:cNvSpPr txBox="1"/>
          <p:nvPr/>
        </p:nvSpPr>
        <p:spPr>
          <a:xfrm>
            <a:off x="11094415" y="6492240"/>
            <a:ext cx="822960" cy="274320"/>
          </a:xfrm>
          <a:prstGeom prst="rect">
            <a:avLst/>
          </a:prstGeom>
          <a:noFill/>
        </p:spPr>
        <p:txBody>
          <a:bodyPr wrap="square">
            <a:spAutoFit/>
          </a:bodyPr>
          <a:lstStyle/>
          <a:p>
            <a:pPr algn="r">
              <a:spcAft>
                <a:spcPts val="200"/>
              </a:spcAft>
              <a:defRPr sz="700" b="0">
                <a:solidFill>
                  <a:srgbClr val="888888"/>
                </a:solidFill>
                <a:latin typeface="Calibri"/>
              </a:defRPr>
            </a:pPr>
            <a:r>
              <a:t>32 / 46</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8076895" cy="6858000"/>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82880"/>
            <a:ext cx="7436815" cy="502920"/>
          </a:xfrm>
          <a:prstGeom prst="rect">
            <a:avLst/>
          </a:prstGeom>
          <a:noFill/>
        </p:spPr>
        <p:txBody>
          <a:bodyPr wrap="square">
            <a:spAutoFit/>
          </a:bodyPr>
          <a:lstStyle/>
          <a:p>
            <a:pPr algn="l">
              <a:spcAft>
                <a:spcPts val="200"/>
              </a:spcAft>
              <a:defRPr sz="2000" b="1">
                <a:solidFill>
                  <a:srgbClr val="FFFFFF"/>
                </a:solidFill>
                <a:latin typeface="Calibri"/>
              </a:defRPr>
            </a:pPr>
            <a:r>
              <a:t>UC22 | Madrigal Pharma — Multi-Agent Research Platform</a:t>
            </a:r>
          </a:p>
        </p:txBody>
      </p:sp>
      <p:sp>
        <p:nvSpPr>
          <p:cNvPr id="4" name="Rectangle 3"/>
          <p:cNvSpPr/>
          <p:nvPr/>
        </p:nvSpPr>
        <p:spPr>
          <a:xfrm>
            <a:off x="365760" y="658368"/>
            <a:ext cx="1828800" cy="27432"/>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777240"/>
            <a:ext cx="1371600" cy="182880"/>
          </a:xfrm>
          <a:prstGeom prst="rect">
            <a:avLst/>
          </a:prstGeom>
          <a:noFill/>
        </p:spPr>
        <p:txBody>
          <a:bodyPr wrap="square">
            <a:spAutoFit/>
          </a:bodyPr>
          <a:lstStyle/>
          <a:p>
            <a:pPr algn="l">
              <a:spcAft>
                <a:spcPts val="200"/>
              </a:spcAft>
              <a:defRPr sz="800" b="1">
                <a:solidFill>
                  <a:srgbClr val="0A1628"/>
                </a:solidFill>
                <a:latin typeface="Calibri"/>
              </a:defRPr>
            </a:pPr>
            <a:r>
              <a:t>CHALLENGE</a:t>
            </a:r>
          </a:p>
        </p:txBody>
      </p:sp>
      <p:sp>
        <p:nvSpPr>
          <p:cNvPr id="6" name="TextBox 5"/>
          <p:cNvSpPr txBox="1"/>
          <p:nvPr/>
        </p:nvSpPr>
        <p:spPr>
          <a:xfrm>
            <a:off x="365760" y="960120"/>
            <a:ext cx="3520440" cy="1280160"/>
          </a:xfrm>
          <a:prstGeom prst="rect">
            <a:avLst/>
          </a:prstGeom>
          <a:noFill/>
        </p:spPr>
        <p:txBody>
          <a:bodyPr wrap="square">
            <a:spAutoFit/>
          </a:bodyPr>
          <a:lstStyle/>
          <a:p>
            <a:pPr algn="l">
              <a:spcAft>
                <a:spcPts val="200"/>
              </a:spcAft>
              <a:defRPr sz="750" b="0">
                <a:solidFill>
                  <a:srgbClr val="0A1628"/>
                </a:solidFill>
                <a:latin typeface="Calibri"/>
              </a:defRPr>
            </a:pPr>
            <a:r>
              <a:t>• Disconnected data sources across pharmaceutical research</a:t>
            </a:r>
            <a:br/>
            <a:r>
              <a:t>• Every data source has different formats, access patterns</a:t>
            </a:r>
            <a:br/>
            <a:r>
              <a:t>• Enterprise prototype-to-production gap measured in months</a:t>
            </a:r>
            <a:br/>
            <a:r>
              <a:t>• Research methods vary across the enterprise</a:t>
            </a:r>
          </a:p>
        </p:txBody>
      </p:sp>
      <p:sp>
        <p:nvSpPr>
          <p:cNvPr id="7" name="TextBox 6"/>
          <p:cNvSpPr txBox="1"/>
          <p:nvPr/>
        </p:nvSpPr>
        <p:spPr>
          <a:xfrm>
            <a:off x="4023360" y="777240"/>
            <a:ext cx="1828800" cy="182880"/>
          </a:xfrm>
          <a:prstGeom prst="rect">
            <a:avLst/>
          </a:prstGeom>
          <a:noFill/>
        </p:spPr>
        <p:txBody>
          <a:bodyPr wrap="square">
            <a:spAutoFit/>
          </a:bodyPr>
          <a:lstStyle/>
          <a:p>
            <a:pPr algn="l">
              <a:spcAft>
                <a:spcPts val="200"/>
              </a:spcAft>
              <a:defRPr sz="800" b="1">
                <a:solidFill>
                  <a:srgbClr val="0A1628"/>
                </a:solidFill>
                <a:latin typeface="Calibri"/>
              </a:defRPr>
            </a:pPr>
            <a:r>
              <a:t>AGENTIC SOLUTION</a:t>
            </a:r>
          </a:p>
        </p:txBody>
      </p:sp>
      <p:sp>
        <p:nvSpPr>
          <p:cNvPr id="8" name="TextBox 7"/>
          <p:cNvSpPr txBox="1"/>
          <p:nvPr/>
        </p:nvSpPr>
        <p:spPr>
          <a:xfrm>
            <a:off x="4023360" y="960120"/>
            <a:ext cx="3520440" cy="1280160"/>
          </a:xfrm>
          <a:prstGeom prst="rect">
            <a:avLst/>
          </a:prstGeom>
          <a:noFill/>
        </p:spPr>
        <p:txBody>
          <a:bodyPr wrap="square">
            <a:spAutoFit/>
          </a:bodyPr>
          <a:lstStyle/>
          <a:p>
            <a:pPr algn="l">
              <a:spcAft>
                <a:spcPts val="200"/>
              </a:spcAft>
              <a:defRPr sz="750" b="0">
                <a:solidFill>
                  <a:srgbClr val="0A1628"/>
                </a:solidFill>
                <a:latin typeface="Calibri"/>
              </a:defRPr>
            </a:pPr>
            <a:r>
              <a:t>• Multi-agentic platform with parallelizable tool calls</a:t>
            </a:r>
            <a:br/>
            <a:r>
              <a:t>• Data normalized from all sources into consistent tool interface</a:t>
            </a:r>
            <a:br/>
            <a:r>
              <a:t>• Modular skills: each defines how to approach a type of problem</a:t>
            </a:r>
            <a:br/>
            <a:r>
              <a:t>• New use cases = new skill, not increased orchestrator complexity</a:t>
            </a:r>
          </a:p>
        </p:txBody>
      </p:sp>
      <p:sp>
        <p:nvSpPr>
          <p:cNvPr id="9" name="Rectangle 8"/>
          <p:cNvSpPr/>
          <p:nvPr/>
        </p:nvSpPr>
        <p:spPr>
          <a:xfrm>
            <a:off x="365760"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65760"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Weeks</a:t>
            </a:r>
          </a:p>
        </p:txBody>
      </p:sp>
      <p:sp>
        <p:nvSpPr>
          <p:cNvPr id="11" name="TextBox 10"/>
          <p:cNvSpPr txBox="1"/>
          <p:nvPr/>
        </p:nvSpPr>
        <p:spPr>
          <a:xfrm>
            <a:off x="365760"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Prototype to</a:t>
            </a:r>
            <a:br/>
            <a:r>
              <a:t>production</a:t>
            </a:r>
          </a:p>
        </p:txBody>
      </p:sp>
      <p:sp>
        <p:nvSpPr>
          <p:cNvPr id="12" name="Rectangle 11"/>
          <p:cNvSpPr/>
          <p:nvPr/>
        </p:nvSpPr>
        <p:spPr>
          <a:xfrm>
            <a:off x="2240279"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240279"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Modular</a:t>
            </a:r>
          </a:p>
        </p:txBody>
      </p:sp>
      <p:sp>
        <p:nvSpPr>
          <p:cNvPr id="14" name="TextBox 13"/>
          <p:cNvSpPr txBox="1"/>
          <p:nvPr/>
        </p:nvSpPr>
        <p:spPr>
          <a:xfrm>
            <a:off x="2240279"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Skill-based</a:t>
            </a:r>
            <a:br/>
            <a:r>
              <a:t>architecture</a:t>
            </a:r>
          </a:p>
        </p:txBody>
      </p:sp>
      <p:sp>
        <p:nvSpPr>
          <p:cNvPr id="15" name="Rectangle 14"/>
          <p:cNvSpPr/>
          <p:nvPr/>
        </p:nvSpPr>
        <p:spPr>
          <a:xfrm>
            <a:off x="4114799"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114799"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Unified</a:t>
            </a:r>
          </a:p>
        </p:txBody>
      </p:sp>
      <p:sp>
        <p:nvSpPr>
          <p:cNvPr id="17" name="TextBox 16"/>
          <p:cNvSpPr txBox="1"/>
          <p:nvPr/>
        </p:nvSpPr>
        <p:spPr>
          <a:xfrm>
            <a:off x="4114799"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All data sources</a:t>
            </a:r>
            <a:br/>
            <a:r>
              <a:t>normalized</a:t>
            </a:r>
          </a:p>
        </p:txBody>
      </p:sp>
      <p:sp>
        <p:nvSpPr>
          <p:cNvPr id="18" name="Rectangle 17"/>
          <p:cNvSpPr/>
          <p:nvPr/>
        </p:nvSpPr>
        <p:spPr>
          <a:xfrm>
            <a:off x="5989319"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989319"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Scalable</a:t>
            </a:r>
          </a:p>
        </p:txBody>
      </p:sp>
      <p:sp>
        <p:nvSpPr>
          <p:cNvPr id="20" name="TextBox 19"/>
          <p:cNvSpPr txBox="1"/>
          <p:nvPr/>
        </p:nvSpPr>
        <p:spPr>
          <a:xfrm>
            <a:off x="5989319"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New skill =</a:t>
            </a:r>
            <a:br/>
            <a:r>
              <a:t>new use case</a:t>
            </a:r>
          </a:p>
        </p:txBody>
      </p:sp>
      <p:sp>
        <p:nvSpPr>
          <p:cNvPr id="21" name="TextBox 20"/>
          <p:cNvSpPr txBox="1"/>
          <p:nvPr/>
        </p:nvSpPr>
        <p:spPr>
          <a:xfrm>
            <a:off x="365760" y="3246120"/>
            <a:ext cx="1828800" cy="182880"/>
          </a:xfrm>
          <a:prstGeom prst="rect">
            <a:avLst/>
          </a:prstGeom>
          <a:noFill/>
        </p:spPr>
        <p:txBody>
          <a:bodyPr wrap="square">
            <a:spAutoFit/>
          </a:bodyPr>
          <a:lstStyle/>
          <a:p>
            <a:pPr algn="l">
              <a:spcAft>
                <a:spcPts val="200"/>
              </a:spcAft>
              <a:defRPr sz="800" b="1">
                <a:solidFill>
                  <a:srgbClr val="0A1628"/>
                </a:solidFill>
                <a:latin typeface="Calibri"/>
              </a:defRPr>
            </a:pPr>
            <a:r>
              <a:t>HOW IT WORKS</a:t>
            </a:r>
          </a:p>
        </p:txBody>
      </p:sp>
      <p:sp>
        <p:nvSpPr>
          <p:cNvPr id="22" name="TextBox 21"/>
          <p:cNvSpPr txBox="1"/>
          <p:nvPr/>
        </p:nvSpPr>
        <p:spPr>
          <a:xfrm>
            <a:off x="365760" y="3429000"/>
            <a:ext cx="7436815" cy="594360"/>
          </a:xfrm>
          <a:prstGeom prst="rect">
            <a:avLst/>
          </a:prstGeom>
          <a:noFill/>
        </p:spPr>
        <p:txBody>
          <a:bodyPr wrap="square">
            <a:spAutoFit/>
          </a:bodyPr>
          <a:lstStyle/>
          <a:p>
            <a:pPr algn="l">
              <a:spcAft>
                <a:spcPts val="200"/>
              </a:spcAft>
              <a:defRPr sz="700" b="0">
                <a:solidFill>
                  <a:srgbClr val="0A1628"/>
                </a:solidFill>
                <a:latin typeface="Calibri"/>
              </a:defRPr>
            </a:pPr>
            <a:r>
              <a:t>→ Orchestrator loads the right skill at the right time for each query</a:t>
            </a:r>
            <a:br/>
            <a:r>
              <a:t>→ Each skill defines reasoning approach for a type of problem</a:t>
            </a:r>
            <a:br/>
            <a:r>
              <a:t>→ Data differences invisible to agents: normalized via consistent tool interface</a:t>
            </a:r>
            <a:br/>
            <a:r>
              <a:t>→ Production failures automatically feed back as new test cases</a:t>
            </a:r>
          </a:p>
        </p:txBody>
      </p:sp>
      <p:sp>
        <p:nvSpPr>
          <p:cNvPr id="23" name="TextBox 22"/>
          <p:cNvSpPr txBox="1"/>
          <p:nvPr/>
        </p:nvSpPr>
        <p:spPr>
          <a:xfrm>
            <a:off x="365760" y="4069080"/>
            <a:ext cx="3200400" cy="182880"/>
          </a:xfrm>
          <a:prstGeom prst="rect">
            <a:avLst/>
          </a:prstGeom>
          <a:noFill/>
        </p:spPr>
        <p:txBody>
          <a:bodyPr wrap="square">
            <a:spAutoFit/>
          </a:bodyPr>
          <a:lstStyle/>
          <a:p>
            <a:pPr algn="l">
              <a:spcAft>
                <a:spcPts val="200"/>
              </a:spcAft>
              <a:defRPr sz="750" b="1">
                <a:solidFill>
                  <a:srgbClr val="0A1628"/>
                </a:solidFill>
                <a:latin typeface="Calibri"/>
              </a:defRPr>
            </a:pPr>
            <a:r>
              <a:t>AGENT ARCHITECTURE</a:t>
            </a:r>
          </a:p>
        </p:txBody>
      </p:sp>
      <p:sp>
        <p:nvSpPr>
          <p:cNvPr id="24" name="TextBox 23"/>
          <p:cNvSpPr txBox="1"/>
          <p:nvPr/>
        </p:nvSpPr>
        <p:spPr>
          <a:xfrm>
            <a:off x="365760" y="4251960"/>
            <a:ext cx="3520440" cy="777240"/>
          </a:xfrm>
          <a:prstGeom prst="rect">
            <a:avLst/>
          </a:prstGeom>
          <a:noFill/>
        </p:spPr>
        <p:txBody>
          <a:bodyPr wrap="square">
            <a:spAutoFit/>
          </a:bodyPr>
          <a:lstStyle/>
          <a:p>
            <a:pPr algn="l">
              <a:spcAft>
                <a:spcPts val="200"/>
              </a:spcAft>
              <a:defRPr sz="700" b="0">
                <a:solidFill>
                  <a:srgbClr val="0A1628"/>
                </a:solidFill>
                <a:latin typeface="Calibri"/>
              </a:defRPr>
            </a:pPr>
            <a:r>
              <a:t>• LangChain DeepAgents: virtual filesystem, context mgmt, checkpointing</a:t>
            </a:r>
            <a:br/>
            <a:r>
              <a:t>• LangSmith Deploy: managed service with state persistence + streaming</a:t>
            </a:r>
            <a:br/>
            <a:r>
              <a:t>• Modular skills based on Anthropic's skills approach</a:t>
            </a:r>
            <a:br/>
            <a:r>
              <a:t>• CI/CD: GitHub triggers auto-redeployment of skill updates</a:t>
            </a:r>
          </a:p>
        </p:txBody>
      </p:sp>
      <p:sp>
        <p:nvSpPr>
          <p:cNvPr id="25" name="TextBox 24"/>
          <p:cNvSpPr txBox="1"/>
          <p:nvPr/>
        </p:nvSpPr>
        <p:spPr>
          <a:xfrm>
            <a:off x="4023360" y="4069080"/>
            <a:ext cx="3200400" cy="182880"/>
          </a:xfrm>
          <a:prstGeom prst="rect">
            <a:avLst/>
          </a:prstGeom>
          <a:noFill/>
        </p:spPr>
        <p:txBody>
          <a:bodyPr wrap="square">
            <a:spAutoFit/>
          </a:bodyPr>
          <a:lstStyle/>
          <a:p>
            <a:pPr algn="l">
              <a:spcAft>
                <a:spcPts val="200"/>
              </a:spcAft>
              <a:defRPr sz="750" b="1">
                <a:solidFill>
                  <a:srgbClr val="0A1628"/>
                </a:solidFill>
                <a:latin typeface="Calibri"/>
              </a:defRPr>
            </a:pPr>
            <a:r>
              <a:t>GOVERNANCE &amp; COMPLIANCE</a:t>
            </a:r>
          </a:p>
        </p:txBody>
      </p:sp>
      <p:sp>
        <p:nvSpPr>
          <p:cNvPr id="26" name="TextBox 25"/>
          <p:cNvSpPr txBox="1"/>
          <p:nvPr/>
        </p:nvSpPr>
        <p:spPr>
          <a:xfrm>
            <a:off x="4023360" y="4251960"/>
            <a:ext cx="3520440" cy="777240"/>
          </a:xfrm>
          <a:prstGeom prst="rect">
            <a:avLst/>
          </a:prstGeom>
          <a:noFill/>
        </p:spPr>
        <p:txBody>
          <a:bodyPr wrap="square">
            <a:spAutoFit/>
          </a:bodyPr>
          <a:lstStyle/>
          <a:p>
            <a:pPr algn="l">
              <a:spcAft>
                <a:spcPts val="200"/>
              </a:spcAft>
              <a:defRPr sz="700" b="0">
                <a:solidFill>
                  <a:srgbClr val="0A1628"/>
                </a:solidFill>
                <a:latin typeface="Calibri"/>
              </a:defRPr>
            </a:pPr>
            <a:r>
              <a:t>• LangSmith Observability for real-world usage monitoring</a:t>
            </a:r>
            <a:br/>
            <a:r>
              <a:t>• LLM-as-judge graders scoring outcome, not exact path</a:t>
            </a:r>
            <a:br/>
            <a:r>
              <a:t>• Production failures feed back into eval suite automatically</a:t>
            </a:r>
          </a:p>
        </p:txBody>
      </p:sp>
      <p:sp>
        <p:nvSpPr>
          <p:cNvPr id="27" name="Rectangle 26"/>
          <p:cNvSpPr/>
          <p:nvPr/>
        </p:nvSpPr>
        <p:spPr>
          <a:xfrm>
            <a:off x="274320" y="5074920"/>
            <a:ext cx="7619695" cy="77724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65760" y="5111496"/>
            <a:ext cx="1828800" cy="164592"/>
          </a:xfrm>
          <a:prstGeom prst="rect">
            <a:avLst/>
          </a:prstGeom>
          <a:noFill/>
        </p:spPr>
        <p:txBody>
          <a:bodyPr wrap="square">
            <a:spAutoFit/>
          </a:bodyPr>
          <a:lstStyle/>
          <a:p>
            <a:pPr algn="l">
              <a:spcAft>
                <a:spcPts val="200"/>
              </a:spcAft>
              <a:defRPr sz="750" b="1">
                <a:solidFill>
                  <a:srgbClr val="00C9A7"/>
                </a:solidFill>
                <a:latin typeface="Calibri"/>
              </a:defRPr>
            </a:pPr>
            <a:r>
              <a:t>TECHNOLOGY STACK</a:t>
            </a:r>
          </a:p>
        </p:txBody>
      </p:sp>
      <p:sp>
        <p:nvSpPr>
          <p:cNvPr id="29" name="TextBox 28"/>
          <p:cNvSpPr txBox="1"/>
          <p:nvPr/>
        </p:nvSpPr>
        <p:spPr>
          <a:xfrm>
            <a:off x="365760"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Framework</a:t>
            </a:r>
          </a:p>
        </p:txBody>
      </p:sp>
      <p:sp>
        <p:nvSpPr>
          <p:cNvPr id="30" name="TextBox 29"/>
          <p:cNvSpPr txBox="1"/>
          <p:nvPr/>
        </p:nvSpPr>
        <p:spPr>
          <a:xfrm>
            <a:off x="365760"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LangChain</a:t>
            </a:r>
            <a:br/>
            <a:r>
              <a:t>DeepAgents</a:t>
            </a:r>
          </a:p>
        </p:txBody>
      </p:sp>
      <p:sp>
        <p:nvSpPr>
          <p:cNvPr id="31" name="TextBox 30"/>
          <p:cNvSpPr txBox="1"/>
          <p:nvPr/>
        </p:nvSpPr>
        <p:spPr>
          <a:xfrm>
            <a:off x="2240279"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Deploy</a:t>
            </a:r>
          </a:p>
        </p:txBody>
      </p:sp>
      <p:sp>
        <p:nvSpPr>
          <p:cNvPr id="32" name="TextBox 31"/>
          <p:cNvSpPr txBox="1"/>
          <p:nvPr/>
        </p:nvSpPr>
        <p:spPr>
          <a:xfrm>
            <a:off x="2240279"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LangSmith Deploy</a:t>
            </a:r>
            <a:br/>
            <a:r>
              <a:t>managed service</a:t>
            </a:r>
          </a:p>
        </p:txBody>
      </p:sp>
      <p:sp>
        <p:nvSpPr>
          <p:cNvPr id="33" name="TextBox 32"/>
          <p:cNvSpPr txBox="1"/>
          <p:nvPr/>
        </p:nvSpPr>
        <p:spPr>
          <a:xfrm>
            <a:off x="4114799"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CI/CD</a:t>
            </a:r>
          </a:p>
        </p:txBody>
      </p:sp>
      <p:sp>
        <p:nvSpPr>
          <p:cNvPr id="34" name="TextBox 33"/>
          <p:cNvSpPr txBox="1"/>
          <p:nvPr/>
        </p:nvSpPr>
        <p:spPr>
          <a:xfrm>
            <a:off x="4114799"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GitHub auto-</a:t>
            </a:r>
            <a:br/>
            <a:r>
              <a:t>redeployment</a:t>
            </a:r>
          </a:p>
        </p:txBody>
      </p:sp>
      <p:sp>
        <p:nvSpPr>
          <p:cNvPr id="35" name="TextBox 34"/>
          <p:cNvSpPr txBox="1"/>
          <p:nvPr/>
        </p:nvSpPr>
        <p:spPr>
          <a:xfrm>
            <a:off x="5989319"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Approach</a:t>
            </a:r>
          </a:p>
        </p:txBody>
      </p:sp>
      <p:sp>
        <p:nvSpPr>
          <p:cNvPr id="36" name="TextBox 35"/>
          <p:cNvSpPr txBox="1"/>
          <p:nvPr/>
        </p:nvSpPr>
        <p:spPr>
          <a:xfrm>
            <a:off x="5989319"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Anthropic skills</a:t>
            </a:r>
            <a:br/>
            <a:r>
              <a:t>modular pattern</a:t>
            </a:r>
          </a:p>
        </p:txBody>
      </p:sp>
      <p:sp>
        <p:nvSpPr>
          <p:cNvPr id="37" name="Rectangle 36"/>
          <p:cNvSpPr/>
          <p:nvPr/>
        </p:nvSpPr>
        <p:spPr>
          <a:xfrm>
            <a:off x="274320" y="5943600"/>
            <a:ext cx="3657600" cy="320040"/>
          </a:xfrm>
          <a:prstGeom prst="rect">
            <a:avLst/>
          </a:prstGeom>
          <a:solidFill>
            <a:srgbClr val="009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365760" y="5980176"/>
            <a:ext cx="3474720" cy="256032"/>
          </a:xfrm>
          <a:prstGeom prst="rect">
            <a:avLst/>
          </a:prstGeom>
          <a:noFill/>
        </p:spPr>
        <p:txBody>
          <a:bodyPr wrap="square">
            <a:spAutoFit/>
          </a:bodyPr>
          <a:lstStyle/>
          <a:p>
            <a:pPr algn="l">
              <a:spcAft>
                <a:spcPts val="200"/>
              </a:spcAft>
              <a:defRPr sz="650" b="1">
                <a:solidFill>
                  <a:srgbClr val="FFFFFF"/>
                </a:solidFill>
                <a:latin typeface="Calibri"/>
              </a:defRPr>
            </a:pPr>
            <a:r>
              <a:t>INDUSTRY: Enterprise Operations</a:t>
            </a:r>
          </a:p>
        </p:txBody>
      </p:sp>
      <p:sp>
        <p:nvSpPr>
          <p:cNvPr id="39" name="Rectangle 38"/>
          <p:cNvSpPr/>
          <p:nvPr/>
        </p:nvSpPr>
        <p:spPr>
          <a:xfrm>
            <a:off x="4114800" y="5943600"/>
            <a:ext cx="3657600" cy="320040"/>
          </a:xfrm>
          <a:prstGeom prst="rect">
            <a:avLst/>
          </a:prstGeom>
          <a:solidFill>
            <a:srgbClr val="008F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4206240" y="5980176"/>
            <a:ext cx="3474720" cy="256032"/>
          </a:xfrm>
          <a:prstGeom prst="rect">
            <a:avLst/>
          </a:prstGeom>
          <a:noFill/>
        </p:spPr>
        <p:txBody>
          <a:bodyPr wrap="square">
            <a:spAutoFit/>
          </a:bodyPr>
          <a:lstStyle/>
          <a:p>
            <a:pPr algn="l">
              <a:spcAft>
                <a:spcPts val="200"/>
              </a:spcAft>
              <a:defRPr sz="650" b="1">
                <a:solidFill>
                  <a:srgbClr val="FFFFFF"/>
                </a:solidFill>
                <a:latin typeface="Calibri"/>
              </a:defRPr>
            </a:pPr>
            <a:r>
              <a:t>AGENT TYPE: Data Agent + Employee Agent</a:t>
            </a:r>
          </a:p>
        </p:txBody>
      </p:sp>
      <p:pic>
        <p:nvPicPr>
          <p:cNvPr id="41" name="Picture 40" descr="image.jpg"/>
          <p:cNvPicPr>
            <a:picLocks noChangeAspect="1"/>
          </p:cNvPicPr>
          <p:nvPr/>
        </p:nvPicPr>
        <p:blipFill>
          <a:blip r:embed="rId2"/>
          <a:stretch>
            <a:fillRect/>
          </a:stretch>
        </p:blipFill>
        <p:spPr>
          <a:xfrm>
            <a:off x="8076895" y="0"/>
            <a:ext cx="4114800" cy="6858000"/>
          </a:xfrm>
          <a:prstGeom prst="rect">
            <a:avLst/>
          </a:prstGeom>
        </p:spPr>
      </p:pic>
      <p:sp>
        <p:nvSpPr>
          <p:cNvPr id="42" name="TextBox 41"/>
          <p:cNvSpPr txBox="1"/>
          <p:nvPr/>
        </p:nvSpPr>
        <p:spPr>
          <a:xfrm>
            <a:off x="274320" y="6492240"/>
            <a:ext cx="4572000" cy="274320"/>
          </a:xfrm>
          <a:prstGeom prst="rect">
            <a:avLst/>
          </a:prstGeom>
          <a:noFill/>
        </p:spPr>
        <p:txBody>
          <a:bodyPr wrap="square">
            <a:spAutoFit/>
          </a:bodyPr>
          <a:lstStyle/>
          <a:p>
            <a:pPr algn="l">
              <a:spcAft>
                <a:spcPts val="200"/>
              </a:spcAft>
              <a:defRPr sz="700" b="0">
                <a:solidFill>
                  <a:srgbClr val="888888"/>
                </a:solidFill>
                <a:latin typeface="Calibri"/>
              </a:defRPr>
            </a:pPr>
            <a:r>
              <a:t>Agentic AI Use Cases Across Industries | Confidential</a:t>
            </a:r>
          </a:p>
        </p:txBody>
      </p:sp>
      <p:sp>
        <p:nvSpPr>
          <p:cNvPr id="43" name="TextBox 42"/>
          <p:cNvSpPr txBox="1"/>
          <p:nvPr/>
        </p:nvSpPr>
        <p:spPr>
          <a:xfrm>
            <a:off x="11094415" y="6492240"/>
            <a:ext cx="822960" cy="274320"/>
          </a:xfrm>
          <a:prstGeom prst="rect">
            <a:avLst/>
          </a:prstGeom>
          <a:noFill/>
        </p:spPr>
        <p:txBody>
          <a:bodyPr wrap="square">
            <a:spAutoFit/>
          </a:bodyPr>
          <a:lstStyle/>
          <a:p>
            <a:pPr algn="r">
              <a:spcAft>
                <a:spcPts val="200"/>
              </a:spcAft>
              <a:defRPr sz="700" b="0">
                <a:solidFill>
                  <a:srgbClr val="888888"/>
                </a:solidFill>
                <a:latin typeface="Calibri"/>
              </a:defRPr>
            </a:pPr>
            <a:r>
              <a:t>33 / 46</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2743200"/>
            <a:ext cx="12191695" cy="54864"/>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371600"/>
            <a:ext cx="1097280" cy="731520"/>
          </a:xfrm>
          <a:prstGeom prst="rect">
            <a:avLst/>
          </a:prstGeom>
          <a:noFill/>
        </p:spPr>
        <p:txBody>
          <a:bodyPr wrap="square">
            <a:spAutoFit/>
          </a:bodyPr>
          <a:lstStyle/>
          <a:p>
            <a:pPr algn="l">
              <a:spcAft>
                <a:spcPts val="200"/>
              </a:spcAft>
              <a:defRPr sz="5600" b="1">
                <a:solidFill>
                  <a:srgbClr val="00C9A7"/>
                </a:solidFill>
                <a:latin typeface="Calibri"/>
              </a:defRPr>
            </a:pPr>
            <a:r>
              <a:t>07</a:t>
            </a:r>
          </a:p>
        </p:txBody>
      </p:sp>
      <p:sp>
        <p:nvSpPr>
          <p:cNvPr id="5" name="TextBox 4"/>
          <p:cNvSpPr txBox="1"/>
          <p:nvPr/>
        </p:nvSpPr>
        <p:spPr>
          <a:xfrm>
            <a:off x="2011680" y="1645920"/>
            <a:ext cx="5486400" cy="731520"/>
          </a:xfrm>
          <a:prstGeom prst="rect">
            <a:avLst/>
          </a:prstGeom>
          <a:noFill/>
        </p:spPr>
        <p:txBody>
          <a:bodyPr wrap="square">
            <a:spAutoFit/>
          </a:bodyPr>
          <a:lstStyle/>
          <a:p>
            <a:pPr algn="l">
              <a:spcAft>
                <a:spcPts val="200"/>
              </a:spcAft>
              <a:defRPr sz="3600" b="1">
                <a:solidFill>
                  <a:srgbClr val="FFFFFF"/>
                </a:solidFill>
                <a:latin typeface="Calibri"/>
              </a:defRPr>
            </a:pPr>
            <a:r>
              <a:t>Automotive &amp; Technology</a:t>
            </a:r>
          </a:p>
        </p:txBody>
      </p:sp>
      <p:sp>
        <p:nvSpPr>
          <p:cNvPr id="6" name="TextBox 5"/>
          <p:cNvSpPr txBox="1"/>
          <p:nvPr/>
        </p:nvSpPr>
        <p:spPr>
          <a:xfrm>
            <a:off x="2011680" y="3017520"/>
            <a:ext cx="5486400" cy="457200"/>
          </a:xfrm>
          <a:prstGeom prst="rect">
            <a:avLst/>
          </a:prstGeom>
          <a:noFill/>
        </p:spPr>
        <p:txBody>
          <a:bodyPr wrap="square">
            <a:spAutoFit/>
          </a:bodyPr>
          <a:lstStyle/>
          <a:p>
            <a:pPr algn="l">
              <a:spcAft>
                <a:spcPts val="200"/>
              </a:spcAft>
              <a:defRPr sz="1400" b="0">
                <a:solidFill>
                  <a:srgbClr val="E0F7F1"/>
                </a:solidFill>
                <a:latin typeface="Calibri"/>
              </a:defRPr>
            </a:pPr>
            <a:r>
              <a:t>In-vehicle agents, developer productivity, and code automation</a:t>
            </a:r>
          </a:p>
        </p:txBody>
      </p:sp>
      <p:sp>
        <p:nvSpPr>
          <p:cNvPr id="7" name="TextBox 6"/>
          <p:cNvSpPr txBox="1"/>
          <p:nvPr/>
        </p:nvSpPr>
        <p:spPr>
          <a:xfrm>
            <a:off x="2011680" y="3566160"/>
            <a:ext cx="5486400" cy="457200"/>
          </a:xfrm>
          <a:prstGeom prst="rect">
            <a:avLst/>
          </a:prstGeom>
          <a:noFill/>
        </p:spPr>
        <p:txBody>
          <a:bodyPr wrap="square">
            <a:spAutoFit/>
          </a:bodyPr>
          <a:lstStyle/>
          <a:p>
            <a:pPr algn="l">
              <a:spcAft>
                <a:spcPts val="200"/>
              </a:spcAft>
              <a:defRPr sz="1200" b="0">
                <a:solidFill>
                  <a:srgbClr val="888899"/>
                </a:solidFill>
                <a:latin typeface="Calibri"/>
              </a:defRPr>
            </a:pPr>
            <a:r>
              <a:t>4 Agentic AI Use Cases</a:t>
            </a:r>
          </a:p>
        </p:txBody>
      </p:sp>
      <p:sp>
        <p:nvSpPr>
          <p:cNvPr id="8" name="TextBox 7"/>
          <p:cNvSpPr txBox="1"/>
          <p:nvPr/>
        </p:nvSpPr>
        <p:spPr>
          <a:xfrm>
            <a:off x="274320" y="6492240"/>
            <a:ext cx="4572000" cy="274320"/>
          </a:xfrm>
          <a:prstGeom prst="rect">
            <a:avLst/>
          </a:prstGeom>
          <a:noFill/>
        </p:spPr>
        <p:txBody>
          <a:bodyPr wrap="square">
            <a:spAutoFit/>
          </a:bodyPr>
          <a:lstStyle/>
          <a:p>
            <a:pPr algn="l">
              <a:spcAft>
                <a:spcPts val="200"/>
              </a:spcAft>
              <a:defRPr sz="700" b="0">
                <a:solidFill>
                  <a:srgbClr val="888888"/>
                </a:solidFill>
                <a:latin typeface="Calibri"/>
              </a:defRPr>
            </a:pPr>
            <a:r>
              <a:t>Agentic AI Use Cases Across Industries | Confidential</a:t>
            </a:r>
          </a:p>
        </p:txBody>
      </p:sp>
      <p:sp>
        <p:nvSpPr>
          <p:cNvPr id="9" name="TextBox 8"/>
          <p:cNvSpPr txBox="1"/>
          <p:nvPr/>
        </p:nvSpPr>
        <p:spPr>
          <a:xfrm>
            <a:off x="11094415" y="6492240"/>
            <a:ext cx="822960" cy="274320"/>
          </a:xfrm>
          <a:prstGeom prst="rect">
            <a:avLst/>
          </a:prstGeom>
          <a:noFill/>
        </p:spPr>
        <p:txBody>
          <a:bodyPr wrap="square">
            <a:spAutoFit/>
          </a:bodyPr>
          <a:lstStyle/>
          <a:p>
            <a:pPr algn="r">
              <a:spcAft>
                <a:spcPts val="200"/>
              </a:spcAft>
              <a:defRPr sz="700" b="0">
                <a:solidFill>
                  <a:srgbClr val="888888"/>
                </a:solidFill>
                <a:latin typeface="Calibri"/>
              </a:defRPr>
            </a:pPr>
            <a:r>
              <a:t>34 / 46</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8076895" cy="6858000"/>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82880"/>
            <a:ext cx="7436815" cy="502920"/>
          </a:xfrm>
          <a:prstGeom prst="rect">
            <a:avLst/>
          </a:prstGeom>
          <a:noFill/>
        </p:spPr>
        <p:txBody>
          <a:bodyPr wrap="square">
            <a:spAutoFit/>
          </a:bodyPr>
          <a:lstStyle/>
          <a:p>
            <a:pPr algn="l">
              <a:spcAft>
                <a:spcPts val="200"/>
              </a:spcAft>
              <a:defRPr sz="2000" b="1">
                <a:solidFill>
                  <a:srgbClr val="FFFFFF"/>
                </a:solidFill>
                <a:latin typeface="Calibri"/>
              </a:defRPr>
            </a:pPr>
            <a:r>
              <a:t>UC23 | Mercedes-Benz — Automotive AI Agent</a:t>
            </a:r>
          </a:p>
        </p:txBody>
      </p:sp>
      <p:sp>
        <p:nvSpPr>
          <p:cNvPr id="4" name="Rectangle 3"/>
          <p:cNvSpPr/>
          <p:nvPr/>
        </p:nvSpPr>
        <p:spPr>
          <a:xfrm>
            <a:off x="365760" y="658368"/>
            <a:ext cx="1828800" cy="27432"/>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777240"/>
            <a:ext cx="1371600" cy="182880"/>
          </a:xfrm>
          <a:prstGeom prst="rect">
            <a:avLst/>
          </a:prstGeom>
          <a:noFill/>
        </p:spPr>
        <p:txBody>
          <a:bodyPr wrap="square">
            <a:spAutoFit/>
          </a:bodyPr>
          <a:lstStyle/>
          <a:p>
            <a:pPr algn="l">
              <a:spcAft>
                <a:spcPts val="200"/>
              </a:spcAft>
              <a:defRPr sz="800" b="1">
                <a:solidFill>
                  <a:srgbClr val="0A1628"/>
                </a:solidFill>
                <a:latin typeface="Calibri"/>
              </a:defRPr>
            </a:pPr>
            <a:r>
              <a:t>CHALLENGE</a:t>
            </a:r>
          </a:p>
        </p:txBody>
      </p:sp>
      <p:sp>
        <p:nvSpPr>
          <p:cNvPr id="6" name="TextBox 5"/>
          <p:cNvSpPr txBox="1"/>
          <p:nvPr/>
        </p:nvSpPr>
        <p:spPr>
          <a:xfrm>
            <a:off x="365760" y="960120"/>
            <a:ext cx="3520440" cy="1280160"/>
          </a:xfrm>
          <a:prstGeom prst="rect">
            <a:avLst/>
          </a:prstGeom>
          <a:noFill/>
        </p:spPr>
        <p:txBody>
          <a:bodyPr wrap="square">
            <a:spAutoFit/>
          </a:bodyPr>
          <a:lstStyle/>
          <a:p>
            <a:pPr algn="l">
              <a:spcAft>
                <a:spcPts val="200"/>
              </a:spcAft>
              <a:defRPr sz="750" b="0">
                <a:solidFill>
                  <a:srgbClr val="0A1628"/>
                </a:solidFill>
                <a:latin typeface="Calibri"/>
              </a:defRPr>
            </a:pPr>
            <a:r>
              <a:t>• In-vehicle search and navigation requires natural language understanding</a:t>
            </a:r>
            <a:br/>
            <a:r>
              <a:t>• Drivers need hands-free, contextual assistance while driving</a:t>
            </a:r>
            <a:br/>
            <a:r>
              <a:t>• Personalized marketing at scale across global customer base</a:t>
            </a:r>
            <a:br/>
            <a:r>
              <a:t>• E-commerce integration into online storefront</a:t>
            </a:r>
          </a:p>
        </p:txBody>
      </p:sp>
      <p:sp>
        <p:nvSpPr>
          <p:cNvPr id="7" name="TextBox 6"/>
          <p:cNvSpPr txBox="1"/>
          <p:nvPr/>
        </p:nvSpPr>
        <p:spPr>
          <a:xfrm>
            <a:off x="4023360" y="777240"/>
            <a:ext cx="1828800" cy="182880"/>
          </a:xfrm>
          <a:prstGeom prst="rect">
            <a:avLst/>
          </a:prstGeom>
          <a:noFill/>
        </p:spPr>
        <p:txBody>
          <a:bodyPr wrap="square">
            <a:spAutoFit/>
          </a:bodyPr>
          <a:lstStyle/>
          <a:p>
            <a:pPr algn="l">
              <a:spcAft>
                <a:spcPts val="200"/>
              </a:spcAft>
              <a:defRPr sz="800" b="1">
                <a:solidFill>
                  <a:srgbClr val="0A1628"/>
                </a:solidFill>
                <a:latin typeface="Calibri"/>
              </a:defRPr>
            </a:pPr>
            <a:r>
              <a:t>AGENTIC SOLUTION</a:t>
            </a:r>
          </a:p>
        </p:txBody>
      </p:sp>
      <p:sp>
        <p:nvSpPr>
          <p:cNvPr id="8" name="TextBox 7"/>
          <p:cNvSpPr txBox="1"/>
          <p:nvPr/>
        </p:nvSpPr>
        <p:spPr>
          <a:xfrm>
            <a:off x="4023360" y="960120"/>
            <a:ext cx="3520440" cy="1280160"/>
          </a:xfrm>
          <a:prstGeom prst="rect">
            <a:avLst/>
          </a:prstGeom>
          <a:noFill/>
        </p:spPr>
        <p:txBody>
          <a:bodyPr wrap="square">
            <a:spAutoFit/>
          </a:bodyPr>
          <a:lstStyle/>
          <a:p>
            <a:pPr algn="l">
              <a:spcAft>
                <a:spcPts val="200"/>
              </a:spcAft>
              <a:defRPr sz="750" b="0">
                <a:solidFill>
                  <a:srgbClr val="0A1628"/>
                </a:solidFill>
                <a:latin typeface="Calibri"/>
              </a:defRPr>
            </a:pPr>
            <a:r>
              <a:t>• Conversational search and navigation in new CLA series cars</a:t>
            </a:r>
            <a:br/>
            <a:r>
              <a:t>• Google Cloud industry-tuned Automotive AI Agent</a:t>
            </a:r>
            <a:br/>
            <a:r>
              <a:t>• Gen AI-powered smart sales assistant for e-commerce</a:t>
            </a:r>
            <a:br/>
            <a:r>
              <a:t>• AI call centers with personalized marketing campaigns</a:t>
            </a:r>
          </a:p>
        </p:txBody>
      </p:sp>
      <p:sp>
        <p:nvSpPr>
          <p:cNvPr id="9" name="Rectangle 8"/>
          <p:cNvSpPr/>
          <p:nvPr/>
        </p:nvSpPr>
        <p:spPr>
          <a:xfrm>
            <a:off x="365760"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65760"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CLA Series</a:t>
            </a:r>
          </a:p>
        </p:txBody>
      </p:sp>
      <p:sp>
        <p:nvSpPr>
          <p:cNvPr id="11" name="TextBox 10"/>
          <p:cNvSpPr txBox="1"/>
          <p:nvPr/>
        </p:nvSpPr>
        <p:spPr>
          <a:xfrm>
            <a:off x="365760"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First cars with</a:t>
            </a:r>
            <a:br/>
            <a:r>
              <a:t>Automotive AI Agent</a:t>
            </a:r>
          </a:p>
        </p:txBody>
      </p:sp>
      <p:sp>
        <p:nvSpPr>
          <p:cNvPr id="12" name="Rectangle 11"/>
          <p:cNvSpPr/>
          <p:nvPr/>
        </p:nvSpPr>
        <p:spPr>
          <a:xfrm>
            <a:off x="2240279"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240279"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In-vehicle</a:t>
            </a:r>
          </a:p>
        </p:txBody>
      </p:sp>
      <p:sp>
        <p:nvSpPr>
          <p:cNvPr id="14" name="TextBox 13"/>
          <p:cNvSpPr txBox="1"/>
          <p:nvPr/>
        </p:nvSpPr>
        <p:spPr>
          <a:xfrm>
            <a:off x="2240279"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Conversational</a:t>
            </a:r>
            <a:br/>
            <a:r>
              <a:t>navigation</a:t>
            </a:r>
          </a:p>
        </p:txBody>
      </p:sp>
      <p:sp>
        <p:nvSpPr>
          <p:cNvPr id="15" name="Rectangle 14"/>
          <p:cNvSpPr/>
          <p:nvPr/>
        </p:nvSpPr>
        <p:spPr>
          <a:xfrm>
            <a:off x="4114799"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114799"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E-commerce</a:t>
            </a:r>
          </a:p>
        </p:txBody>
      </p:sp>
      <p:sp>
        <p:nvSpPr>
          <p:cNvPr id="17" name="TextBox 16"/>
          <p:cNvSpPr txBox="1"/>
          <p:nvPr/>
        </p:nvSpPr>
        <p:spPr>
          <a:xfrm>
            <a:off x="4114799"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Smart sales</a:t>
            </a:r>
            <a:br/>
            <a:r>
              <a:t>assistant</a:t>
            </a:r>
          </a:p>
        </p:txBody>
      </p:sp>
      <p:sp>
        <p:nvSpPr>
          <p:cNvPr id="18" name="Rectangle 17"/>
          <p:cNvSpPr/>
          <p:nvPr/>
        </p:nvSpPr>
        <p:spPr>
          <a:xfrm>
            <a:off x="5989319"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989319"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Personalized</a:t>
            </a:r>
          </a:p>
        </p:txBody>
      </p:sp>
      <p:sp>
        <p:nvSpPr>
          <p:cNvPr id="20" name="TextBox 19"/>
          <p:cNvSpPr txBox="1"/>
          <p:nvPr/>
        </p:nvSpPr>
        <p:spPr>
          <a:xfrm>
            <a:off x="5989319"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AI marketing</a:t>
            </a:r>
            <a:br/>
            <a:r>
              <a:t>campaigns</a:t>
            </a:r>
          </a:p>
        </p:txBody>
      </p:sp>
      <p:sp>
        <p:nvSpPr>
          <p:cNvPr id="21" name="TextBox 20"/>
          <p:cNvSpPr txBox="1"/>
          <p:nvPr/>
        </p:nvSpPr>
        <p:spPr>
          <a:xfrm>
            <a:off x="365760" y="3246120"/>
            <a:ext cx="1828800" cy="182880"/>
          </a:xfrm>
          <a:prstGeom prst="rect">
            <a:avLst/>
          </a:prstGeom>
          <a:noFill/>
        </p:spPr>
        <p:txBody>
          <a:bodyPr wrap="square">
            <a:spAutoFit/>
          </a:bodyPr>
          <a:lstStyle/>
          <a:p>
            <a:pPr algn="l">
              <a:spcAft>
                <a:spcPts val="200"/>
              </a:spcAft>
              <a:defRPr sz="800" b="1">
                <a:solidFill>
                  <a:srgbClr val="0A1628"/>
                </a:solidFill>
                <a:latin typeface="Calibri"/>
              </a:defRPr>
            </a:pPr>
            <a:r>
              <a:t>HOW IT WORKS</a:t>
            </a:r>
          </a:p>
        </p:txBody>
      </p:sp>
      <p:sp>
        <p:nvSpPr>
          <p:cNvPr id="22" name="TextBox 21"/>
          <p:cNvSpPr txBox="1"/>
          <p:nvPr/>
        </p:nvSpPr>
        <p:spPr>
          <a:xfrm>
            <a:off x="365760" y="3429000"/>
            <a:ext cx="7436815" cy="594360"/>
          </a:xfrm>
          <a:prstGeom prst="rect">
            <a:avLst/>
          </a:prstGeom>
          <a:noFill/>
        </p:spPr>
        <p:txBody>
          <a:bodyPr wrap="square">
            <a:spAutoFit/>
          </a:bodyPr>
          <a:lstStyle/>
          <a:p>
            <a:pPr algn="l">
              <a:spcAft>
                <a:spcPts val="200"/>
              </a:spcAft>
              <a:defRPr sz="700" b="0">
                <a:solidFill>
                  <a:srgbClr val="0A1628"/>
                </a:solidFill>
                <a:latin typeface="Calibri"/>
              </a:defRPr>
            </a:pPr>
            <a:r>
              <a:t>→ Driver speaks naturally: 'Find the nearest charging station'</a:t>
            </a:r>
            <a:br/>
            <a:r>
              <a:t>→ Automotive AI Agent processes intent and provides contextual response</a:t>
            </a:r>
            <a:br/>
            <a:r>
              <a:t>→ Online storefront: smart assistant helps configure and purchase vehicles</a:t>
            </a:r>
            <a:br/>
            <a:r>
              <a:t>→ Call centers augmented with AI for personalized customer engagement</a:t>
            </a:r>
          </a:p>
        </p:txBody>
      </p:sp>
      <p:sp>
        <p:nvSpPr>
          <p:cNvPr id="23" name="TextBox 22"/>
          <p:cNvSpPr txBox="1"/>
          <p:nvPr/>
        </p:nvSpPr>
        <p:spPr>
          <a:xfrm>
            <a:off x="365760" y="4069080"/>
            <a:ext cx="3200400" cy="182880"/>
          </a:xfrm>
          <a:prstGeom prst="rect">
            <a:avLst/>
          </a:prstGeom>
          <a:noFill/>
        </p:spPr>
        <p:txBody>
          <a:bodyPr wrap="square">
            <a:spAutoFit/>
          </a:bodyPr>
          <a:lstStyle/>
          <a:p>
            <a:pPr algn="l">
              <a:spcAft>
                <a:spcPts val="200"/>
              </a:spcAft>
              <a:defRPr sz="750" b="1">
                <a:solidFill>
                  <a:srgbClr val="0A1628"/>
                </a:solidFill>
                <a:latin typeface="Calibri"/>
              </a:defRPr>
            </a:pPr>
            <a:r>
              <a:t>AGENT ARCHITECTURE</a:t>
            </a:r>
          </a:p>
        </p:txBody>
      </p:sp>
      <p:sp>
        <p:nvSpPr>
          <p:cNvPr id="24" name="TextBox 23"/>
          <p:cNvSpPr txBox="1"/>
          <p:nvPr/>
        </p:nvSpPr>
        <p:spPr>
          <a:xfrm>
            <a:off x="365760" y="4251960"/>
            <a:ext cx="3520440" cy="777240"/>
          </a:xfrm>
          <a:prstGeom prst="rect">
            <a:avLst/>
          </a:prstGeom>
          <a:noFill/>
        </p:spPr>
        <p:txBody>
          <a:bodyPr wrap="square">
            <a:spAutoFit/>
          </a:bodyPr>
          <a:lstStyle/>
          <a:p>
            <a:pPr algn="l">
              <a:spcAft>
                <a:spcPts val="200"/>
              </a:spcAft>
              <a:defRPr sz="700" b="0">
                <a:solidFill>
                  <a:srgbClr val="0A1628"/>
                </a:solidFill>
                <a:latin typeface="Calibri"/>
              </a:defRPr>
            </a:pPr>
            <a:r>
              <a:t>• Google Cloud Automotive AI Agent (industry-tuned)</a:t>
            </a:r>
            <a:br/>
            <a:r>
              <a:t>• Vertex AI + Gemini for multimodal understanding</a:t>
            </a:r>
            <a:br/>
            <a:r>
              <a:t>• Integrated across in-vehicle, online, and call center channels</a:t>
            </a:r>
          </a:p>
        </p:txBody>
      </p:sp>
      <p:sp>
        <p:nvSpPr>
          <p:cNvPr id="25" name="TextBox 24"/>
          <p:cNvSpPr txBox="1"/>
          <p:nvPr/>
        </p:nvSpPr>
        <p:spPr>
          <a:xfrm>
            <a:off x="4023360" y="4069080"/>
            <a:ext cx="3200400" cy="182880"/>
          </a:xfrm>
          <a:prstGeom prst="rect">
            <a:avLst/>
          </a:prstGeom>
          <a:noFill/>
        </p:spPr>
        <p:txBody>
          <a:bodyPr wrap="square">
            <a:spAutoFit/>
          </a:bodyPr>
          <a:lstStyle/>
          <a:p>
            <a:pPr algn="l">
              <a:spcAft>
                <a:spcPts val="200"/>
              </a:spcAft>
              <a:defRPr sz="750" b="1">
                <a:solidFill>
                  <a:srgbClr val="0A1628"/>
                </a:solidFill>
                <a:latin typeface="Calibri"/>
              </a:defRPr>
            </a:pPr>
            <a:r>
              <a:t>GOVERNANCE &amp; COMPLIANCE</a:t>
            </a:r>
          </a:p>
        </p:txBody>
      </p:sp>
      <p:sp>
        <p:nvSpPr>
          <p:cNvPr id="26" name="TextBox 25"/>
          <p:cNvSpPr txBox="1"/>
          <p:nvPr/>
        </p:nvSpPr>
        <p:spPr>
          <a:xfrm>
            <a:off x="4023360" y="4251960"/>
            <a:ext cx="3520440" cy="777240"/>
          </a:xfrm>
          <a:prstGeom prst="rect">
            <a:avLst/>
          </a:prstGeom>
          <a:noFill/>
        </p:spPr>
        <p:txBody>
          <a:bodyPr wrap="square">
            <a:spAutoFit/>
          </a:bodyPr>
          <a:lstStyle/>
          <a:p>
            <a:pPr algn="l">
              <a:spcAft>
                <a:spcPts val="200"/>
              </a:spcAft>
              <a:defRPr sz="700" b="0">
                <a:solidFill>
                  <a:srgbClr val="0A1628"/>
                </a:solidFill>
                <a:latin typeface="Calibri"/>
              </a:defRPr>
            </a:pPr>
            <a:r>
              <a:t>• Automotive-grade safety requirements for in-vehicle AI</a:t>
            </a:r>
            <a:br/>
            <a:r>
              <a:t>• Privacy-first design for driver data</a:t>
            </a:r>
          </a:p>
        </p:txBody>
      </p:sp>
      <p:sp>
        <p:nvSpPr>
          <p:cNvPr id="27" name="Rectangle 26"/>
          <p:cNvSpPr/>
          <p:nvPr/>
        </p:nvSpPr>
        <p:spPr>
          <a:xfrm>
            <a:off x="274320" y="5074920"/>
            <a:ext cx="7619695" cy="77724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65760" y="5111496"/>
            <a:ext cx="1828800" cy="164592"/>
          </a:xfrm>
          <a:prstGeom prst="rect">
            <a:avLst/>
          </a:prstGeom>
          <a:noFill/>
        </p:spPr>
        <p:txBody>
          <a:bodyPr wrap="square">
            <a:spAutoFit/>
          </a:bodyPr>
          <a:lstStyle/>
          <a:p>
            <a:pPr algn="l">
              <a:spcAft>
                <a:spcPts val="200"/>
              </a:spcAft>
              <a:defRPr sz="750" b="1">
                <a:solidFill>
                  <a:srgbClr val="00C9A7"/>
                </a:solidFill>
                <a:latin typeface="Calibri"/>
              </a:defRPr>
            </a:pPr>
            <a:r>
              <a:t>TECHNOLOGY STACK</a:t>
            </a:r>
          </a:p>
        </p:txBody>
      </p:sp>
      <p:sp>
        <p:nvSpPr>
          <p:cNvPr id="29" name="TextBox 28"/>
          <p:cNvSpPr txBox="1"/>
          <p:nvPr/>
        </p:nvSpPr>
        <p:spPr>
          <a:xfrm>
            <a:off x="365760"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Platform</a:t>
            </a:r>
          </a:p>
        </p:txBody>
      </p:sp>
      <p:sp>
        <p:nvSpPr>
          <p:cNvPr id="30" name="TextBox 29"/>
          <p:cNvSpPr txBox="1"/>
          <p:nvPr/>
        </p:nvSpPr>
        <p:spPr>
          <a:xfrm>
            <a:off x="365760"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Google Cloud</a:t>
            </a:r>
            <a:br/>
            <a:r>
              <a:t>Automotive AI</a:t>
            </a:r>
          </a:p>
        </p:txBody>
      </p:sp>
      <p:sp>
        <p:nvSpPr>
          <p:cNvPr id="31" name="TextBox 30"/>
          <p:cNvSpPr txBox="1"/>
          <p:nvPr/>
        </p:nvSpPr>
        <p:spPr>
          <a:xfrm>
            <a:off x="2240279"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Model</a:t>
            </a:r>
          </a:p>
        </p:txBody>
      </p:sp>
      <p:sp>
        <p:nvSpPr>
          <p:cNvPr id="32" name="TextBox 31"/>
          <p:cNvSpPr txBox="1"/>
          <p:nvPr/>
        </p:nvSpPr>
        <p:spPr>
          <a:xfrm>
            <a:off x="2240279"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Vertex AI</a:t>
            </a:r>
            <a:br/>
            <a:r>
              <a:t>+ Gemini</a:t>
            </a:r>
          </a:p>
        </p:txBody>
      </p:sp>
      <p:sp>
        <p:nvSpPr>
          <p:cNvPr id="33" name="TextBox 32"/>
          <p:cNvSpPr txBox="1"/>
          <p:nvPr/>
        </p:nvSpPr>
        <p:spPr>
          <a:xfrm>
            <a:off x="4114799"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Channels</a:t>
            </a:r>
          </a:p>
        </p:txBody>
      </p:sp>
      <p:sp>
        <p:nvSpPr>
          <p:cNvPr id="34" name="TextBox 33"/>
          <p:cNvSpPr txBox="1"/>
          <p:nvPr/>
        </p:nvSpPr>
        <p:spPr>
          <a:xfrm>
            <a:off x="4114799"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In-vehicle +</a:t>
            </a:r>
            <a:br/>
            <a:r>
              <a:t>online + call center</a:t>
            </a:r>
          </a:p>
        </p:txBody>
      </p:sp>
      <p:sp>
        <p:nvSpPr>
          <p:cNvPr id="35" name="TextBox 34"/>
          <p:cNvSpPr txBox="1"/>
          <p:nvPr/>
        </p:nvSpPr>
        <p:spPr>
          <a:xfrm>
            <a:off x="5989319"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Vehicle</a:t>
            </a:r>
          </a:p>
        </p:txBody>
      </p:sp>
      <p:sp>
        <p:nvSpPr>
          <p:cNvPr id="36" name="TextBox 35"/>
          <p:cNvSpPr txBox="1"/>
          <p:nvPr/>
        </p:nvSpPr>
        <p:spPr>
          <a:xfrm>
            <a:off x="5989319"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Mercedes CLA</a:t>
            </a:r>
            <a:br/>
            <a:r>
              <a:t>series launch</a:t>
            </a:r>
          </a:p>
        </p:txBody>
      </p:sp>
      <p:sp>
        <p:nvSpPr>
          <p:cNvPr id="37" name="Rectangle 36"/>
          <p:cNvSpPr/>
          <p:nvPr/>
        </p:nvSpPr>
        <p:spPr>
          <a:xfrm>
            <a:off x="274320" y="5943600"/>
            <a:ext cx="3657600" cy="320040"/>
          </a:xfrm>
          <a:prstGeom prst="rect">
            <a:avLst/>
          </a:prstGeom>
          <a:solidFill>
            <a:srgbClr val="009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365760" y="5980176"/>
            <a:ext cx="3474720" cy="256032"/>
          </a:xfrm>
          <a:prstGeom prst="rect">
            <a:avLst/>
          </a:prstGeom>
          <a:noFill/>
        </p:spPr>
        <p:txBody>
          <a:bodyPr wrap="square">
            <a:spAutoFit/>
          </a:bodyPr>
          <a:lstStyle/>
          <a:p>
            <a:pPr algn="l">
              <a:spcAft>
                <a:spcPts val="200"/>
              </a:spcAft>
              <a:defRPr sz="650" b="1">
                <a:solidFill>
                  <a:srgbClr val="FFFFFF"/>
                </a:solidFill>
                <a:latin typeface="Calibri"/>
              </a:defRPr>
            </a:pPr>
            <a:r>
              <a:t>INDUSTRY: Automotive</a:t>
            </a:r>
          </a:p>
        </p:txBody>
      </p:sp>
      <p:sp>
        <p:nvSpPr>
          <p:cNvPr id="39" name="Rectangle 38"/>
          <p:cNvSpPr/>
          <p:nvPr/>
        </p:nvSpPr>
        <p:spPr>
          <a:xfrm>
            <a:off x="4114800" y="5943600"/>
            <a:ext cx="3657600" cy="320040"/>
          </a:xfrm>
          <a:prstGeom prst="rect">
            <a:avLst/>
          </a:prstGeom>
          <a:solidFill>
            <a:srgbClr val="008F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4206240" y="5980176"/>
            <a:ext cx="3474720" cy="256032"/>
          </a:xfrm>
          <a:prstGeom prst="rect">
            <a:avLst/>
          </a:prstGeom>
          <a:noFill/>
        </p:spPr>
        <p:txBody>
          <a:bodyPr wrap="square">
            <a:spAutoFit/>
          </a:bodyPr>
          <a:lstStyle/>
          <a:p>
            <a:pPr algn="l">
              <a:spcAft>
                <a:spcPts val="200"/>
              </a:spcAft>
              <a:defRPr sz="650" b="1">
                <a:solidFill>
                  <a:srgbClr val="FFFFFF"/>
                </a:solidFill>
                <a:latin typeface="Calibri"/>
              </a:defRPr>
            </a:pPr>
            <a:r>
              <a:t>AGENT TYPE: Customer Agent</a:t>
            </a:r>
          </a:p>
        </p:txBody>
      </p:sp>
      <p:sp>
        <p:nvSpPr>
          <p:cNvPr id="41" name="TextBox 40"/>
          <p:cNvSpPr txBox="1"/>
          <p:nvPr/>
        </p:nvSpPr>
        <p:spPr>
          <a:xfrm>
            <a:off x="274320" y="6492240"/>
            <a:ext cx="4572000" cy="274320"/>
          </a:xfrm>
          <a:prstGeom prst="rect">
            <a:avLst/>
          </a:prstGeom>
          <a:noFill/>
        </p:spPr>
        <p:txBody>
          <a:bodyPr wrap="square">
            <a:spAutoFit/>
          </a:bodyPr>
          <a:lstStyle/>
          <a:p>
            <a:pPr algn="l">
              <a:spcAft>
                <a:spcPts val="200"/>
              </a:spcAft>
              <a:defRPr sz="700" b="0">
                <a:solidFill>
                  <a:srgbClr val="888888"/>
                </a:solidFill>
                <a:latin typeface="Calibri"/>
              </a:defRPr>
            </a:pPr>
            <a:r>
              <a:t>Agentic AI Use Cases Across Industries | Confidential</a:t>
            </a:r>
          </a:p>
        </p:txBody>
      </p:sp>
      <p:sp>
        <p:nvSpPr>
          <p:cNvPr id="42" name="TextBox 41"/>
          <p:cNvSpPr txBox="1"/>
          <p:nvPr/>
        </p:nvSpPr>
        <p:spPr>
          <a:xfrm>
            <a:off x="11094415" y="6492240"/>
            <a:ext cx="822960" cy="274320"/>
          </a:xfrm>
          <a:prstGeom prst="rect">
            <a:avLst/>
          </a:prstGeom>
          <a:noFill/>
        </p:spPr>
        <p:txBody>
          <a:bodyPr wrap="square">
            <a:spAutoFit/>
          </a:bodyPr>
          <a:lstStyle/>
          <a:p>
            <a:pPr algn="r">
              <a:spcAft>
                <a:spcPts val="200"/>
              </a:spcAft>
              <a:defRPr sz="700" b="0">
                <a:solidFill>
                  <a:srgbClr val="888888"/>
                </a:solidFill>
                <a:latin typeface="Calibri"/>
              </a:defRPr>
            </a:pPr>
            <a:r>
              <a:t>35 / 46</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8076895" cy="6858000"/>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82880"/>
            <a:ext cx="7436815" cy="502920"/>
          </a:xfrm>
          <a:prstGeom prst="rect">
            <a:avLst/>
          </a:prstGeom>
          <a:noFill/>
        </p:spPr>
        <p:txBody>
          <a:bodyPr wrap="square">
            <a:spAutoFit/>
          </a:bodyPr>
          <a:lstStyle/>
          <a:p>
            <a:pPr algn="l">
              <a:spcAft>
                <a:spcPts val="200"/>
              </a:spcAft>
              <a:defRPr sz="2000" b="1">
                <a:solidFill>
                  <a:srgbClr val="FFFFFF"/>
                </a:solidFill>
                <a:latin typeface="Calibri"/>
              </a:defRPr>
            </a:pPr>
            <a:r>
              <a:t>UC24 | Volkswagen — Multimodal In-Car Assistant</a:t>
            </a:r>
          </a:p>
        </p:txBody>
      </p:sp>
      <p:sp>
        <p:nvSpPr>
          <p:cNvPr id="4" name="Rectangle 3"/>
          <p:cNvSpPr/>
          <p:nvPr/>
        </p:nvSpPr>
        <p:spPr>
          <a:xfrm>
            <a:off x="365760" y="658368"/>
            <a:ext cx="1828800" cy="27432"/>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777240"/>
            <a:ext cx="1371600" cy="182880"/>
          </a:xfrm>
          <a:prstGeom prst="rect">
            <a:avLst/>
          </a:prstGeom>
          <a:noFill/>
        </p:spPr>
        <p:txBody>
          <a:bodyPr wrap="square">
            <a:spAutoFit/>
          </a:bodyPr>
          <a:lstStyle/>
          <a:p>
            <a:pPr algn="l">
              <a:spcAft>
                <a:spcPts val="200"/>
              </a:spcAft>
              <a:defRPr sz="800" b="1">
                <a:solidFill>
                  <a:srgbClr val="0A1628"/>
                </a:solidFill>
                <a:latin typeface="Calibri"/>
              </a:defRPr>
            </a:pPr>
            <a:r>
              <a:t>CHALLENGE</a:t>
            </a:r>
          </a:p>
        </p:txBody>
      </p:sp>
      <p:sp>
        <p:nvSpPr>
          <p:cNvPr id="6" name="TextBox 5"/>
          <p:cNvSpPr txBox="1"/>
          <p:nvPr/>
        </p:nvSpPr>
        <p:spPr>
          <a:xfrm>
            <a:off x="365760" y="960120"/>
            <a:ext cx="3520440" cy="1280160"/>
          </a:xfrm>
          <a:prstGeom prst="rect">
            <a:avLst/>
          </a:prstGeom>
          <a:noFill/>
        </p:spPr>
        <p:txBody>
          <a:bodyPr wrap="square">
            <a:spAutoFit/>
          </a:bodyPr>
          <a:lstStyle/>
          <a:p>
            <a:pPr algn="l">
              <a:spcAft>
                <a:spcPts val="200"/>
              </a:spcAft>
              <a:defRPr sz="750" b="0">
                <a:solidFill>
                  <a:srgbClr val="0A1628"/>
                </a:solidFill>
                <a:latin typeface="Calibri"/>
              </a:defRPr>
            </a:pPr>
            <a:r>
              <a:t>• Drivers need quick answers about complex vehicle features</a:t>
            </a:r>
            <a:br/>
            <a:r>
              <a:t>• Owner's manuals are hundreds of pages, rarely consulted</a:t>
            </a:r>
            <a:br/>
            <a:r>
              <a:t>• Dashboard indicator lights confuse and alarm drivers</a:t>
            </a:r>
            <a:br/>
            <a:r>
              <a:t>• Traditional infotainment search is keyword-based and limited</a:t>
            </a:r>
          </a:p>
        </p:txBody>
      </p:sp>
      <p:sp>
        <p:nvSpPr>
          <p:cNvPr id="7" name="TextBox 6"/>
          <p:cNvSpPr txBox="1"/>
          <p:nvPr/>
        </p:nvSpPr>
        <p:spPr>
          <a:xfrm>
            <a:off x="4023360" y="777240"/>
            <a:ext cx="1828800" cy="182880"/>
          </a:xfrm>
          <a:prstGeom prst="rect">
            <a:avLst/>
          </a:prstGeom>
          <a:noFill/>
        </p:spPr>
        <p:txBody>
          <a:bodyPr wrap="square">
            <a:spAutoFit/>
          </a:bodyPr>
          <a:lstStyle/>
          <a:p>
            <a:pPr algn="l">
              <a:spcAft>
                <a:spcPts val="200"/>
              </a:spcAft>
              <a:defRPr sz="800" b="1">
                <a:solidFill>
                  <a:srgbClr val="0A1628"/>
                </a:solidFill>
                <a:latin typeface="Calibri"/>
              </a:defRPr>
            </a:pPr>
            <a:r>
              <a:t>AGENTIC SOLUTION</a:t>
            </a:r>
          </a:p>
        </p:txBody>
      </p:sp>
      <p:sp>
        <p:nvSpPr>
          <p:cNvPr id="8" name="TextBox 7"/>
          <p:cNvSpPr txBox="1"/>
          <p:nvPr/>
        </p:nvSpPr>
        <p:spPr>
          <a:xfrm>
            <a:off x="4023360" y="960120"/>
            <a:ext cx="3520440" cy="1280160"/>
          </a:xfrm>
          <a:prstGeom prst="rect">
            <a:avLst/>
          </a:prstGeom>
          <a:noFill/>
        </p:spPr>
        <p:txBody>
          <a:bodyPr wrap="square">
            <a:spAutoFit/>
          </a:bodyPr>
          <a:lstStyle/>
          <a:p>
            <a:pPr algn="l">
              <a:spcAft>
                <a:spcPts val="200"/>
              </a:spcAft>
              <a:defRPr sz="750" b="0">
                <a:solidFill>
                  <a:srgbClr val="0A1628"/>
                </a:solidFill>
                <a:latin typeface="Calibri"/>
              </a:defRPr>
            </a:pPr>
            <a:r>
              <a:t>• Virtual assistant in myVW app with Gemini multimodal capabilities</a:t>
            </a:r>
            <a:br/>
            <a:r>
              <a:t>• Drivers ask natural language questions about their vehicle</a:t>
            </a:r>
            <a:br/>
            <a:r>
              <a:t>• Point smartphone camera at dashboard for indicator light context</a:t>
            </a:r>
            <a:br/>
            <a:r>
              <a:t>• Instant visual recognition + explanation of cockpit indicators</a:t>
            </a:r>
          </a:p>
        </p:txBody>
      </p:sp>
      <p:sp>
        <p:nvSpPr>
          <p:cNvPr id="9" name="Rectangle 8"/>
          <p:cNvSpPr/>
          <p:nvPr/>
        </p:nvSpPr>
        <p:spPr>
          <a:xfrm>
            <a:off x="365760"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65760"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Multimodal</a:t>
            </a:r>
          </a:p>
        </p:txBody>
      </p:sp>
      <p:sp>
        <p:nvSpPr>
          <p:cNvPr id="11" name="TextBox 10"/>
          <p:cNvSpPr txBox="1"/>
          <p:nvPr/>
        </p:nvSpPr>
        <p:spPr>
          <a:xfrm>
            <a:off x="365760"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Camera +</a:t>
            </a:r>
            <a:br/>
            <a:r>
              <a:t>voice input</a:t>
            </a:r>
          </a:p>
        </p:txBody>
      </p:sp>
      <p:sp>
        <p:nvSpPr>
          <p:cNvPr id="12" name="Rectangle 11"/>
          <p:cNvSpPr/>
          <p:nvPr/>
        </p:nvSpPr>
        <p:spPr>
          <a:xfrm>
            <a:off x="2240279"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240279"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Instant</a:t>
            </a:r>
          </a:p>
        </p:txBody>
      </p:sp>
      <p:sp>
        <p:nvSpPr>
          <p:cNvPr id="14" name="TextBox 13"/>
          <p:cNvSpPr txBox="1"/>
          <p:nvPr/>
        </p:nvSpPr>
        <p:spPr>
          <a:xfrm>
            <a:off x="2240279"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Indicator light</a:t>
            </a:r>
            <a:br/>
            <a:r>
              <a:t>explanations</a:t>
            </a:r>
          </a:p>
        </p:txBody>
      </p:sp>
      <p:sp>
        <p:nvSpPr>
          <p:cNvPr id="15" name="Rectangle 14"/>
          <p:cNvSpPr/>
          <p:nvPr/>
        </p:nvSpPr>
        <p:spPr>
          <a:xfrm>
            <a:off x="4114799"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114799"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Natural</a:t>
            </a:r>
          </a:p>
        </p:txBody>
      </p:sp>
      <p:sp>
        <p:nvSpPr>
          <p:cNvPr id="17" name="TextBox 16"/>
          <p:cNvSpPr txBox="1"/>
          <p:nvPr/>
        </p:nvSpPr>
        <p:spPr>
          <a:xfrm>
            <a:off x="4114799"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Language-based</a:t>
            </a:r>
            <a:br/>
            <a:r>
              <a:t>manual search</a:t>
            </a:r>
          </a:p>
        </p:txBody>
      </p:sp>
      <p:sp>
        <p:nvSpPr>
          <p:cNvPr id="18" name="Rectangle 17"/>
          <p:cNvSpPr/>
          <p:nvPr/>
        </p:nvSpPr>
        <p:spPr>
          <a:xfrm>
            <a:off x="5989319"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989319"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myVW</a:t>
            </a:r>
          </a:p>
        </p:txBody>
      </p:sp>
      <p:sp>
        <p:nvSpPr>
          <p:cNvPr id="20" name="TextBox 19"/>
          <p:cNvSpPr txBox="1"/>
          <p:nvPr/>
        </p:nvSpPr>
        <p:spPr>
          <a:xfrm>
            <a:off x="5989319"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In-app virtual</a:t>
            </a:r>
            <a:br/>
            <a:r>
              <a:t>assistant</a:t>
            </a:r>
          </a:p>
        </p:txBody>
      </p:sp>
      <p:sp>
        <p:nvSpPr>
          <p:cNvPr id="21" name="TextBox 20"/>
          <p:cNvSpPr txBox="1"/>
          <p:nvPr/>
        </p:nvSpPr>
        <p:spPr>
          <a:xfrm>
            <a:off x="365760" y="3246120"/>
            <a:ext cx="1828800" cy="182880"/>
          </a:xfrm>
          <a:prstGeom prst="rect">
            <a:avLst/>
          </a:prstGeom>
          <a:noFill/>
        </p:spPr>
        <p:txBody>
          <a:bodyPr wrap="square">
            <a:spAutoFit/>
          </a:bodyPr>
          <a:lstStyle/>
          <a:p>
            <a:pPr algn="l">
              <a:spcAft>
                <a:spcPts val="200"/>
              </a:spcAft>
              <a:defRPr sz="800" b="1">
                <a:solidFill>
                  <a:srgbClr val="0A1628"/>
                </a:solidFill>
                <a:latin typeface="Calibri"/>
              </a:defRPr>
            </a:pPr>
            <a:r>
              <a:t>HOW IT WORKS</a:t>
            </a:r>
          </a:p>
        </p:txBody>
      </p:sp>
      <p:sp>
        <p:nvSpPr>
          <p:cNvPr id="22" name="TextBox 21"/>
          <p:cNvSpPr txBox="1"/>
          <p:nvPr/>
        </p:nvSpPr>
        <p:spPr>
          <a:xfrm>
            <a:off x="365760" y="3429000"/>
            <a:ext cx="7436815" cy="594360"/>
          </a:xfrm>
          <a:prstGeom prst="rect">
            <a:avLst/>
          </a:prstGeom>
          <a:noFill/>
        </p:spPr>
        <p:txBody>
          <a:bodyPr wrap="square">
            <a:spAutoFit/>
          </a:bodyPr>
          <a:lstStyle/>
          <a:p>
            <a:pPr algn="l">
              <a:spcAft>
                <a:spcPts val="200"/>
              </a:spcAft>
              <a:defRPr sz="700" b="0">
                <a:solidFill>
                  <a:srgbClr val="0A1628"/>
                </a:solidFill>
                <a:latin typeface="Calibri"/>
              </a:defRPr>
            </a:pPr>
            <a:r>
              <a:t>→ 'How do I change a flat tire?' → step-by-step from owner's manual</a:t>
            </a:r>
            <a:br/>
            <a:r>
              <a:t>→ 'What does this indicator light mean?' → point camera, get explanation</a:t>
            </a:r>
            <a:br/>
            <a:r>
              <a:t>→ Gemini multimodal: processes both text queries and camera images</a:t>
            </a:r>
            <a:br/>
            <a:r>
              <a:t>→ Context-aware: knows the specific VW model and its features</a:t>
            </a:r>
          </a:p>
        </p:txBody>
      </p:sp>
      <p:sp>
        <p:nvSpPr>
          <p:cNvPr id="23" name="TextBox 22"/>
          <p:cNvSpPr txBox="1"/>
          <p:nvPr/>
        </p:nvSpPr>
        <p:spPr>
          <a:xfrm>
            <a:off x="365760" y="4069080"/>
            <a:ext cx="3200400" cy="182880"/>
          </a:xfrm>
          <a:prstGeom prst="rect">
            <a:avLst/>
          </a:prstGeom>
          <a:noFill/>
        </p:spPr>
        <p:txBody>
          <a:bodyPr wrap="square">
            <a:spAutoFit/>
          </a:bodyPr>
          <a:lstStyle/>
          <a:p>
            <a:pPr algn="l">
              <a:spcAft>
                <a:spcPts val="200"/>
              </a:spcAft>
              <a:defRPr sz="750" b="1">
                <a:solidFill>
                  <a:srgbClr val="0A1628"/>
                </a:solidFill>
                <a:latin typeface="Calibri"/>
              </a:defRPr>
            </a:pPr>
            <a:r>
              <a:t>AGENT ARCHITECTURE</a:t>
            </a:r>
          </a:p>
        </p:txBody>
      </p:sp>
      <p:sp>
        <p:nvSpPr>
          <p:cNvPr id="24" name="TextBox 23"/>
          <p:cNvSpPr txBox="1"/>
          <p:nvPr/>
        </p:nvSpPr>
        <p:spPr>
          <a:xfrm>
            <a:off x="365760" y="4251960"/>
            <a:ext cx="3520440" cy="777240"/>
          </a:xfrm>
          <a:prstGeom prst="rect">
            <a:avLst/>
          </a:prstGeom>
          <a:noFill/>
        </p:spPr>
        <p:txBody>
          <a:bodyPr wrap="square">
            <a:spAutoFit/>
          </a:bodyPr>
          <a:lstStyle/>
          <a:p>
            <a:pPr algn="l">
              <a:spcAft>
                <a:spcPts val="200"/>
              </a:spcAft>
              <a:defRPr sz="700" b="0">
                <a:solidFill>
                  <a:srgbClr val="0A1628"/>
                </a:solidFill>
                <a:latin typeface="Calibri"/>
              </a:defRPr>
            </a:pPr>
            <a:r>
              <a:t>• Gemini multimodal capabilities for vision + language</a:t>
            </a:r>
            <a:br/>
            <a:r>
              <a:t>• Owner's manual as grounded knowledge base</a:t>
            </a:r>
            <a:br/>
            <a:r>
              <a:t>• Vehicle-specific context awareness (model, year, features)</a:t>
            </a:r>
          </a:p>
        </p:txBody>
      </p:sp>
      <p:sp>
        <p:nvSpPr>
          <p:cNvPr id="25" name="TextBox 24"/>
          <p:cNvSpPr txBox="1"/>
          <p:nvPr/>
        </p:nvSpPr>
        <p:spPr>
          <a:xfrm>
            <a:off x="4023360" y="4069080"/>
            <a:ext cx="3200400" cy="182880"/>
          </a:xfrm>
          <a:prstGeom prst="rect">
            <a:avLst/>
          </a:prstGeom>
          <a:noFill/>
        </p:spPr>
        <p:txBody>
          <a:bodyPr wrap="square">
            <a:spAutoFit/>
          </a:bodyPr>
          <a:lstStyle/>
          <a:p>
            <a:pPr algn="l">
              <a:spcAft>
                <a:spcPts val="200"/>
              </a:spcAft>
              <a:defRPr sz="750" b="1">
                <a:solidFill>
                  <a:srgbClr val="0A1628"/>
                </a:solidFill>
                <a:latin typeface="Calibri"/>
              </a:defRPr>
            </a:pPr>
            <a:r>
              <a:t>GOVERNANCE &amp; COMPLIANCE</a:t>
            </a:r>
          </a:p>
        </p:txBody>
      </p:sp>
      <p:sp>
        <p:nvSpPr>
          <p:cNvPr id="26" name="TextBox 25"/>
          <p:cNvSpPr txBox="1"/>
          <p:nvPr/>
        </p:nvSpPr>
        <p:spPr>
          <a:xfrm>
            <a:off x="4023360" y="4251960"/>
            <a:ext cx="3520440" cy="777240"/>
          </a:xfrm>
          <a:prstGeom prst="rect">
            <a:avLst/>
          </a:prstGeom>
          <a:noFill/>
        </p:spPr>
        <p:txBody>
          <a:bodyPr wrap="square">
            <a:spAutoFit/>
          </a:bodyPr>
          <a:lstStyle/>
          <a:p>
            <a:pPr algn="l">
              <a:spcAft>
                <a:spcPts val="200"/>
              </a:spcAft>
              <a:defRPr sz="700" b="0">
                <a:solidFill>
                  <a:srgbClr val="0A1628"/>
                </a:solidFill>
                <a:latin typeface="Calibri"/>
              </a:defRPr>
            </a:pPr>
            <a:r>
              <a:t>• Safety-critical information validated against official documentation</a:t>
            </a:r>
            <a:br/>
            <a:r>
              <a:t>• No hallucination on vehicle safety topics</a:t>
            </a:r>
          </a:p>
        </p:txBody>
      </p:sp>
      <p:sp>
        <p:nvSpPr>
          <p:cNvPr id="27" name="Rectangle 26"/>
          <p:cNvSpPr/>
          <p:nvPr/>
        </p:nvSpPr>
        <p:spPr>
          <a:xfrm>
            <a:off x="274320" y="5074920"/>
            <a:ext cx="7619695" cy="77724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65760" y="5111496"/>
            <a:ext cx="1828800" cy="164592"/>
          </a:xfrm>
          <a:prstGeom prst="rect">
            <a:avLst/>
          </a:prstGeom>
          <a:noFill/>
        </p:spPr>
        <p:txBody>
          <a:bodyPr wrap="square">
            <a:spAutoFit/>
          </a:bodyPr>
          <a:lstStyle/>
          <a:p>
            <a:pPr algn="l">
              <a:spcAft>
                <a:spcPts val="200"/>
              </a:spcAft>
              <a:defRPr sz="750" b="1">
                <a:solidFill>
                  <a:srgbClr val="00C9A7"/>
                </a:solidFill>
                <a:latin typeface="Calibri"/>
              </a:defRPr>
            </a:pPr>
            <a:r>
              <a:t>TECHNOLOGY STACK</a:t>
            </a:r>
          </a:p>
        </p:txBody>
      </p:sp>
      <p:sp>
        <p:nvSpPr>
          <p:cNvPr id="29" name="TextBox 28"/>
          <p:cNvSpPr txBox="1"/>
          <p:nvPr/>
        </p:nvSpPr>
        <p:spPr>
          <a:xfrm>
            <a:off x="365760"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Model</a:t>
            </a:r>
          </a:p>
        </p:txBody>
      </p:sp>
      <p:sp>
        <p:nvSpPr>
          <p:cNvPr id="30" name="TextBox 29"/>
          <p:cNvSpPr txBox="1"/>
          <p:nvPr/>
        </p:nvSpPr>
        <p:spPr>
          <a:xfrm>
            <a:off x="365760"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Gemini</a:t>
            </a:r>
            <a:br/>
            <a:r>
              <a:t>multimodal</a:t>
            </a:r>
          </a:p>
        </p:txBody>
      </p:sp>
      <p:sp>
        <p:nvSpPr>
          <p:cNvPr id="31" name="TextBox 30"/>
          <p:cNvSpPr txBox="1"/>
          <p:nvPr/>
        </p:nvSpPr>
        <p:spPr>
          <a:xfrm>
            <a:off x="2240279"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Interface</a:t>
            </a:r>
          </a:p>
        </p:txBody>
      </p:sp>
      <p:sp>
        <p:nvSpPr>
          <p:cNvPr id="32" name="TextBox 31"/>
          <p:cNvSpPr txBox="1"/>
          <p:nvPr/>
        </p:nvSpPr>
        <p:spPr>
          <a:xfrm>
            <a:off x="2240279"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myVW app</a:t>
            </a:r>
            <a:br/>
            <a:r>
              <a:t>virtual assistant</a:t>
            </a:r>
          </a:p>
        </p:txBody>
      </p:sp>
      <p:sp>
        <p:nvSpPr>
          <p:cNvPr id="33" name="TextBox 32"/>
          <p:cNvSpPr txBox="1"/>
          <p:nvPr/>
        </p:nvSpPr>
        <p:spPr>
          <a:xfrm>
            <a:off x="4114799"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Input</a:t>
            </a:r>
          </a:p>
        </p:txBody>
      </p:sp>
      <p:sp>
        <p:nvSpPr>
          <p:cNvPr id="34" name="TextBox 33"/>
          <p:cNvSpPr txBox="1"/>
          <p:nvPr/>
        </p:nvSpPr>
        <p:spPr>
          <a:xfrm>
            <a:off x="4114799"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Voice + camera</a:t>
            </a:r>
            <a:br/>
            <a:r>
              <a:t>multimodal</a:t>
            </a:r>
          </a:p>
        </p:txBody>
      </p:sp>
      <p:sp>
        <p:nvSpPr>
          <p:cNvPr id="35" name="TextBox 34"/>
          <p:cNvSpPr txBox="1"/>
          <p:nvPr/>
        </p:nvSpPr>
        <p:spPr>
          <a:xfrm>
            <a:off x="5989319"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Knowledge</a:t>
            </a:r>
          </a:p>
        </p:txBody>
      </p:sp>
      <p:sp>
        <p:nvSpPr>
          <p:cNvPr id="36" name="TextBox 35"/>
          <p:cNvSpPr txBox="1"/>
          <p:nvPr/>
        </p:nvSpPr>
        <p:spPr>
          <a:xfrm>
            <a:off x="5989319"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Owner's manual</a:t>
            </a:r>
            <a:br/>
            <a:r>
              <a:t>grounded</a:t>
            </a:r>
          </a:p>
        </p:txBody>
      </p:sp>
      <p:sp>
        <p:nvSpPr>
          <p:cNvPr id="37" name="Rectangle 36"/>
          <p:cNvSpPr/>
          <p:nvPr/>
        </p:nvSpPr>
        <p:spPr>
          <a:xfrm>
            <a:off x="274320" y="5943600"/>
            <a:ext cx="3657600" cy="320040"/>
          </a:xfrm>
          <a:prstGeom prst="rect">
            <a:avLst/>
          </a:prstGeom>
          <a:solidFill>
            <a:srgbClr val="009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365760" y="5980176"/>
            <a:ext cx="3474720" cy="256032"/>
          </a:xfrm>
          <a:prstGeom prst="rect">
            <a:avLst/>
          </a:prstGeom>
          <a:noFill/>
        </p:spPr>
        <p:txBody>
          <a:bodyPr wrap="square">
            <a:spAutoFit/>
          </a:bodyPr>
          <a:lstStyle/>
          <a:p>
            <a:pPr algn="l">
              <a:spcAft>
                <a:spcPts val="200"/>
              </a:spcAft>
              <a:defRPr sz="650" b="1">
                <a:solidFill>
                  <a:srgbClr val="FFFFFF"/>
                </a:solidFill>
                <a:latin typeface="Calibri"/>
              </a:defRPr>
            </a:pPr>
            <a:r>
              <a:t>INDUSTRY: Automotive</a:t>
            </a:r>
          </a:p>
        </p:txBody>
      </p:sp>
      <p:sp>
        <p:nvSpPr>
          <p:cNvPr id="39" name="Rectangle 38"/>
          <p:cNvSpPr/>
          <p:nvPr/>
        </p:nvSpPr>
        <p:spPr>
          <a:xfrm>
            <a:off x="4114800" y="5943600"/>
            <a:ext cx="3657600" cy="320040"/>
          </a:xfrm>
          <a:prstGeom prst="rect">
            <a:avLst/>
          </a:prstGeom>
          <a:solidFill>
            <a:srgbClr val="008F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4206240" y="5980176"/>
            <a:ext cx="3474720" cy="256032"/>
          </a:xfrm>
          <a:prstGeom prst="rect">
            <a:avLst/>
          </a:prstGeom>
          <a:noFill/>
        </p:spPr>
        <p:txBody>
          <a:bodyPr wrap="square">
            <a:spAutoFit/>
          </a:bodyPr>
          <a:lstStyle/>
          <a:p>
            <a:pPr algn="l">
              <a:spcAft>
                <a:spcPts val="200"/>
              </a:spcAft>
              <a:defRPr sz="650" b="1">
                <a:solidFill>
                  <a:srgbClr val="FFFFFF"/>
                </a:solidFill>
                <a:latin typeface="Calibri"/>
              </a:defRPr>
            </a:pPr>
            <a:r>
              <a:t>AGENT TYPE: Customer Agent</a:t>
            </a:r>
          </a:p>
        </p:txBody>
      </p:sp>
      <p:pic>
        <p:nvPicPr>
          <p:cNvPr id="41" name="Picture 40" descr="image.jpg"/>
          <p:cNvPicPr>
            <a:picLocks noChangeAspect="1"/>
          </p:cNvPicPr>
          <p:nvPr/>
        </p:nvPicPr>
        <p:blipFill>
          <a:blip r:embed="rId2"/>
          <a:stretch>
            <a:fillRect/>
          </a:stretch>
        </p:blipFill>
        <p:spPr>
          <a:xfrm>
            <a:off x="8076895" y="0"/>
            <a:ext cx="4114800" cy="6858000"/>
          </a:xfrm>
          <a:prstGeom prst="rect">
            <a:avLst/>
          </a:prstGeom>
        </p:spPr>
      </p:pic>
      <p:sp>
        <p:nvSpPr>
          <p:cNvPr id="42" name="TextBox 41"/>
          <p:cNvSpPr txBox="1"/>
          <p:nvPr/>
        </p:nvSpPr>
        <p:spPr>
          <a:xfrm>
            <a:off x="274320" y="6492240"/>
            <a:ext cx="4572000" cy="274320"/>
          </a:xfrm>
          <a:prstGeom prst="rect">
            <a:avLst/>
          </a:prstGeom>
          <a:noFill/>
        </p:spPr>
        <p:txBody>
          <a:bodyPr wrap="square">
            <a:spAutoFit/>
          </a:bodyPr>
          <a:lstStyle/>
          <a:p>
            <a:pPr algn="l">
              <a:spcAft>
                <a:spcPts val="200"/>
              </a:spcAft>
              <a:defRPr sz="700" b="0">
                <a:solidFill>
                  <a:srgbClr val="888888"/>
                </a:solidFill>
                <a:latin typeface="Calibri"/>
              </a:defRPr>
            </a:pPr>
            <a:r>
              <a:t>Agentic AI Use Cases Across Industries | Confidential</a:t>
            </a:r>
          </a:p>
        </p:txBody>
      </p:sp>
      <p:sp>
        <p:nvSpPr>
          <p:cNvPr id="43" name="TextBox 42"/>
          <p:cNvSpPr txBox="1"/>
          <p:nvPr/>
        </p:nvSpPr>
        <p:spPr>
          <a:xfrm>
            <a:off x="11094415" y="6492240"/>
            <a:ext cx="822960" cy="274320"/>
          </a:xfrm>
          <a:prstGeom prst="rect">
            <a:avLst/>
          </a:prstGeom>
          <a:noFill/>
        </p:spPr>
        <p:txBody>
          <a:bodyPr wrap="square">
            <a:spAutoFit/>
          </a:bodyPr>
          <a:lstStyle/>
          <a:p>
            <a:pPr algn="r">
              <a:spcAft>
                <a:spcPts val="200"/>
              </a:spcAft>
              <a:defRPr sz="700" b="0">
                <a:solidFill>
                  <a:srgbClr val="888888"/>
                </a:solidFill>
                <a:latin typeface="Calibri"/>
              </a:defRPr>
            </a:pPr>
            <a:r>
              <a:t>36 / 46</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8076895" cy="6858000"/>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82880"/>
            <a:ext cx="7436815" cy="502920"/>
          </a:xfrm>
          <a:prstGeom prst="rect">
            <a:avLst/>
          </a:prstGeom>
          <a:noFill/>
        </p:spPr>
        <p:txBody>
          <a:bodyPr wrap="square">
            <a:spAutoFit/>
          </a:bodyPr>
          <a:lstStyle/>
          <a:p>
            <a:pPr algn="l">
              <a:spcAft>
                <a:spcPts val="200"/>
              </a:spcAft>
              <a:defRPr sz="2000" b="1">
                <a:solidFill>
                  <a:srgbClr val="FFFFFF"/>
                </a:solidFill>
                <a:latin typeface="Calibri"/>
              </a:defRPr>
            </a:pPr>
            <a:r>
              <a:t>UC25 | Wayfair — Code Agents for Developer Productivity</a:t>
            </a:r>
          </a:p>
        </p:txBody>
      </p:sp>
      <p:sp>
        <p:nvSpPr>
          <p:cNvPr id="4" name="Rectangle 3"/>
          <p:cNvSpPr/>
          <p:nvPr/>
        </p:nvSpPr>
        <p:spPr>
          <a:xfrm>
            <a:off x="365760" y="658368"/>
            <a:ext cx="1828800" cy="27432"/>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777240"/>
            <a:ext cx="1371600" cy="182880"/>
          </a:xfrm>
          <a:prstGeom prst="rect">
            <a:avLst/>
          </a:prstGeom>
          <a:noFill/>
        </p:spPr>
        <p:txBody>
          <a:bodyPr wrap="square">
            <a:spAutoFit/>
          </a:bodyPr>
          <a:lstStyle/>
          <a:p>
            <a:pPr algn="l">
              <a:spcAft>
                <a:spcPts val="200"/>
              </a:spcAft>
              <a:defRPr sz="800" b="1">
                <a:solidFill>
                  <a:srgbClr val="0A1628"/>
                </a:solidFill>
                <a:latin typeface="Calibri"/>
              </a:defRPr>
            </a:pPr>
            <a:r>
              <a:t>CHALLENGE</a:t>
            </a:r>
          </a:p>
        </p:txBody>
      </p:sp>
      <p:sp>
        <p:nvSpPr>
          <p:cNvPr id="6" name="TextBox 5"/>
          <p:cNvSpPr txBox="1"/>
          <p:nvPr/>
        </p:nvSpPr>
        <p:spPr>
          <a:xfrm>
            <a:off x="365760" y="960120"/>
            <a:ext cx="3520440" cy="1280160"/>
          </a:xfrm>
          <a:prstGeom prst="rect">
            <a:avLst/>
          </a:prstGeom>
          <a:noFill/>
        </p:spPr>
        <p:txBody>
          <a:bodyPr wrap="square">
            <a:spAutoFit/>
          </a:bodyPr>
          <a:lstStyle/>
          <a:p>
            <a:pPr algn="l">
              <a:spcAft>
                <a:spcPts val="200"/>
              </a:spcAft>
              <a:defRPr sz="750" b="0">
                <a:solidFill>
                  <a:srgbClr val="0A1628"/>
                </a:solidFill>
                <a:latin typeface="Calibri"/>
              </a:defRPr>
            </a:pPr>
            <a:r>
              <a:t>• Developer environment setup was time-consuming and inconsistent</a:t>
            </a:r>
            <a:br/>
            <a:r>
              <a:t>• Unit testing quality varied across teams</a:t>
            </a:r>
            <a:br/>
            <a:r>
              <a:t>• Developers spent time on repetitive tasks instead of satisfying work</a:t>
            </a:r>
            <a:br/>
            <a:r>
              <a:t>• Product catalog enrichment was slow and manual</a:t>
            </a:r>
          </a:p>
        </p:txBody>
      </p:sp>
      <p:sp>
        <p:nvSpPr>
          <p:cNvPr id="7" name="TextBox 6"/>
          <p:cNvSpPr txBox="1"/>
          <p:nvPr/>
        </p:nvSpPr>
        <p:spPr>
          <a:xfrm>
            <a:off x="4023360" y="777240"/>
            <a:ext cx="1828800" cy="182880"/>
          </a:xfrm>
          <a:prstGeom prst="rect">
            <a:avLst/>
          </a:prstGeom>
          <a:noFill/>
        </p:spPr>
        <p:txBody>
          <a:bodyPr wrap="square">
            <a:spAutoFit/>
          </a:bodyPr>
          <a:lstStyle/>
          <a:p>
            <a:pPr algn="l">
              <a:spcAft>
                <a:spcPts val="200"/>
              </a:spcAft>
              <a:defRPr sz="800" b="1">
                <a:solidFill>
                  <a:srgbClr val="0A1628"/>
                </a:solidFill>
                <a:latin typeface="Calibri"/>
              </a:defRPr>
            </a:pPr>
            <a:r>
              <a:t>AGENTIC SOLUTION</a:t>
            </a:r>
          </a:p>
        </p:txBody>
      </p:sp>
      <p:sp>
        <p:nvSpPr>
          <p:cNvPr id="8" name="TextBox 7"/>
          <p:cNvSpPr txBox="1"/>
          <p:nvPr/>
        </p:nvSpPr>
        <p:spPr>
          <a:xfrm>
            <a:off x="4023360" y="960120"/>
            <a:ext cx="3520440" cy="1280160"/>
          </a:xfrm>
          <a:prstGeom prst="rect">
            <a:avLst/>
          </a:prstGeom>
          <a:noFill/>
        </p:spPr>
        <p:txBody>
          <a:bodyPr wrap="square">
            <a:spAutoFit/>
          </a:bodyPr>
          <a:lstStyle/>
          <a:p>
            <a:pPr algn="l">
              <a:spcAft>
                <a:spcPts val="200"/>
              </a:spcAft>
              <a:defRPr sz="750" b="0">
                <a:solidFill>
                  <a:srgbClr val="0A1628"/>
                </a:solidFill>
                <a:latin typeface="Calibri"/>
              </a:defRPr>
            </a:pPr>
            <a:r>
              <a:t>• Code Assist agents for development lifecycle automation</a:t>
            </a:r>
            <a:br/>
            <a:r>
              <a:t>• Environment setup agents reduce configuration time by 55%</a:t>
            </a:r>
            <a:br/>
            <a:r>
              <a:t>• Automated product catalog enrichment updates attributes 5x faster</a:t>
            </a:r>
            <a:br/>
            <a:r>
              <a:t>• 60% of developers report focusing on more satisfying work</a:t>
            </a:r>
          </a:p>
        </p:txBody>
      </p:sp>
      <p:sp>
        <p:nvSpPr>
          <p:cNvPr id="9" name="Rectangle 8"/>
          <p:cNvSpPr/>
          <p:nvPr/>
        </p:nvSpPr>
        <p:spPr>
          <a:xfrm>
            <a:off x="365760"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65760"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55%</a:t>
            </a:r>
          </a:p>
        </p:txBody>
      </p:sp>
      <p:sp>
        <p:nvSpPr>
          <p:cNvPr id="11" name="TextBox 10"/>
          <p:cNvSpPr txBox="1"/>
          <p:nvPr/>
        </p:nvSpPr>
        <p:spPr>
          <a:xfrm>
            <a:off x="365760"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Faster environment</a:t>
            </a:r>
            <a:br/>
            <a:r>
              <a:t>setup</a:t>
            </a:r>
          </a:p>
        </p:txBody>
      </p:sp>
      <p:sp>
        <p:nvSpPr>
          <p:cNvPr id="12" name="Rectangle 11"/>
          <p:cNvSpPr/>
          <p:nvPr/>
        </p:nvSpPr>
        <p:spPr>
          <a:xfrm>
            <a:off x="2240279"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240279"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48%</a:t>
            </a:r>
          </a:p>
        </p:txBody>
      </p:sp>
      <p:sp>
        <p:nvSpPr>
          <p:cNvPr id="14" name="TextBox 13"/>
          <p:cNvSpPr txBox="1"/>
          <p:nvPr/>
        </p:nvSpPr>
        <p:spPr>
          <a:xfrm>
            <a:off x="2240279"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Code performance</a:t>
            </a:r>
            <a:br/>
            <a:r>
              <a:t>improvement</a:t>
            </a:r>
          </a:p>
        </p:txBody>
      </p:sp>
      <p:sp>
        <p:nvSpPr>
          <p:cNvPr id="15" name="Rectangle 14"/>
          <p:cNvSpPr/>
          <p:nvPr/>
        </p:nvSpPr>
        <p:spPr>
          <a:xfrm>
            <a:off x="4114799"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114799"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5x</a:t>
            </a:r>
          </a:p>
        </p:txBody>
      </p:sp>
      <p:sp>
        <p:nvSpPr>
          <p:cNvPr id="17" name="TextBox 16"/>
          <p:cNvSpPr txBox="1"/>
          <p:nvPr/>
        </p:nvSpPr>
        <p:spPr>
          <a:xfrm>
            <a:off x="4114799"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Product attribute</a:t>
            </a:r>
            <a:br/>
            <a:r>
              <a:t>update speed</a:t>
            </a:r>
          </a:p>
        </p:txBody>
      </p:sp>
      <p:sp>
        <p:nvSpPr>
          <p:cNvPr id="18" name="Rectangle 17"/>
          <p:cNvSpPr/>
          <p:nvPr/>
        </p:nvSpPr>
        <p:spPr>
          <a:xfrm>
            <a:off x="5989319"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989319"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60%</a:t>
            </a:r>
          </a:p>
        </p:txBody>
      </p:sp>
      <p:sp>
        <p:nvSpPr>
          <p:cNvPr id="20" name="TextBox 19"/>
          <p:cNvSpPr txBox="1"/>
          <p:nvPr/>
        </p:nvSpPr>
        <p:spPr>
          <a:xfrm>
            <a:off x="5989319"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Devs on more</a:t>
            </a:r>
            <a:br/>
            <a:r>
              <a:t>satisfying work</a:t>
            </a:r>
          </a:p>
        </p:txBody>
      </p:sp>
      <p:sp>
        <p:nvSpPr>
          <p:cNvPr id="21" name="TextBox 20"/>
          <p:cNvSpPr txBox="1"/>
          <p:nvPr/>
        </p:nvSpPr>
        <p:spPr>
          <a:xfrm>
            <a:off x="365760" y="3246120"/>
            <a:ext cx="1828800" cy="182880"/>
          </a:xfrm>
          <a:prstGeom prst="rect">
            <a:avLst/>
          </a:prstGeom>
          <a:noFill/>
        </p:spPr>
        <p:txBody>
          <a:bodyPr wrap="square">
            <a:spAutoFit/>
          </a:bodyPr>
          <a:lstStyle/>
          <a:p>
            <a:pPr algn="l">
              <a:spcAft>
                <a:spcPts val="200"/>
              </a:spcAft>
              <a:defRPr sz="800" b="1">
                <a:solidFill>
                  <a:srgbClr val="0A1628"/>
                </a:solidFill>
                <a:latin typeface="Calibri"/>
              </a:defRPr>
            </a:pPr>
            <a:r>
              <a:t>HOW IT WORKS</a:t>
            </a:r>
          </a:p>
        </p:txBody>
      </p:sp>
      <p:sp>
        <p:nvSpPr>
          <p:cNvPr id="22" name="TextBox 21"/>
          <p:cNvSpPr txBox="1"/>
          <p:nvPr/>
        </p:nvSpPr>
        <p:spPr>
          <a:xfrm>
            <a:off x="365760" y="3429000"/>
            <a:ext cx="7436815" cy="594360"/>
          </a:xfrm>
          <a:prstGeom prst="rect">
            <a:avLst/>
          </a:prstGeom>
          <a:noFill/>
        </p:spPr>
        <p:txBody>
          <a:bodyPr wrap="square">
            <a:spAutoFit/>
          </a:bodyPr>
          <a:lstStyle/>
          <a:p>
            <a:pPr algn="l">
              <a:spcAft>
                <a:spcPts val="200"/>
              </a:spcAft>
              <a:defRPr sz="700" b="0">
                <a:solidFill>
                  <a:srgbClr val="0A1628"/>
                </a:solidFill>
                <a:latin typeface="Calibri"/>
              </a:defRPr>
            </a:pPr>
            <a:r>
              <a:t>→ Code Assist understands Wayfair's codebase, standards, conventions</a:t>
            </a:r>
            <a:br/>
            <a:r>
              <a:t>→ Agent sets up dev environment with correct dependencies and configs</a:t>
            </a:r>
            <a:br/>
            <a:r>
              <a:t>→ Unit test agent improves code performance during testing</a:t>
            </a:r>
            <a:br/>
            <a:r>
              <a:t>→ Catalog agent enriches product attributes across millions of items</a:t>
            </a:r>
          </a:p>
        </p:txBody>
      </p:sp>
      <p:sp>
        <p:nvSpPr>
          <p:cNvPr id="23" name="TextBox 22"/>
          <p:cNvSpPr txBox="1"/>
          <p:nvPr/>
        </p:nvSpPr>
        <p:spPr>
          <a:xfrm>
            <a:off x="365760" y="4069080"/>
            <a:ext cx="3200400" cy="182880"/>
          </a:xfrm>
          <a:prstGeom prst="rect">
            <a:avLst/>
          </a:prstGeom>
          <a:noFill/>
        </p:spPr>
        <p:txBody>
          <a:bodyPr wrap="square">
            <a:spAutoFit/>
          </a:bodyPr>
          <a:lstStyle/>
          <a:p>
            <a:pPr algn="l">
              <a:spcAft>
                <a:spcPts val="200"/>
              </a:spcAft>
              <a:defRPr sz="750" b="1">
                <a:solidFill>
                  <a:srgbClr val="0A1628"/>
                </a:solidFill>
                <a:latin typeface="Calibri"/>
              </a:defRPr>
            </a:pPr>
            <a:r>
              <a:t>AGENT ARCHITECTURE</a:t>
            </a:r>
          </a:p>
        </p:txBody>
      </p:sp>
      <p:sp>
        <p:nvSpPr>
          <p:cNvPr id="24" name="TextBox 23"/>
          <p:cNvSpPr txBox="1"/>
          <p:nvPr/>
        </p:nvSpPr>
        <p:spPr>
          <a:xfrm>
            <a:off x="365760" y="4251960"/>
            <a:ext cx="3520440" cy="777240"/>
          </a:xfrm>
          <a:prstGeom prst="rect">
            <a:avLst/>
          </a:prstGeom>
          <a:noFill/>
        </p:spPr>
        <p:txBody>
          <a:bodyPr wrap="square">
            <a:spAutoFit/>
          </a:bodyPr>
          <a:lstStyle/>
          <a:p>
            <a:pPr algn="l">
              <a:spcAft>
                <a:spcPts val="200"/>
              </a:spcAft>
              <a:defRPr sz="700" b="0">
                <a:solidFill>
                  <a:srgbClr val="0A1628"/>
                </a:solidFill>
                <a:latin typeface="Calibri"/>
              </a:defRPr>
            </a:pPr>
            <a:r>
              <a:t>• Gemini Code Assist customized on private codebase</a:t>
            </a:r>
            <a:br/>
            <a:r>
              <a:t>• Dual use: developer productivity + product operations</a:t>
            </a:r>
            <a:br/>
            <a:r>
              <a:t>• Pilot results validated before enterprise rollout</a:t>
            </a:r>
          </a:p>
        </p:txBody>
      </p:sp>
      <p:sp>
        <p:nvSpPr>
          <p:cNvPr id="25" name="TextBox 24"/>
          <p:cNvSpPr txBox="1"/>
          <p:nvPr/>
        </p:nvSpPr>
        <p:spPr>
          <a:xfrm>
            <a:off x="4023360" y="4069080"/>
            <a:ext cx="3200400" cy="182880"/>
          </a:xfrm>
          <a:prstGeom prst="rect">
            <a:avLst/>
          </a:prstGeom>
          <a:noFill/>
        </p:spPr>
        <p:txBody>
          <a:bodyPr wrap="square">
            <a:spAutoFit/>
          </a:bodyPr>
          <a:lstStyle/>
          <a:p>
            <a:pPr algn="l">
              <a:spcAft>
                <a:spcPts val="200"/>
              </a:spcAft>
              <a:defRPr sz="750" b="1">
                <a:solidFill>
                  <a:srgbClr val="0A1628"/>
                </a:solidFill>
                <a:latin typeface="Calibri"/>
              </a:defRPr>
            </a:pPr>
            <a:r>
              <a:t>GOVERNANCE &amp; COMPLIANCE</a:t>
            </a:r>
          </a:p>
        </p:txBody>
      </p:sp>
      <p:sp>
        <p:nvSpPr>
          <p:cNvPr id="26" name="TextBox 25"/>
          <p:cNvSpPr txBox="1"/>
          <p:nvPr/>
        </p:nvSpPr>
        <p:spPr>
          <a:xfrm>
            <a:off x="4023360" y="4251960"/>
            <a:ext cx="3520440" cy="777240"/>
          </a:xfrm>
          <a:prstGeom prst="rect">
            <a:avLst/>
          </a:prstGeom>
          <a:noFill/>
        </p:spPr>
        <p:txBody>
          <a:bodyPr wrap="square">
            <a:spAutoFit/>
          </a:bodyPr>
          <a:lstStyle/>
          <a:p>
            <a:pPr algn="l">
              <a:spcAft>
                <a:spcPts val="200"/>
              </a:spcAft>
              <a:defRPr sz="700" b="0">
                <a:solidFill>
                  <a:srgbClr val="0A1628"/>
                </a:solidFill>
                <a:latin typeface="Calibri"/>
              </a:defRPr>
            </a:pPr>
            <a:r>
              <a:t>• Code quality monitoring throughout agent-assisted development</a:t>
            </a:r>
            <a:br/>
            <a:r>
              <a:t>• Human review of agent-generated code changes</a:t>
            </a:r>
          </a:p>
        </p:txBody>
      </p:sp>
      <p:sp>
        <p:nvSpPr>
          <p:cNvPr id="27" name="Rectangle 26"/>
          <p:cNvSpPr/>
          <p:nvPr/>
        </p:nvSpPr>
        <p:spPr>
          <a:xfrm>
            <a:off x="274320" y="5074920"/>
            <a:ext cx="7619695" cy="77724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65760" y="5111496"/>
            <a:ext cx="1828800" cy="164592"/>
          </a:xfrm>
          <a:prstGeom prst="rect">
            <a:avLst/>
          </a:prstGeom>
          <a:noFill/>
        </p:spPr>
        <p:txBody>
          <a:bodyPr wrap="square">
            <a:spAutoFit/>
          </a:bodyPr>
          <a:lstStyle/>
          <a:p>
            <a:pPr algn="l">
              <a:spcAft>
                <a:spcPts val="200"/>
              </a:spcAft>
              <a:defRPr sz="750" b="1">
                <a:solidFill>
                  <a:srgbClr val="00C9A7"/>
                </a:solidFill>
                <a:latin typeface="Calibri"/>
              </a:defRPr>
            </a:pPr>
            <a:r>
              <a:t>TECHNOLOGY STACK</a:t>
            </a:r>
          </a:p>
        </p:txBody>
      </p:sp>
      <p:sp>
        <p:nvSpPr>
          <p:cNvPr id="29" name="TextBox 28"/>
          <p:cNvSpPr txBox="1"/>
          <p:nvPr/>
        </p:nvSpPr>
        <p:spPr>
          <a:xfrm>
            <a:off x="365760"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Platform</a:t>
            </a:r>
          </a:p>
        </p:txBody>
      </p:sp>
      <p:sp>
        <p:nvSpPr>
          <p:cNvPr id="30" name="TextBox 29"/>
          <p:cNvSpPr txBox="1"/>
          <p:nvPr/>
        </p:nvSpPr>
        <p:spPr>
          <a:xfrm>
            <a:off x="365760"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Gemini Code</a:t>
            </a:r>
            <a:br/>
            <a:r>
              <a:t>Assist</a:t>
            </a:r>
          </a:p>
        </p:txBody>
      </p:sp>
      <p:sp>
        <p:nvSpPr>
          <p:cNvPr id="31" name="TextBox 30"/>
          <p:cNvSpPr txBox="1"/>
          <p:nvPr/>
        </p:nvSpPr>
        <p:spPr>
          <a:xfrm>
            <a:off x="2240279"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Scope</a:t>
            </a:r>
          </a:p>
        </p:txBody>
      </p:sp>
      <p:sp>
        <p:nvSpPr>
          <p:cNvPr id="32" name="TextBox 31"/>
          <p:cNvSpPr txBox="1"/>
          <p:nvPr/>
        </p:nvSpPr>
        <p:spPr>
          <a:xfrm>
            <a:off x="2240279"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Dev environment</a:t>
            </a:r>
            <a:br/>
            <a:r>
              <a:t>+ catalog ops</a:t>
            </a:r>
          </a:p>
        </p:txBody>
      </p:sp>
      <p:sp>
        <p:nvSpPr>
          <p:cNvPr id="33" name="TextBox 32"/>
          <p:cNvSpPr txBox="1"/>
          <p:nvPr/>
        </p:nvSpPr>
        <p:spPr>
          <a:xfrm>
            <a:off x="4114799"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Codebase</a:t>
            </a:r>
          </a:p>
        </p:txBody>
      </p:sp>
      <p:sp>
        <p:nvSpPr>
          <p:cNvPr id="34" name="TextBox 33"/>
          <p:cNvSpPr txBox="1"/>
          <p:nvPr/>
        </p:nvSpPr>
        <p:spPr>
          <a:xfrm>
            <a:off x="4114799"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Custom-trained on</a:t>
            </a:r>
            <a:br/>
            <a:r>
              <a:t>Wayfair standards</a:t>
            </a:r>
          </a:p>
        </p:txBody>
      </p:sp>
      <p:sp>
        <p:nvSpPr>
          <p:cNvPr id="35" name="TextBox 34"/>
          <p:cNvSpPr txBox="1"/>
          <p:nvPr/>
        </p:nvSpPr>
        <p:spPr>
          <a:xfrm>
            <a:off x="5989319"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Impact</a:t>
            </a:r>
          </a:p>
        </p:txBody>
      </p:sp>
      <p:sp>
        <p:nvSpPr>
          <p:cNvPr id="36" name="TextBox 35"/>
          <p:cNvSpPr txBox="1"/>
          <p:nvPr/>
        </p:nvSpPr>
        <p:spPr>
          <a:xfrm>
            <a:off x="5989319"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Developer</a:t>
            </a:r>
            <a:br/>
            <a:r>
              <a:t>productivity gains</a:t>
            </a:r>
          </a:p>
        </p:txBody>
      </p:sp>
      <p:sp>
        <p:nvSpPr>
          <p:cNvPr id="37" name="Rectangle 36"/>
          <p:cNvSpPr/>
          <p:nvPr/>
        </p:nvSpPr>
        <p:spPr>
          <a:xfrm>
            <a:off x="274320" y="5943600"/>
            <a:ext cx="3657600" cy="320040"/>
          </a:xfrm>
          <a:prstGeom prst="rect">
            <a:avLst/>
          </a:prstGeom>
          <a:solidFill>
            <a:srgbClr val="009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365760" y="5980176"/>
            <a:ext cx="3474720" cy="256032"/>
          </a:xfrm>
          <a:prstGeom prst="rect">
            <a:avLst/>
          </a:prstGeom>
          <a:noFill/>
        </p:spPr>
        <p:txBody>
          <a:bodyPr wrap="square">
            <a:spAutoFit/>
          </a:bodyPr>
          <a:lstStyle/>
          <a:p>
            <a:pPr algn="l">
              <a:spcAft>
                <a:spcPts val="200"/>
              </a:spcAft>
              <a:defRPr sz="650" b="1">
                <a:solidFill>
                  <a:srgbClr val="FFFFFF"/>
                </a:solidFill>
                <a:latin typeface="Calibri"/>
              </a:defRPr>
            </a:pPr>
            <a:r>
              <a:t>INDUSTRY: Technology</a:t>
            </a:r>
          </a:p>
        </p:txBody>
      </p:sp>
      <p:sp>
        <p:nvSpPr>
          <p:cNvPr id="39" name="Rectangle 38"/>
          <p:cNvSpPr/>
          <p:nvPr/>
        </p:nvSpPr>
        <p:spPr>
          <a:xfrm>
            <a:off x="4114800" y="5943600"/>
            <a:ext cx="3657600" cy="320040"/>
          </a:xfrm>
          <a:prstGeom prst="rect">
            <a:avLst/>
          </a:prstGeom>
          <a:solidFill>
            <a:srgbClr val="008F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4206240" y="5980176"/>
            <a:ext cx="3474720" cy="256032"/>
          </a:xfrm>
          <a:prstGeom prst="rect">
            <a:avLst/>
          </a:prstGeom>
          <a:noFill/>
        </p:spPr>
        <p:txBody>
          <a:bodyPr wrap="square">
            <a:spAutoFit/>
          </a:bodyPr>
          <a:lstStyle/>
          <a:p>
            <a:pPr algn="l">
              <a:spcAft>
                <a:spcPts val="200"/>
              </a:spcAft>
              <a:defRPr sz="650" b="1">
                <a:solidFill>
                  <a:srgbClr val="FFFFFF"/>
                </a:solidFill>
                <a:latin typeface="Calibri"/>
              </a:defRPr>
            </a:pPr>
            <a:r>
              <a:t>AGENT TYPE: Code Agent</a:t>
            </a:r>
          </a:p>
        </p:txBody>
      </p:sp>
      <p:pic>
        <p:nvPicPr>
          <p:cNvPr id="41" name="Picture 40" descr="image.jpg"/>
          <p:cNvPicPr>
            <a:picLocks noChangeAspect="1"/>
          </p:cNvPicPr>
          <p:nvPr/>
        </p:nvPicPr>
        <p:blipFill>
          <a:blip r:embed="rId2"/>
          <a:stretch>
            <a:fillRect/>
          </a:stretch>
        </p:blipFill>
        <p:spPr>
          <a:xfrm>
            <a:off x="8076895" y="0"/>
            <a:ext cx="4114800" cy="6858000"/>
          </a:xfrm>
          <a:prstGeom prst="rect">
            <a:avLst/>
          </a:prstGeom>
        </p:spPr>
      </p:pic>
      <p:sp>
        <p:nvSpPr>
          <p:cNvPr id="42" name="TextBox 41"/>
          <p:cNvSpPr txBox="1"/>
          <p:nvPr/>
        </p:nvSpPr>
        <p:spPr>
          <a:xfrm>
            <a:off x="274320" y="6492240"/>
            <a:ext cx="4572000" cy="274320"/>
          </a:xfrm>
          <a:prstGeom prst="rect">
            <a:avLst/>
          </a:prstGeom>
          <a:noFill/>
        </p:spPr>
        <p:txBody>
          <a:bodyPr wrap="square">
            <a:spAutoFit/>
          </a:bodyPr>
          <a:lstStyle/>
          <a:p>
            <a:pPr algn="l">
              <a:spcAft>
                <a:spcPts val="200"/>
              </a:spcAft>
              <a:defRPr sz="700" b="0">
                <a:solidFill>
                  <a:srgbClr val="888888"/>
                </a:solidFill>
                <a:latin typeface="Calibri"/>
              </a:defRPr>
            </a:pPr>
            <a:r>
              <a:t>Agentic AI Use Cases Across Industries | Confidential</a:t>
            </a:r>
          </a:p>
        </p:txBody>
      </p:sp>
      <p:sp>
        <p:nvSpPr>
          <p:cNvPr id="43" name="TextBox 42"/>
          <p:cNvSpPr txBox="1"/>
          <p:nvPr/>
        </p:nvSpPr>
        <p:spPr>
          <a:xfrm>
            <a:off x="11094415" y="6492240"/>
            <a:ext cx="822960" cy="274320"/>
          </a:xfrm>
          <a:prstGeom prst="rect">
            <a:avLst/>
          </a:prstGeom>
          <a:noFill/>
        </p:spPr>
        <p:txBody>
          <a:bodyPr wrap="square">
            <a:spAutoFit/>
          </a:bodyPr>
          <a:lstStyle/>
          <a:p>
            <a:pPr algn="r">
              <a:spcAft>
                <a:spcPts val="200"/>
              </a:spcAft>
              <a:defRPr sz="700" b="0">
                <a:solidFill>
                  <a:srgbClr val="888888"/>
                </a:solidFill>
                <a:latin typeface="Calibri"/>
              </a:defRPr>
            </a:pPr>
            <a:r>
              <a:t>37 / 46</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8076895" cy="6858000"/>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82880"/>
            <a:ext cx="7436815" cy="502920"/>
          </a:xfrm>
          <a:prstGeom prst="rect">
            <a:avLst/>
          </a:prstGeom>
          <a:noFill/>
        </p:spPr>
        <p:txBody>
          <a:bodyPr wrap="square">
            <a:spAutoFit/>
          </a:bodyPr>
          <a:lstStyle/>
          <a:p>
            <a:pPr algn="l">
              <a:spcAft>
                <a:spcPts val="200"/>
              </a:spcAft>
              <a:defRPr sz="2000" b="1">
                <a:solidFill>
                  <a:srgbClr val="FFFFFF"/>
                </a:solidFill>
                <a:latin typeface="Calibri"/>
              </a:defRPr>
            </a:pPr>
            <a:r>
              <a:t>UC26 | Regnology — Ticket-to-Code AI Agent</a:t>
            </a:r>
          </a:p>
        </p:txBody>
      </p:sp>
      <p:sp>
        <p:nvSpPr>
          <p:cNvPr id="4" name="Rectangle 3"/>
          <p:cNvSpPr/>
          <p:nvPr/>
        </p:nvSpPr>
        <p:spPr>
          <a:xfrm>
            <a:off x="365760" y="658368"/>
            <a:ext cx="1828800" cy="27432"/>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777240"/>
            <a:ext cx="1371600" cy="182880"/>
          </a:xfrm>
          <a:prstGeom prst="rect">
            <a:avLst/>
          </a:prstGeom>
          <a:noFill/>
        </p:spPr>
        <p:txBody>
          <a:bodyPr wrap="square">
            <a:spAutoFit/>
          </a:bodyPr>
          <a:lstStyle/>
          <a:p>
            <a:pPr algn="l">
              <a:spcAft>
                <a:spcPts val="200"/>
              </a:spcAft>
              <a:defRPr sz="800" b="1">
                <a:solidFill>
                  <a:srgbClr val="0A1628"/>
                </a:solidFill>
                <a:latin typeface="Calibri"/>
              </a:defRPr>
            </a:pPr>
            <a:r>
              <a:t>CHALLENGE</a:t>
            </a:r>
          </a:p>
        </p:txBody>
      </p:sp>
      <p:sp>
        <p:nvSpPr>
          <p:cNvPr id="6" name="TextBox 5"/>
          <p:cNvSpPr txBox="1"/>
          <p:nvPr/>
        </p:nvSpPr>
        <p:spPr>
          <a:xfrm>
            <a:off x="365760" y="960120"/>
            <a:ext cx="3520440" cy="1280160"/>
          </a:xfrm>
          <a:prstGeom prst="rect">
            <a:avLst/>
          </a:prstGeom>
          <a:noFill/>
        </p:spPr>
        <p:txBody>
          <a:bodyPr wrap="square">
            <a:spAutoFit/>
          </a:bodyPr>
          <a:lstStyle/>
          <a:p>
            <a:pPr algn="l">
              <a:spcAft>
                <a:spcPts val="200"/>
              </a:spcAft>
              <a:defRPr sz="750" b="0">
                <a:solidFill>
                  <a:srgbClr val="0A1628"/>
                </a:solidFill>
                <a:latin typeface="Calibri"/>
              </a:defRPr>
            </a:pPr>
            <a:r>
              <a:t>• Bug tickets require manual analysis to understand and resolve</a:t>
            </a:r>
            <a:br/>
            <a:r>
              <a:t>• Conversion from ticket description to actionable code is slow</a:t>
            </a:r>
            <a:br/>
            <a:r>
              <a:t>• Regulatory technology requires high accuracy and compliance</a:t>
            </a:r>
            <a:br/>
            <a:r>
              <a:t>• Development process bottlenecked at ticket triage and implementation</a:t>
            </a:r>
          </a:p>
        </p:txBody>
      </p:sp>
      <p:sp>
        <p:nvSpPr>
          <p:cNvPr id="7" name="TextBox 6"/>
          <p:cNvSpPr txBox="1"/>
          <p:nvPr/>
        </p:nvSpPr>
        <p:spPr>
          <a:xfrm>
            <a:off x="4023360" y="777240"/>
            <a:ext cx="1828800" cy="182880"/>
          </a:xfrm>
          <a:prstGeom prst="rect">
            <a:avLst/>
          </a:prstGeom>
          <a:noFill/>
        </p:spPr>
        <p:txBody>
          <a:bodyPr wrap="square">
            <a:spAutoFit/>
          </a:bodyPr>
          <a:lstStyle/>
          <a:p>
            <a:pPr algn="l">
              <a:spcAft>
                <a:spcPts val="200"/>
              </a:spcAft>
              <a:defRPr sz="800" b="1">
                <a:solidFill>
                  <a:srgbClr val="0A1628"/>
                </a:solidFill>
                <a:latin typeface="Calibri"/>
              </a:defRPr>
            </a:pPr>
            <a:r>
              <a:t>AGENTIC SOLUTION</a:t>
            </a:r>
          </a:p>
        </p:txBody>
      </p:sp>
      <p:sp>
        <p:nvSpPr>
          <p:cNvPr id="8" name="TextBox 7"/>
          <p:cNvSpPr txBox="1"/>
          <p:nvPr/>
        </p:nvSpPr>
        <p:spPr>
          <a:xfrm>
            <a:off x="4023360" y="960120"/>
            <a:ext cx="3520440" cy="1280160"/>
          </a:xfrm>
          <a:prstGeom prst="rect">
            <a:avLst/>
          </a:prstGeom>
          <a:noFill/>
        </p:spPr>
        <p:txBody>
          <a:bodyPr wrap="square">
            <a:spAutoFit/>
          </a:bodyPr>
          <a:lstStyle/>
          <a:p>
            <a:pPr algn="l">
              <a:spcAft>
                <a:spcPts val="200"/>
              </a:spcAft>
              <a:defRPr sz="750" b="0">
                <a:solidFill>
                  <a:srgbClr val="0A1628"/>
                </a:solidFill>
                <a:latin typeface="Calibri"/>
              </a:defRPr>
            </a:pPr>
            <a:r>
              <a:t>• Ticket-to-Code Writer agent built with Gemini 1.5 Pro</a:t>
            </a:r>
            <a:br/>
            <a:r>
              <a:t>• Automatically converts bug tickets into actionable code</a:t>
            </a:r>
            <a:br/>
            <a:r>
              <a:t>• Understands regulatory context for compliance-aware fixes</a:t>
            </a:r>
            <a:br/>
            <a:r>
              <a:t>• Significantly streamlines the software development process</a:t>
            </a:r>
          </a:p>
        </p:txBody>
      </p:sp>
      <p:sp>
        <p:nvSpPr>
          <p:cNvPr id="9" name="Rectangle 8"/>
          <p:cNvSpPr/>
          <p:nvPr/>
        </p:nvSpPr>
        <p:spPr>
          <a:xfrm>
            <a:off x="365760"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65760"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Auto</a:t>
            </a:r>
          </a:p>
        </p:txBody>
      </p:sp>
      <p:sp>
        <p:nvSpPr>
          <p:cNvPr id="11" name="TextBox 10"/>
          <p:cNvSpPr txBox="1"/>
          <p:nvPr/>
        </p:nvSpPr>
        <p:spPr>
          <a:xfrm>
            <a:off x="365760"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Bug ticket to</a:t>
            </a:r>
            <a:br/>
            <a:r>
              <a:t>code conversion</a:t>
            </a:r>
          </a:p>
        </p:txBody>
      </p:sp>
      <p:sp>
        <p:nvSpPr>
          <p:cNvPr id="12" name="Rectangle 11"/>
          <p:cNvSpPr/>
          <p:nvPr/>
        </p:nvSpPr>
        <p:spPr>
          <a:xfrm>
            <a:off x="2240279"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240279"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Gemini 1.5</a:t>
            </a:r>
          </a:p>
        </p:txBody>
      </p:sp>
      <p:sp>
        <p:nvSpPr>
          <p:cNvPr id="14" name="TextBox 13"/>
          <p:cNvSpPr txBox="1"/>
          <p:nvPr/>
        </p:nvSpPr>
        <p:spPr>
          <a:xfrm>
            <a:off x="2240279"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Pro model</a:t>
            </a:r>
            <a:br/>
            <a:r>
              <a:t>powered</a:t>
            </a:r>
          </a:p>
        </p:txBody>
      </p:sp>
      <p:sp>
        <p:nvSpPr>
          <p:cNvPr id="15" name="Rectangle 14"/>
          <p:cNvSpPr/>
          <p:nvPr/>
        </p:nvSpPr>
        <p:spPr>
          <a:xfrm>
            <a:off x="4114799"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114799"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Streamlined</a:t>
            </a:r>
          </a:p>
        </p:txBody>
      </p:sp>
      <p:sp>
        <p:nvSpPr>
          <p:cNvPr id="17" name="TextBox 16"/>
          <p:cNvSpPr txBox="1"/>
          <p:nvPr/>
        </p:nvSpPr>
        <p:spPr>
          <a:xfrm>
            <a:off x="4114799"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Development</a:t>
            </a:r>
            <a:br/>
            <a:r>
              <a:t>process</a:t>
            </a:r>
          </a:p>
        </p:txBody>
      </p:sp>
      <p:sp>
        <p:nvSpPr>
          <p:cNvPr id="18" name="Rectangle 17"/>
          <p:cNvSpPr/>
          <p:nvPr/>
        </p:nvSpPr>
        <p:spPr>
          <a:xfrm>
            <a:off x="5989319" y="23317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989319" y="23774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RegTech</a:t>
            </a:r>
          </a:p>
        </p:txBody>
      </p:sp>
      <p:sp>
        <p:nvSpPr>
          <p:cNvPr id="20" name="TextBox 19"/>
          <p:cNvSpPr txBox="1"/>
          <p:nvPr/>
        </p:nvSpPr>
        <p:spPr>
          <a:xfrm>
            <a:off x="5989319" y="27706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Compliance-aware</a:t>
            </a:r>
            <a:br/>
            <a:r>
              <a:t>code generation</a:t>
            </a:r>
          </a:p>
        </p:txBody>
      </p:sp>
      <p:sp>
        <p:nvSpPr>
          <p:cNvPr id="21" name="TextBox 20"/>
          <p:cNvSpPr txBox="1"/>
          <p:nvPr/>
        </p:nvSpPr>
        <p:spPr>
          <a:xfrm>
            <a:off x="365760" y="3246120"/>
            <a:ext cx="1828800" cy="182880"/>
          </a:xfrm>
          <a:prstGeom prst="rect">
            <a:avLst/>
          </a:prstGeom>
          <a:noFill/>
        </p:spPr>
        <p:txBody>
          <a:bodyPr wrap="square">
            <a:spAutoFit/>
          </a:bodyPr>
          <a:lstStyle/>
          <a:p>
            <a:pPr algn="l">
              <a:spcAft>
                <a:spcPts val="200"/>
              </a:spcAft>
              <a:defRPr sz="800" b="1">
                <a:solidFill>
                  <a:srgbClr val="0A1628"/>
                </a:solidFill>
                <a:latin typeface="Calibri"/>
              </a:defRPr>
            </a:pPr>
            <a:r>
              <a:t>HOW IT WORKS</a:t>
            </a:r>
          </a:p>
        </p:txBody>
      </p:sp>
      <p:sp>
        <p:nvSpPr>
          <p:cNvPr id="22" name="TextBox 21"/>
          <p:cNvSpPr txBox="1"/>
          <p:nvPr/>
        </p:nvSpPr>
        <p:spPr>
          <a:xfrm>
            <a:off x="365760" y="3429000"/>
            <a:ext cx="7436815" cy="594360"/>
          </a:xfrm>
          <a:prstGeom prst="rect">
            <a:avLst/>
          </a:prstGeom>
          <a:noFill/>
        </p:spPr>
        <p:txBody>
          <a:bodyPr wrap="square">
            <a:spAutoFit/>
          </a:bodyPr>
          <a:lstStyle/>
          <a:p>
            <a:pPr algn="l">
              <a:spcAft>
                <a:spcPts val="200"/>
              </a:spcAft>
              <a:defRPr sz="700" b="0">
                <a:solidFill>
                  <a:srgbClr val="0A1628"/>
                </a:solidFill>
                <a:latin typeface="Calibri"/>
              </a:defRPr>
            </a:pPr>
            <a:r>
              <a:t>→ Ingest bug ticket: parse description, reproduction steps, context</a:t>
            </a:r>
            <a:br/>
            <a:r>
              <a:t>→ Gemini 1.5 Pro analyzes codebase to locate relevant files</a:t>
            </a:r>
            <a:br/>
            <a:r>
              <a:t>→ Agent generates code fix aligned with coding standards</a:t>
            </a:r>
            <a:br/>
            <a:r>
              <a:t>→ Developer reviews and approves agent-generated fix</a:t>
            </a:r>
          </a:p>
        </p:txBody>
      </p:sp>
      <p:sp>
        <p:nvSpPr>
          <p:cNvPr id="23" name="TextBox 22"/>
          <p:cNvSpPr txBox="1"/>
          <p:nvPr/>
        </p:nvSpPr>
        <p:spPr>
          <a:xfrm>
            <a:off x="365760" y="4069080"/>
            <a:ext cx="3200400" cy="182880"/>
          </a:xfrm>
          <a:prstGeom prst="rect">
            <a:avLst/>
          </a:prstGeom>
          <a:noFill/>
        </p:spPr>
        <p:txBody>
          <a:bodyPr wrap="square">
            <a:spAutoFit/>
          </a:bodyPr>
          <a:lstStyle/>
          <a:p>
            <a:pPr algn="l">
              <a:spcAft>
                <a:spcPts val="200"/>
              </a:spcAft>
              <a:defRPr sz="750" b="1">
                <a:solidFill>
                  <a:srgbClr val="0A1628"/>
                </a:solidFill>
                <a:latin typeface="Calibri"/>
              </a:defRPr>
            </a:pPr>
            <a:r>
              <a:t>AGENT ARCHITECTURE</a:t>
            </a:r>
          </a:p>
        </p:txBody>
      </p:sp>
      <p:sp>
        <p:nvSpPr>
          <p:cNvPr id="24" name="TextBox 23"/>
          <p:cNvSpPr txBox="1"/>
          <p:nvPr/>
        </p:nvSpPr>
        <p:spPr>
          <a:xfrm>
            <a:off x="365760" y="4251960"/>
            <a:ext cx="3520440" cy="777240"/>
          </a:xfrm>
          <a:prstGeom prst="rect">
            <a:avLst/>
          </a:prstGeom>
          <a:noFill/>
        </p:spPr>
        <p:txBody>
          <a:bodyPr wrap="square">
            <a:spAutoFit/>
          </a:bodyPr>
          <a:lstStyle/>
          <a:p>
            <a:pPr algn="l">
              <a:spcAft>
                <a:spcPts val="200"/>
              </a:spcAft>
              <a:defRPr sz="700" b="0">
                <a:solidFill>
                  <a:srgbClr val="0A1628"/>
                </a:solidFill>
                <a:latin typeface="Calibri"/>
              </a:defRPr>
            </a:pPr>
            <a:r>
              <a:t>• Gemini 1.5 Pro with long context for full codebase understanding</a:t>
            </a:r>
            <a:br/>
            <a:r>
              <a:t>• Ticket parsing + codebase analysis + fix generation pipeline</a:t>
            </a:r>
            <a:br/>
            <a:r>
              <a:t>• Human-in-the-loop: developer approves all changes</a:t>
            </a:r>
          </a:p>
        </p:txBody>
      </p:sp>
      <p:sp>
        <p:nvSpPr>
          <p:cNvPr id="25" name="TextBox 24"/>
          <p:cNvSpPr txBox="1"/>
          <p:nvPr/>
        </p:nvSpPr>
        <p:spPr>
          <a:xfrm>
            <a:off x="4023360" y="4069080"/>
            <a:ext cx="3200400" cy="182880"/>
          </a:xfrm>
          <a:prstGeom prst="rect">
            <a:avLst/>
          </a:prstGeom>
          <a:noFill/>
        </p:spPr>
        <p:txBody>
          <a:bodyPr wrap="square">
            <a:spAutoFit/>
          </a:bodyPr>
          <a:lstStyle/>
          <a:p>
            <a:pPr algn="l">
              <a:spcAft>
                <a:spcPts val="200"/>
              </a:spcAft>
              <a:defRPr sz="750" b="1">
                <a:solidFill>
                  <a:srgbClr val="0A1628"/>
                </a:solidFill>
                <a:latin typeface="Calibri"/>
              </a:defRPr>
            </a:pPr>
            <a:r>
              <a:t>GOVERNANCE &amp; COMPLIANCE</a:t>
            </a:r>
          </a:p>
        </p:txBody>
      </p:sp>
      <p:sp>
        <p:nvSpPr>
          <p:cNvPr id="26" name="TextBox 25"/>
          <p:cNvSpPr txBox="1"/>
          <p:nvPr/>
        </p:nvSpPr>
        <p:spPr>
          <a:xfrm>
            <a:off x="4023360" y="4251960"/>
            <a:ext cx="3520440" cy="777240"/>
          </a:xfrm>
          <a:prstGeom prst="rect">
            <a:avLst/>
          </a:prstGeom>
          <a:noFill/>
        </p:spPr>
        <p:txBody>
          <a:bodyPr wrap="square">
            <a:spAutoFit/>
          </a:bodyPr>
          <a:lstStyle/>
          <a:p>
            <a:pPr algn="l">
              <a:spcAft>
                <a:spcPts val="200"/>
              </a:spcAft>
              <a:defRPr sz="700" b="0">
                <a:solidFill>
                  <a:srgbClr val="0A1628"/>
                </a:solidFill>
                <a:latin typeface="Calibri"/>
              </a:defRPr>
            </a:pPr>
            <a:r>
              <a:t>• Regulatory technology context ensures compliance-aware code</a:t>
            </a:r>
            <a:br/>
            <a:r>
              <a:t>• All generated code subject to human review</a:t>
            </a:r>
          </a:p>
        </p:txBody>
      </p:sp>
      <p:sp>
        <p:nvSpPr>
          <p:cNvPr id="27" name="Rectangle 26"/>
          <p:cNvSpPr/>
          <p:nvPr/>
        </p:nvSpPr>
        <p:spPr>
          <a:xfrm>
            <a:off x="274320" y="5074920"/>
            <a:ext cx="7619695" cy="77724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65760" y="5111496"/>
            <a:ext cx="1828800" cy="164592"/>
          </a:xfrm>
          <a:prstGeom prst="rect">
            <a:avLst/>
          </a:prstGeom>
          <a:noFill/>
        </p:spPr>
        <p:txBody>
          <a:bodyPr wrap="square">
            <a:spAutoFit/>
          </a:bodyPr>
          <a:lstStyle/>
          <a:p>
            <a:pPr algn="l">
              <a:spcAft>
                <a:spcPts val="200"/>
              </a:spcAft>
              <a:defRPr sz="750" b="1">
                <a:solidFill>
                  <a:srgbClr val="00C9A7"/>
                </a:solidFill>
                <a:latin typeface="Calibri"/>
              </a:defRPr>
            </a:pPr>
            <a:r>
              <a:t>TECHNOLOGY STACK</a:t>
            </a:r>
          </a:p>
        </p:txBody>
      </p:sp>
      <p:sp>
        <p:nvSpPr>
          <p:cNvPr id="29" name="TextBox 28"/>
          <p:cNvSpPr txBox="1"/>
          <p:nvPr/>
        </p:nvSpPr>
        <p:spPr>
          <a:xfrm>
            <a:off x="365760"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Model</a:t>
            </a:r>
          </a:p>
        </p:txBody>
      </p:sp>
      <p:sp>
        <p:nvSpPr>
          <p:cNvPr id="30" name="TextBox 29"/>
          <p:cNvSpPr txBox="1"/>
          <p:nvPr/>
        </p:nvSpPr>
        <p:spPr>
          <a:xfrm>
            <a:off x="365760"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Gemini 1.5 Pro</a:t>
            </a:r>
            <a:br/>
            <a:r>
              <a:t>long context</a:t>
            </a:r>
          </a:p>
        </p:txBody>
      </p:sp>
      <p:sp>
        <p:nvSpPr>
          <p:cNvPr id="31" name="TextBox 30"/>
          <p:cNvSpPr txBox="1"/>
          <p:nvPr/>
        </p:nvSpPr>
        <p:spPr>
          <a:xfrm>
            <a:off x="2240279"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Pipeline</a:t>
            </a:r>
          </a:p>
        </p:txBody>
      </p:sp>
      <p:sp>
        <p:nvSpPr>
          <p:cNvPr id="32" name="TextBox 31"/>
          <p:cNvSpPr txBox="1"/>
          <p:nvPr/>
        </p:nvSpPr>
        <p:spPr>
          <a:xfrm>
            <a:off x="2240279"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Ticket → analysis</a:t>
            </a:r>
            <a:br/>
            <a:r>
              <a:t>→ code fix</a:t>
            </a:r>
          </a:p>
        </p:txBody>
      </p:sp>
      <p:sp>
        <p:nvSpPr>
          <p:cNvPr id="33" name="TextBox 32"/>
          <p:cNvSpPr txBox="1"/>
          <p:nvPr/>
        </p:nvSpPr>
        <p:spPr>
          <a:xfrm>
            <a:off x="4114799"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Domain</a:t>
            </a:r>
          </a:p>
        </p:txBody>
      </p:sp>
      <p:sp>
        <p:nvSpPr>
          <p:cNvPr id="34" name="TextBox 33"/>
          <p:cNvSpPr txBox="1"/>
          <p:nvPr/>
        </p:nvSpPr>
        <p:spPr>
          <a:xfrm>
            <a:off x="4114799"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Regulatory</a:t>
            </a:r>
            <a:br/>
            <a:r>
              <a:t>technology</a:t>
            </a:r>
          </a:p>
        </p:txBody>
      </p:sp>
      <p:sp>
        <p:nvSpPr>
          <p:cNvPr id="35" name="TextBox 34"/>
          <p:cNvSpPr txBox="1"/>
          <p:nvPr/>
        </p:nvSpPr>
        <p:spPr>
          <a:xfrm>
            <a:off x="5989319" y="5276088"/>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Review</a:t>
            </a:r>
          </a:p>
        </p:txBody>
      </p:sp>
      <p:sp>
        <p:nvSpPr>
          <p:cNvPr id="36" name="TextBox 35"/>
          <p:cNvSpPr txBox="1"/>
          <p:nvPr/>
        </p:nvSpPr>
        <p:spPr>
          <a:xfrm>
            <a:off x="5989319" y="5458968"/>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Human approval</a:t>
            </a:r>
            <a:br/>
            <a:r>
              <a:t>required</a:t>
            </a:r>
          </a:p>
        </p:txBody>
      </p:sp>
      <p:sp>
        <p:nvSpPr>
          <p:cNvPr id="37" name="Rectangle 36"/>
          <p:cNvSpPr/>
          <p:nvPr/>
        </p:nvSpPr>
        <p:spPr>
          <a:xfrm>
            <a:off x="274320" y="5943600"/>
            <a:ext cx="3657600" cy="320040"/>
          </a:xfrm>
          <a:prstGeom prst="rect">
            <a:avLst/>
          </a:prstGeom>
          <a:solidFill>
            <a:srgbClr val="009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365760" y="5980176"/>
            <a:ext cx="3474720" cy="256032"/>
          </a:xfrm>
          <a:prstGeom prst="rect">
            <a:avLst/>
          </a:prstGeom>
          <a:noFill/>
        </p:spPr>
        <p:txBody>
          <a:bodyPr wrap="square">
            <a:spAutoFit/>
          </a:bodyPr>
          <a:lstStyle/>
          <a:p>
            <a:pPr algn="l">
              <a:spcAft>
                <a:spcPts val="200"/>
              </a:spcAft>
              <a:defRPr sz="650" b="1">
                <a:solidFill>
                  <a:srgbClr val="FFFFFF"/>
                </a:solidFill>
                <a:latin typeface="Calibri"/>
              </a:defRPr>
            </a:pPr>
            <a:r>
              <a:t>INDUSTRY: Technology</a:t>
            </a:r>
          </a:p>
        </p:txBody>
      </p:sp>
      <p:sp>
        <p:nvSpPr>
          <p:cNvPr id="39" name="Rectangle 38"/>
          <p:cNvSpPr/>
          <p:nvPr/>
        </p:nvSpPr>
        <p:spPr>
          <a:xfrm>
            <a:off x="4114800" y="5943600"/>
            <a:ext cx="3657600" cy="320040"/>
          </a:xfrm>
          <a:prstGeom prst="rect">
            <a:avLst/>
          </a:prstGeom>
          <a:solidFill>
            <a:srgbClr val="008F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4206240" y="5980176"/>
            <a:ext cx="3474720" cy="256032"/>
          </a:xfrm>
          <a:prstGeom prst="rect">
            <a:avLst/>
          </a:prstGeom>
          <a:noFill/>
        </p:spPr>
        <p:txBody>
          <a:bodyPr wrap="square">
            <a:spAutoFit/>
          </a:bodyPr>
          <a:lstStyle/>
          <a:p>
            <a:pPr algn="l">
              <a:spcAft>
                <a:spcPts val="200"/>
              </a:spcAft>
              <a:defRPr sz="650" b="1">
                <a:solidFill>
                  <a:srgbClr val="FFFFFF"/>
                </a:solidFill>
                <a:latin typeface="Calibri"/>
              </a:defRPr>
            </a:pPr>
            <a:r>
              <a:t>AGENT TYPE: Code Agent</a:t>
            </a:r>
          </a:p>
        </p:txBody>
      </p:sp>
      <p:pic>
        <p:nvPicPr>
          <p:cNvPr id="41" name="Picture 40" descr="image.jpg"/>
          <p:cNvPicPr>
            <a:picLocks noChangeAspect="1"/>
          </p:cNvPicPr>
          <p:nvPr/>
        </p:nvPicPr>
        <p:blipFill>
          <a:blip r:embed="rId2"/>
          <a:stretch>
            <a:fillRect/>
          </a:stretch>
        </p:blipFill>
        <p:spPr>
          <a:xfrm>
            <a:off x="8076895" y="0"/>
            <a:ext cx="4114800" cy="6858000"/>
          </a:xfrm>
          <a:prstGeom prst="rect">
            <a:avLst/>
          </a:prstGeom>
        </p:spPr>
      </p:pic>
      <p:sp>
        <p:nvSpPr>
          <p:cNvPr id="42" name="TextBox 41"/>
          <p:cNvSpPr txBox="1"/>
          <p:nvPr/>
        </p:nvSpPr>
        <p:spPr>
          <a:xfrm>
            <a:off x="274320" y="6492240"/>
            <a:ext cx="4572000" cy="274320"/>
          </a:xfrm>
          <a:prstGeom prst="rect">
            <a:avLst/>
          </a:prstGeom>
          <a:noFill/>
        </p:spPr>
        <p:txBody>
          <a:bodyPr wrap="square">
            <a:spAutoFit/>
          </a:bodyPr>
          <a:lstStyle/>
          <a:p>
            <a:pPr algn="l">
              <a:spcAft>
                <a:spcPts val="200"/>
              </a:spcAft>
              <a:defRPr sz="700" b="0">
                <a:solidFill>
                  <a:srgbClr val="888888"/>
                </a:solidFill>
                <a:latin typeface="Calibri"/>
              </a:defRPr>
            </a:pPr>
            <a:r>
              <a:t>Agentic AI Use Cases Across Industries | Confidential</a:t>
            </a:r>
          </a:p>
        </p:txBody>
      </p:sp>
      <p:sp>
        <p:nvSpPr>
          <p:cNvPr id="43" name="TextBox 42"/>
          <p:cNvSpPr txBox="1"/>
          <p:nvPr/>
        </p:nvSpPr>
        <p:spPr>
          <a:xfrm>
            <a:off x="11094415" y="6492240"/>
            <a:ext cx="822960" cy="274320"/>
          </a:xfrm>
          <a:prstGeom prst="rect">
            <a:avLst/>
          </a:prstGeom>
          <a:noFill/>
        </p:spPr>
        <p:txBody>
          <a:bodyPr wrap="square">
            <a:spAutoFit/>
          </a:bodyPr>
          <a:lstStyle/>
          <a:p>
            <a:pPr algn="r">
              <a:spcAft>
                <a:spcPts val="200"/>
              </a:spcAft>
              <a:defRPr sz="700" b="0">
                <a:solidFill>
                  <a:srgbClr val="888888"/>
                </a:solidFill>
                <a:latin typeface="Calibri"/>
              </a:defRPr>
            </a:pPr>
            <a:r>
              <a:t>38 / 46</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8076895" cy="6858000"/>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82880"/>
            <a:ext cx="7436815" cy="457200"/>
          </a:xfrm>
          <a:prstGeom prst="rect">
            <a:avLst/>
          </a:prstGeom>
          <a:noFill/>
        </p:spPr>
        <p:txBody>
          <a:bodyPr wrap="square">
            <a:spAutoFit/>
          </a:bodyPr>
          <a:lstStyle/>
          <a:p>
            <a:pPr algn="l">
              <a:spcAft>
                <a:spcPts val="200"/>
              </a:spcAft>
              <a:defRPr sz="2400" b="1">
                <a:solidFill>
                  <a:srgbClr val="FFFFFF"/>
                </a:solidFill>
                <a:latin typeface="Calibri"/>
              </a:defRPr>
            </a:pPr>
            <a:r>
              <a:t>Customer Pain Point Mapping</a:t>
            </a:r>
          </a:p>
        </p:txBody>
      </p:sp>
      <p:sp>
        <p:nvSpPr>
          <p:cNvPr id="4" name="Rectangle 3"/>
          <p:cNvSpPr/>
          <p:nvPr/>
        </p:nvSpPr>
        <p:spPr>
          <a:xfrm>
            <a:off x="365760" y="640080"/>
            <a:ext cx="1828800" cy="27432"/>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274320" y="777240"/>
            <a:ext cx="7619695" cy="658368"/>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65760" y="832104"/>
            <a:ext cx="2286000" cy="182880"/>
          </a:xfrm>
          <a:prstGeom prst="rect">
            <a:avLst/>
          </a:prstGeom>
          <a:noFill/>
        </p:spPr>
        <p:txBody>
          <a:bodyPr wrap="square">
            <a:spAutoFit/>
          </a:bodyPr>
          <a:lstStyle/>
          <a:p>
            <a:pPr algn="l">
              <a:spcAft>
                <a:spcPts val="200"/>
              </a:spcAft>
              <a:defRPr sz="700" b="1">
                <a:solidFill>
                  <a:srgbClr val="FF6B6B"/>
                </a:solidFill>
                <a:latin typeface="Calibri"/>
              </a:defRPr>
            </a:pPr>
            <a:r>
              <a:t>"We process thousands of documents manually"</a:t>
            </a:r>
          </a:p>
        </p:txBody>
      </p:sp>
      <p:sp>
        <p:nvSpPr>
          <p:cNvPr id="7" name="TextBox 6"/>
          <p:cNvSpPr txBox="1"/>
          <p:nvPr/>
        </p:nvSpPr>
        <p:spPr>
          <a:xfrm>
            <a:off x="2743200" y="832104"/>
            <a:ext cx="2011680" cy="182880"/>
          </a:xfrm>
          <a:prstGeom prst="rect">
            <a:avLst/>
          </a:prstGeom>
          <a:noFill/>
        </p:spPr>
        <p:txBody>
          <a:bodyPr wrap="square">
            <a:spAutoFit/>
          </a:bodyPr>
          <a:lstStyle/>
          <a:p>
            <a:pPr algn="l">
              <a:spcAft>
                <a:spcPts val="200"/>
              </a:spcAft>
              <a:defRPr sz="750" b="1">
                <a:solidFill>
                  <a:srgbClr val="FFB800"/>
                </a:solidFill>
                <a:latin typeface="Calibri"/>
              </a:defRPr>
            </a:pPr>
            <a:r>
              <a:t>Agentic Document Processing</a:t>
            </a:r>
          </a:p>
        </p:txBody>
      </p:sp>
      <p:sp>
        <p:nvSpPr>
          <p:cNvPr id="8" name="TextBox 7"/>
          <p:cNvSpPr txBox="1"/>
          <p:nvPr/>
        </p:nvSpPr>
        <p:spPr>
          <a:xfrm>
            <a:off x="365760" y="1051560"/>
            <a:ext cx="5029200" cy="320040"/>
          </a:xfrm>
          <a:prstGeom prst="rect">
            <a:avLst/>
          </a:prstGeom>
          <a:noFill/>
        </p:spPr>
        <p:txBody>
          <a:bodyPr wrap="square">
            <a:spAutoFit/>
          </a:bodyPr>
          <a:lstStyle/>
          <a:p>
            <a:pPr algn="l">
              <a:spcAft>
                <a:spcPts val="200"/>
              </a:spcAft>
              <a:defRPr sz="650" b="0">
                <a:solidFill>
                  <a:srgbClr val="FFFFFF"/>
                </a:solidFill>
                <a:latin typeface="Calibri"/>
              </a:defRPr>
            </a:pPr>
            <a:r>
              <a:t>Multi-agent pipeline: classify, extract, validate, route. 73% autonomous. Claims, invoices, contracts.</a:t>
            </a:r>
          </a:p>
        </p:txBody>
      </p:sp>
      <p:sp>
        <p:nvSpPr>
          <p:cNvPr id="9" name="TextBox 8"/>
          <p:cNvSpPr txBox="1"/>
          <p:nvPr/>
        </p:nvSpPr>
        <p:spPr>
          <a:xfrm>
            <a:off x="5669280" y="832104"/>
            <a:ext cx="1828800" cy="548640"/>
          </a:xfrm>
          <a:prstGeom prst="rect">
            <a:avLst/>
          </a:prstGeom>
          <a:noFill/>
        </p:spPr>
        <p:txBody>
          <a:bodyPr wrap="square">
            <a:spAutoFit/>
          </a:bodyPr>
          <a:lstStyle/>
          <a:p>
            <a:pPr algn="r">
              <a:spcAft>
                <a:spcPts val="200"/>
              </a:spcAft>
              <a:defRPr sz="700" b="1">
                <a:solidFill>
                  <a:srgbClr val="00C9A7"/>
                </a:solidFill>
                <a:latin typeface="Calibri"/>
              </a:defRPr>
            </a:pPr>
            <a:r>
              <a:t>UC01 UC03 UC04</a:t>
            </a:r>
          </a:p>
        </p:txBody>
      </p:sp>
      <p:sp>
        <p:nvSpPr>
          <p:cNvPr id="10" name="Rectangle 9"/>
          <p:cNvSpPr/>
          <p:nvPr/>
        </p:nvSpPr>
        <p:spPr>
          <a:xfrm>
            <a:off x="274320" y="1453896"/>
            <a:ext cx="7619695" cy="658368"/>
          </a:xfrm>
          <a:prstGeom prst="rect">
            <a:avLst/>
          </a:prstGeom>
          <a:solidFill>
            <a:srgbClr val="0E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65760" y="1508760"/>
            <a:ext cx="2286000" cy="182880"/>
          </a:xfrm>
          <a:prstGeom prst="rect">
            <a:avLst/>
          </a:prstGeom>
          <a:noFill/>
        </p:spPr>
        <p:txBody>
          <a:bodyPr wrap="square">
            <a:spAutoFit/>
          </a:bodyPr>
          <a:lstStyle/>
          <a:p>
            <a:pPr algn="l">
              <a:spcAft>
                <a:spcPts val="200"/>
              </a:spcAft>
              <a:defRPr sz="700" b="1">
                <a:solidFill>
                  <a:srgbClr val="FF6B6B"/>
                </a:solidFill>
                <a:latin typeface="Calibri"/>
              </a:defRPr>
            </a:pPr>
            <a:r>
              <a:t>"Our support team can't scale with volume"</a:t>
            </a:r>
          </a:p>
        </p:txBody>
      </p:sp>
      <p:sp>
        <p:nvSpPr>
          <p:cNvPr id="12" name="TextBox 11"/>
          <p:cNvSpPr txBox="1"/>
          <p:nvPr/>
        </p:nvSpPr>
        <p:spPr>
          <a:xfrm>
            <a:off x="2743200" y="1508760"/>
            <a:ext cx="2011680" cy="182880"/>
          </a:xfrm>
          <a:prstGeom prst="rect">
            <a:avLst/>
          </a:prstGeom>
          <a:noFill/>
        </p:spPr>
        <p:txBody>
          <a:bodyPr wrap="square">
            <a:spAutoFit/>
          </a:bodyPr>
          <a:lstStyle/>
          <a:p>
            <a:pPr algn="l">
              <a:spcAft>
                <a:spcPts val="200"/>
              </a:spcAft>
              <a:defRPr sz="750" b="1">
                <a:solidFill>
                  <a:srgbClr val="FFB800"/>
                </a:solidFill>
                <a:latin typeface="Calibri"/>
              </a:defRPr>
            </a:pPr>
            <a:r>
              <a:t>Autonomous Customer Service</a:t>
            </a:r>
          </a:p>
        </p:txBody>
      </p:sp>
      <p:sp>
        <p:nvSpPr>
          <p:cNvPr id="13" name="TextBox 12"/>
          <p:cNvSpPr txBox="1"/>
          <p:nvPr/>
        </p:nvSpPr>
        <p:spPr>
          <a:xfrm>
            <a:off x="365760" y="1728216"/>
            <a:ext cx="5029200" cy="320040"/>
          </a:xfrm>
          <a:prstGeom prst="rect">
            <a:avLst/>
          </a:prstGeom>
          <a:noFill/>
        </p:spPr>
        <p:txBody>
          <a:bodyPr wrap="square">
            <a:spAutoFit/>
          </a:bodyPr>
          <a:lstStyle/>
          <a:p>
            <a:pPr algn="l">
              <a:spcAft>
                <a:spcPts val="200"/>
              </a:spcAft>
              <a:defRPr sz="650" b="0">
                <a:solidFill>
                  <a:srgbClr val="FFFFFF"/>
                </a:solidFill>
                <a:latin typeface="Calibri"/>
              </a:defRPr>
            </a:pPr>
            <a:r>
              <a:t>AI agents handle tier-1 across all channels. 40-60% deflection. 99.2% autonomous ticket resolution.</a:t>
            </a:r>
          </a:p>
        </p:txBody>
      </p:sp>
      <p:sp>
        <p:nvSpPr>
          <p:cNvPr id="14" name="TextBox 13"/>
          <p:cNvSpPr txBox="1"/>
          <p:nvPr/>
        </p:nvSpPr>
        <p:spPr>
          <a:xfrm>
            <a:off x="5669280" y="1508760"/>
            <a:ext cx="1828800" cy="548640"/>
          </a:xfrm>
          <a:prstGeom prst="rect">
            <a:avLst/>
          </a:prstGeom>
          <a:noFill/>
        </p:spPr>
        <p:txBody>
          <a:bodyPr wrap="square">
            <a:spAutoFit/>
          </a:bodyPr>
          <a:lstStyle/>
          <a:p>
            <a:pPr algn="r">
              <a:spcAft>
                <a:spcPts val="200"/>
              </a:spcAft>
              <a:defRPr sz="700" b="1">
                <a:solidFill>
                  <a:srgbClr val="00C9A7"/>
                </a:solidFill>
                <a:latin typeface="Calibri"/>
              </a:defRPr>
            </a:pPr>
            <a:r>
              <a:t>UC12 UC20 UC06</a:t>
            </a:r>
          </a:p>
        </p:txBody>
      </p:sp>
      <p:sp>
        <p:nvSpPr>
          <p:cNvPr id="15" name="Rectangle 14"/>
          <p:cNvSpPr/>
          <p:nvPr/>
        </p:nvSpPr>
        <p:spPr>
          <a:xfrm>
            <a:off x="274320" y="2130552"/>
            <a:ext cx="7619695" cy="658368"/>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65760" y="2185416"/>
            <a:ext cx="2286000" cy="182880"/>
          </a:xfrm>
          <a:prstGeom prst="rect">
            <a:avLst/>
          </a:prstGeom>
          <a:noFill/>
        </p:spPr>
        <p:txBody>
          <a:bodyPr wrap="square">
            <a:spAutoFit/>
          </a:bodyPr>
          <a:lstStyle/>
          <a:p>
            <a:pPr algn="l">
              <a:spcAft>
                <a:spcPts val="200"/>
              </a:spcAft>
              <a:defRPr sz="700" b="1">
                <a:solidFill>
                  <a:srgbClr val="FF6B6B"/>
                </a:solidFill>
                <a:latin typeface="Calibri"/>
              </a:defRPr>
            </a:pPr>
            <a:r>
              <a:t>"Root cause analysis takes days, not hours"</a:t>
            </a:r>
          </a:p>
        </p:txBody>
      </p:sp>
      <p:sp>
        <p:nvSpPr>
          <p:cNvPr id="17" name="TextBox 16"/>
          <p:cNvSpPr txBox="1"/>
          <p:nvPr/>
        </p:nvSpPr>
        <p:spPr>
          <a:xfrm>
            <a:off x="2743200" y="2185416"/>
            <a:ext cx="2011680" cy="182880"/>
          </a:xfrm>
          <a:prstGeom prst="rect">
            <a:avLst/>
          </a:prstGeom>
          <a:noFill/>
        </p:spPr>
        <p:txBody>
          <a:bodyPr wrap="square">
            <a:spAutoFit/>
          </a:bodyPr>
          <a:lstStyle/>
          <a:p>
            <a:pPr algn="l">
              <a:spcAft>
                <a:spcPts val="200"/>
              </a:spcAft>
              <a:defRPr sz="750" b="1">
                <a:solidFill>
                  <a:srgbClr val="FFB800"/>
                </a:solidFill>
                <a:latin typeface="Calibri"/>
              </a:defRPr>
            </a:pPr>
            <a:r>
              <a:t>Manufacturing Reasoner Agents</a:t>
            </a:r>
          </a:p>
        </p:txBody>
      </p:sp>
      <p:sp>
        <p:nvSpPr>
          <p:cNvPr id="18" name="TextBox 17"/>
          <p:cNvSpPr txBox="1"/>
          <p:nvPr/>
        </p:nvSpPr>
        <p:spPr>
          <a:xfrm>
            <a:off x="365760" y="2404872"/>
            <a:ext cx="5029200" cy="320040"/>
          </a:xfrm>
          <a:prstGeom prst="rect">
            <a:avLst/>
          </a:prstGeom>
          <a:noFill/>
        </p:spPr>
        <p:txBody>
          <a:bodyPr wrap="square">
            <a:spAutoFit/>
          </a:bodyPr>
          <a:lstStyle/>
          <a:p>
            <a:pPr algn="l">
              <a:spcAft>
                <a:spcPts val="200"/>
              </a:spcAft>
              <a:defRPr sz="650" b="0">
                <a:solidFill>
                  <a:srgbClr val="FFFFFF"/>
                </a:solidFill>
                <a:latin typeface="Calibri"/>
              </a:defRPr>
            </a:pPr>
            <a:r>
              <a:t>IoT-connected agents diagnose issues in minutes via multi-LLM workflow. 88% effort reduction.</a:t>
            </a:r>
          </a:p>
        </p:txBody>
      </p:sp>
      <p:sp>
        <p:nvSpPr>
          <p:cNvPr id="19" name="TextBox 18"/>
          <p:cNvSpPr txBox="1"/>
          <p:nvPr/>
        </p:nvSpPr>
        <p:spPr>
          <a:xfrm>
            <a:off x="5669280" y="2185416"/>
            <a:ext cx="1828800" cy="548640"/>
          </a:xfrm>
          <a:prstGeom prst="rect">
            <a:avLst/>
          </a:prstGeom>
          <a:noFill/>
        </p:spPr>
        <p:txBody>
          <a:bodyPr wrap="square">
            <a:spAutoFit/>
          </a:bodyPr>
          <a:lstStyle/>
          <a:p>
            <a:pPr algn="r">
              <a:spcAft>
                <a:spcPts val="200"/>
              </a:spcAft>
              <a:defRPr sz="700" b="1">
                <a:solidFill>
                  <a:srgbClr val="00C9A7"/>
                </a:solidFill>
                <a:latin typeface="Calibri"/>
              </a:defRPr>
            </a:pPr>
            <a:r>
              <a:t>UC14 UC15 UC16</a:t>
            </a:r>
          </a:p>
        </p:txBody>
      </p:sp>
      <p:sp>
        <p:nvSpPr>
          <p:cNvPr id="20" name="Rectangle 19"/>
          <p:cNvSpPr/>
          <p:nvPr/>
        </p:nvSpPr>
        <p:spPr>
          <a:xfrm>
            <a:off x="274320" y="2807208"/>
            <a:ext cx="7619695" cy="658368"/>
          </a:xfrm>
          <a:prstGeom prst="rect">
            <a:avLst/>
          </a:prstGeom>
          <a:solidFill>
            <a:srgbClr val="0E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65760" y="2862072"/>
            <a:ext cx="2286000" cy="182880"/>
          </a:xfrm>
          <a:prstGeom prst="rect">
            <a:avLst/>
          </a:prstGeom>
          <a:noFill/>
        </p:spPr>
        <p:txBody>
          <a:bodyPr wrap="square">
            <a:spAutoFit/>
          </a:bodyPr>
          <a:lstStyle/>
          <a:p>
            <a:pPr algn="l">
              <a:spcAft>
                <a:spcPts val="200"/>
              </a:spcAft>
              <a:defRPr sz="700" b="1">
                <a:solidFill>
                  <a:srgbClr val="FF6B6B"/>
                </a:solidFill>
                <a:latin typeface="Calibri"/>
              </a:defRPr>
            </a:pPr>
            <a:r>
              <a:t>"Our supply chain exceptions are killing us"</a:t>
            </a:r>
          </a:p>
        </p:txBody>
      </p:sp>
      <p:sp>
        <p:nvSpPr>
          <p:cNvPr id="22" name="TextBox 21"/>
          <p:cNvSpPr txBox="1"/>
          <p:nvPr/>
        </p:nvSpPr>
        <p:spPr>
          <a:xfrm>
            <a:off x="2743200" y="2862072"/>
            <a:ext cx="2011680" cy="182880"/>
          </a:xfrm>
          <a:prstGeom prst="rect">
            <a:avLst/>
          </a:prstGeom>
          <a:noFill/>
        </p:spPr>
        <p:txBody>
          <a:bodyPr wrap="square">
            <a:spAutoFit/>
          </a:bodyPr>
          <a:lstStyle/>
          <a:p>
            <a:pPr algn="l">
              <a:spcAft>
                <a:spcPts val="200"/>
              </a:spcAft>
              <a:defRPr sz="750" b="1">
                <a:solidFill>
                  <a:srgbClr val="FFB800"/>
                </a:solidFill>
                <a:latin typeface="Calibri"/>
              </a:defRPr>
            </a:pPr>
            <a:r>
              <a:t>Autonomous Control Tower</a:t>
            </a:r>
          </a:p>
        </p:txBody>
      </p:sp>
      <p:sp>
        <p:nvSpPr>
          <p:cNvPr id="23" name="TextBox 22"/>
          <p:cNvSpPr txBox="1"/>
          <p:nvPr/>
        </p:nvSpPr>
        <p:spPr>
          <a:xfrm>
            <a:off x="365760" y="3081528"/>
            <a:ext cx="5029200" cy="320040"/>
          </a:xfrm>
          <a:prstGeom prst="rect">
            <a:avLst/>
          </a:prstGeom>
          <a:noFill/>
        </p:spPr>
        <p:txBody>
          <a:bodyPr wrap="square">
            <a:spAutoFit/>
          </a:bodyPr>
          <a:lstStyle/>
          <a:p>
            <a:pPr algn="l">
              <a:spcAft>
                <a:spcPts val="200"/>
              </a:spcAft>
              <a:defRPr sz="650" b="0">
                <a:solidFill>
                  <a:srgbClr val="FFFFFF"/>
                </a:solidFill>
                <a:latin typeface="Calibri"/>
              </a:defRPr>
            </a:pPr>
            <a:r>
              <a:t>Proactive detection + auto-resolution with confidence thresholds. 73% exceptions resolved autonomously.</a:t>
            </a:r>
          </a:p>
        </p:txBody>
      </p:sp>
      <p:sp>
        <p:nvSpPr>
          <p:cNvPr id="24" name="TextBox 23"/>
          <p:cNvSpPr txBox="1"/>
          <p:nvPr/>
        </p:nvSpPr>
        <p:spPr>
          <a:xfrm>
            <a:off x="5669280" y="2862072"/>
            <a:ext cx="1828800" cy="548640"/>
          </a:xfrm>
          <a:prstGeom prst="rect">
            <a:avLst/>
          </a:prstGeom>
          <a:noFill/>
        </p:spPr>
        <p:txBody>
          <a:bodyPr wrap="square">
            <a:spAutoFit/>
          </a:bodyPr>
          <a:lstStyle/>
          <a:p>
            <a:pPr algn="r">
              <a:spcAft>
                <a:spcPts val="200"/>
              </a:spcAft>
              <a:defRPr sz="700" b="1">
                <a:solidFill>
                  <a:srgbClr val="00C9A7"/>
                </a:solidFill>
                <a:latin typeface="Calibri"/>
              </a:defRPr>
            </a:pPr>
            <a:r>
              <a:t>UC10 UC11 UC12</a:t>
            </a:r>
          </a:p>
        </p:txBody>
      </p:sp>
      <p:sp>
        <p:nvSpPr>
          <p:cNvPr id="25" name="Rectangle 24"/>
          <p:cNvSpPr/>
          <p:nvPr/>
        </p:nvSpPr>
        <p:spPr>
          <a:xfrm>
            <a:off x="274320" y="3483864"/>
            <a:ext cx="7619695" cy="658368"/>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365760" y="3538728"/>
            <a:ext cx="2286000" cy="182880"/>
          </a:xfrm>
          <a:prstGeom prst="rect">
            <a:avLst/>
          </a:prstGeom>
          <a:noFill/>
        </p:spPr>
        <p:txBody>
          <a:bodyPr wrap="square">
            <a:spAutoFit/>
          </a:bodyPr>
          <a:lstStyle/>
          <a:p>
            <a:pPr algn="l">
              <a:spcAft>
                <a:spcPts val="200"/>
              </a:spcAft>
              <a:defRPr sz="700" b="1">
                <a:solidFill>
                  <a:srgbClr val="FF6B6B"/>
                </a:solidFill>
                <a:latin typeface="Calibri"/>
              </a:defRPr>
            </a:pPr>
            <a:r>
              <a:t>"Underwriting is too slow, we lose deals"</a:t>
            </a:r>
          </a:p>
        </p:txBody>
      </p:sp>
      <p:sp>
        <p:nvSpPr>
          <p:cNvPr id="27" name="TextBox 26"/>
          <p:cNvSpPr txBox="1"/>
          <p:nvPr/>
        </p:nvSpPr>
        <p:spPr>
          <a:xfrm>
            <a:off x="2743200" y="3538728"/>
            <a:ext cx="2011680" cy="182880"/>
          </a:xfrm>
          <a:prstGeom prst="rect">
            <a:avLst/>
          </a:prstGeom>
          <a:noFill/>
        </p:spPr>
        <p:txBody>
          <a:bodyPr wrap="square">
            <a:spAutoFit/>
          </a:bodyPr>
          <a:lstStyle/>
          <a:p>
            <a:pPr algn="l">
              <a:spcAft>
                <a:spcPts val="200"/>
              </a:spcAft>
              <a:defRPr sz="750" b="1">
                <a:solidFill>
                  <a:srgbClr val="FFB800"/>
                </a:solidFill>
                <a:latin typeface="Calibri"/>
              </a:defRPr>
            </a:pPr>
            <a:r>
              <a:t>Autonomous Underwriting Pipeline</a:t>
            </a:r>
          </a:p>
        </p:txBody>
      </p:sp>
      <p:sp>
        <p:nvSpPr>
          <p:cNvPr id="28" name="TextBox 27"/>
          <p:cNvSpPr txBox="1"/>
          <p:nvPr/>
        </p:nvSpPr>
        <p:spPr>
          <a:xfrm>
            <a:off x="365760" y="3758184"/>
            <a:ext cx="5029200" cy="320040"/>
          </a:xfrm>
          <a:prstGeom prst="rect">
            <a:avLst/>
          </a:prstGeom>
          <a:noFill/>
        </p:spPr>
        <p:txBody>
          <a:bodyPr wrap="square">
            <a:spAutoFit/>
          </a:bodyPr>
          <a:lstStyle/>
          <a:p>
            <a:pPr algn="l">
              <a:spcAft>
                <a:spcPts val="200"/>
              </a:spcAft>
              <a:defRPr sz="650" b="0">
                <a:solidFill>
                  <a:srgbClr val="FFFFFF"/>
                </a:solidFill>
                <a:latin typeface="Calibri"/>
              </a:defRPr>
            </a:pPr>
            <a:r>
              <a:t>6 agents in sequence: 48 hours → 3.7 minutes for standard risks. 6x throughput increase.</a:t>
            </a:r>
          </a:p>
        </p:txBody>
      </p:sp>
      <p:sp>
        <p:nvSpPr>
          <p:cNvPr id="29" name="TextBox 28"/>
          <p:cNvSpPr txBox="1"/>
          <p:nvPr/>
        </p:nvSpPr>
        <p:spPr>
          <a:xfrm>
            <a:off x="5669280" y="3538728"/>
            <a:ext cx="1828800" cy="548640"/>
          </a:xfrm>
          <a:prstGeom prst="rect">
            <a:avLst/>
          </a:prstGeom>
          <a:noFill/>
        </p:spPr>
        <p:txBody>
          <a:bodyPr wrap="square">
            <a:spAutoFit/>
          </a:bodyPr>
          <a:lstStyle/>
          <a:p>
            <a:pPr algn="r">
              <a:spcAft>
                <a:spcPts val="200"/>
              </a:spcAft>
              <a:defRPr sz="700" b="1">
                <a:solidFill>
                  <a:srgbClr val="00C9A7"/>
                </a:solidFill>
                <a:latin typeface="Calibri"/>
              </a:defRPr>
            </a:pPr>
            <a:r>
              <a:t>UC02 UC04 UC05</a:t>
            </a:r>
          </a:p>
        </p:txBody>
      </p:sp>
      <p:sp>
        <p:nvSpPr>
          <p:cNvPr id="30" name="Rectangle 29"/>
          <p:cNvSpPr/>
          <p:nvPr/>
        </p:nvSpPr>
        <p:spPr>
          <a:xfrm>
            <a:off x="274320" y="4160520"/>
            <a:ext cx="7619695" cy="658368"/>
          </a:xfrm>
          <a:prstGeom prst="rect">
            <a:avLst/>
          </a:prstGeom>
          <a:solidFill>
            <a:srgbClr val="0E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365760" y="4215384"/>
            <a:ext cx="2286000" cy="182880"/>
          </a:xfrm>
          <a:prstGeom prst="rect">
            <a:avLst/>
          </a:prstGeom>
          <a:noFill/>
        </p:spPr>
        <p:txBody>
          <a:bodyPr wrap="square">
            <a:spAutoFit/>
          </a:bodyPr>
          <a:lstStyle/>
          <a:p>
            <a:pPr algn="l">
              <a:spcAft>
                <a:spcPts val="200"/>
              </a:spcAft>
              <a:defRPr sz="700" b="1">
                <a:solidFill>
                  <a:srgbClr val="FF6B6B"/>
                </a:solidFill>
                <a:latin typeface="Calibri"/>
              </a:defRPr>
            </a:pPr>
            <a:r>
              <a:t>"Developers waste time on repetitive tasks"</a:t>
            </a:r>
          </a:p>
        </p:txBody>
      </p:sp>
      <p:sp>
        <p:nvSpPr>
          <p:cNvPr id="32" name="TextBox 31"/>
          <p:cNvSpPr txBox="1"/>
          <p:nvPr/>
        </p:nvSpPr>
        <p:spPr>
          <a:xfrm>
            <a:off x="2743200" y="4215384"/>
            <a:ext cx="2011680" cy="182880"/>
          </a:xfrm>
          <a:prstGeom prst="rect">
            <a:avLst/>
          </a:prstGeom>
          <a:noFill/>
        </p:spPr>
        <p:txBody>
          <a:bodyPr wrap="square">
            <a:spAutoFit/>
          </a:bodyPr>
          <a:lstStyle/>
          <a:p>
            <a:pPr algn="l">
              <a:spcAft>
                <a:spcPts val="200"/>
              </a:spcAft>
              <a:defRPr sz="750" b="1">
                <a:solidFill>
                  <a:srgbClr val="FFB800"/>
                </a:solidFill>
                <a:latin typeface="Calibri"/>
              </a:defRPr>
            </a:pPr>
            <a:r>
              <a:t>Code &amp; SDLC Agents</a:t>
            </a:r>
          </a:p>
        </p:txBody>
      </p:sp>
      <p:sp>
        <p:nvSpPr>
          <p:cNvPr id="33" name="TextBox 32"/>
          <p:cNvSpPr txBox="1"/>
          <p:nvPr/>
        </p:nvSpPr>
        <p:spPr>
          <a:xfrm>
            <a:off x="365760" y="4434840"/>
            <a:ext cx="5029200" cy="320040"/>
          </a:xfrm>
          <a:prstGeom prst="rect">
            <a:avLst/>
          </a:prstGeom>
          <a:noFill/>
        </p:spPr>
        <p:txBody>
          <a:bodyPr wrap="square">
            <a:spAutoFit/>
          </a:bodyPr>
          <a:lstStyle/>
          <a:p>
            <a:pPr algn="l">
              <a:spcAft>
                <a:spcPts val="200"/>
              </a:spcAft>
              <a:defRPr sz="650" b="0">
                <a:solidFill>
                  <a:srgbClr val="FFFFFF"/>
                </a:solidFill>
                <a:latin typeface="Calibri"/>
              </a:defRPr>
            </a:pPr>
            <a:r>
              <a:t>Ticket-to-code, code review, test generation. 55% faster setup, 30-50% productivity gains.</a:t>
            </a:r>
          </a:p>
        </p:txBody>
      </p:sp>
      <p:sp>
        <p:nvSpPr>
          <p:cNvPr id="34" name="TextBox 33"/>
          <p:cNvSpPr txBox="1"/>
          <p:nvPr/>
        </p:nvSpPr>
        <p:spPr>
          <a:xfrm>
            <a:off x="5669280" y="4215384"/>
            <a:ext cx="1828800" cy="548640"/>
          </a:xfrm>
          <a:prstGeom prst="rect">
            <a:avLst/>
          </a:prstGeom>
          <a:noFill/>
        </p:spPr>
        <p:txBody>
          <a:bodyPr wrap="square">
            <a:spAutoFit/>
          </a:bodyPr>
          <a:lstStyle/>
          <a:p>
            <a:pPr algn="r">
              <a:spcAft>
                <a:spcPts val="200"/>
              </a:spcAft>
              <a:defRPr sz="700" b="1">
                <a:solidFill>
                  <a:srgbClr val="00C9A7"/>
                </a:solidFill>
                <a:latin typeface="Calibri"/>
              </a:defRPr>
            </a:pPr>
            <a:r>
              <a:t>UC25 UC26</a:t>
            </a:r>
          </a:p>
        </p:txBody>
      </p:sp>
      <p:sp>
        <p:nvSpPr>
          <p:cNvPr id="35" name="Rectangle 34"/>
          <p:cNvSpPr/>
          <p:nvPr/>
        </p:nvSpPr>
        <p:spPr>
          <a:xfrm>
            <a:off x="274320" y="4837176"/>
            <a:ext cx="7619695" cy="658368"/>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365760" y="4892040"/>
            <a:ext cx="2286000" cy="182880"/>
          </a:xfrm>
          <a:prstGeom prst="rect">
            <a:avLst/>
          </a:prstGeom>
          <a:noFill/>
        </p:spPr>
        <p:txBody>
          <a:bodyPr wrap="square">
            <a:spAutoFit/>
          </a:bodyPr>
          <a:lstStyle/>
          <a:p>
            <a:pPr algn="l">
              <a:spcAft>
                <a:spcPts val="200"/>
              </a:spcAft>
              <a:defRPr sz="700" b="1">
                <a:solidFill>
                  <a:srgbClr val="FF6B6B"/>
                </a:solidFill>
                <a:latin typeface="Calibri"/>
              </a:defRPr>
            </a:pPr>
            <a:r>
              <a:t>"Our clinical workflows don't scale"</a:t>
            </a:r>
          </a:p>
        </p:txBody>
      </p:sp>
      <p:sp>
        <p:nvSpPr>
          <p:cNvPr id="37" name="TextBox 36"/>
          <p:cNvSpPr txBox="1"/>
          <p:nvPr/>
        </p:nvSpPr>
        <p:spPr>
          <a:xfrm>
            <a:off x="2743200" y="4892040"/>
            <a:ext cx="2011680" cy="182880"/>
          </a:xfrm>
          <a:prstGeom prst="rect">
            <a:avLst/>
          </a:prstGeom>
          <a:noFill/>
        </p:spPr>
        <p:txBody>
          <a:bodyPr wrap="square">
            <a:spAutoFit/>
          </a:bodyPr>
          <a:lstStyle/>
          <a:p>
            <a:pPr algn="l">
              <a:spcAft>
                <a:spcPts val="200"/>
              </a:spcAft>
              <a:defRPr sz="750" b="1">
                <a:solidFill>
                  <a:srgbClr val="FFB800"/>
                </a:solidFill>
                <a:latin typeface="Calibri"/>
              </a:defRPr>
            </a:pPr>
            <a:r>
              <a:t>Clinical Reasoning Agents</a:t>
            </a:r>
          </a:p>
        </p:txBody>
      </p:sp>
      <p:sp>
        <p:nvSpPr>
          <p:cNvPr id="38" name="TextBox 37"/>
          <p:cNvSpPr txBox="1"/>
          <p:nvPr/>
        </p:nvSpPr>
        <p:spPr>
          <a:xfrm>
            <a:off x="365760" y="5111496"/>
            <a:ext cx="5029200" cy="320040"/>
          </a:xfrm>
          <a:prstGeom prst="rect">
            <a:avLst/>
          </a:prstGeom>
          <a:noFill/>
        </p:spPr>
        <p:txBody>
          <a:bodyPr wrap="square">
            <a:spAutoFit/>
          </a:bodyPr>
          <a:lstStyle/>
          <a:p>
            <a:pPr algn="l">
              <a:spcAft>
                <a:spcPts val="200"/>
              </a:spcAft>
              <a:defRPr sz="650" b="0">
                <a:solidFill>
                  <a:srgbClr val="FFFFFF"/>
                </a:solidFill>
                <a:latin typeface="Calibri"/>
              </a:defRPr>
            </a:pPr>
            <a:r>
              <a:t>5-agent systems approaching expert performance. 211-tool therapeutic reasoning. DMTA automation.</a:t>
            </a:r>
          </a:p>
        </p:txBody>
      </p:sp>
      <p:sp>
        <p:nvSpPr>
          <p:cNvPr id="39" name="TextBox 38"/>
          <p:cNvSpPr txBox="1"/>
          <p:nvPr/>
        </p:nvSpPr>
        <p:spPr>
          <a:xfrm>
            <a:off x="5669280" y="4892040"/>
            <a:ext cx="1828800" cy="548640"/>
          </a:xfrm>
          <a:prstGeom prst="rect">
            <a:avLst/>
          </a:prstGeom>
          <a:noFill/>
        </p:spPr>
        <p:txBody>
          <a:bodyPr wrap="square">
            <a:spAutoFit/>
          </a:bodyPr>
          <a:lstStyle/>
          <a:p>
            <a:pPr algn="r">
              <a:spcAft>
                <a:spcPts val="200"/>
              </a:spcAft>
              <a:defRPr sz="700" b="1">
                <a:solidFill>
                  <a:srgbClr val="00C9A7"/>
                </a:solidFill>
                <a:latin typeface="Calibri"/>
              </a:defRPr>
            </a:pPr>
            <a:r>
              <a:t>UC17 UC18 UC19</a:t>
            </a:r>
          </a:p>
        </p:txBody>
      </p:sp>
      <p:sp>
        <p:nvSpPr>
          <p:cNvPr id="40" name="Rectangle 39"/>
          <p:cNvSpPr/>
          <p:nvPr/>
        </p:nvSpPr>
        <p:spPr>
          <a:xfrm>
            <a:off x="274320" y="5513832"/>
            <a:ext cx="7619695" cy="658368"/>
          </a:xfrm>
          <a:prstGeom prst="rect">
            <a:avLst/>
          </a:prstGeom>
          <a:solidFill>
            <a:srgbClr val="0E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365760" y="5568696"/>
            <a:ext cx="2286000" cy="182880"/>
          </a:xfrm>
          <a:prstGeom prst="rect">
            <a:avLst/>
          </a:prstGeom>
          <a:noFill/>
        </p:spPr>
        <p:txBody>
          <a:bodyPr wrap="square">
            <a:spAutoFit/>
          </a:bodyPr>
          <a:lstStyle/>
          <a:p>
            <a:pPr algn="l">
              <a:spcAft>
                <a:spcPts val="200"/>
              </a:spcAft>
              <a:defRPr sz="700" b="1">
                <a:solidFill>
                  <a:srgbClr val="FF6B6B"/>
                </a:solidFill>
                <a:latin typeface="Calibri"/>
              </a:defRPr>
            </a:pPr>
            <a:r>
              <a:t>"We can't get insights from our data fast enough"</a:t>
            </a:r>
          </a:p>
        </p:txBody>
      </p:sp>
      <p:sp>
        <p:nvSpPr>
          <p:cNvPr id="42" name="TextBox 41"/>
          <p:cNvSpPr txBox="1"/>
          <p:nvPr/>
        </p:nvSpPr>
        <p:spPr>
          <a:xfrm>
            <a:off x="2743200" y="5568696"/>
            <a:ext cx="2011680" cy="182880"/>
          </a:xfrm>
          <a:prstGeom prst="rect">
            <a:avLst/>
          </a:prstGeom>
          <a:noFill/>
        </p:spPr>
        <p:txBody>
          <a:bodyPr wrap="square">
            <a:spAutoFit/>
          </a:bodyPr>
          <a:lstStyle/>
          <a:p>
            <a:pPr algn="l">
              <a:spcAft>
                <a:spcPts val="200"/>
              </a:spcAft>
              <a:defRPr sz="750" b="1">
                <a:solidFill>
                  <a:srgbClr val="FFB800"/>
                </a:solidFill>
                <a:latin typeface="Calibri"/>
              </a:defRPr>
            </a:pPr>
            <a:r>
              <a:t>Multi-Agent Research &amp; BI</a:t>
            </a:r>
          </a:p>
        </p:txBody>
      </p:sp>
      <p:sp>
        <p:nvSpPr>
          <p:cNvPr id="43" name="TextBox 42"/>
          <p:cNvSpPr txBox="1"/>
          <p:nvPr/>
        </p:nvSpPr>
        <p:spPr>
          <a:xfrm>
            <a:off x="365760" y="5788152"/>
            <a:ext cx="5029200" cy="320040"/>
          </a:xfrm>
          <a:prstGeom prst="rect">
            <a:avLst/>
          </a:prstGeom>
          <a:noFill/>
        </p:spPr>
        <p:txBody>
          <a:bodyPr wrap="square">
            <a:spAutoFit/>
          </a:bodyPr>
          <a:lstStyle/>
          <a:p>
            <a:pPr algn="l">
              <a:spcAft>
                <a:spcPts val="200"/>
              </a:spcAft>
              <a:defRPr sz="650" b="0">
                <a:solidFill>
                  <a:srgbClr val="FFFFFF"/>
                </a:solidFill>
                <a:latin typeface="Calibri"/>
              </a:defRPr>
            </a:pPr>
            <a:r>
              <a:t>Agentic search, synthesis, and analysis. Days → minutes for equity research. 98% research time reduction.</a:t>
            </a:r>
          </a:p>
        </p:txBody>
      </p:sp>
      <p:sp>
        <p:nvSpPr>
          <p:cNvPr id="44" name="TextBox 43"/>
          <p:cNvSpPr txBox="1"/>
          <p:nvPr/>
        </p:nvSpPr>
        <p:spPr>
          <a:xfrm>
            <a:off x="5669280" y="5568696"/>
            <a:ext cx="1828800" cy="548640"/>
          </a:xfrm>
          <a:prstGeom prst="rect">
            <a:avLst/>
          </a:prstGeom>
          <a:noFill/>
        </p:spPr>
        <p:txBody>
          <a:bodyPr wrap="square">
            <a:spAutoFit/>
          </a:bodyPr>
          <a:lstStyle/>
          <a:p>
            <a:pPr algn="r">
              <a:spcAft>
                <a:spcPts val="200"/>
              </a:spcAft>
              <a:defRPr sz="700" b="1">
                <a:solidFill>
                  <a:srgbClr val="00C9A7"/>
                </a:solidFill>
                <a:latin typeface="Calibri"/>
              </a:defRPr>
            </a:pPr>
            <a:r>
              <a:t>UC07 UC09 UC22</a:t>
            </a:r>
          </a:p>
        </p:txBody>
      </p:sp>
      <p:sp>
        <p:nvSpPr>
          <p:cNvPr id="45" name="TextBox 44"/>
          <p:cNvSpPr txBox="1"/>
          <p:nvPr/>
        </p:nvSpPr>
        <p:spPr>
          <a:xfrm>
            <a:off x="365760" y="6263640"/>
            <a:ext cx="6400800" cy="228600"/>
          </a:xfrm>
          <a:prstGeom prst="rect">
            <a:avLst/>
          </a:prstGeom>
          <a:noFill/>
        </p:spPr>
        <p:txBody>
          <a:bodyPr wrap="square">
            <a:spAutoFit/>
          </a:bodyPr>
          <a:lstStyle/>
          <a:p>
            <a:pPr algn="l">
              <a:spcAft>
                <a:spcPts val="200"/>
              </a:spcAft>
              <a:defRPr sz="650" b="0">
                <a:solidFill>
                  <a:srgbClr val="0A1628"/>
                </a:solidFill>
                <a:latin typeface="Calibri"/>
              </a:defRPr>
            </a:pPr>
            <a:r>
              <a:t>Each pain point maps to production-validated use cases with measurable ROI — see referenced UCs for details</a:t>
            </a:r>
          </a:p>
        </p:txBody>
      </p:sp>
      <p:sp>
        <p:nvSpPr>
          <p:cNvPr id="46" name="TextBox 45"/>
          <p:cNvSpPr txBox="1"/>
          <p:nvPr/>
        </p:nvSpPr>
        <p:spPr>
          <a:xfrm>
            <a:off x="274320" y="6492240"/>
            <a:ext cx="4572000" cy="274320"/>
          </a:xfrm>
          <a:prstGeom prst="rect">
            <a:avLst/>
          </a:prstGeom>
          <a:noFill/>
        </p:spPr>
        <p:txBody>
          <a:bodyPr wrap="square">
            <a:spAutoFit/>
          </a:bodyPr>
          <a:lstStyle/>
          <a:p>
            <a:pPr algn="l">
              <a:spcAft>
                <a:spcPts val="200"/>
              </a:spcAft>
              <a:defRPr sz="700" b="0">
                <a:solidFill>
                  <a:srgbClr val="888888"/>
                </a:solidFill>
                <a:latin typeface="Calibri"/>
              </a:defRPr>
            </a:pPr>
            <a:r>
              <a:t>Agentic AI Use Cases Across Industries | Confidential</a:t>
            </a:r>
          </a:p>
        </p:txBody>
      </p:sp>
      <p:sp>
        <p:nvSpPr>
          <p:cNvPr id="47" name="TextBox 46"/>
          <p:cNvSpPr txBox="1"/>
          <p:nvPr/>
        </p:nvSpPr>
        <p:spPr>
          <a:xfrm>
            <a:off x="11094415" y="6492240"/>
            <a:ext cx="822960" cy="274320"/>
          </a:xfrm>
          <a:prstGeom prst="rect">
            <a:avLst/>
          </a:prstGeom>
          <a:noFill/>
        </p:spPr>
        <p:txBody>
          <a:bodyPr wrap="square">
            <a:spAutoFit/>
          </a:bodyPr>
          <a:lstStyle/>
          <a:p>
            <a:pPr algn="r">
              <a:spcAft>
                <a:spcPts val="200"/>
              </a:spcAft>
              <a:defRPr sz="700" b="0">
                <a:solidFill>
                  <a:srgbClr val="888888"/>
                </a:solidFill>
                <a:latin typeface="Calibri"/>
              </a:defRPr>
            </a:pPr>
            <a:r>
              <a:t>39 / 46</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8076895" cy="6858000"/>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82880"/>
            <a:ext cx="7436815" cy="457200"/>
          </a:xfrm>
          <a:prstGeom prst="rect">
            <a:avLst/>
          </a:prstGeom>
          <a:noFill/>
        </p:spPr>
        <p:txBody>
          <a:bodyPr wrap="square">
            <a:spAutoFit/>
          </a:bodyPr>
          <a:lstStyle/>
          <a:p>
            <a:pPr algn="l">
              <a:spcAft>
                <a:spcPts val="200"/>
              </a:spcAft>
              <a:defRPr sz="2400" b="1">
                <a:solidFill>
                  <a:srgbClr val="FFFFFF"/>
                </a:solidFill>
                <a:latin typeface="Calibri"/>
              </a:defRPr>
            </a:pPr>
            <a:r>
              <a:t>Success Stories &amp; ROI Narratives</a:t>
            </a:r>
          </a:p>
        </p:txBody>
      </p:sp>
      <p:sp>
        <p:nvSpPr>
          <p:cNvPr id="4" name="Rectangle 3"/>
          <p:cNvSpPr/>
          <p:nvPr/>
        </p:nvSpPr>
        <p:spPr>
          <a:xfrm>
            <a:off x="365760" y="640080"/>
            <a:ext cx="1828800" cy="27432"/>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777240"/>
            <a:ext cx="6858000" cy="201168"/>
          </a:xfrm>
          <a:prstGeom prst="rect">
            <a:avLst/>
          </a:prstGeom>
          <a:noFill/>
        </p:spPr>
        <p:txBody>
          <a:bodyPr wrap="square">
            <a:spAutoFit/>
          </a:bodyPr>
          <a:lstStyle/>
          <a:p>
            <a:pPr algn="l">
              <a:spcAft>
                <a:spcPts val="200"/>
              </a:spcAft>
              <a:defRPr sz="900" b="1">
                <a:solidFill>
                  <a:srgbClr val="0A1628"/>
                </a:solidFill>
                <a:latin typeface="Calibri"/>
              </a:defRPr>
            </a:pPr>
            <a:r>
              <a:t>ROI BY USE CASE CATEGORY (MEDIAN PAYBACK PERIOD)</a:t>
            </a:r>
          </a:p>
        </p:txBody>
      </p:sp>
      <p:sp>
        <p:nvSpPr>
          <p:cNvPr id="6" name="Rectangle 5"/>
          <p:cNvSpPr/>
          <p:nvPr/>
        </p:nvSpPr>
        <p:spPr>
          <a:xfrm>
            <a:off x="274320" y="1051560"/>
            <a:ext cx="7619695" cy="9144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5760" y="1124712"/>
            <a:ext cx="1097280" cy="228600"/>
          </a:xfrm>
          <a:prstGeom prst="rect">
            <a:avLst/>
          </a:prstGeom>
          <a:noFill/>
        </p:spPr>
        <p:txBody>
          <a:bodyPr wrap="square">
            <a:spAutoFit/>
          </a:bodyPr>
          <a:lstStyle/>
          <a:p>
            <a:pPr algn="l">
              <a:spcAft>
                <a:spcPts val="200"/>
              </a:spcAft>
              <a:defRPr sz="1400" b="1">
                <a:solidFill>
                  <a:srgbClr val="FFB800"/>
                </a:solidFill>
                <a:latin typeface="Calibri"/>
              </a:defRPr>
            </a:pPr>
            <a:r>
              <a:t>3 Months</a:t>
            </a:r>
          </a:p>
        </p:txBody>
      </p:sp>
      <p:sp>
        <p:nvSpPr>
          <p:cNvPr id="8" name="TextBox 7"/>
          <p:cNvSpPr txBox="1"/>
          <p:nvPr/>
        </p:nvSpPr>
        <p:spPr>
          <a:xfrm>
            <a:off x="1554480" y="1124712"/>
            <a:ext cx="2743200" cy="228600"/>
          </a:xfrm>
          <a:prstGeom prst="rect">
            <a:avLst/>
          </a:prstGeom>
          <a:noFill/>
        </p:spPr>
        <p:txBody>
          <a:bodyPr wrap="square">
            <a:spAutoFit/>
          </a:bodyPr>
          <a:lstStyle/>
          <a:p>
            <a:pPr algn="l">
              <a:spcAft>
                <a:spcPts val="200"/>
              </a:spcAft>
              <a:defRPr sz="1000" b="1">
                <a:solidFill>
                  <a:srgbClr val="00C9A7"/>
                </a:solidFill>
                <a:latin typeface="Calibri"/>
              </a:defRPr>
            </a:pPr>
            <a:r>
              <a:t>Document-Intensive Back-Office</a:t>
            </a:r>
          </a:p>
        </p:txBody>
      </p:sp>
      <p:sp>
        <p:nvSpPr>
          <p:cNvPr id="9" name="TextBox 8"/>
          <p:cNvSpPr txBox="1"/>
          <p:nvPr/>
        </p:nvSpPr>
        <p:spPr>
          <a:xfrm>
            <a:off x="365760" y="1417320"/>
            <a:ext cx="7132320" cy="502920"/>
          </a:xfrm>
          <a:prstGeom prst="rect">
            <a:avLst/>
          </a:prstGeom>
          <a:noFill/>
        </p:spPr>
        <p:txBody>
          <a:bodyPr wrap="square">
            <a:spAutoFit/>
          </a:bodyPr>
          <a:lstStyle/>
          <a:p>
            <a:pPr algn="l">
              <a:spcAft>
                <a:spcPts val="200"/>
              </a:spcAft>
              <a:defRPr sz="700" b="0">
                <a:solidFill>
                  <a:srgbClr val="FFFFFF"/>
                </a:solidFill>
                <a:latin typeface="Calibri"/>
              </a:defRPr>
            </a:pPr>
            <a:r>
              <a:t>Claims processing, invoice reconciliation, contract review, regulatory filing. Agent accuracy &gt;90%. Allianz: 29d→3.5d | Clariva: 73% autonomous | AIG: 370K submissions</a:t>
            </a:r>
          </a:p>
        </p:txBody>
      </p:sp>
      <p:sp>
        <p:nvSpPr>
          <p:cNvPr id="10" name="Rectangle 9"/>
          <p:cNvSpPr/>
          <p:nvPr/>
        </p:nvSpPr>
        <p:spPr>
          <a:xfrm>
            <a:off x="274320" y="2039112"/>
            <a:ext cx="7619695" cy="914400"/>
          </a:xfrm>
          <a:prstGeom prst="rect">
            <a:avLst/>
          </a:prstGeom>
          <a:solidFill>
            <a:srgbClr val="0E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65760" y="2112264"/>
            <a:ext cx="1097280" cy="228600"/>
          </a:xfrm>
          <a:prstGeom prst="rect">
            <a:avLst/>
          </a:prstGeom>
          <a:noFill/>
        </p:spPr>
        <p:txBody>
          <a:bodyPr wrap="square">
            <a:spAutoFit/>
          </a:bodyPr>
          <a:lstStyle/>
          <a:p>
            <a:pPr algn="l">
              <a:spcAft>
                <a:spcPts val="200"/>
              </a:spcAft>
              <a:defRPr sz="1400" b="1">
                <a:solidFill>
                  <a:srgbClr val="FFB800"/>
                </a:solidFill>
                <a:latin typeface="Calibri"/>
              </a:defRPr>
            </a:pPr>
            <a:r>
              <a:t>4-5 Months</a:t>
            </a:r>
          </a:p>
        </p:txBody>
      </p:sp>
      <p:sp>
        <p:nvSpPr>
          <p:cNvPr id="12" name="TextBox 11"/>
          <p:cNvSpPr txBox="1"/>
          <p:nvPr/>
        </p:nvSpPr>
        <p:spPr>
          <a:xfrm>
            <a:off x="1554480" y="2112264"/>
            <a:ext cx="2743200" cy="228600"/>
          </a:xfrm>
          <a:prstGeom prst="rect">
            <a:avLst/>
          </a:prstGeom>
          <a:noFill/>
        </p:spPr>
        <p:txBody>
          <a:bodyPr wrap="square">
            <a:spAutoFit/>
          </a:bodyPr>
          <a:lstStyle/>
          <a:p>
            <a:pPr algn="l">
              <a:spcAft>
                <a:spcPts val="200"/>
              </a:spcAft>
              <a:defRPr sz="1000" b="1">
                <a:solidFill>
                  <a:srgbClr val="00C9A7"/>
                </a:solidFill>
                <a:latin typeface="Calibri"/>
              </a:defRPr>
            </a:pPr>
            <a:r>
              <a:t>Software Development Lifecycle</a:t>
            </a:r>
          </a:p>
        </p:txBody>
      </p:sp>
      <p:sp>
        <p:nvSpPr>
          <p:cNvPr id="13" name="TextBox 12"/>
          <p:cNvSpPr txBox="1"/>
          <p:nvPr/>
        </p:nvSpPr>
        <p:spPr>
          <a:xfrm>
            <a:off x="365760" y="2404872"/>
            <a:ext cx="7132320" cy="502920"/>
          </a:xfrm>
          <a:prstGeom prst="rect">
            <a:avLst/>
          </a:prstGeom>
          <a:noFill/>
        </p:spPr>
        <p:txBody>
          <a:bodyPr wrap="square">
            <a:spAutoFit/>
          </a:bodyPr>
          <a:lstStyle/>
          <a:p>
            <a:pPr algn="l">
              <a:spcAft>
                <a:spcPts val="200"/>
              </a:spcAft>
              <a:defRPr sz="700" b="0">
                <a:solidFill>
                  <a:srgbClr val="FFFFFF"/>
                </a:solidFill>
                <a:latin typeface="Calibri"/>
              </a:defRPr>
            </a:pPr>
            <a:r>
              <a:t>Code review, test generation, ticket-to-code, dependency analysis. 30-50% productivity gains. Wayfair: 55% faster setup | Regnology: auto bug-to-code | Turing: 30% gains</a:t>
            </a:r>
          </a:p>
        </p:txBody>
      </p:sp>
      <p:sp>
        <p:nvSpPr>
          <p:cNvPr id="14" name="Rectangle 13"/>
          <p:cNvSpPr/>
          <p:nvPr/>
        </p:nvSpPr>
        <p:spPr>
          <a:xfrm>
            <a:off x="274320" y="3026664"/>
            <a:ext cx="7619695" cy="9144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65760" y="3099816"/>
            <a:ext cx="1097280" cy="228600"/>
          </a:xfrm>
          <a:prstGeom prst="rect">
            <a:avLst/>
          </a:prstGeom>
          <a:noFill/>
        </p:spPr>
        <p:txBody>
          <a:bodyPr wrap="square">
            <a:spAutoFit/>
          </a:bodyPr>
          <a:lstStyle/>
          <a:p>
            <a:pPr algn="l">
              <a:spcAft>
                <a:spcPts val="200"/>
              </a:spcAft>
              <a:defRPr sz="1400" b="1">
                <a:solidFill>
                  <a:srgbClr val="FFB800"/>
                </a:solidFill>
                <a:latin typeface="Calibri"/>
              </a:defRPr>
            </a:pPr>
            <a:r>
              <a:t>5-6 Months</a:t>
            </a:r>
          </a:p>
        </p:txBody>
      </p:sp>
      <p:sp>
        <p:nvSpPr>
          <p:cNvPr id="16" name="TextBox 15"/>
          <p:cNvSpPr txBox="1"/>
          <p:nvPr/>
        </p:nvSpPr>
        <p:spPr>
          <a:xfrm>
            <a:off x="1554480" y="3099816"/>
            <a:ext cx="2743200" cy="228600"/>
          </a:xfrm>
          <a:prstGeom prst="rect">
            <a:avLst/>
          </a:prstGeom>
          <a:noFill/>
        </p:spPr>
        <p:txBody>
          <a:bodyPr wrap="square">
            <a:spAutoFit/>
          </a:bodyPr>
          <a:lstStyle/>
          <a:p>
            <a:pPr algn="l">
              <a:spcAft>
                <a:spcPts val="200"/>
              </a:spcAft>
              <a:defRPr sz="1000" b="1">
                <a:solidFill>
                  <a:srgbClr val="00C9A7"/>
                </a:solidFill>
                <a:latin typeface="Calibri"/>
              </a:defRPr>
            </a:pPr>
            <a:r>
              <a:t>Customer Service Tier-1 Deflection</a:t>
            </a:r>
          </a:p>
        </p:txBody>
      </p:sp>
      <p:sp>
        <p:nvSpPr>
          <p:cNvPr id="17" name="TextBox 16"/>
          <p:cNvSpPr txBox="1"/>
          <p:nvPr/>
        </p:nvSpPr>
        <p:spPr>
          <a:xfrm>
            <a:off x="365760" y="3392424"/>
            <a:ext cx="7132320" cy="502920"/>
          </a:xfrm>
          <a:prstGeom prst="rect">
            <a:avLst/>
          </a:prstGeom>
          <a:noFill/>
        </p:spPr>
        <p:txBody>
          <a:bodyPr wrap="square">
            <a:spAutoFit/>
          </a:bodyPr>
          <a:lstStyle/>
          <a:p>
            <a:pPr algn="l">
              <a:spcAft>
                <a:spcPts val="200"/>
              </a:spcAft>
              <a:defRPr sz="700" b="0">
                <a:solidFill>
                  <a:srgbClr val="FFFFFF"/>
                </a:solidFill>
                <a:latin typeface="Calibri"/>
              </a:defRPr>
            </a:pPr>
            <a:r>
              <a:t>Agents with real CRM/billing access achieving 40-60% deflection. ServiceNow: 90% IT autonomous | European 3PL: 99.2% resolution | Wells Fargo: 24/7 omnichannel</a:t>
            </a:r>
          </a:p>
        </p:txBody>
      </p:sp>
      <p:sp>
        <p:nvSpPr>
          <p:cNvPr id="18" name="Rectangle 17"/>
          <p:cNvSpPr/>
          <p:nvPr/>
        </p:nvSpPr>
        <p:spPr>
          <a:xfrm>
            <a:off x="274320" y="4014216"/>
            <a:ext cx="7619695" cy="914400"/>
          </a:xfrm>
          <a:prstGeom prst="rect">
            <a:avLst/>
          </a:prstGeom>
          <a:solidFill>
            <a:srgbClr val="0E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65760" y="4087368"/>
            <a:ext cx="1097280" cy="228600"/>
          </a:xfrm>
          <a:prstGeom prst="rect">
            <a:avLst/>
          </a:prstGeom>
          <a:noFill/>
        </p:spPr>
        <p:txBody>
          <a:bodyPr wrap="square">
            <a:spAutoFit/>
          </a:bodyPr>
          <a:lstStyle/>
          <a:p>
            <a:pPr algn="l">
              <a:spcAft>
                <a:spcPts val="200"/>
              </a:spcAft>
              <a:defRPr sz="1400" b="1">
                <a:solidFill>
                  <a:srgbClr val="FFB800"/>
                </a:solidFill>
                <a:latin typeface="Calibri"/>
              </a:defRPr>
            </a:pPr>
            <a:r>
              <a:t>6 Months</a:t>
            </a:r>
          </a:p>
        </p:txBody>
      </p:sp>
      <p:sp>
        <p:nvSpPr>
          <p:cNvPr id="20" name="TextBox 19"/>
          <p:cNvSpPr txBox="1"/>
          <p:nvPr/>
        </p:nvSpPr>
        <p:spPr>
          <a:xfrm>
            <a:off x="1554480" y="4087368"/>
            <a:ext cx="2743200" cy="228600"/>
          </a:xfrm>
          <a:prstGeom prst="rect">
            <a:avLst/>
          </a:prstGeom>
          <a:noFill/>
        </p:spPr>
        <p:txBody>
          <a:bodyPr wrap="square">
            <a:spAutoFit/>
          </a:bodyPr>
          <a:lstStyle/>
          <a:p>
            <a:pPr algn="l">
              <a:spcAft>
                <a:spcPts val="200"/>
              </a:spcAft>
              <a:defRPr sz="1000" b="1">
                <a:solidFill>
                  <a:srgbClr val="00C9A7"/>
                </a:solidFill>
                <a:latin typeface="Calibri"/>
              </a:defRPr>
            </a:pPr>
            <a:r>
              <a:t>IT Operations &amp; Monitoring</a:t>
            </a:r>
          </a:p>
        </p:txBody>
      </p:sp>
      <p:sp>
        <p:nvSpPr>
          <p:cNvPr id="21" name="TextBox 20"/>
          <p:cNvSpPr txBox="1"/>
          <p:nvPr/>
        </p:nvSpPr>
        <p:spPr>
          <a:xfrm>
            <a:off x="365760" y="4379976"/>
            <a:ext cx="7132320" cy="502920"/>
          </a:xfrm>
          <a:prstGeom prst="rect">
            <a:avLst/>
          </a:prstGeom>
          <a:noFill/>
        </p:spPr>
        <p:txBody>
          <a:bodyPr wrap="square">
            <a:spAutoFit/>
          </a:bodyPr>
          <a:lstStyle/>
          <a:p>
            <a:pPr algn="l">
              <a:spcAft>
                <a:spcPts val="200"/>
              </a:spcAft>
              <a:defRPr sz="700" b="0">
                <a:solidFill>
                  <a:srgbClr val="FFFFFF"/>
                </a:solidFill>
                <a:latin typeface="Calibri"/>
              </a:defRPr>
            </a:pPr>
            <a:r>
              <a:t>Automated incident triage, runbook execution, cost anomaly investigation. ServiceNow: 4d→8s finance queries | OPLOG: 35% faster sales cycles | Apollo: 7h→10min RCA</a:t>
            </a:r>
          </a:p>
        </p:txBody>
      </p:sp>
      <p:sp>
        <p:nvSpPr>
          <p:cNvPr id="22" name="Rectangle 21"/>
          <p:cNvSpPr/>
          <p:nvPr/>
        </p:nvSpPr>
        <p:spPr>
          <a:xfrm>
            <a:off x="365760" y="512064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65760" y="516636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$47.1B</a:t>
            </a:r>
          </a:p>
        </p:txBody>
      </p:sp>
      <p:sp>
        <p:nvSpPr>
          <p:cNvPr id="24" name="TextBox 23"/>
          <p:cNvSpPr txBox="1"/>
          <p:nvPr/>
        </p:nvSpPr>
        <p:spPr>
          <a:xfrm>
            <a:off x="365760" y="555955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Agentic AI market</a:t>
            </a:r>
            <a:br/>
            <a:r>
              <a:t>by 2030 (Gartner)</a:t>
            </a:r>
          </a:p>
        </p:txBody>
      </p:sp>
      <p:sp>
        <p:nvSpPr>
          <p:cNvPr id="25" name="Rectangle 24"/>
          <p:cNvSpPr/>
          <p:nvPr/>
        </p:nvSpPr>
        <p:spPr>
          <a:xfrm>
            <a:off x="2240279" y="512064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2240279" y="516636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60%</a:t>
            </a:r>
          </a:p>
        </p:txBody>
      </p:sp>
      <p:sp>
        <p:nvSpPr>
          <p:cNvPr id="27" name="TextBox 26"/>
          <p:cNvSpPr txBox="1"/>
          <p:nvPr/>
        </p:nvSpPr>
        <p:spPr>
          <a:xfrm>
            <a:off x="2240279" y="555955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Enterprises with</a:t>
            </a:r>
            <a:br/>
            <a:r>
              <a:t>agent in production</a:t>
            </a:r>
          </a:p>
        </p:txBody>
      </p:sp>
      <p:sp>
        <p:nvSpPr>
          <p:cNvPr id="28" name="Rectangle 27"/>
          <p:cNvSpPr/>
          <p:nvPr/>
        </p:nvSpPr>
        <p:spPr>
          <a:xfrm>
            <a:off x="4114799" y="512064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114799" y="516636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245%</a:t>
            </a:r>
          </a:p>
        </p:txBody>
      </p:sp>
      <p:sp>
        <p:nvSpPr>
          <p:cNvPr id="30" name="TextBox 29"/>
          <p:cNvSpPr txBox="1"/>
          <p:nvPr/>
        </p:nvSpPr>
        <p:spPr>
          <a:xfrm>
            <a:off x="4114799" y="555955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Highest documented</a:t>
            </a:r>
            <a:br/>
            <a:r>
              <a:t>ROI (vehicle claims)</a:t>
            </a:r>
          </a:p>
        </p:txBody>
      </p:sp>
      <p:sp>
        <p:nvSpPr>
          <p:cNvPr id="31" name="Rectangle 30"/>
          <p:cNvSpPr/>
          <p:nvPr/>
        </p:nvSpPr>
        <p:spPr>
          <a:xfrm>
            <a:off x="5989319" y="512064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5989319" y="516636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€300M</a:t>
            </a:r>
          </a:p>
        </p:txBody>
      </p:sp>
      <p:sp>
        <p:nvSpPr>
          <p:cNvPr id="33" name="TextBox 32"/>
          <p:cNvSpPr txBox="1"/>
          <p:nvPr/>
        </p:nvSpPr>
        <p:spPr>
          <a:xfrm>
            <a:off x="5989319" y="555955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Largest profit target</a:t>
            </a:r>
            <a:br/>
            <a:r>
              <a:t>(Allianz Partners)</a:t>
            </a:r>
          </a:p>
        </p:txBody>
      </p:sp>
      <p:sp>
        <p:nvSpPr>
          <p:cNvPr id="34" name="TextBox 33"/>
          <p:cNvSpPr txBox="1"/>
          <p:nvPr/>
        </p:nvSpPr>
        <p:spPr>
          <a:xfrm>
            <a:off x="365760" y="6126480"/>
            <a:ext cx="6400800" cy="228600"/>
          </a:xfrm>
          <a:prstGeom prst="rect">
            <a:avLst/>
          </a:prstGeom>
          <a:noFill/>
        </p:spPr>
        <p:txBody>
          <a:bodyPr wrap="square">
            <a:spAutoFit/>
          </a:bodyPr>
          <a:lstStyle/>
          <a:p>
            <a:pPr algn="l">
              <a:spcAft>
                <a:spcPts val="200"/>
              </a:spcAft>
              <a:defRPr sz="600" b="0">
                <a:solidFill>
                  <a:srgbClr val="666666"/>
                </a:solidFill>
                <a:latin typeface="Calibri"/>
              </a:defRPr>
            </a:pPr>
            <a:r>
              <a:t>Source: Gartner Agentic AI Forecast 2025, LogicOverdrive Enterprise Survey 2026, company earnings reports</a:t>
            </a:r>
          </a:p>
        </p:txBody>
      </p:sp>
      <p:pic>
        <p:nvPicPr>
          <p:cNvPr id="35" name="Picture 34" descr="image.jpg"/>
          <p:cNvPicPr>
            <a:picLocks noChangeAspect="1"/>
          </p:cNvPicPr>
          <p:nvPr/>
        </p:nvPicPr>
        <p:blipFill>
          <a:blip r:embed="rId2"/>
          <a:stretch>
            <a:fillRect/>
          </a:stretch>
        </p:blipFill>
        <p:spPr>
          <a:xfrm>
            <a:off x="8076895" y="0"/>
            <a:ext cx="4114800" cy="6858000"/>
          </a:xfrm>
          <a:prstGeom prst="rect">
            <a:avLst/>
          </a:prstGeom>
        </p:spPr>
      </p:pic>
      <p:sp>
        <p:nvSpPr>
          <p:cNvPr id="36" name="TextBox 35"/>
          <p:cNvSpPr txBox="1"/>
          <p:nvPr/>
        </p:nvSpPr>
        <p:spPr>
          <a:xfrm>
            <a:off x="274320" y="6492240"/>
            <a:ext cx="4572000" cy="274320"/>
          </a:xfrm>
          <a:prstGeom prst="rect">
            <a:avLst/>
          </a:prstGeom>
          <a:noFill/>
        </p:spPr>
        <p:txBody>
          <a:bodyPr wrap="square">
            <a:spAutoFit/>
          </a:bodyPr>
          <a:lstStyle/>
          <a:p>
            <a:pPr algn="l">
              <a:spcAft>
                <a:spcPts val="200"/>
              </a:spcAft>
              <a:defRPr sz="700" b="0">
                <a:solidFill>
                  <a:srgbClr val="888888"/>
                </a:solidFill>
                <a:latin typeface="Calibri"/>
              </a:defRPr>
            </a:pPr>
            <a:r>
              <a:t>Agentic AI Use Cases Across Industries | Confidential</a:t>
            </a:r>
          </a:p>
        </p:txBody>
      </p:sp>
      <p:sp>
        <p:nvSpPr>
          <p:cNvPr id="37" name="TextBox 36"/>
          <p:cNvSpPr txBox="1"/>
          <p:nvPr/>
        </p:nvSpPr>
        <p:spPr>
          <a:xfrm>
            <a:off x="11094415" y="6492240"/>
            <a:ext cx="822960" cy="274320"/>
          </a:xfrm>
          <a:prstGeom prst="rect">
            <a:avLst/>
          </a:prstGeom>
          <a:noFill/>
        </p:spPr>
        <p:txBody>
          <a:bodyPr wrap="square">
            <a:spAutoFit/>
          </a:bodyPr>
          <a:lstStyle/>
          <a:p>
            <a:pPr algn="r">
              <a:spcAft>
                <a:spcPts val="200"/>
              </a:spcAft>
              <a:defRPr sz="700" b="0">
                <a:solidFill>
                  <a:srgbClr val="888888"/>
                </a:solidFill>
                <a:latin typeface="Calibri"/>
              </a:defRPr>
            </a:pPr>
            <a:r>
              <a:t>40 / 46</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8076895" cy="6858000"/>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82880"/>
            <a:ext cx="7436815" cy="457200"/>
          </a:xfrm>
          <a:prstGeom prst="rect">
            <a:avLst/>
          </a:prstGeom>
          <a:noFill/>
        </p:spPr>
        <p:txBody>
          <a:bodyPr wrap="square">
            <a:spAutoFit/>
          </a:bodyPr>
          <a:lstStyle/>
          <a:p>
            <a:pPr algn="l">
              <a:spcAft>
                <a:spcPts val="200"/>
              </a:spcAft>
              <a:defRPr sz="2200" b="1">
                <a:solidFill>
                  <a:srgbClr val="FFFFFF"/>
                </a:solidFill>
                <a:latin typeface="Calibri"/>
              </a:defRPr>
            </a:pPr>
            <a:r>
              <a:t>Competitive Positioning &amp; Objection Handling</a:t>
            </a:r>
          </a:p>
        </p:txBody>
      </p:sp>
      <p:sp>
        <p:nvSpPr>
          <p:cNvPr id="4" name="Rectangle 3"/>
          <p:cNvSpPr/>
          <p:nvPr/>
        </p:nvSpPr>
        <p:spPr>
          <a:xfrm>
            <a:off x="365760" y="640080"/>
            <a:ext cx="1828800" cy="27432"/>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777240"/>
            <a:ext cx="3200400" cy="201168"/>
          </a:xfrm>
          <a:prstGeom prst="rect">
            <a:avLst/>
          </a:prstGeom>
          <a:noFill/>
        </p:spPr>
        <p:txBody>
          <a:bodyPr wrap="square">
            <a:spAutoFit/>
          </a:bodyPr>
          <a:lstStyle/>
          <a:p>
            <a:pPr algn="l">
              <a:spcAft>
                <a:spcPts val="200"/>
              </a:spcAft>
              <a:defRPr sz="800" b="1">
                <a:solidFill>
                  <a:srgbClr val="0A1628"/>
                </a:solidFill>
                <a:latin typeface="Calibri"/>
              </a:defRPr>
            </a:pPr>
            <a:r>
              <a:t>WHY AGENTIC AI — NOT TRADITIONAL AUTOMATION</a:t>
            </a:r>
          </a:p>
        </p:txBody>
      </p:sp>
      <p:sp>
        <p:nvSpPr>
          <p:cNvPr id="6" name="TextBox 5"/>
          <p:cNvSpPr txBox="1"/>
          <p:nvPr/>
        </p:nvSpPr>
        <p:spPr>
          <a:xfrm>
            <a:off x="365760" y="1005840"/>
            <a:ext cx="3520440" cy="2194560"/>
          </a:xfrm>
          <a:prstGeom prst="rect">
            <a:avLst/>
          </a:prstGeom>
          <a:noFill/>
        </p:spPr>
        <p:txBody>
          <a:bodyPr wrap="square">
            <a:spAutoFit/>
          </a:bodyPr>
          <a:lstStyle/>
          <a:p>
            <a:pPr algn="l">
              <a:spcAft>
                <a:spcPts val="200"/>
              </a:spcAft>
              <a:defRPr sz="750" b="0">
                <a:solidFill>
                  <a:srgbClr val="0A1628"/>
                </a:solidFill>
                <a:latin typeface="Calibri"/>
              </a:defRPr>
            </a:pPr>
            <a:r>
              <a:t>• RPA breaks when document formats change; agents reason over variability</a:t>
            </a:r>
            <a:br/>
            <a:r>
              <a:t>• Chatbots wait for prompts; agents monitor, detect, and act proactively</a:t>
            </a:r>
            <a:br/>
            <a:r>
              <a:t>• Rule engines need reprogramming; agents adapt via LLM reasoning</a:t>
            </a:r>
            <a:br/>
            <a:r>
              <a:t>• Single-model AI gives one answer; multi-agent pipelines verify and improve</a:t>
            </a:r>
            <a:br/>
            <a:r>
              <a:t>• Traditional automation scales linearly; agents decouple headcount from volume</a:t>
            </a:r>
            <a:br/>
            <a:r>
              <a:t>• Static dashboards report problems; control tower agents resolve them</a:t>
            </a:r>
          </a:p>
        </p:txBody>
      </p:sp>
      <p:sp>
        <p:nvSpPr>
          <p:cNvPr id="7" name="TextBox 6"/>
          <p:cNvSpPr txBox="1"/>
          <p:nvPr/>
        </p:nvSpPr>
        <p:spPr>
          <a:xfrm>
            <a:off x="4023360" y="777240"/>
            <a:ext cx="3200400" cy="201168"/>
          </a:xfrm>
          <a:prstGeom prst="rect">
            <a:avLst/>
          </a:prstGeom>
          <a:noFill/>
        </p:spPr>
        <p:txBody>
          <a:bodyPr wrap="square">
            <a:spAutoFit/>
          </a:bodyPr>
          <a:lstStyle/>
          <a:p>
            <a:pPr algn="l">
              <a:spcAft>
                <a:spcPts val="200"/>
              </a:spcAft>
              <a:defRPr sz="800" b="1">
                <a:solidFill>
                  <a:srgbClr val="0A1628"/>
                </a:solidFill>
                <a:latin typeface="Calibri"/>
              </a:defRPr>
            </a:pPr>
            <a:r>
              <a:t>COMMON OBJECTIONS &amp; RESPONSES</a:t>
            </a:r>
          </a:p>
        </p:txBody>
      </p:sp>
      <p:sp>
        <p:nvSpPr>
          <p:cNvPr id="8" name="TextBox 7"/>
          <p:cNvSpPr txBox="1"/>
          <p:nvPr/>
        </p:nvSpPr>
        <p:spPr>
          <a:xfrm>
            <a:off x="4023360" y="1005840"/>
            <a:ext cx="3520440" cy="164592"/>
          </a:xfrm>
          <a:prstGeom prst="rect">
            <a:avLst/>
          </a:prstGeom>
          <a:noFill/>
        </p:spPr>
        <p:txBody>
          <a:bodyPr wrap="square">
            <a:spAutoFit/>
          </a:bodyPr>
          <a:lstStyle/>
          <a:p>
            <a:pPr algn="l">
              <a:spcAft>
                <a:spcPts val="200"/>
              </a:spcAft>
              <a:defRPr sz="700" b="1">
                <a:solidFill>
                  <a:srgbClr val="FF6B6B"/>
                </a:solidFill>
                <a:latin typeface="Calibri"/>
              </a:defRPr>
            </a:pPr>
            <a:r>
              <a:t>“AI will replace our workforce”</a:t>
            </a:r>
          </a:p>
        </p:txBody>
      </p:sp>
      <p:sp>
        <p:nvSpPr>
          <p:cNvPr id="9" name="TextBox 8"/>
          <p:cNvSpPr txBox="1"/>
          <p:nvPr/>
        </p:nvSpPr>
        <p:spPr>
          <a:xfrm>
            <a:off x="4023360" y="1170432"/>
            <a:ext cx="3520440" cy="274320"/>
          </a:xfrm>
          <a:prstGeom prst="rect">
            <a:avLst/>
          </a:prstGeom>
          <a:noFill/>
        </p:spPr>
        <p:txBody>
          <a:bodyPr wrap="square">
            <a:spAutoFit/>
          </a:bodyPr>
          <a:lstStyle/>
          <a:p>
            <a:pPr algn="l">
              <a:spcAft>
                <a:spcPts val="200"/>
              </a:spcAft>
              <a:defRPr sz="650" b="0">
                <a:solidFill>
                  <a:srgbClr val="0A1628"/>
                </a:solidFill>
                <a:latin typeface="Calibri"/>
              </a:defRPr>
            </a:pPr>
            <a:r>
              <a:t>No. ServiceNow redeployed 85% of staff to higher-value roles. Agents augment, not replace.</a:t>
            </a:r>
          </a:p>
        </p:txBody>
      </p:sp>
      <p:sp>
        <p:nvSpPr>
          <p:cNvPr id="10" name="TextBox 9"/>
          <p:cNvSpPr txBox="1"/>
          <p:nvPr/>
        </p:nvSpPr>
        <p:spPr>
          <a:xfrm>
            <a:off x="4023360" y="1481328"/>
            <a:ext cx="3520440" cy="164592"/>
          </a:xfrm>
          <a:prstGeom prst="rect">
            <a:avLst/>
          </a:prstGeom>
          <a:noFill/>
        </p:spPr>
        <p:txBody>
          <a:bodyPr wrap="square">
            <a:spAutoFit/>
          </a:bodyPr>
          <a:lstStyle/>
          <a:p>
            <a:pPr algn="l">
              <a:spcAft>
                <a:spcPts val="200"/>
              </a:spcAft>
              <a:defRPr sz="700" b="1">
                <a:solidFill>
                  <a:srgbClr val="FF6B6B"/>
                </a:solidFill>
                <a:latin typeface="Calibri"/>
              </a:defRPr>
            </a:pPr>
            <a:r>
              <a:t>“It’s not accurate enough for production”</a:t>
            </a:r>
          </a:p>
        </p:txBody>
      </p:sp>
      <p:sp>
        <p:nvSpPr>
          <p:cNvPr id="11" name="TextBox 10"/>
          <p:cNvSpPr txBox="1"/>
          <p:nvPr/>
        </p:nvSpPr>
        <p:spPr>
          <a:xfrm>
            <a:off x="4023360" y="1645920"/>
            <a:ext cx="3520440" cy="274320"/>
          </a:xfrm>
          <a:prstGeom prst="rect">
            <a:avLst/>
          </a:prstGeom>
          <a:noFill/>
        </p:spPr>
        <p:txBody>
          <a:bodyPr wrap="square">
            <a:spAutoFit/>
          </a:bodyPr>
          <a:lstStyle/>
          <a:p>
            <a:pPr algn="l">
              <a:spcAft>
                <a:spcPts val="200"/>
              </a:spcAft>
              <a:defRPr sz="650" b="0">
                <a:solidFill>
                  <a:srgbClr val="0A1628"/>
                </a:solidFill>
                <a:latin typeface="Calibri"/>
              </a:defRPr>
            </a:pPr>
            <a:r>
              <a:t>94.2% decision agreement with human underwriters. Confidence thresholds gate autonomous actions.</a:t>
            </a:r>
          </a:p>
        </p:txBody>
      </p:sp>
      <p:sp>
        <p:nvSpPr>
          <p:cNvPr id="12" name="TextBox 11"/>
          <p:cNvSpPr txBox="1"/>
          <p:nvPr/>
        </p:nvSpPr>
        <p:spPr>
          <a:xfrm>
            <a:off x="4023360" y="1956816"/>
            <a:ext cx="3520440" cy="164592"/>
          </a:xfrm>
          <a:prstGeom prst="rect">
            <a:avLst/>
          </a:prstGeom>
          <a:noFill/>
        </p:spPr>
        <p:txBody>
          <a:bodyPr wrap="square">
            <a:spAutoFit/>
          </a:bodyPr>
          <a:lstStyle/>
          <a:p>
            <a:pPr algn="l">
              <a:spcAft>
                <a:spcPts val="200"/>
              </a:spcAft>
              <a:defRPr sz="700" b="1">
                <a:solidFill>
                  <a:srgbClr val="FF6B6B"/>
                </a:solidFill>
                <a:latin typeface="Calibri"/>
              </a:defRPr>
            </a:pPr>
            <a:r>
              <a:t>“We can’t explain AI decisions to regulators”</a:t>
            </a:r>
          </a:p>
        </p:txBody>
      </p:sp>
      <p:sp>
        <p:nvSpPr>
          <p:cNvPr id="13" name="TextBox 12"/>
          <p:cNvSpPr txBox="1"/>
          <p:nvPr/>
        </p:nvSpPr>
        <p:spPr>
          <a:xfrm>
            <a:off x="4023360" y="2121408"/>
            <a:ext cx="3520440" cy="274320"/>
          </a:xfrm>
          <a:prstGeom prst="rect">
            <a:avLst/>
          </a:prstGeom>
          <a:noFill/>
        </p:spPr>
        <p:txBody>
          <a:bodyPr wrap="square">
            <a:spAutoFit/>
          </a:bodyPr>
          <a:lstStyle/>
          <a:p>
            <a:pPr algn="l">
              <a:spcAft>
                <a:spcPts val="200"/>
              </a:spcAft>
              <a:defRPr sz="650" b="0">
                <a:solidFill>
                  <a:srgbClr val="0A1628"/>
                </a:solidFill>
                <a:latin typeface="Calibri"/>
              </a:defRPr>
            </a:pPr>
            <a:r>
              <a:t>POLARIS framework: typed planning, audit trails, policy guardrails. Regulator-cited as responsible AI.</a:t>
            </a:r>
          </a:p>
        </p:txBody>
      </p:sp>
      <p:sp>
        <p:nvSpPr>
          <p:cNvPr id="14" name="TextBox 13"/>
          <p:cNvSpPr txBox="1"/>
          <p:nvPr/>
        </p:nvSpPr>
        <p:spPr>
          <a:xfrm>
            <a:off x="4023360" y="2432304"/>
            <a:ext cx="3520440" cy="164592"/>
          </a:xfrm>
          <a:prstGeom prst="rect">
            <a:avLst/>
          </a:prstGeom>
          <a:noFill/>
        </p:spPr>
        <p:txBody>
          <a:bodyPr wrap="square">
            <a:spAutoFit/>
          </a:bodyPr>
          <a:lstStyle/>
          <a:p>
            <a:pPr algn="l">
              <a:spcAft>
                <a:spcPts val="200"/>
              </a:spcAft>
              <a:defRPr sz="700" b="1">
                <a:solidFill>
                  <a:srgbClr val="FF6B6B"/>
                </a:solidFill>
                <a:latin typeface="Calibri"/>
              </a:defRPr>
            </a:pPr>
            <a:r>
              <a:t>“Our data is too messy for agents”</a:t>
            </a:r>
          </a:p>
        </p:txBody>
      </p:sp>
      <p:sp>
        <p:nvSpPr>
          <p:cNvPr id="15" name="TextBox 14"/>
          <p:cNvSpPr txBox="1"/>
          <p:nvPr/>
        </p:nvSpPr>
        <p:spPr>
          <a:xfrm>
            <a:off x="4023360" y="2596896"/>
            <a:ext cx="3520440" cy="274320"/>
          </a:xfrm>
          <a:prstGeom prst="rect">
            <a:avLst/>
          </a:prstGeom>
          <a:noFill/>
        </p:spPr>
        <p:txBody>
          <a:bodyPr wrap="square">
            <a:spAutoFit/>
          </a:bodyPr>
          <a:lstStyle/>
          <a:p>
            <a:pPr algn="l">
              <a:spcAft>
                <a:spcPts val="200"/>
              </a:spcAft>
              <a:defRPr sz="650" b="0">
                <a:solidFill>
                  <a:srgbClr val="0A1628"/>
                </a:solidFill>
                <a:latin typeface="Calibri"/>
              </a:defRPr>
            </a:pPr>
            <a:r>
              <a:t>C.H. Robinson agents process 15K emails/day with handwritten PDFs and missing data.</a:t>
            </a:r>
          </a:p>
        </p:txBody>
      </p:sp>
      <p:sp>
        <p:nvSpPr>
          <p:cNvPr id="16" name="TextBox 15"/>
          <p:cNvSpPr txBox="1"/>
          <p:nvPr/>
        </p:nvSpPr>
        <p:spPr>
          <a:xfrm>
            <a:off x="4023360" y="2907792"/>
            <a:ext cx="3520440" cy="164592"/>
          </a:xfrm>
          <a:prstGeom prst="rect">
            <a:avLst/>
          </a:prstGeom>
          <a:noFill/>
        </p:spPr>
        <p:txBody>
          <a:bodyPr wrap="square">
            <a:spAutoFit/>
          </a:bodyPr>
          <a:lstStyle/>
          <a:p>
            <a:pPr algn="l">
              <a:spcAft>
                <a:spcPts val="200"/>
              </a:spcAft>
              <a:defRPr sz="700" b="1">
                <a:solidFill>
                  <a:srgbClr val="FF6B6B"/>
                </a:solidFill>
                <a:latin typeface="Calibri"/>
              </a:defRPr>
            </a:pPr>
            <a:r>
              <a:t>“ROI is uncertain”</a:t>
            </a:r>
          </a:p>
        </p:txBody>
      </p:sp>
      <p:sp>
        <p:nvSpPr>
          <p:cNvPr id="17" name="TextBox 16"/>
          <p:cNvSpPr txBox="1"/>
          <p:nvPr/>
        </p:nvSpPr>
        <p:spPr>
          <a:xfrm>
            <a:off x="4023360" y="3072384"/>
            <a:ext cx="3520440" cy="274320"/>
          </a:xfrm>
          <a:prstGeom prst="rect">
            <a:avLst/>
          </a:prstGeom>
          <a:noFill/>
        </p:spPr>
        <p:txBody>
          <a:bodyPr wrap="square">
            <a:spAutoFit/>
          </a:bodyPr>
          <a:lstStyle/>
          <a:p>
            <a:pPr algn="l">
              <a:spcAft>
                <a:spcPts val="200"/>
              </a:spcAft>
              <a:defRPr sz="650" b="0">
                <a:solidFill>
                  <a:srgbClr val="0A1628"/>
                </a:solidFill>
                <a:latin typeface="Calibri"/>
              </a:defRPr>
            </a:pPr>
            <a:r>
              <a:t>Document processing: 3-month payback. Clariva: 73% claims autonomous in 6 months. AIG: surpassed 2030 targets.</a:t>
            </a:r>
          </a:p>
        </p:txBody>
      </p:sp>
      <p:sp>
        <p:nvSpPr>
          <p:cNvPr id="18" name="TextBox 17"/>
          <p:cNvSpPr txBox="1"/>
          <p:nvPr/>
        </p:nvSpPr>
        <p:spPr>
          <a:xfrm>
            <a:off x="4023360" y="3383280"/>
            <a:ext cx="3520440" cy="164592"/>
          </a:xfrm>
          <a:prstGeom prst="rect">
            <a:avLst/>
          </a:prstGeom>
          <a:noFill/>
        </p:spPr>
        <p:txBody>
          <a:bodyPr wrap="square">
            <a:spAutoFit/>
          </a:bodyPr>
          <a:lstStyle/>
          <a:p>
            <a:pPr algn="l">
              <a:spcAft>
                <a:spcPts val="200"/>
              </a:spcAft>
              <a:defRPr sz="700" b="1">
                <a:solidFill>
                  <a:srgbClr val="FF6B6B"/>
                </a:solidFill>
                <a:latin typeface="Calibri"/>
              </a:defRPr>
            </a:pPr>
            <a:r>
              <a:t>“We tried AI before and it failed”</a:t>
            </a:r>
          </a:p>
        </p:txBody>
      </p:sp>
      <p:sp>
        <p:nvSpPr>
          <p:cNvPr id="19" name="TextBox 18"/>
          <p:cNvSpPr txBox="1"/>
          <p:nvPr/>
        </p:nvSpPr>
        <p:spPr>
          <a:xfrm>
            <a:off x="4023360" y="3547872"/>
            <a:ext cx="3520440" cy="274320"/>
          </a:xfrm>
          <a:prstGeom prst="rect">
            <a:avLst/>
          </a:prstGeom>
          <a:noFill/>
        </p:spPr>
        <p:txBody>
          <a:bodyPr wrap="square">
            <a:spAutoFit/>
          </a:bodyPr>
          <a:lstStyle/>
          <a:p>
            <a:pPr algn="l">
              <a:spcAft>
                <a:spcPts val="200"/>
              </a:spcAft>
              <a:defRPr sz="650" b="0">
                <a:solidFill>
                  <a:srgbClr val="0A1628"/>
                </a:solidFill>
                <a:latin typeface="Calibri"/>
              </a:defRPr>
            </a:pPr>
            <a:r>
              <a:t>80% of production agents use structured workflows, not open-ended autonomy. Scope defines success.</a:t>
            </a:r>
          </a:p>
        </p:txBody>
      </p:sp>
      <p:sp>
        <p:nvSpPr>
          <p:cNvPr id="20" name="Rectangle 19"/>
          <p:cNvSpPr/>
          <p:nvPr/>
        </p:nvSpPr>
        <p:spPr>
          <a:xfrm>
            <a:off x="274320" y="3977639"/>
            <a:ext cx="7619695" cy="77724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65760" y="4014215"/>
            <a:ext cx="2743200" cy="164592"/>
          </a:xfrm>
          <a:prstGeom prst="rect">
            <a:avLst/>
          </a:prstGeom>
          <a:noFill/>
        </p:spPr>
        <p:txBody>
          <a:bodyPr wrap="square">
            <a:spAutoFit/>
          </a:bodyPr>
          <a:lstStyle/>
          <a:p>
            <a:pPr algn="l">
              <a:spcAft>
                <a:spcPts val="200"/>
              </a:spcAft>
              <a:defRPr sz="750" b="1">
                <a:solidFill>
                  <a:srgbClr val="00C9A7"/>
                </a:solidFill>
                <a:latin typeface="Calibri"/>
              </a:defRPr>
            </a:pPr>
            <a:r>
              <a:t>COMPETITIVE LANDSCAPE</a:t>
            </a:r>
          </a:p>
        </p:txBody>
      </p:sp>
      <p:sp>
        <p:nvSpPr>
          <p:cNvPr id="22" name="TextBox 21"/>
          <p:cNvSpPr txBox="1"/>
          <p:nvPr/>
        </p:nvSpPr>
        <p:spPr>
          <a:xfrm>
            <a:off x="365760" y="4206240"/>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vs. Pure RPA</a:t>
            </a:r>
          </a:p>
        </p:txBody>
      </p:sp>
      <p:sp>
        <p:nvSpPr>
          <p:cNvPr id="23" name="TextBox 22"/>
          <p:cNvSpPr txBox="1"/>
          <p:nvPr/>
        </p:nvSpPr>
        <p:spPr>
          <a:xfrm>
            <a:off x="365760" y="4389120"/>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Agents reason;</a:t>
            </a:r>
            <a:br/>
            <a:r>
              <a:t>RPA follows scripts.</a:t>
            </a:r>
            <a:br/>
            <a:r>
              <a:t>Agents adapt to change.</a:t>
            </a:r>
          </a:p>
        </p:txBody>
      </p:sp>
      <p:sp>
        <p:nvSpPr>
          <p:cNvPr id="24" name="TextBox 23"/>
          <p:cNvSpPr txBox="1"/>
          <p:nvPr/>
        </p:nvSpPr>
        <p:spPr>
          <a:xfrm>
            <a:off x="2240279" y="4206240"/>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vs. Chatbots</a:t>
            </a:r>
          </a:p>
        </p:txBody>
      </p:sp>
      <p:sp>
        <p:nvSpPr>
          <p:cNvPr id="25" name="TextBox 24"/>
          <p:cNvSpPr txBox="1"/>
          <p:nvPr/>
        </p:nvSpPr>
        <p:spPr>
          <a:xfrm>
            <a:off x="2240279" y="4389120"/>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Agents act end-to-end;</a:t>
            </a:r>
            <a:br/>
            <a:r>
              <a:t>chatbots just answer.</a:t>
            </a:r>
            <a:br/>
            <a:r>
              <a:t>Agents use real tools.</a:t>
            </a:r>
          </a:p>
        </p:txBody>
      </p:sp>
      <p:sp>
        <p:nvSpPr>
          <p:cNvPr id="26" name="TextBox 25"/>
          <p:cNvSpPr txBox="1"/>
          <p:nvPr/>
        </p:nvSpPr>
        <p:spPr>
          <a:xfrm>
            <a:off x="4114799" y="4206240"/>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vs. Custom ML</a:t>
            </a:r>
          </a:p>
        </p:txBody>
      </p:sp>
      <p:sp>
        <p:nvSpPr>
          <p:cNvPr id="27" name="TextBox 26"/>
          <p:cNvSpPr txBox="1"/>
          <p:nvPr/>
        </p:nvSpPr>
        <p:spPr>
          <a:xfrm>
            <a:off x="4114799" y="4389120"/>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Agents compose tools;</a:t>
            </a:r>
            <a:br/>
            <a:r>
              <a:t>ML needs retraining.</a:t>
            </a:r>
            <a:br/>
            <a:r>
              <a:t>Agents deploy in weeks.</a:t>
            </a:r>
          </a:p>
        </p:txBody>
      </p:sp>
      <p:sp>
        <p:nvSpPr>
          <p:cNvPr id="28" name="TextBox 27"/>
          <p:cNvSpPr txBox="1"/>
          <p:nvPr/>
        </p:nvSpPr>
        <p:spPr>
          <a:xfrm>
            <a:off x="5989319" y="4206240"/>
            <a:ext cx="1737360" cy="164592"/>
          </a:xfrm>
          <a:prstGeom prst="rect">
            <a:avLst/>
          </a:prstGeom>
          <a:noFill/>
        </p:spPr>
        <p:txBody>
          <a:bodyPr wrap="square">
            <a:spAutoFit/>
          </a:bodyPr>
          <a:lstStyle/>
          <a:p>
            <a:pPr algn="l">
              <a:spcAft>
                <a:spcPts val="200"/>
              </a:spcAft>
              <a:defRPr sz="700" b="1">
                <a:solidFill>
                  <a:srgbClr val="00C9A7"/>
                </a:solidFill>
                <a:latin typeface="Calibri"/>
              </a:defRPr>
            </a:pPr>
            <a:r>
              <a:t>vs. BPO/Outsource</a:t>
            </a:r>
          </a:p>
        </p:txBody>
      </p:sp>
      <p:sp>
        <p:nvSpPr>
          <p:cNvPr id="29" name="TextBox 28"/>
          <p:cNvSpPr txBox="1"/>
          <p:nvPr/>
        </p:nvSpPr>
        <p:spPr>
          <a:xfrm>
            <a:off x="5989319" y="4389120"/>
            <a:ext cx="1737360" cy="347472"/>
          </a:xfrm>
          <a:prstGeom prst="rect">
            <a:avLst/>
          </a:prstGeom>
          <a:noFill/>
        </p:spPr>
        <p:txBody>
          <a:bodyPr wrap="square">
            <a:spAutoFit/>
          </a:bodyPr>
          <a:lstStyle/>
          <a:p>
            <a:pPr algn="l">
              <a:spcAft>
                <a:spcPts val="200"/>
              </a:spcAft>
              <a:defRPr sz="650" b="0">
                <a:solidFill>
                  <a:srgbClr val="FFFFFF"/>
                </a:solidFill>
                <a:latin typeface="Calibri"/>
              </a:defRPr>
            </a:pPr>
            <a:r>
              <a:t>Agents scale instantly;</a:t>
            </a:r>
            <a:br/>
            <a:r>
              <a:t>BPO scales linearly.</a:t>
            </a:r>
            <a:br/>
            <a:r>
              <a:t>$28/resolution vs $320.</a:t>
            </a:r>
          </a:p>
        </p:txBody>
      </p:sp>
      <p:sp>
        <p:nvSpPr>
          <p:cNvPr id="30" name="Rectangle 29"/>
          <p:cNvSpPr/>
          <p:nvPr/>
        </p:nvSpPr>
        <p:spPr>
          <a:xfrm>
            <a:off x="274320" y="4937760"/>
            <a:ext cx="7619695" cy="777240"/>
          </a:xfrm>
          <a:prstGeom prst="rect">
            <a:avLst/>
          </a:prstGeom>
          <a:solidFill>
            <a:srgbClr val="009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365760" y="4974336"/>
            <a:ext cx="2743200" cy="164592"/>
          </a:xfrm>
          <a:prstGeom prst="rect">
            <a:avLst/>
          </a:prstGeom>
          <a:noFill/>
        </p:spPr>
        <p:txBody>
          <a:bodyPr wrap="square">
            <a:spAutoFit/>
          </a:bodyPr>
          <a:lstStyle/>
          <a:p>
            <a:pPr algn="l">
              <a:spcAft>
                <a:spcPts val="200"/>
              </a:spcAft>
              <a:defRPr sz="750" b="1">
                <a:solidFill>
                  <a:srgbClr val="FFFFFF"/>
                </a:solidFill>
                <a:latin typeface="Calibri"/>
              </a:defRPr>
            </a:pPr>
            <a:r>
              <a:t>PRODUCTION DEPLOYMENT INSIGHTS</a:t>
            </a:r>
          </a:p>
        </p:txBody>
      </p:sp>
      <p:sp>
        <p:nvSpPr>
          <p:cNvPr id="32" name="TextBox 31"/>
          <p:cNvSpPr txBox="1"/>
          <p:nvPr/>
        </p:nvSpPr>
        <p:spPr>
          <a:xfrm>
            <a:off x="365760" y="5166360"/>
            <a:ext cx="1737360" cy="182880"/>
          </a:xfrm>
          <a:prstGeom prst="rect">
            <a:avLst/>
          </a:prstGeom>
          <a:noFill/>
        </p:spPr>
        <p:txBody>
          <a:bodyPr wrap="square">
            <a:spAutoFit/>
          </a:bodyPr>
          <a:lstStyle/>
          <a:p>
            <a:pPr algn="ctr">
              <a:spcAft>
                <a:spcPts val="200"/>
              </a:spcAft>
              <a:defRPr sz="1400" b="1">
                <a:solidFill>
                  <a:srgbClr val="FFFFFF"/>
                </a:solidFill>
                <a:latin typeface="Calibri"/>
              </a:defRPr>
            </a:pPr>
            <a:r>
              <a:t>80%</a:t>
            </a:r>
          </a:p>
        </p:txBody>
      </p:sp>
      <p:sp>
        <p:nvSpPr>
          <p:cNvPr id="33" name="TextBox 32"/>
          <p:cNvSpPr txBox="1"/>
          <p:nvPr/>
        </p:nvSpPr>
        <p:spPr>
          <a:xfrm>
            <a:off x="365760" y="5376672"/>
            <a:ext cx="1737360" cy="320040"/>
          </a:xfrm>
          <a:prstGeom prst="rect">
            <a:avLst/>
          </a:prstGeom>
          <a:noFill/>
        </p:spPr>
        <p:txBody>
          <a:bodyPr wrap="square">
            <a:spAutoFit/>
          </a:bodyPr>
          <a:lstStyle/>
          <a:p>
            <a:pPr algn="ctr">
              <a:spcAft>
                <a:spcPts val="200"/>
              </a:spcAft>
              <a:defRPr sz="600" b="0">
                <a:solidFill>
                  <a:srgbClr val="FFFFFF"/>
                </a:solidFill>
                <a:latin typeface="Calibri"/>
              </a:defRPr>
            </a:pPr>
            <a:r>
              <a:t>Use structured</a:t>
            </a:r>
            <a:br/>
            <a:r>
              <a:t>workflows (not fully</a:t>
            </a:r>
            <a:br/>
            <a:r>
              <a:t>autonomous)</a:t>
            </a:r>
          </a:p>
        </p:txBody>
      </p:sp>
      <p:sp>
        <p:nvSpPr>
          <p:cNvPr id="34" name="TextBox 33"/>
          <p:cNvSpPr txBox="1"/>
          <p:nvPr/>
        </p:nvSpPr>
        <p:spPr>
          <a:xfrm>
            <a:off x="2240279" y="5166360"/>
            <a:ext cx="1737360" cy="182880"/>
          </a:xfrm>
          <a:prstGeom prst="rect">
            <a:avLst/>
          </a:prstGeom>
          <a:noFill/>
        </p:spPr>
        <p:txBody>
          <a:bodyPr wrap="square">
            <a:spAutoFit/>
          </a:bodyPr>
          <a:lstStyle/>
          <a:p>
            <a:pPr algn="ctr">
              <a:spcAft>
                <a:spcPts val="200"/>
              </a:spcAft>
              <a:defRPr sz="1400" b="1">
                <a:solidFill>
                  <a:srgbClr val="FFFFFF"/>
                </a:solidFill>
                <a:latin typeface="Calibri"/>
              </a:defRPr>
            </a:pPr>
            <a:r>
              <a:t>85%</a:t>
            </a:r>
          </a:p>
        </p:txBody>
      </p:sp>
      <p:sp>
        <p:nvSpPr>
          <p:cNvPr id="35" name="TextBox 34"/>
          <p:cNvSpPr txBox="1"/>
          <p:nvPr/>
        </p:nvSpPr>
        <p:spPr>
          <a:xfrm>
            <a:off x="2240279" y="5376672"/>
            <a:ext cx="1737360" cy="320040"/>
          </a:xfrm>
          <a:prstGeom prst="rect">
            <a:avLst/>
          </a:prstGeom>
          <a:noFill/>
        </p:spPr>
        <p:txBody>
          <a:bodyPr wrap="square">
            <a:spAutoFit/>
          </a:bodyPr>
          <a:lstStyle/>
          <a:p>
            <a:pPr algn="ctr">
              <a:spcAft>
                <a:spcPts val="200"/>
              </a:spcAft>
              <a:defRPr sz="600" b="0">
                <a:solidFill>
                  <a:srgbClr val="FFFFFF"/>
                </a:solidFill>
                <a:latin typeface="Calibri"/>
              </a:defRPr>
            </a:pPr>
            <a:r>
              <a:t>Build custom over</a:t>
            </a:r>
            <a:br/>
            <a:r>
              <a:t>frameworks for</a:t>
            </a:r>
            <a:br/>
            <a:r>
              <a:t>production stability</a:t>
            </a:r>
          </a:p>
        </p:txBody>
      </p:sp>
      <p:sp>
        <p:nvSpPr>
          <p:cNvPr id="36" name="TextBox 35"/>
          <p:cNvSpPr txBox="1"/>
          <p:nvPr/>
        </p:nvSpPr>
        <p:spPr>
          <a:xfrm>
            <a:off x="4114799" y="5166360"/>
            <a:ext cx="1737360" cy="182880"/>
          </a:xfrm>
          <a:prstGeom prst="rect">
            <a:avLst/>
          </a:prstGeom>
          <a:noFill/>
        </p:spPr>
        <p:txBody>
          <a:bodyPr wrap="square">
            <a:spAutoFit/>
          </a:bodyPr>
          <a:lstStyle/>
          <a:p>
            <a:pPr algn="ctr">
              <a:spcAft>
                <a:spcPts val="200"/>
              </a:spcAft>
              <a:defRPr sz="1400" b="1">
                <a:solidFill>
                  <a:srgbClr val="FFFFFF"/>
                </a:solidFill>
                <a:latin typeface="Calibri"/>
              </a:defRPr>
            </a:pPr>
            <a:r>
              <a:t>61%</a:t>
            </a:r>
          </a:p>
        </p:txBody>
      </p:sp>
      <p:sp>
        <p:nvSpPr>
          <p:cNvPr id="37" name="TextBox 36"/>
          <p:cNvSpPr txBox="1"/>
          <p:nvPr/>
        </p:nvSpPr>
        <p:spPr>
          <a:xfrm>
            <a:off x="4114799" y="5376672"/>
            <a:ext cx="1737360" cy="320040"/>
          </a:xfrm>
          <a:prstGeom prst="rect">
            <a:avLst/>
          </a:prstGeom>
          <a:noFill/>
        </p:spPr>
        <p:txBody>
          <a:bodyPr wrap="square">
            <a:spAutoFit/>
          </a:bodyPr>
          <a:lstStyle/>
          <a:p>
            <a:pPr algn="ctr">
              <a:spcAft>
                <a:spcPts val="200"/>
              </a:spcAft>
              <a:defRPr sz="600" b="0">
                <a:solidFill>
                  <a:srgbClr val="FFFFFF"/>
                </a:solidFill>
                <a:latin typeface="Calibri"/>
              </a:defRPr>
            </a:pPr>
            <a:r>
              <a:t>Use frameworks in</a:t>
            </a:r>
            <a:br/>
            <a:r>
              <a:t>pilot but migrate</a:t>
            </a:r>
            <a:br/>
            <a:r>
              <a:t>for production</a:t>
            </a:r>
          </a:p>
        </p:txBody>
      </p:sp>
      <p:sp>
        <p:nvSpPr>
          <p:cNvPr id="38" name="TextBox 37"/>
          <p:cNvSpPr txBox="1"/>
          <p:nvPr/>
        </p:nvSpPr>
        <p:spPr>
          <a:xfrm>
            <a:off x="5989319" y="5166360"/>
            <a:ext cx="1737360" cy="182880"/>
          </a:xfrm>
          <a:prstGeom prst="rect">
            <a:avLst/>
          </a:prstGeom>
          <a:noFill/>
        </p:spPr>
        <p:txBody>
          <a:bodyPr wrap="square">
            <a:spAutoFit/>
          </a:bodyPr>
          <a:lstStyle/>
          <a:p>
            <a:pPr algn="ctr">
              <a:spcAft>
                <a:spcPts val="200"/>
              </a:spcAft>
              <a:defRPr sz="1400" b="1">
                <a:solidFill>
                  <a:srgbClr val="FFFFFF"/>
                </a:solidFill>
                <a:latin typeface="Calibri"/>
              </a:defRPr>
            </a:pPr>
            <a:r>
              <a:t>26</a:t>
            </a:r>
          </a:p>
        </p:txBody>
      </p:sp>
      <p:sp>
        <p:nvSpPr>
          <p:cNvPr id="39" name="TextBox 38"/>
          <p:cNvSpPr txBox="1"/>
          <p:nvPr/>
        </p:nvSpPr>
        <p:spPr>
          <a:xfrm>
            <a:off x="5989319" y="5376672"/>
            <a:ext cx="1737360" cy="320040"/>
          </a:xfrm>
          <a:prstGeom prst="rect">
            <a:avLst/>
          </a:prstGeom>
          <a:noFill/>
        </p:spPr>
        <p:txBody>
          <a:bodyPr wrap="square">
            <a:spAutoFit/>
          </a:bodyPr>
          <a:lstStyle/>
          <a:p>
            <a:pPr algn="ctr">
              <a:spcAft>
                <a:spcPts val="200"/>
              </a:spcAft>
              <a:defRPr sz="600" b="0">
                <a:solidFill>
                  <a:srgbClr val="FFFFFF"/>
                </a:solidFill>
                <a:latin typeface="Calibri"/>
              </a:defRPr>
            </a:pPr>
            <a:r>
              <a:t>Distinct domains</a:t>
            </a:r>
            <a:br/>
            <a:r>
              <a:t>with deployed</a:t>
            </a:r>
            <a:br/>
            <a:r>
              <a:t>agent systems</a:t>
            </a:r>
          </a:p>
        </p:txBody>
      </p:sp>
      <p:sp>
        <p:nvSpPr>
          <p:cNvPr id="40" name="TextBox 39"/>
          <p:cNvSpPr txBox="1"/>
          <p:nvPr/>
        </p:nvSpPr>
        <p:spPr>
          <a:xfrm>
            <a:off x="365760" y="5943600"/>
            <a:ext cx="6400800" cy="228600"/>
          </a:xfrm>
          <a:prstGeom prst="rect">
            <a:avLst/>
          </a:prstGeom>
          <a:noFill/>
        </p:spPr>
        <p:txBody>
          <a:bodyPr wrap="square">
            <a:spAutoFit/>
          </a:bodyPr>
          <a:lstStyle/>
          <a:p>
            <a:pPr algn="l">
              <a:spcAft>
                <a:spcPts val="200"/>
              </a:spcAft>
              <a:defRPr sz="600" b="0">
                <a:solidFill>
                  <a:srgbClr val="666666"/>
                </a:solidFill>
                <a:latin typeface="Calibri"/>
              </a:defRPr>
            </a:pPr>
            <a:r>
              <a:t>Source: arxiv.org/2512.04123 — Measuring Agents in Production (20 case studies, 306 practitioners, 86 deployed systems)</a:t>
            </a:r>
          </a:p>
        </p:txBody>
      </p:sp>
      <p:sp>
        <p:nvSpPr>
          <p:cNvPr id="41" name="TextBox 40"/>
          <p:cNvSpPr txBox="1"/>
          <p:nvPr/>
        </p:nvSpPr>
        <p:spPr>
          <a:xfrm>
            <a:off x="274320" y="6492240"/>
            <a:ext cx="4572000" cy="274320"/>
          </a:xfrm>
          <a:prstGeom prst="rect">
            <a:avLst/>
          </a:prstGeom>
          <a:noFill/>
        </p:spPr>
        <p:txBody>
          <a:bodyPr wrap="square">
            <a:spAutoFit/>
          </a:bodyPr>
          <a:lstStyle/>
          <a:p>
            <a:pPr algn="l">
              <a:spcAft>
                <a:spcPts val="200"/>
              </a:spcAft>
              <a:defRPr sz="700" b="0">
                <a:solidFill>
                  <a:srgbClr val="888888"/>
                </a:solidFill>
                <a:latin typeface="Calibri"/>
              </a:defRPr>
            </a:pPr>
            <a:r>
              <a:t>Agentic AI Use Cases Across Industries | Confidential</a:t>
            </a:r>
          </a:p>
        </p:txBody>
      </p:sp>
      <p:sp>
        <p:nvSpPr>
          <p:cNvPr id="42" name="TextBox 41"/>
          <p:cNvSpPr txBox="1"/>
          <p:nvPr/>
        </p:nvSpPr>
        <p:spPr>
          <a:xfrm>
            <a:off x="11094415" y="6492240"/>
            <a:ext cx="822960" cy="274320"/>
          </a:xfrm>
          <a:prstGeom prst="rect">
            <a:avLst/>
          </a:prstGeom>
          <a:noFill/>
        </p:spPr>
        <p:txBody>
          <a:bodyPr wrap="square">
            <a:spAutoFit/>
          </a:bodyPr>
          <a:lstStyle/>
          <a:p>
            <a:pPr algn="r">
              <a:spcAft>
                <a:spcPts val="200"/>
              </a:spcAft>
              <a:defRPr sz="700" b="0">
                <a:solidFill>
                  <a:srgbClr val="888888"/>
                </a:solidFill>
                <a:latin typeface="Calibri"/>
              </a:defRPr>
            </a:pPr>
            <a:r>
              <a:t>41 / 46</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8076895" cy="6858000"/>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82880"/>
            <a:ext cx="7436815" cy="457200"/>
          </a:xfrm>
          <a:prstGeom prst="rect">
            <a:avLst/>
          </a:prstGeom>
          <a:noFill/>
        </p:spPr>
        <p:txBody>
          <a:bodyPr wrap="square">
            <a:spAutoFit/>
          </a:bodyPr>
          <a:lstStyle/>
          <a:p>
            <a:pPr algn="l">
              <a:spcAft>
                <a:spcPts val="200"/>
              </a:spcAft>
              <a:defRPr sz="2400" b="1">
                <a:solidFill>
                  <a:srgbClr val="FFFFFF"/>
                </a:solidFill>
                <a:latin typeface="Calibri"/>
              </a:defRPr>
            </a:pPr>
            <a:r>
              <a:t>Sales Enablement Assets</a:t>
            </a:r>
          </a:p>
        </p:txBody>
      </p:sp>
      <p:sp>
        <p:nvSpPr>
          <p:cNvPr id="4" name="Rectangle 3"/>
          <p:cNvSpPr/>
          <p:nvPr/>
        </p:nvSpPr>
        <p:spPr>
          <a:xfrm>
            <a:off x="365760" y="640080"/>
            <a:ext cx="1828800" cy="27432"/>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274320" y="822960"/>
            <a:ext cx="7619695" cy="118872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65760" y="877824"/>
            <a:ext cx="6400800" cy="201168"/>
          </a:xfrm>
          <a:prstGeom prst="rect">
            <a:avLst/>
          </a:prstGeom>
          <a:noFill/>
        </p:spPr>
        <p:txBody>
          <a:bodyPr wrap="square">
            <a:spAutoFit/>
          </a:bodyPr>
          <a:lstStyle/>
          <a:p>
            <a:pPr algn="l">
              <a:spcAft>
                <a:spcPts val="200"/>
              </a:spcAft>
              <a:defRPr sz="900" b="1">
                <a:solidFill>
                  <a:srgbClr val="FFB800"/>
                </a:solidFill>
                <a:latin typeface="Calibri"/>
              </a:defRPr>
            </a:pPr>
            <a:r>
              <a:t>📊 Presentations &amp; Decks</a:t>
            </a:r>
          </a:p>
        </p:txBody>
      </p:sp>
      <p:sp>
        <p:nvSpPr>
          <p:cNvPr id="7" name="TextBox 6"/>
          <p:cNvSpPr txBox="1"/>
          <p:nvPr/>
        </p:nvSpPr>
        <p:spPr>
          <a:xfrm>
            <a:off x="457200" y="1097280"/>
            <a:ext cx="6858000" cy="822960"/>
          </a:xfrm>
          <a:prstGeom prst="rect">
            <a:avLst/>
          </a:prstGeom>
          <a:noFill/>
        </p:spPr>
        <p:txBody>
          <a:bodyPr wrap="square">
            <a:spAutoFit/>
          </a:bodyPr>
          <a:lstStyle/>
          <a:p>
            <a:pPr algn="l">
              <a:spcAft>
                <a:spcPts val="200"/>
              </a:spcAft>
              <a:defRPr sz="700" b="0">
                <a:solidFill>
                  <a:srgbClr val="FFFFFF"/>
                </a:solidFill>
                <a:latin typeface="Calibri"/>
              </a:defRPr>
            </a:pPr>
            <a:r>
              <a:t>• This deck: 39-slide Agentic AI Use Cases Across Industries (cross-industry)</a:t>
            </a:r>
            <a:br/>
            <a:r>
              <a:t>• Industry-specific extracts: Insurance (5 UCs), Supply Chain (4 UCs), Healthcare (3 UCs)</a:t>
            </a:r>
            <a:br/>
            <a:r>
              <a:t>• Executive summary deck: 10 slides, C-suite focused, ROI-led narrative</a:t>
            </a:r>
            <a:br/>
            <a:r>
              <a:t>• Technical deep-dive deck: architecture patterns, governance frameworks, deployment guides</a:t>
            </a:r>
          </a:p>
        </p:txBody>
      </p:sp>
      <p:sp>
        <p:nvSpPr>
          <p:cNvPr id="8" name="Rectangle 7"/>
          <p:cNvSpPr/>
          <p:nvPr/>
        </p:nvSpPr>
        <p:spPr>
          <a:xfrm>
            <a:off x="274320" y="2084832"/>
            <a:ext cx="7619695" cy="118872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65760" y="2139696"/>
            <a:ext cx="6400800" cy="201168"/>
          </a:xfrm>
          <a:prstGeom prst="rect">
            <a:avLst/>
          </a:prstGeom>
          <a:noFill/>
        </p:spPr>
        <p:txBody>
          <a:bodyPr wrap="square">
            <a:spAutoFit/>
          </a:bodyPr>
          <a:lstStyle/>
          <a:p>
            <a:pPr algn="l">
              <a:spcAft>
                <a:spcPts val="200"/>
              </a:spcAft>
              <a:defRPr sz="900" b="1">
                <a:solidFill>
                  <a:srgbClr val="FFB800"/>
                </a:solidFill>
                <a:latin typeface="Calibri"/>
              </a:defRPr>
            </a:pPr>
            <a:r>
              <a:t>📄 One-Pagers &amp; Brochures</a:t>
            </a:r>
          </a:p>
        </p:txBody>
      </p:sp>
      <p:sp>
        <p:nvSpPr>
          <p:cNvPr id="10" name="TextBox 9"/>
          <p:cNvSpPr txBox="1"/>
          <p:nvPr/>
        </p:nvSpPr>
        <p:spPr>
          <a:xfrm>
            <a:off x="457200" y="2359152"/>
            <a:ext cx="6858000" cy="822960"/>
          </a:xfrm>
          <a:prstGeom prst="rect">
            <a:avLst/>
          </a:prstGeom>
          <a:noFill/>
        </p:spPr>
        <p:txBody>
          <a:bodyPr wrap="square">
            <a:spAutoFit/>
          </a:bodyPr>
          <a:lstStyle/>
          <a:p>
            <a:pPr algn="l">
              <a:spcAft>
                <a:spcPts val="200"/>
              </a:spcAft>
              <a:defRPr sz="700" b="0">
                <a:solidFill>
                  <a:srgbClr val="FFFFFF"/>
                </a:solidFill>
                <a:latin typeface="Calibri"/>
              </a:defRPr>
            </a:pPr>
            <a:r>
              <a:t>• Agentic AI capability overview: what it is, why now, what we do</a:t>
            </a:r>
            <a:br/>
            <a:r>
              <a:t>• Industry-specific solution briefs: pain point → solution → outcomes → case study</a:t>
            </a:r>
            <a:br/>
            <a:r>
              <a:t>• ROI calculator template: customizable by industry and process volume</a:t>
            </a:r>
            <a:br/>
            <a:r>
              <a:t>• Agent taxonomy visual: 6 agent types with example use cases</a:t>
            </a:r>
          </a:p>
        </p:txBody>
      </p:sp>
      <p:sp>
        <p:nvSpPr>
          <p:cNvPr id="11" name="Rectangle 10"/>
          <p:cNvSpPr/>
          <p:nvPr/>
        </p:nvSpPr>
        <p:spPr>
          <a:xfrm>
            <a:off x="274320" y="3346704"/>
            <a:ext cx="7619695" cy="118872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65760" y="3401568"/>
            <a:ext cx="6400800" cy="201168"/>
          </a:xfrm>
          <a:prstGeom prst="rect">
            <a:avLst/>
          </a:prstGeom>
          <a:noFill/>
        </p:spPr>
        <p:txBody>
          <a:bodyPr wrap="square">
            <a:spAutoFit/>
          </a:bodyPr>
          <a:lstStyle/>
          <a:p>
            <a:pPr algn="l">
              <a:spcAft>
                <a:spcPts val="200"/>
              </a:spcAft>
              <a:defRPr sz="900" b="1">
                <a:solidFill>
                  <a:srgbClr val="FFB800"/>
                </a:solidFill>
                <a:latin typeface="Calibri"/>
              </a:defRPr>
            </a:pPr>
            <a:r>
              <a:t>💻 Demos &amp; Proof Points</a:t>
            </a:r>
          </a:p>
        </p:txBody>
      </p:sp>
      <p:sp>
        <p:nvSpPr>
          <p:cNvPr id="13" name="TextBox 12"/>
          <p:cNvSpPr txBox="1"/>
          <p:nvPr/>
        </p:nvSpPr>
        <p:spPr>
          <a:xfrm>
            <a:off x="457200" y="3621024"/>
            <a:ext cx="6858000" cy="822960"/>
          </a:xfrm>
          <a:prstGeom prst="rect">
            <a:avLst/>
          </a:prstGeom>
          <a:noFill/>
        </p:spPr>
        <p:txBody>
          <a:bodyPr wrap="square">
            <a:spAutoFit/>
          </a:bodyPr>
          <a:lstStyle/>
          <a:p>
            <a:pPr algn="l">
              <a:spcAft>
                <a:spcPts val="200"/>
              </a:spcAft>
              <a:defRPr sz="700" b="0">
                <a:solidFill>
                  <a:srgbClr val="FFFFFF"/>
                </a:solidFill>
                <a:latin typeface="Calibri"/>
              </a:defRPr>
            </a:pPr>
            <a:r>
              <a:t>• Live demo: claims pipeline agent (5-agent sequential processing)</a:t>
            </a:r>
            <a:br/>
            <a:r>
              <a:t>• Supply chain control tower demo: exception detection + auto-resolution</a:t>
            </a:r>
            <a:br/>
            <a:r>
              <a:t>• Code agent demo: ticket-to-code workflow with Gemini Code Assist</a:t>
            </a:r>
            <a:br/>
            <a:r>
              <a:t>• Reference architecture diagrams for each industry vertical</a:t>
            </a:r>
          </a:p>
        </p:txBody>
      </p:sp>
      <p:sp>
        <p:nvSpPr>
          <p:cNvPr id="14" name="Rectangle 13"/>
          <p:cNvSpPr/>
          <p:nvPr/>
        </p:nvSpPr>
        <p:spPr>
          <a:xfrm>
            <a:off x="274320" y="4608576"/>
            <a:ext cx="7619695" cy="118872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65760" y="4663440"/>
            <a:ext cx="6400800" cy="201168"/>
          </a:xfrm>
          <a:prstGeom prst="rect">
            <a:avLst/>
          </a:prstGeom>
          <a:noFill/>
        </p:spPr>
        <p:txBody>
          <a:bodyPr wrap="square">
            <a:spAutoFit/>
          </a:bodyPr>
          <a:lstStyle/>
          <a:p>
            <a:pPr algn="l">
              <a:spcAft>
                <a:spcPts val="200"/>
              </a:spcAft>
              <a:defRPr sz="900" b="1">
                <a:solidFill>
                  <a:srgbClr val="FFB800"/>
                </a:solidFill>
                <a:latin typeface="Calibri"/>
              </a:defRPr>
            </a:pPr>
            <a:r>
              <a:t>📧 Customer-Facing Templates</a:t>
            </a:r>
          </a:p>
        </p:txBody>
      </p:sp>
      <p:sp>
        <p:nvSpPr>
          <p:cNvPr id="16" name="TextBox 15"/>
          <p:cNvSpPr txBox="1"/>
          <p:nvPr/>
        </p:nvSpPr>
        <p:spPr>
          <a:xfrm>
            <a:off x="457200" y="4882896"/>
            <a:ext cx="6858000" cy="822960"/>
          </a:xfrm>
          <a:prstGeom prst="rect">
            <a:avLst/>
          </a:prstGeom>
          <a:noFill/>
        </p:spPr>
        <p:txBody>
          <a:bodyPr wrap="square">
            <a:spAutoFit/>
          </a:bodyPr>
          <a:lstStyle/>
          <a:p>
            <a:pPr algn="l">
              <a:spcAft>
                <a:spcPts val="200"/>
              </a:spcAft>
              <a:defRPr sz="700" b="0">
                <a:solidFill>
                  <a:srgbClr val="FFFFFF"/>
                </a:solidFill>
                <a:latin typeface="Calibri"/>
              </a:defRPr>
            </a:pPr>
            <a:r>
              <a:t>• Discovery workshop agenda template (half-day format)</a:t>
            </a:r>
            <a:br/>
            <a:r>
              <a:t>• Use case prioritization matrix (impact vs. feasibility)</a:t>
            </a:r>
            <a:br/>
            <a:r>
              <a:t>• Governance readiness checklist for regulated industries</a:t>
            </a:r>
            <a:br/>
            <a:r>
              <a:t>• Pilot proposal template: 12-week structured engagement</a:t>
            </a:r>
          </a:p>
        </p:txBody>
      </p:sp>
      <p:sp>
        <p:nvSpPr>
          <p:cNvPr id="17" name="TextBox 16"/>
          <p:cNvSpPr txBox="1"/>
          <p:nvPr/>
        </p:nvSpPr>
        <p:spPr>
          <a:xfrm>
            <a:off x="365760" y="5989320"/>
            <a:ext cx="6400800" cy="365760"/>
          </a:xfrm>
          <a:prstGeom prst="rect">
            <a:avLst/>
          </a:prstGeom>
          <a:noFill/>
        </p:spPr>
        <p:txBody>
          <a:bodyPr wrap="square">
            <a:spAutoFit/>
          </a:bodyPr>
          <a:lstStyle/>
          <a:p>
            <a:pPr algn="l">
              <a:spcAft>
                <a:spcPts val="200"/>
              </a:spcAft>
              <a:defRPr sz="700" b="1">
                <a:solidFill>
                  <a:srgbClr val="0A1628"/>
                </a:solidFill>
                <a:latin typeface="Calibri"/>
              </a:defRPr>
            </a:pPr>
            <a:r>
              <a:t>Action: Review asset inventory, identify gaps, assign owners for creation. Target: complete sales toolkit within 4 weeks of workshop.</a:t>
            </a:r>
          </a:p>
        </p:txBody>
      </p:sp>
      <p:pic>
        <p:nvPicPr>
          <p:cNvPr id="18" name="Picture 17" descr="image.jpg"/>
          <p:cNvPicPr>
            <a:picLocks noChangeAspect="1"/>
          </p:cNvPicPr>
          <p:nvPr/>
        </p:nvPicPr>
        <p:blipFill>
          <a:blip r:embed="rId2"/>
          <a:stretch>
            <a:fillRect/>
          </a:stretch>
        </p:blipFill>
        <p:spPr>
          <a:xfrm>
            <a:off x="8076895" y="0"/>
            <a:ext cx="4114800" cy="6858000"/>
          </a:xfrm>
          <a:prstGeom prst="rect">
            <a:avLst/>
          </a:prstGeom>
        </p:spPr>
      </p:pic>
      <p:sp>
        <p:nvSpPr>
          <p:cNvPr id="19" name="TextBox 18"/>
          <p:cNvSpPr txBox="1"/>
          <p:nvPr/>
        </p:nvSpPr>
        <p:spPr>
          <a:xfrm>
            <a:off x="274320" y="6492240"/>
            <a:ext cx="4572000" cy="274320"/>
          </a:xfrm>
          <a:prstGeom prst="rect">
            <a:avLst/>
          </a:prstGeom>
          <a:noFill/>
        </p:spPr>
        <p:txBody>
          <a:bodyPr wrap="square">
            <a:spAutoFit/>
          </a:bodyPr>
          <a:lstStyle/>
          <a:p>
            <a:pPr algn="l">
              <a:spcAft>
                <a:spcPts val="200"/>
              </a:spcAft>
              <a:defRPr sz="700" b="0">
                <a:solidFill>
                  <a:srgbClr val="888888"/>
                </a:solidFill>
                <a:latin typeface="Calibri"/>
              </a:defRPr>
            </a:pPr>
            <a:r>
              <a:t>Agentic AI Use Cases Across Industries | Confidential</a:t>
            </a:r>
          </a:p>
        </p:txBody>
      </p:sp>
      <p:sp>
        <p:nvSpPr>
          <p:cNvPr id="20" name="TextBox 19"/>
          <p:cNvSpPr txBox="1"/>
          <p:nvPr/>
        </p:nvSpPr>
        <p:spPr>
          <a:xfrm>
            <a:off x="11094415" y="6492240"/>
            <a:ext cx="822960" cy="274320"/>
          </a:xfrm>
          <a:prstGeom prst="rect">
            <a:avLst/>
          </a:prstGeom>
          <a:noFill/>
        </p:spPr>
        <p:txBody>
          <a:bodyPr wrap="square">
            <a:spAutoFit/>
          </a:bodyPr>
          <a:lstStyle/>
          <a:p>
            <a:pPr algn="r">
              <a:spcAft>
                <a:spcPts val="200"/>
              </a:spcAft>
              <a:defRPr sz="700" b="0">
                <a:solidFill>
                  <a:srgbClr val="888888"/>
                </a:solidFill>
                <a:latin typeface="Calibri"/>
              </a:defRPr>
            </a:pPr>
            <a:r>
              <a:t>42 / 46</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8076895" cy="6858000"/>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82880"/>
            <a:ext cx="7436815" cy="457200"/>
          </a:xfrm>
          <a:prstGeom prst="rect">
            <a:avLst/>
          </a:prstGeom>
          <a:noFill/>
        </p:spPr>
        <p:txBody>
          <a:bodyPr wrap="square">
            <a:spAutoFit/>
          </a:bodyPr>
          <a:lstStyle/>
          <a:p>
            <a:pPr algn="l">
              <a:spcAft>
                <a:spcPts val="200"/>
              </a:spcAft>
              <a:defRPr sz="2200" b="1">
                <a:solidFill>
                  <a:srgbClr val="FFFFFF"/>
                </a:solidFill>
                <a:latin typeface="Calibri"/>
              </a:defRPr>
            </a:pPr>
            <a:r>
              <a:t>Collaboration Model — Sales × Practice × Pre-Sales</a:t>
            </a:r>
          </a:p>
        </p:txBody>
      </p:sp>
      <p:sp>
        <p:nvSpPr>
          <p:cNvPr id="4" name="Rectangle 3"/>
          <p:cNvSpPr/>
          <p:nvPr/>
        </p:nvSpPr>
        <p:spPr>
          <a:xfrm>
            <a:off x="365760" y="640080"/>
            <a:ext cx="1828800" cy="27432"/>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274320" y="777240"/>
            <a:ext cx="2331720" cy="32004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65760" y="822960"/>
            <a:ext cx="2148840" cy="228600"/>
          </a:xfrm>
          <a:prstGeom prst="rect">
            <a:avLst/>
          </a:prstGeom>
          <a:noFill/>
        </p:spPr>
        <p:txBody>
          <a:bodyPr wrap="square">
            <a:spAutoFit/>
          </a:bodyPr>
          <a:lstStyle/>
          <a:p>
            <a:pPr algn="ctr">
              <a:spcAft>
                <a:spcPts val="200"/>
              </a:spcAft>
              <a:defRPr sz="1000" b="1">
                <a:solidFill>
                  <a:srgbClr val="FFB800"/>
                </a:solidFill>
                <a:latin typeface="Calibri"/>
              </a:defRPr>
            </a:pPr>
            <a:r>
              <a:t>SALES TEAM</a:t>
            </a:r>
          </a:p>
        </p:txBody>
      </p:sp>
      <p:sp>
        <p:nvSpPr>
          <p:cNvPr id="7" name="TextBox 6"/>
          <p:cNvSpPr txBox="1"/>
          <p:nvPr/>
        </p:nvSpPr>
        <p:spPr>
          <a:xfrm>
            <a:off x="365760" y="1078992"/>
            <a:ext cx="2148840" cy="274320"/>
          </a:xfrm>
          <a:prstGeom prst="rect">
            <a:avLst/>
          </a:prstGeom>
          <a:noFill/>
        </p:spPr>
        <p:txBody>
          <a:bodyPr wrap="square">
            <a:spAutoFit/>
          </a:bodyPr>
          <a:lstStyle/>
          <a:p>
            <a:pPr algn="ctr">
              <a:spcAft>
                <a:spcPts val="200"/>
              </a:spcAft>
              <a:defRPr sz="700" b="0">
                <a:solidFill>
                  <a:srgbClr val="00C9A7"/>
                </a:solidFill>
                <a:latin typeface="Calibri"/>
              </a:defRPr>
            </a:pPr>
            <a:r>
              <a:t>Account ownership</a:t>
            </a:r>
            <a:br/>
            <a:r>
              <a:t>&amp; pipeline</a:t>
            </a:r>
          </a:p>
        </p:txBody>
      </p:sp>
      <p:sp>
        <p:nvSpPr>
          <p:cNvPr id="8" name="TextBox 7"/>
          <p:cNvSpPr txBox="1"/>
          <p:nvPr/>
        </p:nvSpPr>
        <p:spPr>
          <a:xfrm>
            <a:off x="411480" y="1417320"/>
            <a:ext cx="2057400" cy="2286000"/>
          </a:xfrm>
          <a:prstGeom prst="rect">
            <a:avLst/>
          </a:prstGeom>
          <a:noFill/>
        </p:spPr>
        <p:txBody>
          <a:bodyPr wrap="square">
            <a:spAutoFit/>
          </a:bodyPr>
          <a:lstStyle/>
          <a:p>
            <a:pPr algn="l">
              <a:spcAft>
                <a:spcPts val="200"/>
              </a:spcAft>
              <a:defRPr sz="700" b="0">
                <a:solidFill>
                  <a:srgbClr val="FFFFFF"/>
                </a:solidFill>
                <a:latin typeface="Calibri"/>
              </a:defRPr>
            </a:pPr>
            <a:r>
              <a:t>• Own client relationship and pipeline</a:t>
            </a:r>
            <a:br/>
            <a:r>
              <a:t>• Identify pain points during discovery</a:t>
            </a:r>
            <a:br/>
            <a:r>
              <a:t>• Position agentic AI within account strategy</a:t>
            </a:r>
            <a:br/>
            <a:r>
              <a:t>• Lead commercial discussions and close</a:t>
            </a:r>
            <a:br/>
            <a:r>
              <a:t>• Track pipeline metrics and forecast</a:t>
            </a:r>
          </a:p>
        </p:txBody>
      </p:sp>
      <p:sp>
        <p:nvSpPr>
          <p:cNvPr id="9" name="Rectangle 8"/>
          <p:cNvSpPr/>
          <p:nvPr/>
        </p:nvSpPr>
        <p:spPr>
          <a:xfrm>
            <a:off x="2788920" y="777240"/>
            <a:ext cx="2331720" cy="32004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880360" y="822960"/>
            <a:ext cx="2148840" cy="228600"/>
          </a:xfrm>
          <a:prstGeom prst="rect">
            <a:avLst/>
          </a:prstGeom>
          <a:noFill/>
        </p:spPr>
        <p:txBody>
          <a:bodyPr wrap="square">
            <a:spAutoFit/>
          </a:bodyPr>
          <a:lstStyle/>
          <a:p>
            <a:pPr algn="ctr">
              <a:spcAft>
                <a:spcPts val="200"/>
              </a:spcAft>
              <a:defRPr sz="1000" b="1">
                <a:solidFill>
                  <a:srgbClr val="FFB800"/>
                </a:solidFill>
                <a:latin typeface="Calibri"/>
              </a:defRPr>
            </a:pPr>
            <a:r>
              <a:t>PRACTICE TEAM</a:t>
            </a:r>
          </a:p>
        </p:txBody>
      </p:sp>
      <p:sp>
        <p:nvSpPr>
          <p:cNvPr id="11" name="TextBox 10"/>
          <p:cNvSpPr txBox="1"/>
          <p:nvPr/>
        </p:nvSpPr>
        <p:spPr>
          <a:xfrm>
            <a:off x="2880360" y="1078992"/>
            <a:ext cx="2148840" cy="274320"/>
          </a:xfrm>
          <a:prstGeom prst="rect">
            <a:avLst/>
          </a:prstGeom>
          <a:noFill/>
        </p:spPr>
        <p:txBody>
          <a:bodyPr wrap="square">
            <a:spAutoFit/>
          </a:bodyPr>
          <a:lstStyle/>
          <a:p>
            <a:pPr algn="ctr">
              <a:spcAft>
                <a:spcPts val="200"/>
              </a:spcAft>
              <a:defRPr sz="700" b="0">
                <a:solidFill>
                  <a:srgbClr val="00C9A7"/>
                </a:solidFill>
                <a:latin typeface="Calibri"/>
              </a:defRPr>
            </a:pPr>
            <a:r>
              <a:t>Domain expertise</a:t>
            </a:r>
            <a:br/>
            <a:r>
              <a:t>&amp; delivery</a:t>
            </a:r>
          </a:p>
        </p:txBody>
      </p:sp>
      <p:sp>
        <p:nvSpPr>
          <p:cNvPr id="12" name="TextBox 11"/>
          <p:cNvSpPr txBox="1"/>
          <p:nvPr/>
        </p:nvSpPr>
        <p:spPr>
          <a:xfrm>
            <a:off x="2926080" y="1417320"/>
            <a:ext cx="2057400" cy="2286000"/>
          </a:xfrm>
          <a:prstGeom prst="rect">
            <a:avLst/>
          </a:prstGeom>
          <a:noFill/>
        </p:spPr>
        <p:txBody>
          <a:bodyPr wrap="square">
            <a:spAutoFit/>
          </a:bodyPr>
          <a:lstStyle/>
          <a:p>
            <a:pPr algn="l">
              <a:spcAft>
                <a:spcPts val="200"/>
              </a:spcAft>
              <a:defRPr sz="700" b="0">
                <a:solidFill>
                  <a:srgbClr val="FFFFFF"/>
                </a:solidFill>
                <a:latin typeface="Calibri"/>
              </a:defRPr>
            </a:pPr>
            <a:r>
              <a:t>• Define solution architecture per industry</a:t>
            </a:r>
            <a:br/>
            <a:r>
              <a:t>• Validate technical feasibility and scope</a:t>
            </a:r>
            <a:br/>
            <a:r>
              <a:t>• Design pilot engagement (12-week format)</a:t>
            </a:r>
            <a:br/>
            <a:r>
              <a:t>• Lead implementation and delivery</a:t>
            </a:r>
            <a:br/>
            <a:r>
              <a:t>• Build reusable accelerators and IP</a:t>
            </a:r>
          </a:p>
        </p:txBody>
      </p:sp>
      <p:sp>
        <p:nvSpPr>
          <p:cNvPr id="13" name="Rectangle 12"/>
          <p:cNvSpPr/>
          <p:nvPr/>
        </p:nvSpPr>
        <p:spPr>
          <a:xfrm>
            <a:off x="5303520" y="777240"/>
            <a:ext cx="2331720" cy="32004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394960" y="822960"/>
            <a:ext cx="2148840" cy="228600"/>
          </a:xfrm>
          <a:prstGeom prst="rect">
            <a:avLst/>
          </a:prstGeom>
          <a:noFill/>
        </p:spPr>
        <p:txBody>
          <a:bodyPr wrap="square">
            <a:spAutoFit/>
          </a:bodyPr>
          <a:lstStyle/>
          <a:p>
            <a:pPr algn="ctr">
              <a:spcAft>
                <a:spcPts val="200"/>
              </a:spcAft>
              <a:defRPr sz="1000" b="1">
                <a:solidFill>
                  <a:srgbClr val="FFB800"/>
                </a:solidFill>
                <a:latin typeface="Calibri"/>
              </a:defRPr>
            </a:pPr>
            <a:r>
              <a:t>PRE-SALES TEAM</a:t>
            </a:r>
          </a:p>
        </p:txBody>
      </p:sp>
      <p:sp>
        <p:nvSpPr>
          <p:cNvPr id="15" name="TextBox 14"/>
          <p:cNvSpPr txBox="1"/>
          <p:nvPr/>
        </p:nvSpPr>
        <p:spPr>
          <a:xfrm>
            <a:off x="5394960" y="1078992"/>
            <a:ext cx="2148840" cy="274320"/>
          </a:xfrm>
          <a:prstGeom prst="rect">
            <a:avLst/>
          </a:prstGeom>
          <a:noFill/>
        </p:spPr>
        <p:txBody>
          <a:bodyPr wrap="square">
            <a:spAutoFit/>
          </a:bodyPr>
          <a:lstStyle/>
          <a:p>
            <a:pPr algn="ctr">
              <a:spcAft>
                <a:spcPts val="200"/>
              </a:spcAft>
              <a:defRPr sz="700" b="0">
                <a:solidFill>
                  <a:srgbClr val="00C9A7"/>
                </a:solidFill>
                <a:latin typeface="Calibri"/>
              </a:defRPr>
            </a:pPr>
            <a:r>
              <a:t>Positioning &amp;</a:t>
            </a:r>
            <a:br/>
            <a:r>
              <a:t>technical sales</a:t>
            </a:r>
          </a:p>
        </p:txBody>
      </p:sp>
      <p:sp>
        <p:nvSpPr>
          <p:cNvPr id="16" name="TextBox 15"/>
          <p:cNvSpPr txBox="1"/>
          <p:nvPr/>
        </p:nvSpPr>
        <p:spPr>
          <a:xfrm>
            <a:off x="5440680" y="1417320"/>
            <a:ext cx="2057400" cy="2286000"/>
          </a:xfrm>
          <a:prstGeom prst="rect">
            <a:avLst/>
          </a:prstGeom>
          <a:noFill/>
        </p:spPr>
        <p:txBody>
          <a:bodyPr wrap="square">
            <a:spAutoFit/>
          </a:bodyPr>
          <a:lstStyle/>
          <a:p>
            <a:pPr algn="l">
              <a:spcAft>
                <a:spcPts val="200"/>
              </a:spcAft>
              <a:defRPr sz="700" b="0">
                <a:solidFill>
                  <a:srgbClr val="FFFFFF"/>
                </a:solidFill>
                <a:latin typeface="Calibri"/>
              </a:defRPr>
            </a:pPr>
            <a:r>
              <a:t>• Translate pain points to agentic solutions</a:t>
            </a:r>
            <a:br/>
            <a:r>
              <a:t>• Customize decks and demos per account</a:t>
            </a:r>
            <a:br/>
            <a:r>
              <a:t>• Run discovery workshops with clients</a:t>
            </a:r>
            <a:br/>
            <a:r>
              <a:t>• Build ROI models and business cases</a:t>
            </a:r>
            <a:br/>
            <a:r>
              <a:t>• Create proof-of-concept proposals</a:t>
            </a:r>
          </a:p>
        </p:txBody>
      </p:sp>
      <p:sp>
        <p:nvSpPr>
          <p:cNvPr id="17" name="TextBox 16"/>
          <p:cNvSpPr txBox="1"/>
          <p:nvPr/>
        </p:nvSpPr>
        <p:spPr>
          <a:xfrm>
            <a:off x="365760" y="4114800"/>
            <a:ext cx="6858000" cy="201168"/>
          </a:xfrm>
          <a:prstGeom prst="rect">
            <a:avLst/>
          </a:prstGeom>
          <a:noFill/>
        </p:spPr>
        <p:txBody>
          <a:bodyPr wrap="square">
            <a:spAutoFit/>
          </a:bodyPr>
          <a:lstStyle/>
          <a:p>
            <a:pPr algn="l">
              <a:spcAft>
                <a:spcPts val="200"/>
              </a:spcAft>
              <a:defRPr sz="900" b="1">
                <a:solidFill>
                  <a:srgbClr val="0A1628"/>
                </a:solidFill>
                <a:latin typeface="Calibri"/>
              </a:defRPr>
            </a:pPr>
            <a:r>
              <a:t>ENGAGEMENT LIFECYCLE</a:t>
            </a:r>
          </a:p>
        </p:txBody>
      </p:sp>
      <p:sp>
        <p:nvSpPr>
          <p:cNvPr id="18" name="Rectangle 17"/>
          <p:cNvSpPr/>
          <p:nvPr/>
        </p:nvSpPr>
        <p:spPr>
          <a:xfrm>
            <a:off x="274320" y="4389120"/>
            <a:ext cx="1783080" cy="13716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65760" y="4434840"/>
            <a:ext cx="1600200" cy="228600"/>
          </a:xfrm>
          <a:prstGeom prst="rect">
            <a:avLst/>
          </a:prstGeom>
          <a:noFill/>
        </p:spPr>
        <p:txBody>
          <a:bodyPr wrap="square">
            <a:spAutoFit/>
          </a:bodyPr>
          <a:lstStyle/>
          <a:p>
            <a:pPr algn="ctr">
              <a:spcAft>
                <a:spcPts val="200"/>
              </a:spcAft>
              <a:defRPr sz="900" b="1">
                <a:solidFill>
                  <a:srgbClr val="FFB800"/>
                </a:solidFill>
                <a:latin typeface="Calibri"/>
              </a:defRPr>
            </a:pPr>
            <a:r>
              <a:t>1. Qualify</a:t>
            </a:r>
          </a:p>
        </p:txBody>
      </p:sp>
      <p:sp>
        <p:nvSpPr>
          <p:cNvPr id="20" name="TextBox 19"/>
          <p:cNvSpPr txBox="1"/>
          <p:nvPr/>
        </p:nvSpPr>
        <p:spPr>
          <a:xfrm>
            <a:off x="365760" y="4709160"/>
            <a:ext cx="1600200" cy="914400"/>
          </a:xfrm>
          <a:prstGeom prst="rect">
            <a:avLst/>
          </a:prstGeom>
          <a:noFill/>
        </p:spPr>
        <p:txBody>
          <a:bodyPr wrap="square">
            <a:spAutoFit/>
          </a:bodyPr>
          <a:lstStyle/>
          <a:p>
            <a:pPr algn="ctr">
              <a:spcAft>
                <a:spcPts val="200"/>
              </a:spcAft>
              <a:defRPr sz="650" b="0">
                <a:solidFill>
                  <a:srgbClr val="FFFFFF"/>
                </a:solidFill>
                <a:latin typeface="Calibri"/>
              </a:defRPr>
            </a:pPr>
            <a:r>
              <a:t>Sales identifies</a:t>
            </a:r>
            <a:br/>
            <a:r>
              <a:t>pain + budget.</a:t>
            </a:r>
            <a:br/>
            <a:r>
              <a:t>Pre-sales validates</a:t>
            </a:r>
            <a:br/>
            <a:r>
              <a:t>agentic AI fit.</a:t>
            </a:r>
          </a:p>
        </p:txBody>
      </p:sp>
      <p:sp>
        <p:nvSpPr>
          <p:cNvPr id="21" name="Rectangle 20"/>
          <p:cNvSpPr/>
          <p:nvPr/>
        </p:nvSpPr>
        <p:spPr>
          <a:xfrm>
            <a:off x="2194560" y="4389120"/>
            <a:ext cx="1783080" cy="13716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2286000" y="4434840"/>
            <a:ext cx="1600200" cy="228600"/>
          </a:xfrm>
          <a:prstGeom prst="rect">
            <a:avLst/>
          </a:prstGeom>
          <a:noFill/>
        </p:spPr>
        <p:txBody>
          <a:bodyPr wrap="square">
            <a:spAutoFit/>
          </a:bodyPr>
          <a:lstStyle/>
          <a:p>
            <a:pPr algn="ctr">
              <a:spcAft>
                <a:spcPts val="200"/>
              </a:spcAft>
              <a:defRPr sz="900" b="1">
                <a:solidFill>
                  <a:srgbClr val="FFB800"/>
                </a:solidFill>
                <a:latin typeface="Calibri"/>
              </a:defRPr>
            </a:pPr>
            <a:r>
              <a:t>2. Discover</a:t>
            </a:r>
          </a:p>
        </p:txBody>
      </p:sp>
      <p:sp>
        <p:nvSpPr>
          <p:cNvPr id="23" name="TextBox 22"/>
          <p:cNvSpPr txBox="1"/>
          <p:nvPr/>
        </p:nvSpPr>
        <p:spPr>
          <a:xfrm>
            <a:off x="2286000" y="4709160"/>
            <a:ext cx="1600200" cy="914400"/>
          </a:xfrm>
          <a:prstGeom prst="rect">
            <a:avLst/>
          </a:prstGeom>
          <a:noFill/>
        </p:spPr>
        <p:txBody>
          <a:bodyPr wrap="square">
            <a:spAutoFit/>
          </a:bodyPr>
          <a:lstStyle/>
          <a:p>
            <a:pPr algn="ctr">
              <a:spcAft>
                <a:spcPts val="200"/>
              </a:spcAft>
              <a:defRPr sz="650" b="0">
                <a:solidFill>
                  <a:srgbClr val="FFFFFF"/>
                </a:solidFill>
                <a:latin typeface="Calibri"/>
              </a:defRPr>
            </a:pPr>
            <a:r>
              <a:t>Pre-sales runs</a:t>
            </a:r>
            <a:br/>
            <a:r>
              <a:t>workshop. Practice</a:t>
            </a:r>
            <a:br/>
            <a:r>
              <a:t>assesses feasibility.</a:t>
            </a:r>
            <a:br/>
            <a:r>
              <a:t>Pain point mapping.</a:t>
            </a:r>
          </a:p>
        </p:txBody>
      </p:sp>
      <p:sp>
        <p:nvSpPr>
          <p:cNvPr id="24" name="Rectangle 23"/>
          <p:cNvSpPr/>
          <p:nvPr/>
        </p:nvSpPr>
        <p:spPr>
          <a:xfrm>
            <a:off x="4114800" y="4389120"/>
            <a:ext cx="1783080" cy="13716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206240" y="4434840"/>
            <a:ext cx="1600200" cy="228600"/>
          </a:xfrm>
          <a:prstGeom prst="rect">
            <a:avLst/>
          </a:prstGeom>
          <a:noFill/>
        </p:spPr>
        <p:txBody>
          <a:bodyPr wrap="square">
            <a:spAutoFit/>
          </a:bodyPr>
          <a:lstStyle/>
          <a:p>
            <a:pPr algn="ctr">
              <a:spcAft>
                <a:spcPts val="200"/>
              </a:spcAft>
              <a:defRPr sz="900" b="1">
                <a:solidFill>
                  <a:srgbClr val="FFB800"/>
                </a:solidFill>
                <a:latin typeface="Calibri"/>
              </a:defRPr>
            </a:pPr>
            <a:r>
              <a:t>3. Propose</a:t>
            </a:r>
          </a:p>
        </p:txBody>
      </p:sp>
      <p:sp>
        <p:nvSpPr>
          <p:cNvPr id="26" name="TextBox 25"/>
          <p:cNvSpPr txBox="1"/>
          <p:nvPr/>
        </p:nvSpPr>
        <p:spPr>
          <a:xfrm>
            <a:off x="4206240" y="4709160"/>
            <a:ext cx="1600200" cy="914400"/>
          </a:xfrm>
          <a:prstGeom prst="rect">
            <a:avLst/>
          </a:prstGeom>
          <a:noFill/>
        </p:spPr>
        <p:txBody>
          <a:bodyPr wrap="square">
            <a:spAutoFit/>
          </a:bodyPr>
          <a:lstStyle/>
          <a:p>
            <a:pPr algn="ctr">
              <a:spcAft>
                <a:spcPts val="200"/>
              </a:spcAft>
              <a:defRPr sz="650" b="0">
                <a:solidFill>
                  <a:srgbClr val="FFFFFF"/>
                </a:solidFill>
                <a:latin typeface="Calibri"/>
              </a:defRPr>
            </a:pPr>
            <a:r>
              <a:t>Pre-sales builds</a:t>
            </a:r>
            <a:br/>
            <a:r>
              <a:t>business case.</a:t>
            </a:r>
            <a:br/>
            <a:r>
              <a:t>Practice designs</a:t>
            </a:r>
            <a:br/>
            <a:r>
              <a:t>12-week pilot.</a:t>
            </a:r>
          </a:p>
        </p:txBody>
      </p:sp>
      <p:sp>
        <p:nvSpPr>
          <p:cNvPr id="27" name="Rectangle 26"/>
          <p:cNvSpPr/>
          <p:nvPr/>
        </p:nvSpPr>
        <p:spPr>
          <a:xfrm>
            <a:off x="6035040" y="4389120"/>
            <a:ext cx="1783080" cy="13716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126480" y="4434840"/>
            <a:ext cx="1600200" cy="228600"/>
          </a:xfrm>
          <a:prstGeom prst="rect">
            <a:avLst/>
          </a:prstGeom>
          <a:noFill/>
        </p:spPr>
        <p:txBody>
          <a:bodyPr wrap="square">
            <a:spAutoFit/>
          </a:bodyPr>
          <a:lstStyle/>
          <a:p>
            <a:pPr algn="ctr">
              <a:spcAft>
                <a:spcPts val="200"/>
              </a:spcAft>
              <a:defRPr sz="900" b="1">
                <a:solidFill>
                  <a:srgbClr val="FFB800"/>
                </a:solidFill>
                <a:latin typeface="Calibri"/>
              </a:defRPr>
            </a:pPr>
            <a:r>
              <a:t>4. Deliver</a:t>
            </a:r>
          </a:p>
        </p:txBody>
      </p:sp>
      <p:sp>
        <p:nvSpPr>
          <p:cNvPr id="29" name="TextBox 28"/>
          <p:cNvSpPr txBox="1"/>
          <p:nvPr/>
        </p:nvSpPr>
        <p:spPr>
          <a:xfrm>
            <a:off x="6126480" y="4709160"/>
            <a:ext cx="1600200" cy="914400"/>
          </a:xfrm>
          <a:prstGeom prst="rect">
            <a:avLst/>
          </a:prstGeom>
          <a:noFill/>
        </p:spPr>
        <p:txBody>
          <a:bodyPr wrap="square">
            <a:spAutoFit/>
          </a:bodyPr>
          <a:lstStyle/>
          <a:p>
            <a:pPr algn="ctr">
              <a:spcAft>
                <a:spcPts val="200"/>
              </a:spcAft>
              <a:defRPr sz="650" b="0">
                <a:solidFill>
                  <a:srgbClr val="FFFFFF"/>
                </a:solidFill>
                <a:latin typeface="Calibri"/>
              </a:defRPr>
            </a:pPr>
            <a:r>
              <a:t>Practice leads</a:t>
            </a:r>
            <a:br/>
            <a:r>
              <a:t>implementation.</a:t>
            </a:r>
            <a:br/>
            <a:r>
              <a:t>Pre-sales supports</a:t>
            </a:r>
            <a:br/>
            <a:r>
              <a:t>stakeholder comms.</a:t>
            </a:r>
          </a:p>
        </p:txBody>
      </p:sp>
      <p:sp>
        <p:nvSpPr>
          <p:cNvPr id="30" name="TextBox 29"/>
          <p:cNvSpPr txBox="1"/>
          <p:nvPr/>
        </p:nvSpPr>
        <p:spPr>
          <a:xfrm>
            <a:off x="365760" y="5943600"/>
            <a:ext cx="6400800" cy="365760"/>
          </a:xfrm>
          <a:prstGeom prst="rect">
            <a:avLst/>
          </a:prstGeom>
          <a:noFill/>
        </p:spPr>
        <p:txBody>
          <a:bodyPr wrap="square">
            <a:spAutoFit/>
          </a:bodyPr>
          <a:lstStyle/>
          <a:p>
            <a:pPr algn="l">
              <a:spcAft>
                <a:spcPts val="200"/>
              </a:spcAft>
              <a:defRPr sz="700" b="1">
                <a:solidFill>
                  <a:srgbClr val="0A1628"/>
                </a:solidFill>
                <a:latin typeface="Calibri"/>
              </a:defRPr>
            </a:pPr>
            <a:r>
              <a:t>Key principle: Sales and Practice align on opportunity BEFORE client engagement. No solo pursuits — every opportunity gets the full team.</a:t>
            </a:r>
          </a:p>
        </p:txBody>
      </p:sp>
      <p:pic>
        <p:nvPicPr>
          <p:cNvPr id="31" name="Picture 30" descr="image.jpg"/>
          <p:cNvPicPr>
            <a:picLocks noChangeAspect="1"/>
          </p:cNvPicPr>
          <p:nvPr/>
        </p:nvPicPr>
        <p:blipFill>
          <a:blip r:embed="rId2"/>
          <a:stretch>
            <a:fillRect/>
          </a:stretch>
        </p:blipFill>
        <p:spPr>
          <a:xfrm>
            <a:off x="8076895" y="0"/>
            <a:ext cx="4114800" cy="6858000"/>
          </a:xfrm>
          <a:prstGeom prst="rect">
            <a:avLst/>
          </a:prstGeom>
        </p:spPr>
      </p:pic>
      <p:sp>
        <p:nvSpPr>
          <p:cNvPr id="32" name="TextBox 31"/>
          <p:cNvSpPr txBox="1"/>
          <p:nvPr/>
        </p:nvSpPr>
        <p:spPr>
          <a:xfrm>
            <a:off x="274320" y="6492240"/>
            <a:ext cx="4572000" cy="274320"/>
          </a:xfrm>
          <a:prstGeom prst="rect">
            <a:avLst/>
          </a:prstGeom>
          <a:noFill/>
        </p:spPr>
        <p:txBody>
          <a:bodyPr wrap="square">
            <a:spAutoFit/>
          </a:bodyPr>
          <a:lstStyle/>
          <a:p>
            <a:pPr algn="l">
              <a:spcAft>
                <a:spcPts val="200"/>
              </a:spcAft>
              <a:defRPr sz="700" b="0">
                <a:solidFill>
                  <a:srgbClr val="888888"/>
                </a:solidFill>
                <a:latin typeface="Calibri"/>
              </a:defRPr>
            </a:pPr>
            <a:r>
              <a:t>Agentic AI Use Cases Across Industries | Confidential</a:t>
            </a:r>
          </a:p>
        </p:txBody>
      </p:sp>
      <p:sp>
        <p:nvSpPr>
          <p:cNvPr id="33" name="TextBox 32"/>
          <p:cNvSpPr txBox="1"/>
          <p:nvPr/>
        </p:nvSpPr>
        <p:spPr>
          <a:xfrm>
            <a:off x="11094415" y="6492240"/>
            <a:ext cx="822960" cy="274320"/>
          </a:xfrm>
          <a:prstGeom prst="rect">
            <a:avLst/>
          </a:prstGeom>
          <a:noFill/>
        </p:spPr>
        <p:txBody>
          <a:bodyPr wrap="square">
            <a:spAutoFit/>
          </a:bodyPr>
          <a:lstStyle/>
          <a:p>
            <a:pPr algn="r">
              <a:spcAft>
                <a:spcPts val="200"/>
              </a:spcAft>
              <a:defRPr sz="700" b="0">
                <a:solidFill>
                  <a:srgbClr val="888888"/>
                </a:solidFill>
                <a:latin typeface="Calibri"/>
              </a:defRPr>
            </a:pPr>
            <a:r>
              <a:t>43 / 46</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8076895" cy="6858000"/>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82880"/>
            <a:ext cx="7436815" cy="457200"/>
          </a:xfrm>
          <a:prstGeom prst="rect">
            <a:avLst/>
          </a:prstGeom>
          <a:noFill/>
        </p:spPr>
        <p:txBody>
          <a:bodyPr wrap="square">
            <a:spAutoFit/>
          </a:bodyPr>
          <a:lstStyle/>
          <a:p>
            <a:pPr algn="l">
              <a:spcAft>
                <a:spcPts val="200"/>
              </a:spcAft>
              <a:defRPr sz="2400" b="1">
                <a:solidFill>
                  <a:srgbClr val="FFFFFF"/>
                </a:solidFill>
                <a:latin typeface="Calibri"/>
              </a:defRPr>
            </a:pPr>
            <a:r>
              <a:t>Pipeline &amp; Strategic Opportunities</a:t>
            </a:r>
          </a:p>
        </p:txBody>
      </p:sp>
      <p:sp>
        <p:nvSpPr>
          <p:cNvPr id="4" name="Rectangle 3"/>
          <p:cNvSpPr/>
          <p:nvPr/>
        </p:nvSpPr>
        <p:spPr>
          <a:xfrm>
            <a:off x="365760" y="640080"/>
            <a:ext cx="1828800" cy="27432"/>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777240"/>
            <a:ext cx="6858000" cy="201168"/>
          </a:xfrm>
          <a:prstGeom prst="rect">
            <a:avLst/>
          </a:prstGeom>
          <a:noFill/>
        </p:spPr>
        <p:txBody>
          <a:bodyPr wrap="square">
            <a:spAutoFit/>
          </a:bodyPr>
          <a:lstStyle/>
          <a:p>
            <a:pPr algn="l">
              <a:spcAft>
                <a:spcPts val="200"/>
              </a:spcAft>
              <a:defRPr sz="900" b="1">
                <a:solidFill>
                  <a:srgbClr val="0A1628"/>
                </a:solidFill>
                <a:latin typeface="Calibri"/>
              </a:defRPr>
            </a:pPr>
            <a:r>
              <a:t>HIGHEST-ROI TARGET VERTICALS FOR AGENTIC AI</a:t>
            </a:r>
          </a:p>
        </p:txBody>
      </p:sp>
      <p:sp>
        <p:nvSpPr>
          <p:cNvPr id="6" name="Rectangle 5"/>
          <p:cNvSpPr/>
          <p:nvPr/>
        </p:nvSpPr>
        <p:spPr>
          <a:xfrm>
            <a:off x="274320" y="1051560"/>
            <a:ext cx="7619695" cy="73152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5760" y="1106424"/>
            <a:ext cx="2011680" cy="201168"/>
          </a:xfrm>
          <a:prstGeom prst="rect">
            <a:avLst/>
          </a:prstGeom>
          <a:noFill/>
        </p:spPr>
        <p:txBody>
          <a:bodyPr wrap="square">
            <a:spAutoFit/>
          </a:bodyPr>
          <a:lstStyle/>
          <a:p>
            <a:pPr algn="l">
              <a:spcAft>
                <a:spcPts val="200"/>
              </a:spcAft>
              <a:defRPr sz="850" b="1">
                <a:solidFill>
                  <a:srgbClr val="FFB800"/>
                </a:solidFill>
                <a:latin typeface="Calibri"/>
              </a:defRPr>
            </a:pPr>
            <a:r>
              <a:t>Insurance &amp; Claims</a:t>
            </a:r>
          </a:p>
        </p:txBody>
      </p:sp>
      <p:sp>
        <p:nvSpPr>
          <p:cNvPr id="8" name="TextBox 7"/>
          <p:cNvSpPr txBox="1"/>
          <p:nvPr/>
        </p:nvSpPr>
        <p:spPr>
          <a:xfrm>
            <a:off x="2468880" y="1106424"/>
            <a:ext cx="4846320" cy="320040"/>
          </a:xfrm>
          <a:prstGeom prst="rect">
            <a:avLst/>
          </a:prstGeom>
          <a:noFill/>
        </p:spPr>
        <p:txBody>
          <a:bodyPr wrap="square">
            <a:spAutoFit/>
          </a:bodyPr>
          <a:lstStyle/>
          <a:p>
            <a:pPr algn="l">
              <a:spcAft>
                <a:spcPts val="200"/>
              </a:spcAft>
              <a:defRPr sz="700" b="0">
                <a:solidFill>
                  <a:srgbClr val="FFFFFF"/>
                </a:solidFill>
                <a:latin typeface="Calibri"/>
              </a:defRPr>
            </a:pPr>
            <a:r>
              <a:t>Fastest payback. Claims, underwriting, fraud detection. Document-intensive, rule-governed, high-volume. 3-month ROI median.</a:t>
            </a:r>
          </a:p>
        </p:txBody>
      </p:sp>
      <p:sp>
        <p:nvSpPr>
          <p:cNvPr id="9" name="TextBox 8"/>
          <p:cNvSpPr txBox="1"/>
          <p:nvPr/>
        </p:nvSpPr>
        <p:spPr>
          <a:xfrm>
            <a:off x="2468880" y="1463040"/>
            <a:ext cx="4846320" cy="274320"/>
          </a:xfrm>
          <a:prstGeom prst="rect">
            <a:avLst/>
          </a:prstGeom>
          <a:noFill/>
        </p:spPr>
        <p:txBody>
          <a:bodyPr wrap="square">
            <a:spAutoFit/>
          </a:bodyPr>
          <a:lstStyle/>
          <a:p>
            <a:pPr algn="l">
              <a:spcAft>
                <a:spcPts val="200"/>
              </a:spcAft>
              <a:defRPr sz="650" b="0">
                <a:solidFill>
                  <a:srgbClr val="00C9A7"/>
                </a:solidFill>
                <a:latin typeface="Calibri"/>
              </a:defRPr>
            </a:pPr>
            <a:r>
              <a:t>Proof points: Allianz, AIG, Clariva — production at scale</a:t>
            </a:r>
          </a:p>
        </p:txBody>
      </p:sp>
      <p:sp>
        <p:nvSpPr>
          <p:cNvPr id="10" name="Rectangle 9"/>
          <p:cNvSpPr/>
          <p:nvPr/>
        </p:nvSpPr>
        <p:spPr>
          <a:xfrm>
            <a:off x="274320" y="1828800"/>
            <a:ext cx="7619695" cy="731520"/>
          </a:xfrm>
          <a:prstGeom prst="rect">
            <a:avLst/>
          </a:prstGeom>
          <a:solidFill>
            <a:srgbClr val="0E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65760" y="1883664"/>
            <a:ext cx="2011680" cy="201168"/>
          </a:xfrm>
          <a:prstGeom prst="rect">
            <a:avLst/>
          </a:prstGeom>
          <a:noFill/>
        </p:spPr>
        <p:txBody>
          <a:bodyPr wrap="square">
            <a:spAutoFit/>
          </a:bodyPr>
          <a:lstStyle/>
          <a:p>
            <a:pPr algn="l">
              <a:spcAft>
                <a:spcPts val="200"/>
              </a:spcAft>
              <a:defRPr sz="850" b="1">
                <a:solidFill>
                  <a:srgbClr val="FFB800"/>
                </a:solidFill>
                <a:latin typeface="Calibri"/>
              </a:defRPr>
            </a:pPr>
            <a:r>
              <a:t>Financial Services</a:t>
            </a:r>
          </a:p>
        </p:txBody>
      </p:sp>
      <p:sp>
        <p:nvSpPr>
          <p:cNvPr id="12" name="TextBox 11"/>
          <p:cNvSpPr txBox="1"/>
          <p:nvPr/>
        </p:nvSpPr>
        <p:spPr>
          <a:xfrm>
            <a:off x="2468880" y="1883664"/>
            <a:ext cx="4846320" cy="320040"/>
          </a:xfrm>
          <a:prstGeom prst="rect">
            <a:avLst/>
          </a:prstGeom>
          <a:noFill/>
        </p:spPr>
        <p:txBody>
          <a:bodyPr wrap="square">
            <a:spAutoFit/>
          </a:bodyPr>
          <a:lstStyle/>
          <a:p>
            <a:pPr algn="l">
              <a:spcAft>
                <a:spcPts val="200"/>
              </a:spcAft>
              <a:defRPr sz="700" b="0">
                <a:solidFill>
                  <a:srgbClr val="FFFFFF"/>
                </a:solidFill>
                <a:latin typeface="Calibri"/>
              </a:defRPr>
            </a:pPr>
            <a:r>
              <a:t>Compliance-critical workflows. Wire transfers, equity research, customer onboarding, AML/KYC. Regulated but high-margin.</a:t>
            </a:r>
          </a:p>
        </p:txBody>
      </p:sp>
      <p:sp>
        <p:nvSpPr>
          <p:cNvPr id="13" name="TextBox 12"/>
          <p:cNvSpPr txBox="1"/>
          <p:nvPr/>
        </p:nvSpPr>
        <p:spPr>
          <a:xfrm>
            <a:off x="2468880" y="2240280"/>
            <a:ext cx="4846320" cy="274320"/>
          </a:xfrm>
          <a:prstGeom prst="rect">
            <a:avLst/>
          </a:prstGeom>
          <a:noFill/>
        </p:spPr>
        <p:txBody>
          <a:bodyPr wrap="square">
            <a:spAutoFit/>
          </a:bodyPr>
          <a:lstStyle/>
          <a:p>
            <a:pPr algn="l">
              <a:spcAft>
                <a:spcPts val="200"/>
              </a:spcAft>
              <a:defRPr sz="650" b="0">
                <a:solidFill>
                  <a:srgbClr val="00C9A7"/>
                </a:solidFill>
                <a:latin typeface="Calibri"/>
              </a:defRPr>
            </a:pPr>
            <a:r>
              <a:t>Proof points: Wells Fargo, Schroders, FinRobot — enterprise adoption</a:t>
            </a:r>
          </a:p>
        </p:txBody>
      </p:sp>
      <p:sp>
        <p:nvSpPr>
          <p:cNvPr id="14" name="Rectangle 13"/>
          <p:cNvSpPr/>
          <p:nvPr/>
        </p:nvSpPr>
        <p:spPr>
          <a:xfrm>
            <a:off x="274320" y="2606040"/>
            <a:ext cx="7619695" cy="73152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65760" y="2660904"/>
            <a:ext cx="2011680" cy="201168"/>
          </a:xfrm>
          <a:prstGeom prst="rect">
            <a:avLst/>
          </a:prstGeom>
          <a:noFill/>
        </p:spPr>
        <p:txBody>
          <a:bodyPr wrap="square">
            <a:spAutoFit/>
          </a:bodyPr>
          <a:lstStyle/>
          <a:p>
            <a:pPr algn="l">
              <a:spcAft>
                <a:spcPts val="200"/>
              </a:spcAft>
              <a:defRPr sz="850" b="1">
                <a:solidFill>
                  <a:srgbClr val="FFB800"/>
                </a:solidFill>
                <a:latin typeface="Calibri"/>
              </a:defRPr>
            </a:pPr>
            <a:r>
              <a:t>Supply Chain &amp; Logistics</a:t>
            </a:r>
          </a:p>
        </p:txBody>
      </p:sp>
      <p:sp>
        <p:nvSpPr>
          <p:cNvPr id="16" name="TextBox 15"/>
          <p:cNvSpPr txBox="1"/>
          <p:nvPr/>
        </p:nvSpPr>
        <p:spPr>
          <a:xfrm>
            <a:off x="2468880" y="2660904"/>
            <a:ext cx="4846320" cy="320040"/>
          </a:xfrm>
          <a:prstGeom prst="rect">
            <a:avLst/>
          </a:prstGeom>
          <a:noFill/>
        </p:spPr>
        <p:txBody>
          <a:bodyPr wrap="square">
            <a:spAutoFit/>
          </a:bodyPr>
          <a:lstStyle/>
          <a:p>
            <a:pPr algn="l">
              <a:spcAft>
                <a:spcPts val="200"/>
              </a:spcAft>
              <a:defRPr sz="700" b="0">
                <a:solidFill>
                  <a:srgbClr val="FFFFFF"/>
                </a:solidFill>
                <a:latin typeface="Calibri"/>
              </a:defRPr>
            </a:pPr>
            <a:r>
              <a:t>Exception handling + control towers. High transaction volume, multi-system integration, real-time requirements.</a:t>
            </a:r>
          </a:p>
        </p:txBody>
      </p:sp>
      <p:sp>
        <p:nvSpPr>
          <p:cNvPr id="17" name="TextBox 16"/>
          <p:cNvSpPr txBox="1"/>
          <p:nvPr/>
        </p:nvSpPr>
        <p:spPr>
          <a:xfrm>
            <a:off x="2468880" y="3017520"/>
            <a:ext cx="4846320" cy="274320"/>
          </a:xfrm>
          <a:prstGeom prst="rect">
            <a:avLst/>
          </a:prstGeom>
          <a:noFill/>
        </p:spPr>
        <p:txBody>
          <a:bodyPr wrap="square">
            <a:spAutoFit/>
          </a:bodyPr>
          <a:lstStyle/>
          <a:p>
            <a:pPr algn="l">
              <a:spcAft>
                <a:spcPts val="200"/>
              </a:spcAft>
              <a:defRPr sz="650" b="0">
                <a:solidFill>
                  <a:srgbClr val="00C9A7"/>
                </a:solidFill>
                <a:latin typeface="Calibri"/>
              </a:defRPr>
            </a:pPr>
            <a:r>
              <a:t>Proof points: Singapore 3PL, C.H. Robinson, UNACEM — measurable savings</a:t>
            </a:r>
          </a:p>
        </p:txBody>
      </p:sp>
      <p:sp>
        <p:nvSpPr>
          <p:cNvPr id="18" name="Rectangle 17"/>
          <p:cNvSpPr/>
          <p:nvPr/>
        </p:nvSpPr>
        <p:spPr>
          <a:xfrm>
            <a:off x="274320" y="3383280"/>
            <a:ext cx="7619695" cy="731520"/>
          </a:xfrm>
          <a:prstGeom prst="rect">
            <a:avLst/>
          </a:prstGeom>
          <a:solidFill>
            <a:srgbClr val="0E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65760" y="3438144"/>
            <a:ext cx="2011680" cy="201168"/>
          </a:xfrm>
          <a:prstGeom prst="rect">
            <a:avLst/>
          </a:prstGeom>
          <a:noFill/>
        </p:spPr>
        <p:txBody>
          <a:bodyPr wrap="square">
            <a:spAutoFit/>
          </a:bodyPr>
          <a:lstStyle/>
          <a:p>
            <a:pPr algn="l">
              <a:spcAft>
                <a:spcPts val="200"/>
              </a:spcAft>
              <a:defRPr sz="850" b="1">
                <a:solidFill>
                  <a:srgbClr val="FFB800"/>
                </a:solidFill>
                <a:latin typeface="Calibri"/>
              </a:defRPr>
            </a:pPr>
            <a:r>
              <a:t>Manufacturing</a:t>
            </a:r>
          </a:p>
        </p:txBody>
      </p:sp>
      <p:sp>
        <p:nvSpPr>
          <p:cNvPr id="20" name="TextBox 19"/>
          <p:cNvSpPr txBox="1"/>
          <p:nvPr/>
        </p:nvSpPr>
        <p:spPr>
          <a:xfrm>
            <a:off x="2468880" y="3438144"/>
            <a:ext cx="4846320" cy="320040"/>
          </a:xfrm>
          <a:prstGeom prst="rect">
            <a:avLst/>
          </a:prstGeom>
          <a:noFill/>
        </p:spPr>
        <p:txBody>
          <a:bodyPr wrap="square">
            <a:spAutoFit/>
          </a:bodyPr>
          <a:lstStyle/>
          <a:p>
            <a:pPr algn="l">
              <a:spcAft>
                <a:spcPts val="200"/>
              </a:spcAft>
              <a:defRPr sz="700" b="0">
                <a:solidFill>
                  <a:srgbClr val="FFFFFF"/>
                </a:solidFill>
                <a:latin typeface="Calibri"/>
              </a:defRPr>
            </a:pPr>
            <a:r>
              <a:t>IoT-connected agents for RCA, quality, digital twins. Industry 4.0/5.0 alignment. Long sales cycles but high contract values.</a:t>
            </a:r>
          </a:p>
        </p:txBody>
      </p:sp>
      <p:sp>
        <p:nvSpPr>
          <p:cNvPr id="21" name="TextBox 20"/>
          <p:cNvSpPr txBox="1"/>
          <p:nvPr/>
        </p:nvSpPr>
        <p:spPr>
          <a:xfrm>
            <a:off x="2468880" y="3794760"/>
            <a:ext cx="4846320" cy="274320"/>
          </a:xfrm>
          <a:prstGeom prst="rect">
            <a:avLst/>
          </a:prstGeom>
          <a:noFill/>
        </p:spPr>
        <p:txBody>
          <a:bodyPr wrap="square">
            <a:spAutoFit/>
          </a:bodyPr>
          <a:lstStyle/>
          <a:p>
            <a:pPr algn="l">
              <a:spcAft>
                <a:spcPts val="200"/>
              </a:spcAft>
              <a:defRPr sz="650" b="0">
                <a:solidFill>
                  <a:srgbClr val="00C9A7"/>
                </a:solidFill>
                <a:latin typeface="Calibri"/>
              </a:defRPr>
            </a:pPr>
            <a:r>
              <a:t>Proof points: Apollo Tyres, HCLTech, BMW — scaling from pilot</a:t>
            </a:r>
          </a:p>
        </p:txBody>
      </p:sp>
      <p:sp>
        <p:nvSpPr>
          <p:cNvPr id="22" name="Rectangle 21"/>
          <p:cNvSpPr/>
          <p:nvPr/>
        </p:nvSpPr>
        <p:spPr>
          <a:xfrm>
            <a:off x="274320" y="4160520"/>
            <a:ext cx="7619695" cy="73152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65760" y="4215384"/>
            <a:ext cx="2011680" cy="201168"/>
          </a:xfrm>
          <a:prstGeom prst="rect">
            <a:avLst/>
          </a:prstGeom>
          <a:noFill/>
        </p:spPr>
        <p:txBody>
          <a:bodyPr wrap="square">
            <a:spAutoFit/>
          </a:bodyPr>
          <a:lstStyle/>
          <a:p>
            <a:pPr algn="l">
              <a:spcAft>
                <a:spcPts val="200"/>
              </a:spcAft>
              <a:defRPr sz="850" b="1">
                <a:solidFill>
                  <a:srgbClr val="FFB800"/>
                </a:solidFill>
                <a:latin typeface="Calibri"/>
              </a:defRPr>
            </a:pPr>
            <a:r>
              <a:t>Healthcare</a:t>
            </a:r>
          </a:p>
        </p:txBody>
      </p:sp>
      <p:sp>
        <p:nvSpPr>
          <p:cNvPr id="24" name="TextBox 23"/>
          <p:cNvSpPr txBox="1"/>
          <p:nvPr/>
        </p:nvSpPr>
        <p:spPr>
          <a:xfrm>
            <a:off x="2468880" y="4215384"/>
            <a:ext cx="4846320" cy="320040"/>
          </a:xfrm>
          <a:prstGeom prst="rect">
            <a:avLst/>
          </a:prstGeom>
          <a:noFill/>
        </p:spPr>
        <p:txBody>
          <a:bodyPr wrap="square">
            <a:spAutoFit/>
          </a:bodyPr>
          <a:lstStyle/>
          <a:p>
            <a:pPr algn="l">
              <a:spcAft>
                <a:spcPts val="200"/>
              </a:spcAft>
              <a:defRPr sz="700" b="0">
                <a:solidFill>
                  <a:srgbClr val="FFFFFF"/>
                </a:solidFill>
                <a:latin typeface="Calibri"/>
              </a:defRPr>
            </a:pPr>
            <a:r>
              <a:t>Clinical reasoning, drug discovery, document processing. Heavy regulation but transformative potential. Longer sales cycles.</a:t>
            </a:r>
          </a:p>
        </p:txBody>
      </p:sp>
      <p:sp>
        <p:nvSpPr>
          <p:cNvPr id="25" name="TextBox 24"/>
          <p:cNvSpPr txBox="1"/>
          <p:nvPr/>
        </p:nvSpPr>
        <p:spPr>
          <a:xfrm>
            <a:off x="2468880" y="4572000"/>
            <a:ext cx="4846320" cy="274320"/>
          </a:xfrm>
          <a:prstGeom prst="rect">
            <a:avLst/>
          </a:prstGeom>
          <a:noFill/>
        </p:spPr>
        <p:txBody>
          <a:bodyPr wrap="square">
            <a:spAutoFit/>
          </a:bodyPr>
          <a:lstStyle/>
          <a:p>
            <a:pPr algn="l">
              <a:spcAft>
                <a:spcPts val="200"/>
              </a:spcAft>
              <a:defRPr sz="650" b="0">
                <a:solidFill>
                  <a:srgbClr val="00C9A7"/>
                </a:solidFill>
                <a:latin typeface="Calibri"/>
              </a:defRPr>
            </a:pPr>
            <a:r>
              <a:t>Proof points: TXAGENT, Tippy, cognitive detection — research to production</a:t>
            </a:r>
          </a:p>
        </p:txBody>
      </p:sp>
      <p:sp>
        <p:nvSpPr>
          <p:cNvPr id="26" name="TextBox 25"/>
          <p:cNvSpPr txBox="1"/>
          <p:nvPr/>
        </p:nvSpPr>
        <p:spPr>
          <a:xfrm>
            <a:off x="365760" y="5029200"/>
            <a:ext cx="6858000" cy="201168"/>
          </a:xfrm>
          <a:prstGeom prst="rect">
            <a:avLst/>
          </a:prstGeom>
          <a:noFill/>
        </p:spPr>
        <p:txBody>
          <a:bodyPr wrap="square">
            <a:spAutoFit/>
          </a:bodyPr>
          <a:lstStyle/>
          <a:p>
            <a:pPr algn="l">
              <a:spcAft>
                <a:spcPts val="200"/>
              </a:spcAft>
              <a:defRPr sz="900" b="1">
                <a:solidFill>
                  <a:srgbClr val="0A1628"/>
                </a:solidFill>
                <a:latin typeface="Calibri"/>
              </a:defRPr>
            </a:pPr>
            <a:r>
              <a:t>STRATEGIC PIPELINE PLAYS</a:t>
            </a:r>
          </a:p>
        </p:txBody>
      </p:sp>
      <p:sp>
        <p:nvSpPr>
          <p:cNvPr id="27" name="Rectangle 26"/>
          <p:cNvSpPr/>
          <p:nvPr/>
        </p:nvSpPr>
        <p:spPr>
          <a:xfrm>
            <a:off x="274320" y="5303520"/>
            <a:ext cx="1783080" cy="100584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65760" y="5349240"/>
            <a:ext cx="1600200" cy="201168"/>
          </a:xfrm>
          <a:prstGeom prst="rect">
            <a:avLst/>
          </a:prstGeom>
          <a:noFill/>
        </p:spPr>
        <p:txBody>
          <a:bodyPr wrap="square">
            <a:spAutoFit/>
          </a:bodyPr>
          <a:lstStyle/>
          <a:p>
            <a:pPr algn="ctr">
              <a:spcAft>
                <a:spcPts val="200"/>
              </a:spcAft>
              <a:defRPr sz="800" b="1">
                <a:solidFill>
                  <a:srgbClr val="FFB800"/>
                </a:solidFill>
                <a:latin typeface="Calibri"/>
              </a:defRPr>
            </a:pPr>
            <a:r>
              <a:t>Land with Claims</a:t>
            </a:r>
          </a:p>
        </p:txBody>
      </p:sp>
      <p:sp>
        <p:nvSpPr>
          <p:cNvPr id="29" name="TextBox 28"/>
          <p:cNvSpPr txBox="1"/>
          <p:nvPr/>
        </p:nvSpPr>
        <p:spPr>
          <a:xfrm>
            <a:off x="365760" y="5577840"/>
            <a:ext cx="1600200" cy="640080"/>
          </a:xfrm>
          <a:prstGeom prst="rect">
            <a:avLst/>
          </a:prstGeom>
          <a:noFill/>
        </p:spPr>
        <p:txBody>
          <a:bodyPr wrap="square">
            <a:spAutoFit/>
          </a:bodyPr>
          <a:lstStyle/>
          <a:p>
            <a:pPr algn="ctr">
              <a:spcAft>
                <a:spcPts val="200"/>
              </a:spcAft>
              <a:defRPr sz="650" b="0">
                <a:solidFill>
                  <a:srgbClr val="FFFFFF"/>
                </a:solidFill>
                <a:latin typeface="Calibri"/>
              </a:defRPr>
            </a:pPr>
            <a:r>
              <a:t>Start with document</a:t>
            </a:r>
            <a:br/>
            <a:r>
              <a:t>processing or claims.</a:t>
            </a:r>
            <a:br/>
            <a:r>
              <a:t>3-month ROI proof.</a:t>
            </a:r>
            <a:br/>
            <a:r>
              <a:t>Expand to adjacent.</a:t>
            </a:r>
          </a:p>
        </p:txBody>
      </p:sp>
      <p:sp>
        <p:nvSpPr>
          <p:cNvPr id="30" name="Rectangle 29"/>
          <p:cNvSpPr/>
          <p:nvPr/>
        </p:nvSpPr>
        <p:spPr>
          <a:xfrm>
            <a:off x="2194560" y="5303520"/>
            <a:ext cx="1783080" cy="100584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2286000" y="5349240"/>
            <a:ext cx="1600200" cy="201168"/>
          </a:xfrm>
          <a:prstGeom prst="rect">
            <a:avLst/>
          </a:prstGeom>
          <a:noFill/>
        </p:spPr>
        <p:txBody>
          <a:bodyPr wrap="square">
            <a:spAutoFit/>
          </a:bodyPr>
          <a:lstStyle/>
          <a:p>
            <a:pPr algn="ctr">
              <a:spcAft>
                <a:spcPts val="200"/>
              </a:spcAft>
              <a:defRPr sz="800" b="1">
                <a:solidFill>
                  <a:srgbClr val="FFB800"/>
                </a:solidFill>
                <a:latin typeface="Calibri"/>
              </a:defRPr>
            </a:pPr>
            <a:r>
              <a:t>Control Tower Entry</a:t>
            </a:r>
          </a:p>
        </p:txBody>
      </p:sp>
      <p:sp>
        <p:nvSpPr>
          <p:cNvPr id="32" name="TextBox 31"/>
          <p:cNvSpPr txBox="1"/>
          <p:nvPr/>
        </p:nvSpPr>
        <p:spPr>
          <a:xfrm>
            <a:off x="2286000" y="5577840"/>
            <a:ext cx="1600200" cy="640080"/>
          </a:xfrm>
          <a:prstGeom prst="rect">
            <a:avLst/>
          </a:prstGeom>
          <a:noFill/>
        </p:spPr>
        <p:txBody>
          <a:bodyPr wrap="square">
            <a:spAutoFit/>
          </a:bodyPr>
          <a:lstStyle/>
          <a:p>
            <a:pPr algn="ctr">
              <a:spcAft>
                <a:spcPts val="200"/>
              </a:spcAft>
              <a:defRPr sz="650" b="0">
                <a:solidFill>
                  <a:srgbClr val="FFFFFF"/>
                </a:solidFill>
                <a:latin typeface="Calibri"/>
              </a:defRPr>
            </a:pPr>
            <a:r>
              <a:t>Supply chain exception</a:t>
            </a:r>
            <a:br/>
            <a:r>
              <a:t>handling as wedge.</a:t>
            </a:r>
            <a:br/>
            <a:r>
              <a:t>73% auto-resolution.</a:t>
            </a:r>
            <a:br/>
            <a:r>
              <a:t>Expand to full ops.</a:t>
            </a:r>
          </a:p>
        </p:txBody>
      </p:sp>
      <p:sp>
        <p:nvSpPr>
          <p:cNvPr id="33" name="Rectangle 32"/>
          <p:cNvSpPr/>
          <p:nvPr/>
        </p:nvSpPr>
        <p:spPr>
          <a:xfrm>
            <a:off x="4114800" y="5303520"/>
            <a:ext cx="1783080" cy="100584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4206240" y="5349240"/>
            <a:ext cx="1600200" cy="201168"/>
          </a:xfrm>
          <a:prstGeom prst="rect">
            <a:avLst/>
          </a:prstGeom>
          <a:noFill/>
        </p:spPr>
        <p:txBody>
          <a:bodyPr wrap="square">
            <a:spAutoFit/>
          </a:bodyPr>
          <a:lstStyle/>
          <a:p>
            <a:pPr algn="ctr">
              <a:spcAft>
                <a:spcPts val="200"/>
              </a:spcAft>
              <a:defRPr sz="800" b="1">
                <a:solidFill>
                  <a:srgbClr val="FFB800"/>
                </a:solidFill>
                <a:latin typeface="Calibri"/>
              </a:defRPr>
            </a:pPr>
            <a:r>
              <a:t>Developer Platform</a:t>
            </a:r>
          </a:p>
        </p:txBody>
      </p:sp>
      <p:sp>
        <p:nvSpPr>
          <p:cNvPr id="35" name="TextBox 34"/>
          <p:cNvSpPr txBox="1"/>
          <p:nvPr/>
        </p:nvSpPr>
        <p:spPr>
          <a:xfrm>
            <a:off x="4206240" y="5577840"/>
            <a:ext cx="1600200" cy="640080"/>
          </a:xfrm>
          <a:prstGeom prst="rect">
            <a:avLst/>
          </a:prstGeom>
          <a:noFill/>
        </p:spPr>
        <p:txBody>
          <a:bodyPr wrap="square">
            <a:spAutoFit/>
          </a:bodyPr>
          <a:lstStyle/>
          <a:p>
            <a:pPr algn="ctr">
              <a:spcAft>
                <a:spcPts val="200"/>
              </a:spcAft>
              <a:defRPr sz="650" b="0">
                <a:solidFill>
                  <a:srgbClr val="FFFFFF"/>
                </a:solidFill>
                <a:latin typeface="Calibri"/>
              </a:defRPr>
            </a:pPr>
            <a:r>
              <a:t>Code agents for dev</a:t>
            </a:r>
            <a:br/>
            <a:r>
              <a:t>teams. Low risk pilot.</a:t>
            </a:r>
            <a:br/>
            <a:r>
              <a:t>30-50% gains. Expand</a:t>
            </a:r>
            <a:br/>
            <a:r>
              <a:t>to enterprise agents.</a:t>
            </a:r>
          </a:p>
        </p:txBody>
      </p:sp>
      <p:sp>
        <p:nvSpPr>
          <p:cNvPr id="36" name="Rectangle 35"/>
          <p:cNvSpPr/>
          <p:nvPr/>
        </p:nvSpPr>
        <p:spPr>
          <a:xfrm>
            <a:off x="6035040" y="5303520"/>
            <a:ext cx="1783080" cy="100584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126480" y="5349240"/>
            <a:ext cx="1600200" cy="201168"/>
          </a:xfrm>
          <a:prstGeom prst="rect">
            <a:avLst/>
          </a:prstGeom>
          <a:noFill/>
        </p:spPr>
        <p:txBody>
          <a:bodyPr wrap="square">
            <a:spAutoFit/>
          </a:bodyPr>
          <a:lstStyle/>
          <a:p>
            <a:pPr algn="ctr">
              <a:spcAft>
                <a:spcPts val="200"/>
              </a:spcAft>
              <a:defRPr sz="800" b="1">
                <a:solidFill>
                  <a:srgbClr val="FFB800"/>
                </a:solidFill>
                <a:latin typeface="Calibri"/>
              </a:defRPr>
            </a:pPr>
            <a:r>
              <a:t>Workshop-Led</a:t>
            </a:r>
          </a:p>
        </p:txBody>
      </p:sp>
      <p:sp>
        <p:nvSpPr>
          <p:cNvPr id="38" name="TextBox 37"/>
          <p:cNvSpPr txBox="1"/>
          <p:nvPr/>
        </p:nvSpPr>
        <p:spPr>
          <a:xfrm>
            <a:off x="6126480" y="5577840"/>
            <a:ext cx="1600200" cy="640080"/>
          </a:xfrm>
          <a:prstGeom prst="rect">
            <a:avLst/>
          </a:prstGeom>
          <a:noFill/>
        </p:spPr>
        <p:txBody>
          <a:bodyPr wrap="square">
            <a:spAutoFit/>
          </a:bodyPr>
          <a:lstStyle/>
          <a:p>
            <a:pPr algn="ctr">
              <a:spcAft>
                <a:spcPts val="200"/>
              </a:spcAft>
              <a:defRPr sz="650" b="0">
                <a:solidFill>
                  <a:srgbClr val="FFFFFF"/>
                </a:solidFill>
                <a:latin typeface="Calibri"/>
              </a:defRPr>
            </a:pPr>
            <a:r>
              <a:t>Discovery workshop</a:t>
            </a:r>
            <a:br/>
            <a:r>
              <a:t>(half-day). Map pain</a:t>
            </a:r>
            <a:br/>
            <a:r>
              <a:t>points live. Convert</a:t>
            </a:r>
            <a:br/>
            <a:r>
              <a:t>to 12-week pilot.</a:t>
            </a:r>
          </a:p>
        </p:txBody>
      </p:sp>
      <p:pic>
        <p:nvPicPr>
          <p:cNvPr id="39" name="Picture 38" descr="image.jpg"/>
          <p:cNvPicPr>
            <a:picLocks noChangeAspect="1"/>
          </p:cNvPicPr>
          <p:nvPr/>
        </p:nvPicPr>
        <p:blipFill>
          <a:blip r:embed="rId2"/>
          <a:stretch>
            <a:fillRect/>
          </a:stretch>
        </p:blipFill>
        <p:spPr>
          <a:xfrm>
            <a:off x="8076895" y="0"/>
            <a:ext cx="4114800" cy="6858000"/>
          </a:xfrm>
          <a:prstGeom prst="rect">
            <a:avLst/>
          </a:prstGeom>
        </p:spPr>
      </p:pic>
      <p:sp>
        <p:nvSpPr>
          <p:cNvPr id="40" name="TextBox 39"/>
          <p:cNvSpPr txBox="1"/>
          <p:nvPr/>
        </p:nvSpPr>
        <p:spPr>
          <a:xfrm>
            <a:off x="274320" y="6492240"/>
            <a:ext cx="4572000" cy="274320"/>
          </a:xfrm>
          <a:prstGeom prst="rect">
            <a:avLst/>
          </a:prstGeom>
          <a:noFill/>
        </p:spPr>
        <p:txBody>
          <a:bodyPr wrap="square">
            <a:spAutoFit/>
          </a:bodyPr>
          <a:lstStyle/>
          <a:p>
            <a:pPr algn="l">
              <a:spcAft>
                <a:spcPts val="200"/>
              </a:spcAft>
              <a:defRPr sz="700" b="0">
                <a:solidFill>
                  <a:srgbClr val="888888"/>
                </a:solidFill>
                <a:latin typeface="Calibri"/>
              </a:defRPr>
            </a:pPr>
            <a:r>
              <a:t>Agentic AI Use Cases Across Industries | Confidential</a:t>
            </a:r>
          </a:p>
        </p:txBody>
      </p:sp>
      <p:sp>
        <p:nvSpPr>
          <p:cNvPr id="41" name="TextBox 40"/>
          <p:cNvSpPr txBox="1"/>
          <p:nvPr/>
        </p:nvSpPr>
        <p:spPr>
          <a:xfrm>
            <a:off x="11094415" y="6492240"/>
            <a:ext cx="822960" cy="274320"/>
          </a:xfrm>
          <a:prstGeom prst="rect">
            <a:avLst/>
          </a:prstGeom>
          <a:noFill/>
        </p:spPr>
        <p:txBody>
          <a:bodyPr wrap="square">
            <a:spAutoFit/>
          </a:bodyPr>
          <a:lstStyle/>
          <a:p>
            <a:pPr algn="r">
              <a:spcAft>
                <a:spcPts val="200"/>
              </a:spcAft>
              <a:defRPr sz="700" b="0">
                <a:solidFill>
                  <a:srgbClr val="888888"/>
                </a:solidFill>
                <a:latin typeface="Calibri"/>
              </a:defRPr>
            </a:pPr>
            <a:r>
              <a:t>44 / 46</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8076895" cy="6858000"/>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82880"/>
            <a:ext cx="7436815" cy="457200"/>
          </a:xfrm>
          <a:prstGeom prst="rect">
            <a:avLst/>
          </a:prstGeom>
          <a:noFill/>
        </p:spPr>
        <p:txBody>
          <a:bodyPr wrap="square">
            <a:spAutoFit/>
          </a:bodyPr>
          <a:lstStyle/>
          <a:p>
            <a:pPr algn="l">
              <a:spcAft>
                <a:spcPts val="200"/>
              </a:spcAft>
              <a:defRPr sz="2200" b="1">
                <a:solidFill>
                  <a:srgbClr val="FFFFFF"/>
                </a:solidFill>
                <a:latin typeface="Calibri"/>
              </a:defRPr>
            </a:pPr>
            <a:r>
              <a:t>Key Takeaways — Agentic AI in Production</a:t>
            </a:r>
          </a:p>
        </p:txBody>
      </p:sp>
      <p:sp>
        <p:nvSpPr>
          <p:cNvPr id="4" name="Rectangle 3"/>
          <p:cNvSpPr/>
          <p:nvPr/>
        </p:nvSpPr>
        <p:spPr>
          <a:xfrm>
            <a:off x="365760" y="640080"/>
            <a:ext cx="1828800" cy="27432"/>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777240"/>
            <a:ext cx="3200400" cy="201168"/>
          </a:xfrm>
          <a:prstGeom prst="rect">
            <a:avLst/>
          </a:prstGeom>
          <a:noFill/>
        </p:spPr>
        <p:txBody>
          <a:bodyPr wrap="square">
            <a:spAutoFit/>
          </a:bodyPr>
          <a:lstStyle/>
          <a:p>
            <a:pPr algn="l">
              <a:spcAft>
                <a:spcPts val="200"/>
              </a:spcAft>
              <a:defRPr sz="900" b="1">
                <a:solidFill>
                  <a:srgbClr val="0A1628"/>
                </a:solidFill>
                <a:latin typeface="Calibri"/>
              </a:defRPr>
            </a:pPr>
            <a:r>
              <a:t>BUSINESS IMPACT</a:t>
            </a:r>
          </a:p>
        </p:txBody>
      </p:sp>
      <p:sp>
        <p:nvSpPr>
          <p:cNvPr id="6" name="TextBox 5"/>
          <p:cNvSpPr txBox="1"/>
          <p:nvPr/>
        </p:nvSpPr>
        <p:spPr>
          <a:xfrm>
            <a:off x="365760" y="978408"/>
            <a:ext cx="3520440" cy="4114800"/>
          </a:xfrm>
          <a:prstGeom prst="rect">
            <a:avLst/>
          </a:prstGeom>
          <a:noFill/>
        </p:spPr>
        <p:txBody>
          <a:bodyPr wrap="square">
            <a:spAutoFit/>
          </a:bodyPr>
          <a:lstStyle/>
          <a:p>
            <a:pPr algn="l">
              <a:spcAft>
                <a:spcPts val="200"/>
              </a:spcAft>
              <a:defRPr sz="750" b="0">
                <a:solidFill>
                  <a:srgbClr val="0A1628"/>
                </a:solidFill>
                <a:latin typeface="Calibri"/>
              </a:defRPr>
            </a:pPr>
            <a:r>
              <a:t>• Agentic AI is production-ready: 60% of enterprises now have at least one agent in production</a:t>
            </a:r>
            <a:br/>
            <a:r>
              <a:t>• Insurance leads adoption: Claims processing from 29 days to 3.5 days (Allianz), 370K submissions processed autonomously (AIG)</a:t>
            </a:r>
            <a:br/>
            <a:r>
              <a:t>• Supply chain transformed: 73% exception auto-resolution, 99.2% on-time delivery</a:t>
            </a:r>
            <a:br/>
            <a:r>
              <a:t>• Manufacturing breakthrough: 88% reduction in root cause analysis effort (Apollo Tyres)</a:t>
            </a:r>
            <a:br/>
            <a:r>
              <a:t>• Healthcare potential: 5-agent systems approaching expert-level clinical performance</a:t>
            </a:r>
            <a:br/>
            <a:r>
              <a:t>• Enterprise scale proven: ServiceNow 90% IT tickets autonomous, Cognizant 350K users</a:t>
            </a:r>
            <a:br/>
            <a:r>
              <a:t>• ROI is measurable: 3-6 month payback on document-intensive back-office processes</a:t>
            </a:r>
          </a:p>
        </p:txBody>
      </p:sp>
      <p:sp>
        <p:nvSpPr>
          <p:cNvPr id="7" name="TextBox 6"/>
          <p:cNvSpPr txBox="1"/>
          <p:nvPr/>
        </p:nvSpPr>
        <p:spPr>
          <a:xfrm>
            <a:off x="4023360" y="777240"/>
            <a:ext cx="3200400" cy="201168"/>
          </a:xfrm>
          <a:prstGeom prst="rect">
            <a:avLst/>
          </a:prstGeom>
          <a:noFill/>
        </p:spPr>
        <p:txBody>
          <a:bodyPr wrap="square">
            <a:spAutoFit/>
          </a:bodyPr>
          <a:lstStyle/>
          <a:p>
            <a:pPr algn="l">
              <a:spcAft>
                <a:spcPts val="200"/>
              </a:spcAft>
              <a:defRPr sz="900" b="1">
                <a:solidFill>
                  <a:srgbClr val="0A1628"/>
                </a:solidFill>
                <a:latin typeface="Calibri"/>
              </a:defRPr>
            </a:pPr>
            <a:r>
              <a:t>IMPLEMENTATION INSIGHTS</a:t>
            </a:r>
          </a:p>
        </p:txBody>
      </p:sp>
      <p:sp>
        <p:nvSpPr>
          <p:cNvPr id="8" name="TextBox 7"/>
          <p:cNvSpPr txBox="1"/>
          <p:nvPr/>
        </p:nvSpPr>
        <p:spPr>
          <a:xfrm>
            <a:off x="4023360" y="978408"/>
            <a:ext cx="3520440" cy="4114800"/>
          </a:xfrm>
          <a:prstGeom prst="rect">
            <a:avLst/>
          </a:prstGeom>
          <a:noFill/>
        </p:spPr>
        <p:txBody>
          <a:bodyPr wrap="square">
            <a:spAutoFit/>
          </a:bodyPr>
          <a:lstStyle/>
          <a:p>
            <a:pPr algn="l">
              <a:spcAft>
                <a:spcPts val="200"/>
              </a:spcAft>
              <a:defRPr sz="750" b="0">
                <a:solidFill>
                  <a:srgbClr val="0A1628"/>
                </a:solidFill>
                <a:latin typeface="Calibri"/>
              </a:defRPr>
            </a:pPr>
            <a:r>
              <a:t>• Structured workflows dominate: 80% of production agents use predefined task sequences, not fully autonomous planning</a:t>
            </a:r>
            <a:br/>
            <a:r>
              <a:t>• Human-in-the-loop is essential: agents escalate complex decisions, not replace judgment</a:t>
            </a:r>
            <a:br/>
            <a:r>
              <a:t>• Governance is the differentiator: audit trails, policy guardrails, and token cost management separate production from prototype</a:t>
            </a:r>
            <a:br/>
            <a:r>
              <a:t>• Multi-agent &gt; single agent: orchestrated specialist agents outperform monolithic systems</a:t>
            </a:r>
            <a:br/>
            <a:r>
              <a:t>• Custom &gt; frameworks: 85% of production systems build custom implementations over LangChain/CrewAI</a:t>
            </a:r>
            <a:br/>
            <a:r>
              <a:t>• Start with high-volume, rule-governed processes: document processing, claims, logistics exceptions</a:t>
            </a:r>
            <a:br/>
            <a:r>
              <a:t>• Fastest ROI: document-intensive back-office (3 months), SDLC automation (4-5 months), tier-1 deflection (5-6 months)</a:t>
            </a:r>
          </a:p>
        </p:txBody>
      </p:sp>
      <p:sp>
        <p:nvSpPr>
          <p:cNvPr id="9" name="Rectangle 8"/>
          <p:cNvSpPr/>
          <p:nvPr/>
        </p:nvSpPr>
        <p:spPr>
          <a:xfrm>
            <a:off x="365760" y="53035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65760" y="53492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26</a:t>
            </a:r>
          </a:p>
        </p:txBody>
      </p:sp>
      <p:sp>
        <p:nvSpPr>
          <p:cNvPr id="11" name="TextBox 10"/>
          <p:cNvSpPr txBox="1"/>
          <p:nvPr/>
        </p:nvSpPr>
        <p:spPr>
          <a:xfrm>
            <a:off x="365760" y="57424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Use Cases</a:t>
            </a:r>
            <a:br/>
            <a:r>
              <a:t>Documented</a:t>
            </a:r>
          </a:p>
        </p:txBody>
      </p:sp>
      <p:sp>
        <p:nvSpPr>
          <p:cNvPr id="12" name="Rectangle 11"/>
          <p:cNvSpPr/>
          <p:nvPr/>
        </p:nvSpPr>
        <p:spPr>
          <a:xfrm>
            <a:off x="2240279" y="53035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240279" y="53492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8</a:t>
            </a:r>
          </a:p>
        </p:txBody>
      </p:sp>
      <p:sp>
        <p:nvSpPr>
          <p:cNvPr id="14" name="TextBox 13"/>
          <p:cNvSpPr txBox="1"/>
          <p:nvPr/>
        </p:nvSpPr>
        <p:spPr>
          <a:xfrm>
            <a:off x="2240279" y="57424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Industries</a:t>
            </a:r>
            <a:br/>
            <a:r>
              <a:t>Covered</a:t>
            </a:r>
          </a:p>
        </p:txBody>
      </p:sp>
      <p:sp>
        <p:nvSpPr>
          <p:cNvPr id="15" name="Rectangle 14"/>
          <p:cNvSpPr/>
          <p:nvPr/>
        </p:nvSpPr>
        <p:spPr>
          <a:xfrm>
            <a:off x="4114799" y="53035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114799" y="53492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$47.1B</a:t>
            </a:r>
          </a:p>
        </p:txBody>
      </p:sp>
      <p:sp>
        <p:nvSpPr>
          <p:cNvPr id="17" name="TextBox 16"/>
          <p:cNvSpPr txBox="1"/>
          <p:nvPr/>
        </p:nvSpPr>
        <p:spPr>
          <a:xfrm>
            <a:off x="4114799" y="57424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Market by 2030</a:t>
            </a:r>
            <a:br/>
            <a:r>
              <a:t>(Gartner)</a:t>
            </a:r>
          </a:p>
        </p:txBody>
      </p:sp>
      <p:sp>
        <p:nvSpPr>
          <p:cNvPr id="18" name="Rectangle 17"/>
          <p:cNvSpPr/>
          <p:nvPr/>
        </p:nvSpPr>
        <p:spPr>
          <a:xfrm>
            <a:off x="5989319" y="5303520"/>
            <a:ext cx="1645920" cy="8229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989319" y="5349240"/>
            <a:ext cx="1645920" cy="411480"/>
          </a:xfrm>
          <a:prstGeom prst="rect">
            <a:avLst/>
          </a:prstGeom>
          <a:noFill/>
        </p:spPr>
        <p:txBody>
          <a:bodyPr wrap="square">
            <a:spAutoFit/>
          </a:bodyPr>
          <a:lstStyle/>
          <a:p>
            <a:pPr algn="ctr">
              <a:spcAft>
                <a:spcPts val="200"/>
              </a:spcAft>
              <a:defRPr sz="2000" b="1">
                <a:solidFill>
                  <a:srgbClr val="FFB800"/>
                </a:solidFill>
                <a:latin typeface="Calibri"/>
              </a:defRPr>
            </a:pPr>
            <a:r>
              <a:t>3-6 mo</a:t>
            </a:r>
          </a:p>
        </p:txBody>
      </p:sp>
      <p:sp>
        <p:nvSpPr>
          <p:cNvPr id="20" name="TextBox 19"/>
          <p:cNvSpPr txBox="1"/>
          <p:nvPr/>
        </p:nvSpPr>
        <p:spPr>
          <a:xfrm>
            <a:off x="5989319" y="5742432"/>
            <a:ext cx="1645920" cy="320040"/>
          </a:xfrm>
          <a:prstGeom prst="rect">
            <a:avLst/>
          </a:prstGeom>
          <a:noFill/>
        </p:spPr>
        <p:txBody>
          <a:bodyPr wrap="square">
            <a:spAutoFit/>
          </a:bodyPr>
          <a:lstStyle/>
          <a:p>
            <a:pPr algn="ctr">
              <a:spcAft>
                <a:spcPts val="200"/>
              </a:spcAft>
              <a:defRPr sz="800" b="0">
                <a:solidFill>
                  <a:srgbClr val="FFFFFF"/>
                </a:solidFill>
                <a:latin typeface="Calibri"/>
              </a:defRPr>
            </a:pPr>
            <a:r>
              <a:t>Median ROI</a:t>
            </a:r>
            <a:br/>
            <a:r>
              <a:t>Payback</a:t>
            </a:r>
          </a:p>
        </p:txBody>
      </p:sp>
      <p:pic>
        <p:nvPicPr>
          <p:cNvPr id="21" name="Picture 20" descr="image.jpg"/>
          <p:cNvPicPr>
            <a:picLocks noChangeAspect="1"/>
          </p:cNvPicPr>
          <p:nvPr/>
        </p:nvPicPr>
        <p:blipFill>
          <a:blip r:embed="rId2"/>
          <a:stretch>
            <a:fillRect/>
          </a:stretch>
        </p:blipFill>
        <p:spPr>
          <a:xfrm>
            <a:off x="8076895" y="0"/>
            <a:ext cx="4114800" cy="6858000"/>
          </a:xfrm>
          <a:prstGeom prst="rect">
            <a:avLst/>
          </a:prstGeom>
        </p:spPr>
      </p:pic>
      <p:sp>
        <p:nvSpPr>
          <p:cNvPr id="22" name="TextBox 21"/>
          <p:cNvSpPr txBox="1"/>
          <p:nvPr/>
        </p:nvSpPr>
        <p:spPr>
          <a:xfrm>
            <a:off x="274320" y="6492240"/>
            <a:ext cx="4572000" cy="274320"/>
          </a:xfrm>
          <a:prstGeom prst="rect">
            <a:avLst/>
          </a:prstGeom>
          <a:noFill/>
        </p:spPr>
        <p:txBody>
          <a:bodyPr wrap="square">
            <a:spAutoFit/>
          </a:bodyPr>
          <a:lstStyle/>
          <a:p>
            <a:pPr algn="l">
              <a:spcAft>
                <a:spcPts val="200"/>
              </a:spcAft>
              <a:defRPr sz="700" b="0">
                <a:solidFill>
                  <a:srgbClr val="888888"/>
                </a:solidFill>
                <a:latin typeface="Calibri"/>
              </a:defRPr>
            </a:pPr>
            <a:r>
              <a:t>Agentic AI Use Cases Across Industries | Confidential</a:t>
            </a:r>
          </a:p>
        </p:txBody>
      </p:sp>
      <p:sp>
        <p:nvSpPr>
          <p:cNvPr id="23" name="TextBox 22"/>
          <p:cNvSpPr txBox="1"/>
          <p:nvPr/>
        </p:nvSpPr>
        <p:spPr>
          <a:xfrm>
            <a:off x="11094415" y="6492240"/>
            <a:ext cx="822960" cy="274320"/>
          </a:xfrm>
          <a:prstGeom prst="rect">
            <a:avLst/>
          </a:prstGeom>
          <a:noFill/>
        </p:spPr>
        <p:txBody>
          <a:bodyPr wrap="square">
            <a:spAutoFit/>
          </a:bodyPr>
          <a:lstStyle/>
          <a:p>
            <a:pPr algn="r">
              <a:spcAft>
                <a:spcPts val="200"/>
              </a:spcAft>
              <a:defRPr sz="700" b="0">
                <a:solidFill>
                  <a:srgbClr val="888888"/>
                </a:solidFill>
                <a:latin typeface="Calibri"/>
              </a:defRPr>
            </a:pPr>
            <a:r>
              <a:t>45 / 46</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8076895" cy="6858000"/>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82880"/>
            <a:ext cx="7436815" cy="457200"/>
          </a:xfrm>
          <a:prstGeom prst="rect">
            <a:avLst/>
          </a:prstGeom>
          <a:noFill/>
        </p:spPr>
        <p:txBody>
          <a:bodyPr wrap="square">
            <a:spAutoFit/>
          </a:bodyPr>
          <a:lstStyle/>
          <a:p>
            <a:pPr algn="l">
              <a:spcAft>
                <a:spcPts val="200"/>
              </a:spcAft>
              <a:defRPr sz="2200" b="1">
                <a:solidFill>
                  <a:srgbClr val="FFFFFF"/>
                </a:solidFill>
                <a:latin typeface="Calibri"/>
              </a:defRPr>
            </a:pPr>
            <a:r>
              <a:t>Implementation Roadmap — From Pilot to Production</a:t>
            </a:r>
          </a:p>
        </p:txBody>
      </p:sp>
      <p:sp>
        <p:nvSpPr>
          <p:cNvPr id="4" name="Rectangle 3"/>
          <p:cNvSpPr/>
          <p:nvPr/>
        </p:nvSpPr>
        <p:spPr>
          <a:xfrm>
            <a:off x="365760" y="640080"/>
            <a:ext cx="1828800" cy="27432"/>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365760" y="777240"/>
            <a:ext cx="7132320" cy="27432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813816"/>
            <a:ext cx="6400800" cy="201168"/>
          </a:xfrm>
          <a:prstGeom prst="rect">
            <a:avLst/>
          </a:prstGeom>
          <a:noFill/>
        </p:spPr>
        <p:txBody>
          <a:bodyPr wrap="square">
            <a:spAutoFit/>
          </a:bodyPr>
          <a:lstStyle/>
          <a:p>
            <a:pPr algn="l">
              <a:spcAft>
                <a:spcPts val="200"/>
              </a:spcAft>
              <a:defRPr sz="900" b="1">
                <a:solidFill>
                  <a:srgbClr val="FFB800"/>
                </a:solidFill>
                <a:latin typeface="Calibri"/>
              </a:defRPr>
            </a:pPr>
            <a:r>
              <a:t>Phase 1: Discovery (Weeks 1-4)</a:t>
            </a:r>
          </a:p>
        </p:txBody>
      </p:sp>
      <p:sp>
        <p:nvSpPr>
          <p:cNvPr id="7" name="TextBox 6"/>
          <p:cNvSpPr txBox="1"/>
          <p:nvPr/>
        </p:nvSpPr>
        <p:spPr>
          <a:xfrm>
            <a:off x="457200" y="1069848"/>
            <a:ext cx="6858000" cy="1005840"/>
          </a:xfrm>
          <a:prstGeom prst="rect">
            <a:avLst/>
          </a:prstGeom>
          <a:noFill/>
        </p:spPr>
        <p:txBody>
          <a:bodyPr wrap="square">
            <a:spAutoFit/>
          </a:bodyPr>
          <a:lstStyle/>
          <a:p>
            <a:pPr algn="l">
              <a:spcAft>
                <a:spcPts val="200"/>
              </a:spcAft>
              <a:defRPr sz="700" b="0">
                <a:solidFill>
                  <a:srgbClr val="0A1628"/>
                </a:solidFill>
                <a:latin typeface="Calibri"/>
              </a:defRPr>
            </a:pPr>
            <a:r>
              <a:t>• Identify high-volume, rule-governed processes as candidates</a:t>
            </a:r>
            <a:br/>
            <a:r>
              <a:t>• Map existing workflows and decision points</a:t>
            </a:r>
            <a:br/>
            <a:r>
              <a:t>• Define agent scope, guardrails, and human escalation triggers</a:t>
            </a:r>
            <a:br/>
            <a:r>
              <a:t>• Inventory data sources, APIs, and system integrations</a:t>
            </a:r>
            <a:br/>
            <a:r>
              <a:t>• Establish success metrics and baseline measurements</a:t>
            </a:r>
          </a:p>
        </p:txBody>
      </p:sp>
      <p:sp>
        <p:nvSpPr>
          <p:cNvPr id="8" name="Rectangle 7"/>
          <p:cNvSpPr/>
          <p:nvPr/>
        </p:nvSpPr>
        <p:spPr>
          <a:xfrm>
            <a:off x="365760" y="2194560"/>
            <a:ext cx="7132320" cy="27432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7200" y="2231136"/>
            <a:ext cx="6400800" cy="201168"/>
          </a:xfrm>
          <a:prstGeom prst="rect">
            <a:avLst/>
          </a:prstGeom>
          <a:noFill/>
        </p:spPr>
        <p:txBody>
          <a:bodyPr wrap="square">
            <a:spAutoFit/>
          </a:bodyPr>
          <a:lstStyle/>
          <a:p>
            <a:pPr algn="l">
              <a:spcAft>
                <a:spcPts val="200"/>
              </a:spcAft>
              <a:defRPr sz="900" b="1">
                <a:solidFill>
                  <a:srgbClr val="FFB800"/>
                </a:solidFill>
                <a:latin typeface="Calibri"/>
              </a:defRPr>
            </a:pPr>
            <a:r>
              <a:t>Phase 2: Build (Weeks 5-12)</a:t>
            </a:r>
          </a:p>
        </p:txBody>
      </p:sp>
      <p:sp>
        <p:nvSpPr>
          <p:cNvPr id="10" name="TextBox 9"/>
          <p:cNvSpPr txBox="1"/>
          <p:nvPr/>
        </p:nvSpPr>
        <p:spPr>
          <a:xfrm>
            <a:off x="457200" y="2487168"/>
            <a:ext cx="6858000" cy="1005840"/>
          </a:xfrm>
          <a:prstGeom prst="rect">
            <a:avLst/>
          </a:prstGeom>
          <a:noFill/>
        </p:spPr>
        <p:txBody>
          <a:bodyPr wrap="square">
            <a:spAutoFit/>
          </a:bodyPr>
          <a:lstStyle/>
          <a:p>
            <a:pPr algn="l">
              <a:spcAft>
                <a:spcPts val="200"/>
              </a:spcAft>
              <a:defRPr sz="700" b="0">
                <a:solidFill>
                  <a:srgbClr val="0A1628"/>
                </a:solidFill>
                <a:latin typeface="Calibri"/>
              </a:defRPr>
            </a:pPr>
            <a:r>
              <a:t>• Design multi-agent architecture with specialist agents</a:t>
            </a:r>
            <a:br/>
            <a:r>
              <a:t>• Build tool integrations (ERP, CRM, TMS, WMS, HRIS)</a:t>
            </a:r>
            <a:br/>
            <a:r>
              <a:t>• Implement governance layer: audit trails, policy guardrails</a:t>
            </a:r>
            <a:br/>
            <a:r>
              <a:t>• Deploy human-in-the-loop gates at critical decision points</a:t>
            </a:r>
            <a:br/>
            <a:r>
              <a:t>• Shadow mode: run agents in parallel with human workers</a:t>
            </a:r>
          </a:p>
        </p:txBody>
      </p:sp>
      <p:sp>
        <p:nvSpPr>
          <p:cNvPr id="11" name="Rectangle 10"/>
          <p:cNvSpPr/>
          <p:nvPr/>
        </p:nvSpPr>
        <p:spPr>
          <a:xfrm>
            <a:off x="365760" y="3611880"/>
            <a:ext cx="7132320" cy="27432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7200" y="3648456"/>
            <a:ext cx="6400800" cy="201168"/>
          </a:xfrm>
          <a:prstGeom prst="rect">
            <a:avLst/>
          </a:prstGeom>
          <a:noFill/>
        </p:spPr>
        <p:txBody>
          <a:bodyPr wrap="square">
            <a:spAutoFit/>
          </a:bodyPr>
          <a:lstStyle/>
          <a:p>
            <a:pPr algn="l">
              <a:spcAft>
                <a:spcPts val="200"/>
              </a:spcAft>
              <a:defRPr sz="900" b="1">
                <a:solidFill>
                  <a:srgbClr val="FFB800"/>
                </a:solidFill>
                <a:latin typeface="Calibri"/>
              </a:defRPr>
            </a:pPr>
            <a:r>
              <a:t>Phase 3: Validate (Weeks 13-16)</a:t>
            </a:r>
          </a:p>
        </p:txBody>
      </p:sp>
      <p:sp>
        <p:nvSpPr>
          <p:cNvPr id="13" name="TextBox 12"/>
          <p:cNvSpPr txBox="1"/>
          <p:nvPr/>
        </p:nvSpPr>
        <p:spPr>
          <a:xfrm>
            <a:off x="457200" y="3904488"/>
            <a:ext cx="6858000" cy="1005840"/>
          </a:xfrm>
          <a:prstGeom prst="rect">
            <a:avLst/>
          </a:prstGeom>
          <a:noFill/>
        </p:spPr>
        <p:txBody>
          <a:bodyPr wrap="square">
            <a:spAutoFit/>
          </a:bodyPr>
          <a:lstStyle/>
          <a:p>
            <a:pPr algn="l">
              <a:spcAft>
                <a:spcPts val="200"/>
              </a:spcAft>
              <a:defRPr sz="700" b="0">
                <a:solidFill>
                  <a:srgbClr val="0A1628"/>
                </a:solidFill>
                <a:latin typeface="Calibri"/>
              </a:defRPr>
            </a:pPr>
            <a:r>
              <a:t>• Compare agent decisions vs. human decisions on live data</a:t>
            </a:r>
            <a:br/>
            <a:r>
              <a:t>• Tune confidence thresholds for autonomous vs. escalated</a:t>
            </a:r>
            <a:br/>
            <a:r>
              <a:t>• Regulatory review of explainability and compliance</a:t>
            </a:r>
            <a:br/>
            <a:r>
              <a:t>• Stress test with edge cases and adversarial inputs</a:t>
            </a:r>
            <a:br/>
            <a:r>
              <a:t>• Train operational teams on agent monitoring and override</a:t>
            </a:r>
          </a:p>
        </p:txBody>
      </p:sp>
      <p:sp>
        <p:nvSpPr>
          <p:cNvPr id="14" name="Rectangle 13"/>
          <p:cNvSpPr/>
          <p:nvPr/>
        </p:nvSpPr>
        <p:spPr>
          <a:xfrm>
            <a:off x="365760" y="5029200"/>
            <a:ext cx="7132320" cy="27432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7200" y="5065776"/>
            <a:ext cx="6400800" cy="201168"/>
          </a:xfrm>
          <a:prstGeom prst="rect">
            <a:avLst/>
          </a:prstGeom>
          <a:noFill/>
        </p:spPr>
        <p:txBody>
          <a:bodyPr wrap="square">
            <a:spAutoFit/>
          </a:bodyPr>
          <a:lstStyle/>
          <a:p>
            <a:pPr algn="l">
              <a:spcAft>
                <a:spcPts val="200"/>
              </a:spcAft>
              <a:defRPr sz="900" b="1">
                <a:solidFill>
                  <a:srgbClr val="FFB800"/>
                </a:solidFill>
                <a:latin typeface="Calibri"/>
              </a:defRPr>
            </a:pPr>
            <a:r>
              <a:t>Phase 4: Scale (Weeks 17+)</a:t>
            </a:r>
          </a:p>
        </p:txBody>
      </p:sp>
      <p:sp>
        <p:nvSpPr>
          <p:cNvPr id="16" name="TextBox 15"/>
          <p:cNvSpPr txBox="1"/>
          <p:nvPr/>
        </p:nvSpPr>
        <p:spPr>
          <a:xfrm>
            <a:off x="457200" y="5321808"/>
            <a:ext cx="6858000" cy="1005840"/>
          </a:xfrm>
          <a:prstGeom prst="rect">
            <a:avLst/>
          </a:prstGeom>
          <a:noFill/>
        </p:spPr>
        <p:txBody>
          <a:bodyPr wrap="square">
            <a:spAutoFit/>
          </a:bodyPr>
          <a:lstStyle/>
          <a:p>
            <a:pPr algn="l">
              <a:spcAft>
                <a:spcPts val="200"/>
              </a:spcAft>
              <a:defRPr sz="700" b="0">
                <a:solidFill>
                  <a:srgbClr val="0A1628"/>
                </a:solidFill>
                <a:latin typeface="Calibri"/>
              </a:defRPr>
            </a:pPr>
            <a:r>
              <a:t>• Go live with select partners/channels (40% volume)</a:t>
            </a:r>
            <a:br/>
            <a:r>
              <a:t>• Expand to full volume over 4 weeks with continuous monitoring</a:t>
            </a:r>
            <a:br/>
            <a:r>
              <a:t>• Deploy Agent Command Center for governance at scale</a:t>
            </a:r>
            <a:br/>
            <a:r>
              <a:t>• Extend to adjacent use cases using same architecture</a:t>
            </a:r>
            <a:br/>
            <a:r>
              <a:t>• Continuous improvement: failures feed back into training</a:t>
            </a:r>
          </a:p>
        </p:txBody>
      </p:sp>
      <p:pic>
        <p:nvPicPr>
          <p:cNvPr id="17" name="Picture 16" descr="image.jpg"/>
          <p:cNvPicPr>
            <a:picLocks noChangeAspect="1"/>
          </p:cNvPicPr>
          <p:nvPr/>
        </p:nvPicPr>
        <p:blipFill>
          <a:blip r:embed="rId2"/>
          <a:stretch>
            <a:fillRect/>
          </a:stretch>
        </p:blipFill>
        <p:spPr>
          <a:xfrm>
            <a:off x="8076895" y="0"/>
            <a:ext cx="4114800" cy="6858000"/>
          </a:xfrm>
          <a:prstGeom prst="rect">
            <a:avLst/>
          </a:prstGeom>
        </p:spPr>
      </p:pic>
      <p:sp>
        <p:nvSpPr>
          <p:cNvPr id="18" name="TextBox 17"/>
          <p:cNvSpPr txBox="1"/>
          <p:nvPr/>
        </p:nvSpPr>
        <p:spPr>
          <a:xfrm>
            <a:off x="274320" y="6492240"/>
            <a:ext cx="4572000" cy="274320"/>
          </a:xfrm>
          <a:prstGeom prst="rect">
            <a:avLst/>
          </a:prstGeom>
          <a:noFill/>
        </p:spPr>
        <p:txBody>
          <a:bodyPr wrap="square">
            <a:spAutoFit/>
          </a:bodyPr>
          <a:lstStyle/>
          <a:p>
            <a:pPr algn="l">
              <a:spcAft>
                <a:spcPts val="200"/>
              </a:spcAft>
              <a:defRPr sz="700" b="0">
                <a:solidFill>
                  <a:srgbClr val="888888"/>
                </a:solidFill>
                <a:latin typeface="Calibri"/>
              </a:defRPr>
            </a:pPr>
            <a:r>
              <a:t>Agentic AI Use Cases Across Industries | Confidential</a:t>
            </a:r>
          </a:p>
        </p:txBody>
      </p:sp>
      <p:sp>
        <p:nvSpPr>
          <p:cNvPr id="19" name="TextBox 18"/>
          <p:cNvSpPr txBox="1"/>
          <p:nvPr/>
        </p:nvSpPr>
        <p:spPr>
          <a:xfrm>
            <a:off x="11094415" y="6492240"/>
            <a:ext cx="822960" cy="274320"/>
          </a:xfrm>
          <a:prstGeom prst="rect">
            <a:avLst/>
          </a:prstGeom>
          <a:noFill/>
        </p:spPr>
        <p:txBody>
          <a:bodyPr wrap="square">
            <a:spAutoFit/>
          </a:bodyPr>
          <a:lstStyle/>
          <a:p>
            <a:pPr algn="r">
              <a:spcAft>
                <a:spcPts val="200"/>
              </a:spcAft>
              <a:defRPr sz="700" b="0">
                <a:solidFill>
                  <a:srgbClr val="888888"/>
                </a:solidFill>
                <a:latin typeface="Calibri"/>
              </a:defRPr>
            </a:pPr>
            <a:r>
              <a:t>46 / 46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TotalTime>
  <Words>10912</Words>
  <Application>Microsoft Office PowerPoint</Application>
  <PresentationFormat>Widescreen</PresentationFormat>
  <Paragraphs>1188</Paragraphs>
  <Slides>46</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46</vt:i4>
      </vt:variant>
    </vt:vector>
  </HeadingPairs>
  <TitlesOfParts>
    <vt:vector size="49"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sheker kamma</dc:creator>
  <cp:keywords/>
  <dc:description>generated using python-pptx</dc:description>
  <cp:lastModifiedBy>sheker kamma</cp:lastModifiedBy>
  <cp:revision>1</cp:revision>
  <dcterms:created xsi:type="dcterms:W3CDTF">2013-01-27T09:14:16Z</dcterms:created>
  <dcterms:modified xsi:type="dcterms:W3CDTF">2026-05-25T15:25:33Z</dcterms:modified>
  <cp:category/>
</cp:coreProperties>
</file>